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png" ContentType="image/png"/>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_rels/notesSlide6.xml.rels" ContentType="application/vnd.openxmlformats-package.relationships+xml"/>
  <Override PartName="/ppt/notesSlides/notesSlide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6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69"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70"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71"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2"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1C678F6B-DEF0-4D62-95F3-E9EE1B5D2400}"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sldImg"/>
          </p:nvPr>
        </p:nvSpPr>
        <p:spPr>
          <a:xfrm>
            <a:off x="756000" y="1336320"/>
            <a:ext cx="6047640" cy="3608280"/>
          </a:xfrm>
          <a:prstGeom prst="rect">
            <a:avLst/>
          </a:prstGeom>
          <a:ln w="0">
            <a:noFill/>
          </a:ln>
        </p:spPr>
      </p:sp>
      <p:sp>
        <p:nvSpPr>
          <p:cNvPr id="169" name="PlaceHolder 2"/>
          <p:cNvSpPr>
            <a:spLocks noGrp="1"/>
          </p:cNvSpPr>
          <p:nvPr>
            <p:ph type="body"/>
          </p:nvPr>
        </p:nvSpPr>
        <p:spPr>
          <a:xfrm>
            <a:off x="756000" y="5145480"/>
            <a:ext cx="6047640" cy="420948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2000" spc="-1" strike="noStrike">
                <a:solidFill>
                  <a:srgbClr val="000000"/>
                </a:solidFill>
                <a:latin typeface="Arial"/>
              </a:rPr>
              <a:t>At the heart of the system is the LLM code generator. We use Qwen2.5-Coder 3B, a 3-billion-parameter code-specialized language model, running locally via Ollama on localhost:11434. Running locally eliminates latency, privacy concerns, and API costs.</a:t>
            </a:r>
            <a:endParaRPr b="0" lang="en-US" sz="2000" spc="-1" strike="noStrike">
              <a:solidFill>
                <a:srgbClr val="000000"/>
              </a:solidFill>
              <a:latin typeface="Arial"/>
            </a:endParaRPr>
          </a:p>
          <a:p>
            <a:pPr indent="0" defTabSz="914400">
              <a:lnSpc>
                <a:spcPct val="100000"/>
              </a:lnSpc>
              <a:buNone/>
              <a:tabLst>
                <a:tab algn="l" pos="0"/>
              </a:tabLst>
            </a:pPr>
            <a:r>
              <a:rPr b="0" lang="en-US" sz="2000" spc="-1" strike="noStrike">
                <a:solidFill>
                  <a:srgbClr val="000000"/>
                </a:solidFill>
                <a:latin typeface="Arial"/>
              </a:rPr>
              <a:t>The LLM receives a carefully crafted system prompt (system_prompt.md, 117 lines) that defines the robot's API: available functions (make_scene, execute_waypoints, adjust_grasp_waypoints), their signatures, return types, and usage patterns. This prompt acts as the "instruction manual" for the LLM.</a:t>
            </a:r>
            <a:endParaRPr b="0" lang="en-US" sz="2000" spc="-1" strike="noStrike">
              <a:solidFill>
                <a:srgbClr val="000000"/>
              </a:solidFill>
              <a:latin typeface="Arial"/>
            </a:endParaRPr>
          </a:p>
          <a:p>
            <a:pPr indent="0" defTabSz="914400">
              <a:lnSpc>
                <a:spcPct val="100000"/>
              </a:lnSpc>
              <a:buNone/>
              <a:tabLst>
                <a:tab algn="l" pos="0"/>
              </a:tabLst>
            </a:pPr>
            <a:r>
              <a:rPr b="0" lang="en-US" sz="2000" spc="-1" strike="noStrike">
                <a:solidFill>
                  <a:srgbClr val="000000"/>
                </a:solidFill>
                <a:latin typeface="Arial"/>
              </a:rPr>
              <a:t>The user provides a natural language task description (e.g., "pick the red block and place it on the blue box"). The LLM generates a complete Python script (generated_task.py) that calls the API functions in the correct order to accomplish the task.</a:t>
            </a:r>
            <a:endParaRPr b="0" lang="en-US" sz="2000" spc="-1" strike="noStrike">
              <a:solidFill>
                <a:srgbClr val="000000"/>
              </a:solidFill>
              <a:latin typeface="Arial"/>
            </a:endParaRPr>
          </a:p>
          <a:p>
            <a:pPr indent="0" defTabSz="914400">
              <a:lnSpc>
                <a:spcPct val="100000"/>
              </a:lnSpc>
              <a:buNone/>
              <a:tabLst>
                <a:tab algn="l" pos="0"/>
              </a:tabLst>
            </a:pPr>
            <a:r>
              <a:rPr b="0" lang="en-US" sz="2000" spc="-1" strike="noStrike">
                <a:solidFill>
                  <a:srgbClr val="000000"/>
                </a:solidFill>
                <a:latin typeface="Arial"/>
              </a:rPr>
              <a:t>The user provides a natural language task description (e.g., "pick the red block and place it on the blue box"). The LLM generates a complete Python script (generated_task.py) that calls the API functions in the correct order to accomplish the task.</a:t>
            </a:r>
            <a:endParaRPr b="0" lang="en-US" sz="2000" spc="-1" strike="noStrike">
              <a:solidFill>
                <a:srgbClr val="000000"/>
              </a:solidFill>
              <a:latin typeface="Arial"/>
            </a:endParaRPr>
          </a:p>
          <a:p>
            <a:pPr indent="0" defTabSz="914400">
              <a:lnSpc>
                <a:spcPct val="100000"/>
              </a:lnSpc>
              <a:buNone/>
              <a:tabLst>
                <a:tab algn="l" pos="0"/>
              </a:tabLst>
            </a:pPr>
            <a:r>
              <a:rPr b="0" lang="en-US" sz="2000" spc="-1" strike="noStrike">
                <a:solidFill>
                  <a:srgbClr val="000000"/>
                </a:solidFill>
                <a:latin typeface="Arial"/>
              </a:rPr>
              <a:t>run_task.py orchestrates the process: it captures the user input, sends it to the LLM with the system prompt, writes the generated code to disk, reloads the module dynamically, and executes execute_task(). Error handling and retry logic ensure robustness.</a:t>
            </a:r>
            <a:endParaRPr b="0" lang="en-US" sz="2000" spc="-1" strike="noStrike">
              <a:solidFill>
                <a:srgbClr val="000000"/>
              </a:solidFill>
              <a:latin typeface="Arial"/>
            </a:endParaRPr>
          </a:p>
          <a:p>
            <a:pPr indent="0" defTabSz="914400">
              <a:lnSpc>
                <a:spcPct val="100000"/>
              </a:lnSpc>
              <a:buNone/>
              <a:tabLst>
                <a:tab algn="l" pos="0"/>
              </a:tabLst>
            </a:pPr>
            <a:r>
              <a:rPr b="0" lang="en-US" sz="2000" spc="-1" strike="noStrike">
                <a:solidFill>
                  <a:srgbClr val="000000"/>
                </a:solidFill>
                <a:latin typeface="Arial"/>
              </a:rPr>
              <a:t>Model: Qwen2.5-Coder 3B (Ollama, temp=0.7) — locally hosted, no cloud dependency.</a:t>
            </a:r>
            <a:endParaRPr b="0" lang="en-US" sz="2000" spc="-1" strike="noStrike">
              <a:solidFill>
                <a:srgbClr val="000000"/>
              </a:solidFill>
              <a:latin typeface="Arial"/>
            </a:endParaRPr>
          </a:p>
        </p:txBody>
      </p:sp>
      <p:sp>
        <p:nvSpPr>
          <p:cNvPr id="170" name="PlaceHolder 3"/>
          <p:cNvSpPr>
            <a:spLocks noGrp="1"/>
          </p:cNvSpPr>
          <p:nvPr>
            <p:ph type="sldNum" idx="37"/>
          </p:nvPr>
        </p:nvSpPr>
        <p:spPr>
          <a:xfrm>
            <a:off x="4282200" y="10155600"/>
            <a:ext cx="3275640" cy="5360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358D1F38-752D-4F6A-88DB-F3C411946B0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609480" y="1604520"/>
            <a:ext cx="1097208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D72004AF-D23B-408B-AEE5-083F25A47383}"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9D498656-C99D-4147-8E8F-F2939413431A}"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C32D6306-4B70-42A5-845C-B8F8F65634DD}"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609480" y="1604520"/>
            <a:ext cx="109720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D0D06983-7678-4E5C-9BA5-4D84AA878DB5}"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5774C4E1-6E6E-4B8F-996B-A8EF37601900}"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F78716D3-FA6E-4586-953E-8075FF118CC9}"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A9756841-2F7B-4184-B6F1-E30FAD365CA3}"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3FDD7D33-E5EC-4AEC-828A-225575A29652}"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3B7E4EE0-2A94-4507-8CBD-066D249B1538}"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3D490AA9-220E-46F8-B714-92E726D08DD9}"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3E7CC663-E17C-4FE9-AA57-F74F82141999}"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22B22731-1988-4972-BFB7-BA72A2C5D85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E7B9B404-CF80-4D23-9053-B77C600F0B5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D32EEAD4-1540-4239-97F7-94A7A7C2367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D2CBC04E-9695-439D-B2AC-41E868EFC7D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cap="all">
                <a:solidFill>
                  <a:schemeClr val="dk1"/>
                </a:solidFill>
                <a:latin typeface="Calibri"/>
              </a:rPr>
              <a:t>Click to edit Master title style</a:t>
            </a:r>
            <a:endParaRPr b="0" lang="en-US" sz="4000" spc="-1" strike="noStrike">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EAF1CE10-96D7-49D5-8869-49FEA804DFFB}"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34000402-8F4A-4A71-B594-1DDB325F679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45555AF1-3DFC-41C4-98F3-10B9A99D9D16}"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83DC94A4-202B-4056-9327-8266558DD14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DF04E8C7-96CE-483B-9F00-A1AA0FF9DA07}"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3" name="PlaceHolder 4"/>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54" name="PlaceHolder 5"/>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A0076AC0-9D92-4C60-AA86-D18CC1204EDD}"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Outline Level</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Third Outline Level</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Fourth Outline Level</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Fifth Outline Level</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Sixth Outline Level</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Seventh Outline Level</a:t>
            </a:r>
            <a:endParaRPr b="0" lang="en-US" sz="3200" spc="-1" strike="noStrike">
              <a:solidFill>
                <a:schemeClr val="dk1"/>
              </a:solidFill>
              <a:latin typeface="Calibri"/>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B30815A3-D30B-4EFE-8D4A-9DD77BD78A13}"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f2937"/>
        </a:solidFill>
      </p:bgPr>
    </p:bg>
    <p:spTree>
      <p:nvGrpSpPr>
        <p:cNvPr id="1" name=""/>
        <p:cNvGrpSpPr/>
        <p:nvPr/>
      </p:nvGrpSpPr>
      <p:grpSpPr>
        <a:xfrm>
          <a:off x="0" y="0"/>
          <a:ext cx="0" cy="0"/>
          <a:chOff x="0" y="0"/>
          <a:chExt cx="0" cy="0"/>
        </a:xfrm>
      </p:grpSpPr>
      <p:sp>
        <p:nvSpPr>
          <p:cNvPr id="73" name="Rectangle 1"/>
          <p:cNvSpPr/>
          <p:nvPr/>
        </p:nvSpPr>
        <p:spPr>
          <a:xfrm>
            <a:off x="0" y="2560320"/>
            <a:ext cx="12191400" cy="50400"/>
          </a:xfrm>
          <a:prstGeom prst="rect">
            <a:avLst/>
          </a:prstGeom>
          <a:solidFill>
            <a:srgbClr val="6b728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760" bIns="5760" anchor="ctr">
            <a:noAutofit/>
          </a:bodyPr>
          <a:p>
            <a:pPr algn="ctr" defTabSz="457200">
              <a:lnSpc>
                <a:spcPct val="100000"/>
              </a:lnSpc>
            </a:pPr>
            <a:endParaRPr b="0" lang="en-US" sz="1800" spc="-1" strike="noStrike">
              <a:solidFill>
                <a:schemeClr val="lt1"/>
              </a:solidFill>
              <a:latin typeface="Calibri"/>
            </a:endParaRPr>
          </a:p>
        </p:txBody>
      </p:sp>
      <p:sp>
        <p:nvSpPr>
          <p:cNvPr id="74" name="TextBox 2"/>
          <p:cNvSpPr/>
          <p:nvPr/>
        </p:nvSpPr>
        <p:spPr>
          <a:xfrm>
            <a:off x="914400" y="914400"/>
            <a:ext cx="10332360" cy="1827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800" spc="-1" strike="noStrike">
                <a:solidFill>
                  <a:srgbClr val="ffffff"/>
                </a:solidFill>
                <a:latin typeface="Arial"/>
              </a:rPr>
              <a:t>Exploring Large Language Models</a:t>
            </a:r>
            <a:br>
              <a:rPr sz="3800"/>
            </a:br>
            <a:r>
              <a:rPr b="1" lang="en-US" sz="3800" spc="-1" strike="noStrike">
                <a:solidFill>
                  <a:srgbClr val="ffffff"/>
                </a:solidFill>
                <a:latin typeface="Arial"/>
              </a:rPr>
              <a:t>for Direct Trajectory Generation</a:t>
            </a:r>
            <a:br>
              <a:rPr sz="3800"/>
            </a:br>
            <a:r>
              <a:rPr b="1" lang="en-US" sz="3800" spc="-1" strike="noStrike">
                <a:solidFill>
                  <a:srgbClr val="ffffff"/>
                </a:solidFill>
                <a:latin typeface="Arial"/>
              </a:rPr>
              <a:t>in Robotic Manipulation</a:t>
            </a:r>
            <a:endParaRPr b="0" lang="en-US" sz="3800" spc="-1" strike="noStrike">
              <a:solidFill>
                <a:srgbClr val="ffffff"/>
              </a:solidFill>
              <a:latin typeface="Arial"/>
            </a:endParaRPr>
          </a:p>
        </p:txBody>
      </p:sp>
      <p:sp>
        <p:nvSpPr>
          <p:cNvPr id="75" name="TextBox 3"/>
          <p:cNvSpPr/>
          <p:nvPr/>
        </p:nvSpPr>
        <p:spPr>
          <a:xfrm>
            <a:off x="914400" y="3017520"/>
            <a:ext cx="10332360" cy="4248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2200" spc="-1" strike="noStrike">
                <a:solidFill>
                  <a:srgbClr val="d1d5db"/>
                </a:solidFill>
                <a:latin typeface="Arial"/>
              </a:rPr>
              <a:t>LLM-Driven Zero-Shot Pick-and-Place with the Sawyer Robot</a:t>
            </a:r>
            <a:endParaRPr b="0" lang="en-US" sz="2200" spc="-1" strike="noStrike">
              <a:solidFill>
                <a:srgbClr val="ffffff"/>
              </a:solidFill>
              <a:latin typeface="Arial"/>
            </a:endParaRPr>
          </a:p>
        </p:txBody>
      </p:sp>
      <p:sp>
        <p:nvSpPr>
          <p:cNvPr id="76" name="TextBox 4"/>
          <p:cNvSpPr/>
          <p:nvPr/>
        </p:nvSpPr>
        <p:spPr>
          <a:xfrm>
            <a:off x="914400" y="4389120"/>
            <a:ext cx="1033236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pc="-1" strike="noStrike">
                <a:solidFill>
                  <a:srgbClr val="9ca3af"/>
                </a:solidFill>
                <a:latin typeface="Arial"/>
              </a:rPr>
              <a:t>Jun  ·  Sergio  ·  David  ·  Cadavid  ·  Jossua</a:t>
            </a:r>
            <a:endParaRPr b="0" lang="en-US" sz="1800" spc="-1" strike="noStrike">
              <a:solidFill>
                <a:srgbClr val="ffffff"/>
              </a:solidFill>
              <a:latin typeface="Arial"/>
            </a:endParaRPr>
          </a:p>
        </p:txBody>
      </p:sp>
      <p:sp>
        <p:nvSpPr>
          <p:cNvPr id="77" name="TextBox 5"/>
          <p:cNvSpPr/>
          <p:nvPr/>
        </p:nvSpPr>
        <p:spPr>
          <a:xfrm>
            <a:off x="914400" y="4937760"/>
            <a:ext cx="10332360" cy="333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600" spc="-1" strike="noStrike">
                <a:solidFill>
                  <a:srgbClr val="9ca3af"/>
                </a:solidFill>
                <a:latin typeface="Arial"/>
              </a:rPr>
              <a:t>Robotics — Politecnico di Torino</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f2937"/>
        </a:solidFill>
      </p:bgPr>
    </p:bg>
    <p:spTree>
      <p:nvGrpSpPr>
        <p:cNvPr id="1" name=""/>
        <p:cNvGrpSpPr/>
        <p:nvPr/>
      </p:nvGrpSpPr>
      <p:grpSpPr>
        <a:xfrm>
          <a:off x="0" y="0"/>
          <a:ext cx="0" cy="0"/>
          <a:chOff x="0" y="0"/>
          <a:chExt cx="0" cy="0"/>
        </a:xfrm>
      </p:grpSpPr>
      <p:sp>
        <p:nvSpPr>
          <p:cNvPr id="78" name="TextBox 1"/>
          <p:cNvSpPr/>
          <p:nvPr/>
        </p:nvSpPr>
        <p:spPr>
          <a:xfrm>
            <a:off x="731520" y="320040"/>
            <a:ext cx="1005804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ffffff"/>
                </a:solidFill>
                <a:latin typeface="Arial"/>
              </a:rPr>
              <a:t>Why Large Language Models for Robotics?</a:t>
            </a:r>
            <a:endParaRPr b="0" lang="en-US" sz="3000" spc="-1" strike="noStrike">
              <a:solidFill>
                <a:srgbClr val="ffffff"/>
              </a:solidFill>
              <a:latin typeface="Arial"/>
            </a:endParaRPr>
          </a:p>
        </p:txBody>
      </p:sp>
      <p:sp>
        <p:nvSpPr>
          <p:cNvPr id="79" name="Rectangle 2"/>
          <p:cNvSpPr/>
          <p:nvPr/>
        </p:nvSpPr>
        <p:spPr>
          <a:xfrm>
            <a:off x="731520" y="914400"/>
            <a:ext cx="2285640" cy="37800"/>
          </a:xfrm>
          <a:prstGeom prst="rect">
            <a:avLst/>
          </a:prstGeom>
          <a:solidFill>
            <a:srgbClr val="6b728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80" name="TextBox 3"/>
          <p:cNvSpPr/>
          <p:nvPr/>
        </p:nvSpPr>
        <p:spPr>
          <a:xfrm>
            <a:off x="914400" y="1280160"/>
            <a:ext cx="10515240" cy="77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500" spc="-1" strike="noStrike">
                <a:solidFill>
                  <a:srgbClr val="d1d5db"/>
                </a:solidFill>
                <a:latin typeface="Arial"/>
              </a:rPr>
              <a:t>Traditional robotic manipulation relies on hand-crafted trajectories: a programmer must explicitly define every waypoint, every gripper angle, every timing parameter. This process is slow, error-prone, and breaks whenever the environment changes.</a:t>
            </a:r>
            <a:endParaRPr b="0" lang="en-US" sz="1500" spc="-1" strike="noStrike">
              <a:solidFill>
                <a:srgbClr val="ffffff"/>
              </a:solidFill>
              <a:latin typeface="Arial"/>
            </a:endParaRPr>
          </a:p>
        </p:txBody>
      </p:sp>
      <p:sp>
        <p:nvSpPr>
          <p:cNvPr id="81" name="TextBox 4"/>
          <p:cNvSpPr/>
          <p:nvPr/>
        </p:nvSpPr>
        <p:spPr>
          <a:xfrm>
            <a:off x="914400" y="1783080"/>
            <a:ext cx="1051524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500" spc="-1" strike="noStrike">
                <a:solidFill>
                  <a:srgbClr val="d1d5db"/>
                </a:solidFill>
                <a:latin typeface="Arial"/>
              </a:rPr>
              <a:t>Recent work (Kwon et al., Liang et al., Vemprala et al.) has shown that LLMs can write robot control code directly from natural language descriptions — zero-shot, without any fine-tuning or task-specific training.</a:t>
            </a:r>
            <a:endParaRPr b="0" lang="en-US" sz="1500" spc="-1" strike="noStrike">
              <a:solidFill>
                <a:srgbClr val="ffffff"/>
              </a:solidFill>
              <a:latin typeface="Arial"/>
            </a:endParaRPr>
          </a:p>
        </p:txBody>
      </p:sp>
      <p:sp>
        <p:nvSpPr>
          <p:cNvPr id="82" name="TextBox 5"/>
          <p:cNvSpPr/>
          <p:nvPr/>
        </p:nvSpPr>
        <p:spPr>
          <a:xfrm>
            <a:off x="914400" y="2286000"/>
            <a:ext cx="1051524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500" spc="-1" strike="noStrike">
                <a:solidFill>
                  <a:srgbClr val="d1d5db"/>
                </a:solidFill>
                <a:latin typeface="Arial"/>
              </a:rPr>
              <a:t>Instead of predicting joint angles or torques, these models generate Python code that calls robotics libraries (IK solvers, motion planners, perception pipelines). This makes the output interpretable, debuggable, and safe.</a:t>
            </a:r>
            <a:endParaRPr b="0" lang="en-US" sz="1500" spc="-1" strike="noStrike">
              <a:solidFill>
                <a:srgbClr val="ffffff"/>
              </a:solidFill>
              <a:latin typeface="Arial"/>
            </a:endParaRPr>
          </a:p>
        </p:txBody>
      </p:sp>
      <p:sp>
        <p:nvSpPr>
          <p:cNvPr id="83" name="TextBox 6"/>
          <p:cNvSpPr/>
          <p:nvPr/>
        </p:nvSpPr>
        <p:spPr>
          <a:xfrm>
            <a:off x="914400" y="2788920"/>
            <a:ext cx="1051524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500" spc="-1" strike="noStrike">
                <a:solidFill>
                  <a:srgbClr val="d1d5db"/>
                </a:solidFill>
                <a:latin typeface="Arial"/>
              </a:rPr>
              <a:t>Our goal: apply this paradigm to a Sawyer robot in simulation, using a locally-run LLM (Qwen2.5-Coder 3B) to generate pick-and-place trajectories from user-provided natural language instructions.</a:t>
            </a:r>
            <a:endParaRPr b="0" lang="en-US" sz="1500" spc="-1" strike="noStrike">
              <a:solidFill>
                <a:srgbClr val="ffffff"/>
              </a:solidFill>
              <a:latin typeface="Arial"/>
            </a:endParaRPr>
          </a:p>
        </p:txBody>
      </p:sp>
      <p:sp>
        <p:nvSpPr>
          <p:cNvPr id="84" name="TextBox 7"/>
          <p:cNvSpPr/>
          <p:nvPr/>
        </p:nvSpPr>
        <p:spPr>
          <a:xfrm>
            <a:off x="731520" y="6035040"/>
            <a:ext cx="1005804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9ca3af"/>
                </a:solidFill>
                <a:latin typeface="Arial"/>
              </a:rPr>
              <a:t>Key insight: the LLM acts as a code generator, not a motion predictor — it writes programs, not trajectories.</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f2937"/>
        </a:solidFill>
      </p:bgPr>
    </p:bg>
    <p:spTree>
      <p:nvGrpSpPr>
        <p:cNvPr id="1" name=""/>
        <p:cNvGrpSpPr/>
        <p:nvPr/>
      </p:nvGrpSpPr>
      <p:grpSpPr>
        <a:xfrm>
          <a:off x="0" y="0"/>
          <a:ext cx="0" cy="0"/>
          <a:chOff x="0" y="0"/>
          <a:chExt cx="0" cy="0"/>
        </a:xfrm>
      </p:grpSpPr>
      <p:sp>
        <p:nvSpPr>
          <p:cNvPr id="85" name="TextBox 1"/>
          <p:cNvSpPr/>
          <p:nvPr/>
        </p:nvSpPr>
        <p:spPr>
          <a:xfrm>
            <a:off x="731520" y="320040"/>
            <a:ext cx="1005804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ffffff"/>
                </a:solidFill>
                <a:latin typeface="Arial"/>
              </a:rPr>
              <a:t>System Architecture</a:t>
            </a:r>
            <a:endParaRPr b="0" lang="en-US" sz="3000" spc="-1" strike="noStrike">
              <a:solidFill>
                <a:srgbClr val="ffffff"/>
              </a:solidFill>
              <a:latin typeface="Arial"/>
            </a:endParaRPr>
          </a:p>
        </p:txBody>
      </p:sp>
      <p:sp>
        <p:nvSpPr>
          <p:cNvPr id="86" name="Rectangle 2"/>
          <p:cNvSpPr/>
          <p:nvPr/>
        </p:nvSpPr>
        <p:spPr>
          <a:xfrm>
            <a:off x="731520" y="914400"/>
            <a:ext cx="2285640" cy="37800"/>
          </a:xfrm>
          <a:prstGeom prst="rect">
            <a:avLst/>
          </a:prstGeom>
          <a:solidFill>
            <a:srgbClr val="6b728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87" name="TextBox 3"/>
          <p:cNvSpPr/>
          <p:nvPr/>
        </p:nvSpPr>
        <p:spPr>
          <a:xfrm>
            <a:off x="914400" y="1188720"/>
            <a:ext cx="10515240" cy="577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600" spc="-1" strike="noStrike">
                <a:solidFill>
                  <a:srgbClr val="d1d5db"/>
                </a:solidFill>
                <a:latin typeface="Arial"/>
              </a:rPr>
              <a:t>The system is divided into five sequential stages. Each stage produces the input for the next, forming a complete pipeline from user instruction to robotic action.</a:t>
            </a:r>
            <a:endParaRPr b="0" lang="en-US" sz="1600" spc="-1" strike="noStrike">
              <a:solidFill>
                <a:srgbClr val="ffffff"/>
              </a:solidFill>
              <a:latin typeface="Arial"/>
            </a:endParaRPr>
          </a:p>
        </p:txBody>
      </p:sp>
      <p:sp>
        <p:nvSpPr>
          <p:cNvPr id="88" name="Rectangle 4"/>
          <p:cNvSpPr/>
          <p:nvPr/>
        </p:nvSpPr>
        <p:spPr>
          <a:xfrm>
            <a:off x="548640" y="2377440"/>
            <a:ext cx="2028600" cy="1508760"/>
          </a:xfrm>
          <a:prstGeom prst="rect">
            <a:avLst/>
          </a:prstGeom>
          <a:solidFill>
            <a:srgbClr val="374151"/>
          </a:solidFill>
          <a:ln>
            <a:solidFill>
              <a:srgbClr val="6b72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9" name="TextBox 5"/>
          <p:cNvSpPr/>
          <p:nvPr/>
        </p:nvSpPr>
        <p:spPr>
          <a:xfrm>
            <a:off x="645480" y="2503080"/>
            <a:ext cx="1834920" cy="3038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400" spc="-1" strike="noStrike">
                <a:solidFill>
                  <a:srgbClr val="ffffff"/>
                </a:solidFill>
                <a:latin typeface="Arial"/>
              </a:rPr>
              <a:t>SIMULATION</a:t>
            </a:r>
            <a:endParaRPr b="0" lang="en-US" sz="1400" spc="-1" strike="noStrike">
              <a:solidFill>
                <a:srgbClr val="ffffff"/>
              </a:solidFill>
              <a:latin typeface="Arial"/>
            </a:endParaRPr>
          </a:p>
        </p:txBody>
      </p:sp>
      <p:sp>
        <p:nvSpPr>
          <p:cNvPr id="90" name="TextBox 6"/>
          <p:cNvSpPr/>
          <p:nvPr/>
        </p:nvSpPr>
        <p:spPr>
          <a:xfrm>
            <a:off x="645480" y="2943360"/>
            <a:ext cx="1834920" cy="5936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100" spc="-1" strike="noStrike">
                <a:solidFill>
                  <a:srgbClr val="d1d5db"/>
                </a:solidFill>
                <a:latin typeface="Arial"/>
              </a:rPr>
              <a:t>Gazebo + Sawyer</a:t>
            </a:r>
            <a:br>
              <a:rPr sz="1100"/>
            </a:br>
            <a:r>
              <a:rPr b="0" lang="en-US" sz="1100" spc="-1" strike="noStrike">
                <a:solidFill>
                  <a:srgbClr val="d1d5db"/>
                </a:solidFill>
                <a:latin typeface="Arial"/>
              </a:rPr>
              <a:t>Objects spawning</a:t>
            </a:r>
            <a:br>
              <a:rPr sz="1100"/>
            </a:br>
            <a:r>
              <a:rPr b="0" lang="en-US" sz="1100" spc="-1" strike="noStrike">
                <a:solidFill>
                  <a:srgbClr val="d1d5db"/>
                </a:solidFill>
                <a:latin typeface="Arial"/>
              </a:rPr>
              <a:t>Safe pose &amp; scan</a:t>
            </a:r>
            <a:endParaRPr b="0" lang="en-US" sz="1100" spc="-1" strike="noStrike">
              <a:solidFill>
                <a:srgbClr val="ffffff"/>
              </a:solidFill>
              <a:latin typeface="Arial"/>
            </a:endParaRPr>
          </a:p>
        </p:txBody>
      </p:sp>
      <p:sp>
        <p:nvSpPr>
          <p:cNvPr id="91" name="TextBox 7"/>
          <p:cNvSpPr/>
          <p:nvPr/>
        </p:nvSpPr>
        <p:spPr>
          <a:xfrm>
            <a:off x="2384280" y="2880720"/>
            <a:ext cx="579240" cy="517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2800" spc="-1" strike="noStrike">
                <a:solidFill>
                  <a:srgbClr val="6b7280"/>
                </a:solidFill>
                <a:latin typeface="Arial"/>
              </a:rPr>
              <a:t>→</a:t>
            </a:r>
            <a:endParaRPr b="0" lang="en-US" sz="2800" spc="-1" strike="noStrike">
              <a:solidFill>
                <a:srgbClr val="ffffff"/>
              </a:solidFill>
              <a:latin typeface="Arial"/>
            </a:endParaRPr>
          </a:p>
        </p:txBody>
      </p:sp>
      <p:sp>
        <p:nvSpPr>
          <p:cNvPr id="92" name="Rectangle 8"/>
          <p:cNvSpPr/>
          <p:nvPr/>
        </p:nvSpPr>
        <p:spPr>
          <a:xfrm>
            <a:off x="2819160" y="2377440"/>
            <a:ext cx="2028600" cy="1508760"/>
          </a:xfrm>
          <a:prstGeom prst="rect">
            <a:avLst/>
          </a:prstGeom>
          <a:solidFill>
            <a:srgbClr val="374151"/>
          </a:solidFill>
          <a:ln>
            <a:solidFill>
              <a:srgbClr val="6b72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3" name="TextBox 9"/>
          <p:cNvSpPr/>
          <p:nvPr/>
        </p:nvSpPr>
        <p:spPr>
          <a:xfrm>
            <a:off x="2915640" y="2503080"/>
            <a:ext cx="1835280" cy="3038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400" spc="-1" strike="noStrike">
                <a:solidFill>
                  <a:srgbClr val="ffffff"/>
                </a:solidFill>
                <a:latin typeface="Arial"/>
              </a:rPr>
              <a:t>PERCEPTION</a:t>
            </a:r>
            <a:endParaRPr b="0" lang="en-US" sz="1400" spc="-1" strike="noStrike">
              <a:solidFill>
                <a:srgbClr val="ffffff"/>
              </a:solidFill>
              <a:latin typeface="Arial"/>
            </a:endParaRPr>
          </a:p>
        </p:txBody>
      </p:sp>
      <p:sp>
        <p:nvSpPr>
          <p:cNvPr id="94" name="TextBox 10"/>
          <p:cNvSpPr/>
          <p:nvPr/>
        </p:nvSpPr>
        <p:spPr>
          <a:xfrm>
            <a:off x="2915640" y="2943360"/>
            <a:ext cx="1835280" cy="5936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100" spc="-1" strike="noStrike">
                <a:solidFill>
                  <a:srgbClr val="d1d5db"/>
                </a:solidFill>
                <a:latin typeface="Arial"/>
              </a:rPr>
              <a:t>YOLOv8 detection</a:t>
            </a:r>
            <a:br>
              <a:rPr sz="1100"/>
            </a:br>
            <a:r>
              <a:rPr b="0" lang="en-US" sz="1100" spc="-1" strike="noStrike">
                <a:solidFill>
                  <a:srgbClr val="d1d5db"/>
                </a:solidFill>
                <a:latin typeface="Arial"/>
              </a:rPr>
              <a:t>frame2world</a:t>
            </a:r>
            <a:br>
              <a:rPr sz="1100"/>
            </a:br>
            <a:r>
              <a:rPr b="0" lang="en-US" sz="1100" spc="-1" strike="noStrike">
                <a:solidFill>
                  <a:srgbClr val="d1d5db"/>
                </a:solidFill>
                <a:latin typeface="Arial"/>
              </a:rPr>
              <a:t>2D → 3D coords</a:t>
            </a:r>
            <a:endParaRPr b="0" lang="en-US" sz="1100" spc="-1" strike="noStrike">
              <a:solidFill>
                <a:srgbClr val="ffffff"/>
              </a:solidFill>
              <a:latin typeface="Arial"/>
            </a:endParaRPr>
          </a:p>
        </p:txBody>
      </p:sp>
      <p:sp>
        <p:nvSpPr>
          <p:cNvPr id="95" name="TextBox 11"/>
          <p:cNvSpPr/>
          <p:nvPr/>
        </p:nvSpPr>
        <p:spPr>
          <a:xfrm>
            <a:off x="4654800" y="2880720"/>
            <a:ext cx="579240" cy="517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2800" spc="-1" strike="noStrike">
                <a:solidFill>
                  <a:srgbClr val="6b7280"/>
                </a:solidFill>
                <a:latin typeface="Arial"/>
              </a:rPr>
              <a:t>→</a:t>
            </a:r>
            <a:endParaRPr b="0" lang="en-US" sz="2800" spc="-1" strike="noStrike">
              <a:solidFill>
                <a:srgbClr val="ffffff"/>
              </a:solidFill>
              <a:latin typeface="Arial"/>
            </a:endParaRPr>
          </a:p>
        </p:txBody>
      </p:sp>
      <p:sp>
        <p:nvSpPr>
          <p:cNvPr id="96" name="Rectangle 12"/>
          <p:cNvSpPr/>
          <p:nvPr/>
        </p:nvSpPr>
        <p:spPr>
          <a:xfrm>
            <a:off x="5089680" y="2377440"/>
            <a:ext cx="2027880" cy="1508760"/>
          </a:xfrm>
          <a:prstGeom prst="rect">
            <a:avLst/>
          </a:prstGeom>
          <a:solidFill>
            <a:srgbClr val="374151"/>
          </a:solidFill>
          <a:ln>
            <a:solidFill>
              <a:srgbClr val="6b72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7" name="TextBox 13"/>
          <p:cNvSpPr/>
          <p:nvPr/>
        </p:nvSpPr>
        <p:spPr>
          <a:xfrm>
            <a:off x="5186160" y="2503080"/>
            <a:ext cx="1834920" cy="3038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400" spc="-1" strike="noStrike">
                <a:solidFill>
                  <a:srgbClr val="ffffff"/>
                </a:solidFill>
                <a:latin typeface="Arial"/>
              </a:rPr>
              <a:t>LLM</a:t>
            </a:r>
            <a:endParaRPr b="0" lang="en-US" sz="1400" spc="-1" strike="noStrike">
              <a:solidFill>
                <a:srgbClr val="ffffff"/>
              </a:solidFill>
              <a:latin typeface="Arial"/>
            </a:endParaRPr>
          </a:p>
        </p:txBody>
      </p:sp>
      <p:sp>
        <p:nvSpPr>
          <p:cNvPr id="98" name="TextBox 14"/>
          <p:cNvSpPr/>
          <p:nvPr/>
        </p:nvSpPr>
        <p:spPr>
          <a:xfrm>
            <a:off x="5186160" y="2943360"/>
            <a:ext cx="1834920" cy="5936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100" spc="-1" strike="noStrike">
                <a:solidFill>
                  <a:srgbClr val="d1d5db"/>
                </a:solidFill>
                <a:latin typeface="Arial"/>
              </a:rPr>
              <a:t>System prompt</a:t>
            </a:r>
            <a:br>
              <a:rPr sz="1100"/>
            </a:br>
            <a:r>
              <a:rPr b="0" lang="en-US" sz="1100" spc="-1" strike="noStrike">
                <a:solidFill>
                  <a:srgbClr val="d1d5db"/>
                </a:solidFill>
                <a:latin typeface="Arial"/>
              </a:rPr>
              <a:t>Qwen2.5-Coder</a:t>
            </a:r>
            <a:br>
              <a:rPr sz="1100"/>
            </a:br>
            <a:r>
              <a:rPr b="0" lang="en-US" sz="1100" spc="-1" strike="noStrike">
                <a:solidFill>
                  <a:srgbClr val="d1d5db"/>
                </a:solidFill>
                <a:latin typeface="Arial"/>
              </a:rPr>
              <a:t>Code generation</a:t>
            </a:r>
            <a:endParaRPr b="0" lang="en-US" sz="1100" spc="-1" strike="noStrike">
              <a:solidFill>
                <a:srgbClr val="ffffff"/>
              </a:solidFill>
              <a:latin typeface="Arial"/>
            </a:endParaRPr>
          </a:p>
        </p:txBody>
      </p:sp>
      <p:sp>
        <p:nvSpPr>
          <p:cNvPr id="99" name="TextBox 15"/>
          <p:cNvSpPr/>
          <p:nvPr/>
        </p:nvSpPr>
        <p:spPr>
          <a:xfrm>
            <a:off x="6924960" y="2880720"/>
            <a:ext cx="579600" cy="517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endParaRPr b="0" lang="en-US" sz="1800" spc="-1" strike="noStrike">
              <a:solidFill>
                <a:srgbClr val="ffffff"/>
              </a:solidFill>
              <a:latin typeface="Arial"/>
            </a:endParaRPr>
          </a:p>
        </p:txBody>
      </p:sp>
      <p:sp>
        <p:nvSpPr>
          <p:cNvPr id="100" name="Rectangle 16"/>
          <p:cNvSpPr/>
          <p:nvPr/>
        </p:nvSpPr>
        <p:spPr>
          <a:xfrm>
            <a:off x="2787480" y="4434840"/>
            <a:ext cx="2028600" cy="1508760"/>
          </a:xfrm>
          <a:prstGeom prst="rect">
            <a:avLst/>
          </a:prstGeom>
          <a:solidFill>
            <a:srgbClr val="374151"/>
          </a:solidFill>
          <a:ln>
            <a:solidFill>
              <a:srgbClr val="6b72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1" name="TextBox 17"/>
          <p:cNvSpPr/>
          <p:nvPr/>
        </p:nvSpPr>
        <p:spPr>
          <a:xfrm>
            <a:off x="2884320" y="4560480"/>
            <a:ext cx="1835280" cy="3038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400" spc="-1" strike="noStrike">
                <a:solidFill>
                  <a:srgbClr val="ffffff"/>
                </a:solidFill>
                <a:latin typeface="Arial"/>
              </a:rPr>
              <a:t>MOTION</a:t>
            </a:r>
            <a:endParaRPr b="0" lang="en-US" sz="1400" spc="-1" strike="noStrike">
              <a:solidFill>
                <a:srgbClr val="ffffff"/>
              </a:solidFill>
              <a:latin typeface="Arial"/>
            </a:endParaRPr>
          </a:p>
        </p:txBody>
      </p:sp>
      <p:sp>
        <p:nvSpPr>
          <p:cNvPr id="102" name="TextBox 18"/>
          <p:cNvSpPr/>
          <p:nvPr/>
        </p:nvSpPr>
        <p:spPr>
          <a:xfrm>
            <a:off x="2884320" y="5000760"/>
            <a:ext cx="1835280" cy="5936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100" spc="-1" strike="noStrike">
                <a:solidFill>
                  <a:srgbClr val="d1d5db"/>
                </a:solidFill>
                <a:latin typeface="Arial"/>
              </a:rPr>
              <a:t>TRAC-IK solver</a:t>
            </a:r>
            <a:br>
              <a:rPr sz="1100"/>
            </a:br>
            <a:r>
              <a:rPr b="0" lang="en-US" sz="1100" spc="-1" strike="noStrike">
                <a:solidFill>
                  <a:srgbClr val="d1d5db"/>
                </a:solidFill>
                <a:latin typeface="Arial"/>
              </a:rPr>
              <a:t>Waypoint execution</a:t>
            </a:r>
            <a:br>
              <a:rPr sz="1100"/>
            </a:br>
            <a:r>
              <a:rPr b="0" lang="en-US" sz="1100" spc="-1" strike="noStrike">
                <a:solidFill>
                  <a:srgbClr val="d1d5db"/>
                </a:solidFill>
                <a:latin typeface="Arial"/>
              </a:rPr>
              <a:t>Gripper control</a:t>
            </a:r>
            <a:endParaRPr b="0" lang="en-US" sz="1100" spc="-1" strike="noStrike">
              <a:solidFill>
                <a:srgbClr val="ffffff"/>
              </a:solidFill>
              <a:latin typeface="Arial"/>
            </a:endParaRPr>
          </a:p>
        </p:txBody>
      </p:sp>
      <p:sp>
        <p:nvSpPr>
          <p:cNvPr id="103" name="TextBox 19"/>
          <p:cNvSpPr/>
          <p:nvPr/>
        </p:nvSpPr>
        <p:spPr>
          <a:xfrm>
            <a:off x="4623480" y="4938120"/>
            <a:ext cx="579240" cy="517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2800" spc="-1" strike="noStrike">
                <a:solidFill>
                  <a:srgbClr val="6b7280"/>
                </a:solidFill>
                <a:latin typeface="Arial"/>
              </a:rPr>
              <a:t>→</a:t>
            </a:r>
            <a:endParaRPr b="0" lang="en-US" sz="2800" spc="-1" strike="noStrike">
              <a:solidFill>
                <a:srgbClr val="ffffff"/>
              </a:solidFill>
              <a:latin typeface="Arial"/>
            </a:endParaRPr>
          </a:p>
        </p:txBody>
      </p:sp>
      <p:sp>
        <p:nvSpPr>
          <p:cNvPr id="104" name="Rectangle 20"/>
          <p:cNvSpPr/>
          <p:nvPr/>
        </p:nvSpPr>
        <p:spPr>
          <a:xfrm>
            <a:off x="5058000" y="4434840"/>
            <a:ext cx="2028600" cy="1508760"/>
          </a:xfrm>
          <a:prstGeom prst="rect">
            <a:avLst/>
          </a:prstGeom>
          <a:solidFill>
            <a:srgbClr val="374151"/>
          </a:solidFill>
          <a:ln>
            <a:solidFill>
              <a:srgbClr val="6b728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5" name="TextBox 21"/>
          <p:cNvSpPr/>
          <p:nvPr/>
        </p:nvSpPr>
        <p:spPr>
          <a:xfrm>
            <a:off x="5154840" y="4560480"/>
            <a:ext cx="1834920" cy="3038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400" spc="-1" strike="noStrike">
                <a:solidFill>
                  <a:srgbClr val="ffffff"/>
                </a:solidFill>
                <a:latin typeface="Arial"/>
              </a:rPr>
              <a:t>ROBOT</a:t>
            </a:r>
            <a:endParaRPr b="0" lang="en-US" sz="1400" spc="-1" strike="noStrike">
              <a:solidFill>
                <a:srgbClr val="ffffff"/>
              </a:solidFill>
              <a:latin typeface="Arial"/>
            </a:endParaRPr>
          </a:p>
        </p:txBody>
      </p:sp>
      <p:sp>
        <p:nvSpPr>
          <p:cNvPr id="106" name="TextBox 22"/>
          <p:cNvSpPr/>
          <p:nvPr/>
        </p:nvSpPr>
        <p:spPr>
          <a:xfrm>
            <a:off x="5154840" y="5000760"/>
            <a:ext cx="1834920" cy="5936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100" spc="-1" strike="noStrike">
                <a:solidFill>
                  <a:srgbClr val="d1d5db"/>
                </a:solidFill>
                <a:latin typeface="Arial"/>
              </a:rPr>
              <a:t>intera_interface</a:t>
            </a:r>
            <a:br>
              <a:rPr sz="1100"/>
            </a:br>
            <a:r>
              <a:rPr b="0" lang="en-US" sz="1100" spc="-1" strike="noStrike">
                <a:solidFill>
                  <a:srgbClr val="d1d5db"/>
                </a:solidFill>
                <a:latin typeface="Arial"/>
              </a:rPr>
              <a:t>Joint publishers</a:t>
            </a:r>
            <a:br>
              <a:rPr sz="1100"/>
            </a:br>
            <a:r>
              <a:rPr b="0" lang="en-US" sz="1100" spc="-1" strike="noStrike">
                <a:solidFill>
                  <a:srgbClr val="d1d5db"/>
                </a:solidFill>
                <a:latin typeface="Arial"/>
              </a:rPr>
              <a:t>ROS topics</a:t>
            </a:r>
            <a:endParaRPr b="0" lang="en-US" sz="1100" spc="-1" strike="noStrike">
              <a:solidFill>
                <a:srgbClr val="ffffff"/>
              </a:solidFill>
              <a:latin typeface="Arial"/>
            </a:endParaRPr>
          </a:p>
        </p:txBody>
      </p:sp>
      <p:pic>
        <p:nvPicPr>
          <p:cNvPr id="107" name="" descr=""/>
          <p:cNvPicPr/>
          <p:nvPr/>
        </p:nvPicPr>
        <p:blipFill>
          <a:blip r:embed="rId1"/>
          <a:stretch/>
        </p:blipFill>
        <p:spPr>
          <a:xfrm>
            <a:off x="8001000" y="1690560"/>
            <a:ext cx="3886200" cy="4938840"/>
          </a:xfrm>
          <a:prstGeom prst="rect">
            <a:avLst/>
          </a:prstGeom>
          <a:ln w="0">
            <a:noFill/>
          </a:ln>
        </p:spPr>
      </p:pic>
      <p:cxnSp>
        <p:nvCxnSpPr>
          <p:cNvPr id="108" name=""/>
          <p:cNvCxnSpPr>
            <a:stCxn id="96" idx="3"/>
            <a:endCxn id="100" idx="1"/>
          </p:cNvCxnSpPr>
          <p:nvPr/>
        </p:nvCxnSpPr>
        <p:spPr>
          <a:xfrm flipH="1">
            <a:off x="2787480" y="3131640"/>
            <a:ext cx="4330440" cy="2057760"/>
          </a:xfrm>
          <a:prstGeom prst="bentConnector5">
            <a:avLst>
              <a:gd name="adj1" fmla="val -4156"/>
              <a:gd name="adj2" fmla="val 50008"/>
              <a:gd name="adj3" fmla="val 106301"/>
            </a:avLst>
          </a:prstGeom>
          <a:ln w="0">
            <a:solidFill>
              <a:srgbClr val="6b7280"/>
            </a:solidFill>
          </a:ln>
        </p:spPr>
      </p:cxnSp>
      <p:sp>
        <p:nvSpPr>
          <p:cNvPr id="109" name=""/>
          <p:cNvSpPr/>
          <p:nvPr/>
        </p:nvSpPr>
        <p:spPr>
          <a:xfrm>
            <a:off x="2514600" y="5189040"/>
            <a:ext cx="276840" cy="0"/>
          </a:xfrm>
          <a:prstGeom prst="line">
            <a:avLst/>
          </a:prstGeom>
          <a:ln w="0">
            <a:solidFill>
              <a:srgbClr val="6b7280"/>
            </a:solidFill>
            <a:tailEnd len="med" type="triangle" w="med"/>
          </a:ln>
        </p:spPr>
        <p:style>
          <a:lnRef idx="0"/>
          <a:fillRef idx="0"/>
          <a:effectRef idx="0"/>
          <a:fontRef idx="minor"/>
        </p:style>
        <p:txBody>
          <a:bodyPr lIns="90000" rIns="90000" tIns="-45000" bIns="-45000" anchor="ctr">
            <a:noAutofit/>
          </a:bodyPr>
          <a:p>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f2937"/>
        </a:solidFill>
      </p:bgPr>
    </p:bg>
    <p:spTree>
      <p:nvGrpSpPr>
        <p:cNvPr id="1" name=""/>
        <p:cNvGrpSpPr/>
        <p:nvPr/>
      </p:nvGrpSpPr>
      <p:grpSpPr>
        <a:xfrm>
          <a:off x="0" y="0"/>
          <a:ext cx="0" cy="0"/>
          <a:chOff x="0" y="0"/>
          <a:chExt cx="0" cy="0"/>
        </a:xfrm>
      </p:grpSpPr>
      <p:sp>
        <p:nvSpPr>
          <p:cNvPr id="110" name="TextBox 1"/>
          <p:cNvSpPr/>
          <p:nvPr/>
        </p:nvSpPr>
        <p:spPr>
          <a:xfrm>
            <a:off x="731520" y="320040"/>
            <a:ext cx="1005804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ffffff"/>
                </a:solidFill>
                <a:latin typeface="Arial"/>
              </a:rPr>
              <a:t>Simulation Environment  —  Jun</a:t>
            </a:r>
            <a:endParaRPr b="0" lang="en-US" sz="3000" spc="-1" strike="noStrike">
              <a:solidFill>
                <a:srgbClr val="ffffff"/>
              </a:solidFill>
              <a:latin typeface="Arial"/>
            </a:endParaRPr>
          </a:p>
        </p:txBody>
      </p:sp>
      <p:sp>
        <p:nvSpPr>
          <p:cNvPr id="111" name="Rectangle 2"/>
          <p:cNvSpPr/>
          <p:nvPr/>
        </p:nvSpPr>
        <p:spPr>
          <a:xfrm>
            <a:off x="731520" y="914400"/>
            <a:ext cx="2285640" cy="37800"/>
          </a:xfrm>
          <a:prstGeom prst="rect">
            <a:avLst/>
          </a:prstGeom>
          <a:solidFill>
            <a:srgbClr val="6b728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112" name="TextBox 3"/>
          <p:cNvSpPr/>
          <p:nvPr/>
        </p:nvSpPr>
        <p:spPr>
          <a:xfrm>
            <a:off x="914400" y="1280160"/>
            <a:ext cx="10515240" cy="77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500" spc="-1" strike="noStrike">
                <a:solidFill>
                  <a:srgbClr val="d1d5db"/>
                </a:solidFill>
                <a:latin typeface="Arial"/>
              </a:rPr>
              <a:t>We use Gazebo as our simulation platform, running the Sawyer robot model with a parallel-jaw electric gripper. The simulation provides realistic physics, sensor data, and ROS integration, allowing us to develop and test the entire pipeline without a physical robot.</a:t>
            </a:r>
            <a:endParaRPr b="0" lang="en-US" sz="1500" spc="-1" strike="noStrike">
              <a:solidFill>
                <a:srgbClr val="ffffff"/>
              </a:solidFill>
              <a:latin typeface="Arial"/>
            </a:endParaRPr>
          </a:p>
        </p:txBody>
      </p:sp>
      <p:sp>
        <p:nvSpPr>
          <p:cNvPr id="113" name="TextBox 4"/>
          <p:cNvSpPr/>
          <p:nvPr/>
        </p:nvSpPr>
        <p:spPr>
          <a:xfrm>
            <a:off x="914400" y="1783080"/>
            <a:ext cx="10515240" cy="77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500" spc="-1" strike="noStrike">
                <a:solidFill>
                  <a:srgbClr val="d1d5db"/>
                </a:solidFill>
                <a:latin typeface="Arial"/>
              </a:rPr>
              <a:t>A custom launch file (sawyer_david.launch) orchestrates the startup sequence: first the world loads, then spawn_pick_place_scene.py populates the table with nine objects (blocks, cans, boxes of various sizes and colors) at 18 seconds.</a:t>
            </a:r>
            <a:endParaRPr b="0" lang="en-US" sz="1500" spc="-1" strike="noStrike">
              <a:solidFill>
                <a:srgbClr val="ffffff"/>
              </a:solidFill>
              <a:latin typeface="Arial"/>
            </a:endParaRPr>
          </a:p>
        </p:txBody>
      </p:sp>
      <p:sp>
        <p:nvSpPr>
          <p:cNvPr id="114" name="TextBox 5"/>
          <p:cNvSpPr/>
          <p:nvPr/>
        </p:nvSpPr>
        <p:spPr>
          <a:xfrm>
            <a:off x="914400" y="2286000"/>
            <a:ext cx="1051524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500" spc="-1" strike="noStrike">
                <a:solidFill>
                  <a:srgbClr val="d1d5db"/>
                </a:solidFill>
                <a:latin typeface="Arial"/>
              </a:rPr>
              <a:t>At 35 seconds, send_safe_pose.py moves the arm to a neutral posture. At 70 seconds, go_to_top_hand_camera_pos.py positions the hand camera directly above the workspace, ready for perception.</a:t>
            </a:r>
            <a:endParaRPr b="0" lang="en-US" sz="1500" spc="-1" strike="noStrike">
              <a:solidFill>
                <a:srgbClr val="ffffff"/>
              </a:solidFill>
              <a:latin typeface="Arial"/>
            </a:endParaRPr>
          </a:p>
        </p:txBody>
      </p:sp>
      <p:sp>
        <p:nvSpPr>
          <p:cNvPr id="115" name="TextBox 6"/>
          <p:cNvSpPr/>
          <p:nvPr/>
        </p:nvSpPr>
        <p:spPr>
          <a:xfrm>
            <a:off x="914400" y="2788920"/>
            <a:ext cx="1051524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500" spc="-1" strike="noStrike">
                <a:solidFill>
                  <a:srgbClr val="d1d5db"/>
                </a:solidFill>
                <a:latin typeface="Arial"/>
              </a:rPr>
              <a:t>This staged startup ensures everything is initialized before the LLM-generated code runs: the scene is set, the arm is ready, and the camera has a clear top-down view.</a:t>
            </a:r>
            <a:endParaRPr b="0" lang="en-US" sz="1500" spc="-1" strike="noStrike">
              <a:solidFill>
                <a:srgbClr val="ffffff"/>
              </a:solidFill>
              <a:latin typeface="Arial"/>
            </a:endParaRPr>
          </a:p>
        </p:txBody>
      </p:sp>
      <p:sp>
        <p:nvSpPr>
          <p:cNvPr id="116" name="TextBox 7"/>
          <p:cNvSpPr/>
          <p:nvPr/>
        </p:nvSpPr>
        <p:spPr>
          <a:xfrm>
            <a:off x="731520" y="6035040"/>
            <a:ext cx="1005804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9ca3af"/>
                </a:solidFill>
                <a:latin typeface="Arial"/>
              </a:rPr>
              <a:t>Timing: 0s launch → 18s objects → 35s safe pose → 70s camera scan ready.</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f2937"/>
        </a:solidFill>
      </p:bgPr>
    </p:bg>
    <p:spTree>
      <p:nvGrpSpPr>
        <p:cNvPr id="1" name=""/>
        <p:cNvGrpSpPr/>
        <p:nvPr/>
      </p:nvGrpSpPr>
      <p:grpSpPr>
        <a:xfrm>
          <a:off x="0" y="0"/>
          <a:ext cx="0" cy="0"/>
          <a:chOff x="0" y="0"/>
          <a:chExt cx="0" cy="0"/>
        </a:xfrm>
      </p:grpSpPr>
      <p:sp>
        <p:nvSpPr>
          <p:cNvPr id="117" name="TextBox 1"/>
          <p:cNvSpPr/>
          <p:nvPr/>
        </p:nvSpPr>
        <p:spPr>
          <a:xfrm>
            <a:off x="731520" y="320040"/>
            <a:ext cx="1005804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ffffff"/>
                </a:solidFill>
                <a:latin typeface="Arial"/>
              </a:rPr>
              <a:t>Scene Perception  —  Sergio</a:t>
            </a:r>
            <a:endParaRPr b="0" lang="en-US" sz="3000" spc="-1" strike="noStrike">
              <a:solidFill>
                <a:srgbClr val="ffffff"/>
              </a:solidFill>
              <a:latin typeface="Arial"/>
            </a:endParaRPr>
          </a:p>
        </p:txBody>
      </p:sp>
      <p:sp>
        <p:nvSpPr>
          <p:cNvPr id="118" name="Rectangle 2"/>
          <p:cNvSpPr/>
          <p:nvPr/>
        </p:nvSpPr>
        <p:spPr>
          <a:xfrm>
            <a:off x="731520" y="914400"/>
            <a:ext cx="2285640" cy="37800"/>
          </a:xfrm>
          <a:prstGeom prst="rect">
            <a:avLst/>
          </a:prstGeom>
          <a:solidFill>
            <a:srgbClr val="6b728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119" name="TextBox 3"/>
          <p:cNvSpPr/>
          <p:nvPr/>
        </p:nvSpPr>
        <p:spPr>
          <a:xfrm>
            <a:off x="914400" y="1280160"/>
            <a:ext cx="1051524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500" spc="-1" strike="noStrike">
                <a:solidFill>
                  <a:srgbClr val="d1d5db"/>
                </a:solidFill>
                <a:latin typeface="Arial"/>
              </a:rPr>
              <a:t>Before the robot can manipulate objects, it needs to know where they are. The perception pipeline starts with make_scene(), which captures an RGB image and a synchronized depth frame from the hand-mounted camera.</a:t>
            </a:r>
            <a:endParaRPr b="0" lang="en-US" sz="1500" spc="-1" strike="noStrike">
              <a:solidFill>
                <a:srgbClr val="ffffff"/>
              </a:solidFill>
              <a:latin typeface="Arial"/>
            </a:endParaRPr>
          </a:p>
        </p:txBody>
      </p:sp>
      <p:sp>
        <p:nvSpPr>
          <p:cNvPr id="120" name="TextBox 4"/>
          <p:cNvSpPr/>
          <p:nvPr/>
        </p:nvSpPr>
        <p:spPr>
          <a:xfrm>
            <a:off x="914400" y="1783080"/>
            <a:ext cx="1051524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500" spc="-1" strike="noStrike">
                <a:solidFill>
                  <a:srgbClr val="d1d5db"/>
                </a:solidFill>
                <a:latin typeface="Arial"/>
              </a:rPr>
              <a:t>A YOLOv8 model (trained on the object set) detects each visible object and returns 2D bounding boxes with class labels. The detector runs in real time and can handle partial occlusions and varying lighting conditions in simulation.</a:t>
            </a:r>
            <a:endParaRPr b="0" lang="en-US" sz="1500" spc="-1" strike="noStrike">
              <a:solidFill>
                <a:srgbClr val="ffffff"/>
              </a:solidFill>
              <a:latin typeface="Arial"/>
            </a:endParaRPr>
          </a:p>
        </p:txBody>
      </p:sp>
      <p:sp>
        <p:nvSpPr>
          <p:cNvPr id="121" name="TextBox 5"/>
          <p:cNvSpPr/>
          <p:nvPr/>
        </p:nvSpPr>
        <p:spPr>
          <a:xfrm>
            <a:off x="914400" y="2286000"/>
            <a:ext cx="10515240" cy="77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500" spc="-1" strike="noStrike">
                <a:solidFill>
                  <a:srgbClr val="d1d5db"/>
                </a:solidFill>
                <a:latin typeface="Arial"/>
              </a:rPr>
              <a:t>The 2D detections are meaningless for manipulation — the robot needs 3D coordinates. The frame2world.py module takes each bounding box center, samples the depth image at that pixel, and back-projects the 2D point into 3D world coordinates using the camera intrinsics and the known hand-eye transformation.</a:t>
            </a:r>
            <a:endParaRPr b="0" lang="en-US" sz="1500" spc="-1" strike="noStrike">
              <a:solidFill>
                <a:srgbClr val="ffffff"/>
              </a:solidFill>
              <a:latin typeface="Arial"/>
            </a:endParaRPr>
          </a:p>
        </p:txBody>
      </p:sp>
      <p:sp>
        <p:nvSpPr>
          <p:cNvPr id="122" name="TextBox 6"/>
          <p:cNvSpPr/>
          <p:nvPr/>
        </p:nvSpPr>
        <p:spPr>
          <a:xfrm>
            <a:off x="914400" y="2788920"/>
            <a:ext cx="1051524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500" spc="-1" strike="noStrike">
                <a:solidFill>
                  <a:srgbClr val="d1d5db"/>
                </a:solidFill>
                <a:latin typeface="Arial"/>
              </a:rPr>
              <a:t>The output is a Python dictionary mapping object names to their pose: {object_name: (x, y, z, yaw)}. This dictionary is passed to the LLM-generated code, which uses it to plan approach vectors and grasp targets.</a:t>
            </a:r>
            <a:endParaRPr b="0" lang="en-US" sz="1500" spc="-1" strike="noStrike">
              <a:solidFill>
                <a:srgbClr val="ffffff"/>
              </a:solidFill>
              <a:latin typeface="Arial"/>
            </a:endParaRPr>
          </a:p>
        </p:txBody>
      </p:sp>
      <p:sp>
        <p:nvSpPr>
          <p:cNvPr id="123" name="TextBox 7"/>
          <p:cNvSpPr/>
          <p:nvPr/>
        </p:nvSpPr>
        <p:spPr>
          <a:xfrm>
            <a:off x="731520" y="6035040"/>
            <a:ext cx="1005804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9ca3af"/>
                </a:solidFill>
                <a:latin typeface="Arial"/>
              </a:rPr>
              <a:t>Output: {object_name: (x, y, z, yaw)} — used directly by the motion planner.</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f2937"/>
        </a:solidFill>
      </p:bgPr>
    </p:bg>
    <p:spTree>
      <p:nvGrpSpPr>
        <p:cNvPr id="1" name=""/>
        <p:cNvGrpSpPr/>
        <p:nvPr/>
      </p:nvGrpSpPr>
      <p:grpSpPr>
        <a:xfrm>
          <a:off x="0" y="0"/>
          <a:ext cx="0" cy="0"/>
          <a:chOff x="0" y="0"/>
          <a:chExt cx="0" cy="0"/>
        </a:xfrm>
      </p:grpSpPr>
      <p:sp>
        <p:nvSpPr>
          <p:cNvPr id="124" name="TextBox 8"/>
          <p:cNvSpPr/>
          <p:nvPr/>
        </p:nvSpPr>
        <p:spPr>
          <a:xfrm>
            <a:off x="7525080" y="320040"/>
            <a:ext cx="434304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ffffff"/>
                </a:solidFill>
                <a:latin typeface="Arial"/>
              </a:rPr>
              <a:t>LLM Code Generation</a:t>
            </a:r>
            <a:endParaRPr b="0" lang="en-US" sz="3000" spc="-1" strike="noStrike">
              <a:solidFill>
                <a:srgbClr val="ffffff"/>
              </a:solidFill>
              <a:latin typeface="Arial"/>
            </a:endParaRPr>
          </a:p>
        </p:txBody>
      </p:sp>
      <p:sp>
        <p:nvSpPr>
          <p:cNvPr id="125" name="Rectangle 3"/>
          <p:cNvSpPr/>
          <p:nvPr/>
        </p:nvSpPr>
        <p:spPr>
          <a:xfrm>
            <a:off x="6931080" y="899280"/>
            <a:ext cx="2880000" cy="52920"/>
          </a:xfrm>
          <a:prstGeom prst="rect">
            <a:avLst/>
          </a:prstGeom>
          <a:solidFill>
            <a:srgbClr val="6b728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8280" bIns="8280" anchor="ctr">
            <a:noAutofit/>
          </a:bodyPr>
          <a:p>
            <a:endParaRPr b="0" lang="en-US" sz="1800" spc="-1" strike="noStrike">
              <a:solidFill>
                <a:schemeClr val="lt1"/>
              </a:solidFill>
              <a:latin typeface="Calibri"/>
            </a:endParaRPr>
          </a:p>
        </p:txBody>
      </p:sp>
      <p:sp>
        <p:nvSpPr>
          <p:cNvPr id="126" name="Shape 3"/>
          <p:cNvSpPr/>
          <p:nvPr/>
        </p:nvSpPr>
        <p:spPr>
          <a:xfrm>
            <a:off x="5862600" y="1230480"/>
            <a:ext cx="2888280" cy="1701360"/>
          </a:xfrm>
          <a:prstGeom prst="roundRect">
            <a:avLst>
              <a:gd name="adj" fmla="val 4370"/>
            </a:avLst>
          </a:prstGeom>
          <a:solidFill>
            <a:srgbClr val="101620"/>
          </a:solidFill>
          <a:ln w="14288">
            <a:solidFill>
              <a:srgbClr val="002a80"/>
            </a:solidFill>
            <a:round/>
          </a:ln>
        </p:spPr>
        <p:style>
          <a:lnRef idx="0"/>
          <a:fillRef idx="0"/>
          <a:effectRef idx="0"/>
          <a:fontRef idx="minor"/>
        </p:style>
        <p:txBody>
          <a:bodyPr lIns="90000" rIns="90000" tIns="45000" bIns="45000" anchor="t">
            <a:noAutofit/>
          </a:bodyPr>
          <a:p>
            <a:endParaRPr b="0" lang="en-US" sz="1800" spc="-1" strike="noStrike">
              <a:solidFill>
                <a:schemeClr val="dk1"/>
              </a:solidFill>
              <a:latin typeface="Calibri"/>
            </a:endParaRPr>
          </a:p>
        </p:txBody>
      </p:sp>
      <p:sp>
        <p:nvSpPr>
          <p:cNvPr id="127" name="Text 4"/>
          <p:cNvSpPr/>
          <p:nvPr/>
        </p:nvSpPr>
        <p:spPr>
          <a:xfrm>
            <a:off x="6056640" y="1398960"/>
            <a:ext cx="2197440" cy="287280"/>
          </a:xfrm>
          <a:prstGeom prst="rect">
            <a:avLst/>
          </a:prstGeom>
          <a:noFill/>
          <a:ln w="0">
            <a:noFill/>
          </a:ln>
        </p:spPr>
        <p:style>
          <a:lnRef idx="0"/>
          <a:fillRef idx="0"/>
          <a:effectRef idx="0"/>
          <a:fontRef idx="minor"/>
        </p:style>
        <p:txBody>
          <a:bodyPr wrap="none" lIns="0" rIns="0" tIns="0" bIns="0" anchor="t">
            <a:noAutofit/>
          </a:bodyPr>
          <a:p>
            <a:pPr defTabSz="457200">
              <a:lnSpc>
                <a:spcPct val="108000"/>
              </a:lnSpc>
              <a:tabLst>
                <a:tab algn="l" pos="0"/>
              </a:tabLst>
            </a:pPr>
            <a:r>
              <a:rPr b="1" lang="en-US" sz="1800" spc="-1" strike="noStrike">
                <a:solidFill>
                  <a:srgbClr val="ebedf0"/>
                </a:solidFill>
                <a:latin typeface="Geist Bold"/>
                <a:ea typeface="Geist Bold"/>
              </a:rPr>
              <a:t>Model</a:t>
            </a:r>
            <a:endParaRPr b="0" lang="en-US" sz="1800" spc="-1" strike="noStrike">
              <a:solidFill>
                <a:srgbClr val="ffffff"/>
              </a:solidFill>
              <a:latin typeface="Arial"/>
            </a:endParaRPr>
          </a:p>
        </p:txBody>
      </p:sp>
      <p:sp>
        <p:nvSpPr>
          <p:cNvPr id="128" name="Text 5"/>
          <p:cNvSpPr/>
          <p:nvPr/>
        </p:nvSpPr>
        <p:spPr>
          <a:xfrm>
            <a:off x="6056640" y="1813320"/>
            <a:ext cx="2500560" cy="918720"/>
          </a:xfrm>
          <a:prstGeom prst="rect">
            <a:avLst/>
          </a:prstGeom>
          <a:noFill/>
          <a:ln w="0">
            <a:noFill/>
          </a:ln>
        </p:spPr>
        <p:style>
          <a:lnRef idx="0"/>
          <a:fillRef idx="0"/>
          <a:effectRef idx="0"/>
          <a:fontRef idx="minor"/>
        </p:style>
        <p:txBody>
          <a:bodyPr lIns="0" rIns="0" tIns="0" bIns="0" anchor="t">
            <a:normAutofit/>
          </a:bodyPr>
          <a:p>
            <a:pPr defTabSz="457200">
              <a:lnSpc>
                <a:spcPct val="107000"/>
              </a:lnSpc>
              <a:tabLst>
                <a:tab algn="l" pos="0"/>
              </a:tabLst>
            </a:pPr>
            <a:r>
              <a:rPr b="0" lang="en-US" sz="1200" spc="-1" strike="noStrike">
                <a:solidFill>
                  <a:srgbClr val="ebedf0"/>
                </a:solidFill>
                <a:latin typeface="Geist"/>
                <a:ea typeface="Geist"/>
              </a:rPr>
              <a:t>Qwen2.5-Coder 3B — code-specialized LLM running locally via Ollama at </a:t>
            </a:r>
            <a:r>
              <a:rPr b="0" lang="en-US" sz="1200" spc="-1" strike="noStrike">
                <a:solidFill>
                  <a:srgbClr val="ebedf0"/>
                </a:solidFill>
                <a:highlight>
                  <a:srgbClr val="1d232d"/>
                </a:highlight>
                <a:latin typeface="Consolas"/>
                <a:ea typeface="Consolas"/>
              </a:rPr>
              <a:t>localhost:11434</a:t>
            </a:r>
            <a:endParaRPr b="0" lang="en-US" sz="1200" spc="-1" strike="noStrike">
              <a:solidFill>
                <a:srgbClr val="ffffff"/>
              </a:solidFill>
              <a:latin typeface="Arial"/>
            </a:endParaRPr>
          </a:p>
        </p:txBody>
      </p:sp>
      <p:sp>
        <p:nvSpPr>
          <p:cNvPr id="129" name="Shape 6"/>
          <p:cNvSpPr/>
          <p:nvPr/>
        </p:nvSpPr>
        <p:spPr>
          <a:xfrm>
            <a:off x="8979840" y="1226520"/>
            <a:ext cx="2888280" cy="1701360"/>
          </a:xfrm>
          <a:prstGeom prst="roundRect">
            <a:avLst>
              <a:gd name="adj" fmla="val 4370"/>
            </a:avLst>
          </a:prstGeom>
          <a:solidFill>
            <a:srgbClr val="101620"/>
          </a:solidFill>
          <a:ln w="14288">
            <a:solidFill>
              <a:srgbClr val="002a80"/>
            </a:solidFill>
            <a:round/>
          </a:ln>
        </p:spPr>
        <p:style>
          <a:lnRef idx="0"/>
          <a:fillRef idx="0"/>
          <a:effectRef idx="0"/>
          <a:fontRef idx="minor"/>
        </p:style>
        <p:txBody>
          <a:bodyPr lIns="90000" rIns="90000" tIns="45000" bIns="45000" anchor="t">
            <a:noAutofit/>
          </a:bodyPr>
          <a:p>
            <a:endParaRPr b="0" lang="en-US" sz="1800" spc="-1" strike="noStrike">
              <a:solidFill>
                <a:schemeClr val="dk1"/>
              </a:solidFill>
              <a:latin typeface="Calibri"/>
            </a:endParaRPr>
          </a:p>
        </p:txBody>
      </p:sp>
      <p:sp>
        <p:nvSpPr>
          <p:cNvPr id="130" name="Text 7"/>
          <p:cNvSpPr/>
          <p:nvPr/>
        </p:nvSpPr>
        <p:spPr>
          <a:xfrm>
            <a:off x="9173520" y="1399320"/>
            <a:ext cx="2197440" cy="287280"/>
          </a:xfrm>
          <a:prstGeom prst="rect">
            <a:avLst/>
          </a:prstGeom>
          <a:noFill/>
          <a:ln w="0">
            <a:noFill/>
          </a:ln>
        </p:spPr>
        <p:style>
          <a:lnRef idx="0"/>
          <a:fillRef idx="0"/>
          <a:effectRef idx="0"/>
          <a:fontRef idx="minor"/>
        </p:style>
        <p:txBody>
          <a:bodyPr wrap="none" lIns="0" rIns="0" tIns="0" bIns="0" anchor="t">
            <a:noAutofit/>
          </a:bodyPr>
          <a:p>
            <a:pPr defTabSz="457200">
              <a:lnSpc>
                <a:spcPct val="108000"/>
              </a:lnSpc>
              <a:tabLst>
                <a:tab algn="l" pos="0"/>
              </a:tabLst>
            </a:pPr>
            <a:r>
              <a:rPr b="1" lang="en-US" sz="1800" spc="-1" strike="noStrike">
                <a:solidFill>
                  <a:srgbClr val="ebedf0"/>
                </a:solidFill>
                <a:latin typeface="Geist Bold"/>
                <a:ea typeface="Geist Bold"/>
              </a:rPr>
              <a:t>Why Local</a:t>
            </a:r>
            <a:endParaRPr b="0" lang="en-US" sz="1800" spc="-1" strike="noStrike">
              <a:solidFill>
                <a:srgbClr val="ffffff"/>
              </a:solidFill>
              <a:latin typeface="Arial"/>
            </a:endParaRPr>
          </a:p>
        </p:txBody>
      </p:sp>
      <p:sp>
        <p:nvSpPr>
          <p:cNvPr id="131" name="Text 8"/>
          <p:cNvSpPr/>
          <p:nvPr/>
        </p:nvSpPr>
        <p:spPr>
          <a:xfrm>
            <a:off x="9173520" y="1801800"/>
            <a:ext cx="2500560" cy="912960"/>
          </a:xfrm>
          <a:prstGeom prst="rect">
            <a:avLst/>
          </a:prstGeom>
          <a:noFill/>
          <a:ln w="0">
            <a:noFill/>
          </a:ln>
        </p:spPr>
        <p:style>
          <a:lnRef idx="0"/>
          <a:fillRef idx="0"/>
          <a:effectRef idx="0"/>
          <a:fontRef idx="minor"/>
        </p:style>
        <p:txBody>
          <a:bodyPr lIns="0" rIns="0" tIns="0" bIns="0" anchor="t">
            <a:normAutofit/>
          </a:bodyPr>
          <a:p>
            <a:pPr defTabSz="457200">
              <a:lnSpc>
                <a:spcPct val="107000"/>
              </a:lnSpc>
              <a:tabLst>
                <a:tab algn="l" pos="0"/>
              </a:tabLst>
            </a:pPr>
            <a:r>
              <a:rPr b="0" lang="en-US" sz="1200" spc="-1" strike="noStrike">
                <a:solidFill>
                  <a:srgbClr val="ebedf0"/>
                </a:solidFill>
                <a:latin typeface="Geist"/>
                <a:ea typeface="Geist"/>
              </a:rPr>
              <a:t>Eliminates API latency, privacy risks, and inference costs — critical for iterative robotics research</a:t>
            </a:r>
            <a:endParaRPr b="0" lang="en-US" sz="1200" spc="-1" strike="noStrike">
              <a:solidFill>
                <a:srgbClr val="ffffff"/>
              </a:solidFill>
              <a:latin typeface="Arial"/>
            </a:endParaRPr>
          </a:p>
        </p:txBody>
      </p:sp>
      <p:sp>
        <p:nvSpPr>
          <p:cNvPr id="132" name="Shape 8"/>
          <p:cNvSpPr/>
          <p:nvPr/>
        </p:nvSpPr>
        <p:spPr>
          <a:xfrm>
            <a:off x="5918040" y="5292720"/>
            <a:ext cx="5950080" cy="1244880"/>
          </a:xfrm>
          <a:prstGeom prst="roundRect">
            <a:avLst>
              <a:gd name="adj" fmla="val 5972"/>
            </a:avLst>
          </a:prstGeom>
          <a:solidFill>
            <a:srgbClr val="101620"/>
          </a:solidFill>
          <a:ln w="14288">
            <a:solidFill>
              <a:srgbClr val="002a80"/>
            </a:solidFill>
            <a:round/>
          </a:ln>
        </p:spPr>
        <p:style>
          <a:lnRef idx="0"/>
          <a:fillRef idx="0"/>
          <a:effectRef idx="0"/>
          <a:fontRef idx="minor"/>
        </p:style>
        <p:txBody>
          <a:bodyPr lIns="90000" rIns="90000" tIns="45000" bIns="45000" anchor="t">
            <a:noAutofit/>
          </a:bodyPr>
          <a:p>
            <a:endParaRPr b="0" lang="en-US" sz="1800" spc="-1" strike="noStrike">
              <a:solidFill>
                <a:schemeClr val="dk1"/>
              </a:solidFill>
              <a:latin typeface="Calibri"/>
            </a:endParaRPr>
          </a:p>
        </p:txBody>
      </p:sp>
      <p:sp>
        <p:nvSpPr>
          <p:cNvPr id="133" name="Text 10"/>
          <p:cNvSpPr/>
          <p:nvPr/>
        </p:nvSpPr>
        <p:spPr>
          <a:xfrm>
            <a:off x="6208200" y="5461560"/>
            <a:ext cx="2197440" cy="287280"/>
          </a:xfrm>
          <a:prstGeom prst="rect">
            <a:avLst/>
          </a:prstGeom>
          <a:noFill/>
          <a:ln w="0">
            <a:noFill/>
          </a:ln>
        </p:spPr>
        <p:style>
          <a:lnRef idx="0"/>
          <a:fillRef idx="0"/>
          <a:effectRef idx="0"/>
          <a:fontRef idx="minor"/>
        </p:style>
        <p:txBody>
          <a:bodyPr wrap="none" lIns="0" rIns="0" tIns="0" bIns="0" anchor="t">
            <a:noAutofit/>
          </a:bodyPr>
          <a:p>
            <a:pPr defTabSz="457200">
              <a:lnSpc>
                <a:spcPct val="108000"/>
              </a:lnSpc>
              <a:tabLst>
                <a:tab algn="l" pos="0"/>
              </a:tabLst>
            </a:pPr>
            <a:r>
              <a:rPr b="1" lang="en-US" sz="1800" spc="-1" strike="noStrike">
                <a:solidFill>
                  <a:srgbClr val="ebedf0"/>
                </a:solidFill>
                <a:latin typeface="Geist Bold"/>
                <a:ea typeface="Geist Bold"/>
              </a:rPr>
              <a:t>Output</a:t>
            </a:r>
            <a:endParaRPr b="0" lang="en-US" sz="1800" spc="-1" strike="noStrike">
              <a:solidFill>
                <a:srgbClr val="ffffff"/>
              </a:solidFill>
              <a:latin typeface="Arial"/>
            </a:endParaRPr>
          </a:p>
        </p:txBody>
      </p:sp>
      <p:sp>
        <p:nvSpPr>
          <p:cNvPr id="134" name="Text 11"/>
          <p:cNvSpPr/>
          <p:nvPr/>
        </p:nvSpPr>
        <p:spPr>
          <a:xfrm>
            <a:off x="6152040" y="5921640"/>
            <a:ext cx="5562360" cy="462240"/>
          </a:xfrm>
          <a:prstGeom prst="rect">
            <a:avLst/>
          </a:prstGeom>
          <a:noFill/>
          <a:ln w="0">
            <a:noFill/>
          </a:ln>
        </p:spPr>
        <p:style>
          <a:lnRef idx="0"/>
          <a:fillRef idx="0"/>
          <a:effectRef idx="0"/>
          <a:fontRef idx="minor"/>
        </p:style>
        <p:txBody>
          <a:bodyPr lIns="0" rIns="0" tIns="0" bIns="0" anchor="t">
            <a:normAutofit/>
          </a:bodyPr>
          <a:p>
            <a:pPr defTabSz="457200">
              <a:lnSpc>
                <a:spcPct val="107000"/>
              </a:lnSpc>
              <a:tabLst>
                <a:tab algn="l" pos="0"/>
              </a:tabLst>
            </a:pPr>
            <a:r>
              <a:rPr b="0" lang="en-US" sz="1200" spc="-1" strike="noStrike">
                <a:solidFill>
                  <a:srgbClr val="ebedf0"/>
                </a:solidFill>
                <a:latin typeface="Geist"/>
                <a:ea typeface="Geist"/>
              </a:rPr>
              <a:t>Generates a complete, executable Python script (</a:t>
            </a:r>
            <a:r>
              <a:rPr b="0" lang="en-US" sz="1200" spc="-1" strike="noStrike">
                <a:solidFill>
                  <a:srgbClr val="ebedf0"/>
                </a:solidFill>
                <a:highlight>
                  <a:srgbClr val="1d232d"/>
                </a:highlight>
                <a:latin typeface="Consolas"/>
                <a:ea typeface="Consolas"/>
              </a:rPr>
              <a:t>generated_task.py</a:t>
            </a:r>
            <a:r>
              <a:rPr b="0" lang="en-US" sz="1200" spc="-1" strike="noStrike">
                <a:solidFill>
                  <a:srgbClr val="ebedf0"/>
                </a:solidFill>
                <a:latin typeface="Geist"/>
                <a:ea typeface="Geist"/>
              </a:rPr>
              <a:t>) from raw natural language.</a:t>
            </a:r>
            <a:endParaRPr b="0" lang="en-US" sz="1200" spc="-1" strike="noStrike">
              <a:solidFill>
                <a:srgbClr val="ffffff"/>
              </a:solidFill>
              <a:latin typeface="Arial"/>
            </a:endParaRPr>
          </a:p>
        </p:txBody>
      </p:sp>
      <p:sp>
        <p:nvSpPr>
          <p:cNvPr id="135" name="Shape 9"/>
          <p:cNvSpPr/>
          <p:nvPr/>
        </p:nvSpPr>
        <p:spPr>
          <a:xfrm>
            <a:off x="5862600" y="3284640"/>
            <a:ext cx="2888280" cy="1701360"/>
          </a:xfrm>
          <a:prstGeom prst="roundRect">
            <a:avLst>
              <a:gd name="adj" fmla="val 4370"/>
            </a:avLst>
          </a:prstGeom>
          <a:solidFill>
            <a:srgbClr val="101620"/>
          </a:solidFill>
          <a:ln w="14288">
            <a:solidFill>
              <a:srgbClr val="002a80"/>
            </a:solidFill>
            <a:round/>
          </a:ln>
        </p:spPr>
        <p:style>
          <a:lnRef idx="0"/>
          <a:fillRef idx="0"/>
          <a:effectRef idx="0"/>
          <a:fontRef idx="minor"/>
        </p:style>
        <p:txBody>
          <a:bodyPr lIns="90000" rIns="90000" tIns="45000" bIns="45000" anchor="t">
            <a:noAutofit/>
          </a:bodyPr>
          <a:p>
            <a:endParaRPr b="0" lang="en-US" sz="1800" spc="-1" strike="noStrike">
              <a:solidFill>
                <a:schemeClr val="dk1"/>
              </a:solidFill>
              <a:latin typeface="Calibri"/>
            </a:endParaRPr>
          </a:p>
        </p:txBody>
      </p:sp>
      <p:sp>
        <p:nvSpPr>
          <p:cNvPr id="136" name="Text 17"/>
          <p:cNvSpPr/>
          <p:nvPr/>
        </p:nvSpPr>
        <p:spPr>
          <a:xfrm>
            <a:off x="6056640" y="3470400"/>
            <a:ext cx="2197440" cy="287280"/>
          </a:xfrm>
          <a:prstGeom prst="rect">
            <a:avLst/>
          </a:prstGeom>
          <a:noFill/>
          <a:ln w="0">
            <a:noFill/>
          </a:ln>
        </p:spPr>
        <p:style>
          <a:lnRef idx="0"/>
          <a:fillRef idx="0"/>
          <a:effectRef idx="0"/>
          <a:fontRef idx="minor"/>
        </p:style>
        <p:txBody>
          <a:bodyPr wrap="none" lIns="0" rIns="0" tIns="0" bIns="0" anchor="t">
            <a:noAutofit/>
          </a:bodyPr>
          <a:p>
            <a:pPr defTabSz="457200">
              <a:lnSpc>
                <a:spcPct val="108000"/>
              </a:lnSpc>
              <a:tabLst>
                <a:tab algn="l" pos="0"/>
              </a:tabLst>
            </a:pPr>
            <a:r>
              <a:rPr b="1" lang="en-US" sz="1800" spc="-1" strike="noStrike">
                <a:solidFill>
                  <a:srgbClr val="ebedf0"/>
                </a:solidFill>
                <a:latin typeface="Geist Bold"/>
                <a:ea typeface="Geist Bold"/>
              </a:rPr>
              <a:t>The System Prompt</a:t>
            </a:r>
            <a:endParaRPr b="0" lang="en-US" sz="1800" spc="-1" strike="noStrike">
              <a:solidFill>
                <a:srgbClr val="ffffff"/>
              </a:solidFill>
              <a:latin typeface="Arial"/>
            </a:endParaRPr>
          </a:p>
        </p:txBody>
      </p:sp>
      <p:sp>
        <p:nvSpPr>
          <p:cNvPr id="137" name="Text 18"/>
          <p:cNvSpPr/>
          <p:nvPr/>
        </p:nvSpPr>
        <p:spPr>
          <a:xfrm>
            <a:off x="6096600" y="3913560"/>
            <a:ext cx="2500560" cy="918720"/>
          </a:xfrm>
          <a:prstGeom prst="rect">
            <a:avLst/>
          </a:prstGeom>
          <a:noFill/>
          <a:ln w="0">
            <a:noFill/>
          </a:ln>
        </p:spPr>
        <p:style>
          <a:lnRef idx="0"/>
          <a:fillRef idx="0"/>
          <a:effectRef idx="0"/>
          <a:fontRef idx="minor"/>
        </p:style>
        <p:txBody>
          <a:bodyPr lIns="0" rIns="0" tIns="0" bIns="0" anchor="t">
            <a:normAutofit/>
          </a:bodyPr>
          <a:p>
            <a:pPr defTabSz="457200">
              <a:lnSpc>
                <a:spcPct val="100000"/>
              </a:lnSpc>
            </a:pPr>
            <a:r>
              <a:rPr b="0" lang="en-US" sz="1200" spc="-1" strike="noStrike">
                <a:solidFill>
                  <a:schemeClr val="lt1"/>
                </a:solidFill>
                <a:latin typeface="Calibri"/>
              </a:rPr>
              <a:t>A </a:t>
            </a:r>
            <a:r>
              <a:rPr b="0" lang="en-US" sz="1200" spc="-1" strike="noStrike">
                <a:solidFill>
                  <a:srgbClr val="ebedf0"/>
                </a:solidFill>
                <a:highlight>
                  <a:srgbClr val="1d232d"/>
                </a:highlight>
                <a:latin typeface="Consolas"/>
                <a:ea typeface="Consolas"/>
              </a:rPr>
              <a:t>system_prompt.md</a:t>
            </a:r>
            <a:r>
              <a:rPr b="0" lang="en-US" sz="1200" spc="-1" strike="noStrike">
                <a:solidFill>
                  <a:srgbClr val="ebedf0"/>
                </a:solidFill>
                <a:latin typeface="Geist"/>
                <a:ea typeface="Geist"/>
              </a:rPr>
              <a:t> defines the full robot API, acting as the LLM's instruction manual.</a:t>
            </a:r>
            <a:endParaRPr b="0" lang="en-US" sz="1200" spc="-1" strike="noStrike">
              <a:solidFill>
                <a:srgbClr val="ffffff"/>
              </a:solidFill>
              <a:latin typeface="Arial"/>
            </a:endParaRPr>
          </a:p>
        </p:txBody>
      </p:sp>
      <p:sp>
        <p:nvSpPr>
          <p:cNvPr id="138" name="Shape 10"/>
          <p:cNvSpPr/>
          <p:nvPr/>
        </p:nvSpPr>
        <p:spPr>
          <a:xfrm>
            <a:off x="8979840" y="3260880"/>
            <a:ext cx="2888280" cy="1701360"/>
          </a:xfrm>
          <a:prstGeom prst="roundRect">
            <a:avLst>
              <a:gd name="adj" fmla="val 4370"/>
            </a:avLst>
          </a:prstGeom>
          <a:solidFill>
            <a:srgbClr val="101620"/>
          </a:solidFill>
          <a:ln w="14288">
            <a:solidFill>
              <a:srgbClr val="002a80"/>
            </a:solidFill>
            <a:round/>
          </a:ln>
        </p:spPr>
        <p:style>
          <a:lnRef idx="0"/>
          <a:fillRef idx="0"/>
          <a:effectRef idx="0"/>
          <a:fontRef idx="minor"/>
        </p:style>
        <p:txBody>
          <a:bodyPr lIns="90000" rIns="90000" tIns="45000" bIns="45000" anchor="t">
            <a:noAutofit/>
          </a:bodyPr>
          <a:p>
            <a:endParaRPr b="0" lang="en-US" sz="1800" spc="-1" strike="noStrike">
              <a:solidFill>
                <a:schemeClr val="dk1"/>
              </a:solidFill>
              <a:latin typeface="Calibri"/>
            </a:endParaRPr>
          </a:p>
        </p:txBody>
      </p:sp>
      <p:sp>
        <p:nvSpPr>
          <p:cNvPr id="139" name="Text 19"/>
          <p:cNvSpPr/>
          <p:nvPr/>
        </p:nvSpPr>
        <p:spPr>
          <a:xfrm>
            <a:off x="9173520" y="3451680"/>
            <a:ext cx="2197440" cy="306000"/>
          </a:xfrm>
          <a:prstGeom prst="rect">
            <a:avLst/>
          </a:prstGeom>
          <a:noFill/>
          <a:ln w="0">
            <a:noFill/>
          </a:ln>
        </p:spPr>
        <p:style>
          <a:lnRef idx="0"/>
          <a:fillRef idx="0"/>
          <a:effectRef idx="0"/>
          <a:fontRef idx="minor"/>
        </p:style>
        <p:txBody>
          <a:bodyPr wrap="none" lIns="0" rIns="0" tIns="0" bIns="0" anchor="t">
            <a:noAutofit/>
          </a:bodyPr>
          <a:p>
            <a:pPr defTabSz="457200">
              <a:lnSpc>
                <a:spcPct val="108000"/>
              </a:lnSpc>
            </a:pPr>
            <a:r>
              <a:rPr b="1" lang="en-US" sz="1800" spc="-1" strike="noStrike">
                <a:solidFill>
                  <a:srgbClr val="ebedf0"/>
                </a:solidFill>
                <a:latin typeface="Geist Bold"/>
                <a:ea typeface="Geist Bold"/>
              </a:rPr>
              <a:t>Orchestration</a:t>
            </a:r>
            <a:endParaRPr b="0" lang="en-US" sz="1800" spc="-1" strike="noStrike">
              <a:solidFill>
                <a:srgbClr val="ffffff"/>
              </a:solidFill>
              <a:latin typeface="Arial"/>
            </a:endParaRPr>
          </a:p>
        </p:txBody>
      </p:sp>
      <p:sp>
        <p:nvSpPr>
          <p:cNvPr id="140" name="Text 20"/>
          <p:cNvSpPr/>
          <p:nvPr/>
        </p:nvSpPr>
        <p:spPr>
          <a:xfrm>
            <a:off x="9213840" y="3890880"/>
            <a:ext cx="2500560" cy="912960"/>
          </a:xfrm>
          <a:prstGeom prst="rect">
            <a:avLst/>
          </a:prstGeom>
          <a:noFill/>
          <a:ln w="0">
            <a:noFill/>
          </a:ln>
        </p:spPr>
        <p:style>
          <a:lnRef idx="0"/>
          <a:fillRef idx="0"/>
          <a:effectRef idx="0"/>
          <a:fontRef idx="minor"/>
        </p:style>
        <p:txBody>
          <a:bodyPr lIns="0" rIns="0" tIns="0" bIns="0" anchor="t">
            <a:normAutofit/>
          </a:bodyPr>
          <a:p>
            <a:pPr defTabSz="457200">
              <a:lnSpc>
                <a:spcPct val="94000"/>
              </a:lnSpc>
            </a:pPr>
            <a:r>
              <a:rPr b="0" lang="en-US" sz="1200" spc="-1" strike="noStrike">
                <a:solidFill>
                  <a:srgbClr val="ebedf0"/>
                </a:solidFill>
                <a:latin typeface="Geist"/>
                <a:ea typeface="Geist"/>
              </a:rPr>
              <a:t>Captures user input, queries Ollama, writes generated code, reloads the module, and executes </a:t>
            </a:r>
            <a:r>
              <a:rPr b="0" lang="en-US" sz="1200" spc="-1" strike="noStrike">
                <a:solidFill>
                  <a:srgbClr val="ebedf0"/>
                </a:solidFill>
                <a:highlight>
                  <a:srgbClr val="1d232d"/>
                </a:highlight>
                <a:latin typeface="Consolas"/>
                <a:ea typeface="Consolas"/>
              </a:rPr>
              <a:t>execute_task()</a:t>
            </a:r>
            <a:r>
              <a:rPr b="0" lang="en-US" sz="1200" spc="-1" strike="noStrike">
                <a:solidFill>
                  <a:srgbClr val="ebedf0"/>
                </a:solidFill>
                <a:latin typeface="Geist"/>
                <a:ea typeface="Geist"/>
              </a:rPr>
              <a:t>. Built-in retry logic ensures robustness.</a:t>
            </a:r>
            <a:endParaRPr b="0" lang="en-US" sz="1200" spc="-1" strike="noStrike">
              <a:solidFill>
                <a:srgbClr val="ffffff"/>
              </a:solidFill>
              <a:latin typeface="Arial"/>
            </a:endParaRPr>
          </a:p>
        </p:txBody>
      </p:sp>
      <p:pic>
        <p:nvPicPr>
          <p:cNvPr id="141" name="Picture 2" descr=""/>
          <p:cNvPicPr/>
          <p:nvPr/>
        </p:nvPicPr>
        <p:blipFill>
          <a:blip r:embed="rId1"/>
          <a:stretch/>
        </p:blipFill>
        <p:spPr>
          <a:xfrm>
            <a:off x="0" y="1979280"/>
            <a:ext cx="5763240" cy="325116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f2937"/>
        </a:solidFill>
      </p:bgPr>
    </p:bg>
    <p:spTree>
      <p:nvGrpSpPr>
        <p:cNvPr id="1" name=""/>
        <p:cNvGrpSpPr/>
        <p:nvPr/>
      </p:nvGrpSpPr>
      <p:grpSpPr>
        <a:xfrm>
          <a:off x="0" y="0"/>
          <a:ext cx="0" cy="0"/>
          <a:chOff x="0" y="0"/>
          <a:chExt cx="0" cy="0"/>
        </a:xfrm>
      </p:grpSpPr>
      <p:sp>
        <p:nvSpPr>
          <p:cNvPr id="142" name="TextBox 1"/>
          <p:cNvSpPr/>
          <p:nvPr/>
        </p:nvSpPr>
        <p:spPr>
          <a:xfrm>
            <a:off x="731520" y="320040"/>
            <a:ext cx="1005804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ffffff"/>
                </a:solidFill>
                <a:latin typeface="Arial"/>
              </a:rPr>
              <a:t>Motion Control  —  Cadavid</a:t>
            </a:r>
            <a:endParaRPr b="0" lang="en-US" sz="3000" spc="-1" strike="noStrike">
              <a:solidFill>
                <a:srgbClr val="ffffff"/>
              </a:solidFill>
              <a:latin typeface="Arial"/>
            </a:endParaRPr>
          </a:p>
        </p:txBody>
      </p:sp>
      <p:sp>
        <p:nvSpPr>
          <p:cNvPr id="143" name="Rectangle 2"/>
          <p:cNvSpPr/>
          <p:nvPr/>
        </p:nvSpPr>
        <p:spPr>
          <a:xfrm>
            <a:off x="731520" y="914400"/>
            <a:ext cx="2285640" cy="37800"/>
          </a:xfrm>
          <a:prstGeom prst="rect">
            <a:avLst/>
          </a:prstGeom>
          <a:solidFill>
            <a:srgbClr val="6b728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144" name="TextBox 3"/>
          <p:cNvSpPr/>
          <p:nvPr/>
        </p:nvSpPr>
        <p:spPr>
          <a:xfrm>
            <a:off x="914400" y="1280160"/>
            <a:ext cx="10515240" cy="77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500" spc="-1" strike="noStrike">
                <a:solidFill>
                  <a:srgbClr val="d1d5db"/>
                </a:solidFill>
                <a:latin typeface="Arial"/>
              </a:rPr>
              <a:t>The generated code calls execute_waypoints() with a list of target poses. Each waypoint specifies a position and orientation for the end-effector. The motion controller processes these waypoints using an L-shaped vertical approach pattern: move above the target, descend straight down, grasp, lift straight up, then move to the destination.</a:t>
            </a:r>
            <a:endParaRPr b="0" lang="en-US" sz="1500" spc="-1" strike="noStrike">
              <a:solidFill>
                <a:srgbClr val="ffffff"/>
              </a:solidFill>
              <a:latin typeface="Arial"/>
            </a:endParaRPr>
          </a:p>
        </p:txBody>
      </p:sp>
      <p:sp>
        <p:nvSpPr>
          <p:cNvPr id="145" name="TextBox 4"/>
          <p:cNvSpPr/>
          <p:nvPr/>
        </p:nvSpPr>
        <p:spPr>
          <a:xfrm>
            <a:off x="914400" y="1783080"/>
            <a:ext cx="10515240" cy="77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500" spc="-1" strike="noStrike">
                <a:solidFill>
                  <a:srgbClr val="d1d5db"/>
                </a:solidFill>
                <a:latin typeface="Arial"/>
              </a:rPr>
              <a:t>For each target pose, the system calls _compute_ik(), which uses TRAC-IK — a fast and robust inverse kinematics solver. TRAC-IK efficiently finds joint configurations that satisfy the desired end-effector pose while respecting joint limits and avoiding singularities.</a:t>
            </a:r>
            <a:endParaRPr b="0" lang="en-US" sz="1500" spc="-1" strike="noStrike">
              <a:solidFill>
                <a:srgbClr val="ffffff"/>
              </a:solidFill>
              <a:latin typeface="Arial"/>
            </a:endParaRPr>
          </a:p>
        </p:txBody>
      </p:sp>
      <p:sp>
        <p:nvSpPr>
          <p:cNvPr id="146" name="TextBox 5"/>
          <p:cNvSpPr/>
          <p:nvPr/>
        </p:nvSpPr>
        <p:spPr>
          <a:xfrm>
            <a:off x="914400" y="2286000"/>
            <a:ext cx="10515240" cy="77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500" spc="-1" strike="noStrike">
                <a:solidFill>
                  <a:srgbClr val="d1d5db"/>
                </a:solidFill>
                <a:latin typeface="Arial"/>
              </a:rPr>
              <a:t>Before grasping, adjust_grasp_waypoints() inserts additional waypoints: a pre-grasp offset (slightly above the object), an approach vector (straight down to the object), and a retreat vector (straight up after closing the gripper). This ensures clean, collision-free pick-ups.</a:t>
            </a:r>
            <a:endParaRPr b="0" lang="en-US" sz="1500" spc="-1" strike="noStrike">
              <a:solidFill>
                <a:srgbClr val="ffffff"/>
              </a:solidFill>
              <a:latin typeface="Arial"/>
            </a:endParaRPr>
          </a:p>
        </p:txBody>
      </p:sp>
      <p:sp>
        <p:nvSpPr>
          <p:cNvPr id="147" name="TextBox 6"/>
          <p:cNvSpPr/>
          <p:nvPr/>
        </p:nvSpPr>
        <p:spPr>
          <a:xfrm>
            <a:off x="914400" y="2788920"/>
            <a:ext cx="10515240" cy="77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500" spc="-1" strike="noStrike">
                <a:solidFill>
                  <a:srgbClr val="d1d5db"/>
                </a:solidFill>
                <a:latin typeface="Arial"/>
              </a:rPr>
              <a:t>The gripper is controlled through intera_interface: close with controlled force, verify grasp (wait_and_check_grasp), lift via move_straight_z(), move to place location, open to release. The entire motion sequence is synchronized through ROS topic publishers.</a:t>
            </a:r>
            <a:endParaRPr b="0" lang="en-US" sz="1500" spc="-1" strike="noStrike">
              <a:solidFill>
                <a:srgbClr val="ffffff"/>
              </a:solidFill>
              <a:latin typeface="Arial"/>
            </a:endParaRPr>
          </a:p>
        </p:txBody>
      </p:sp>
      <p:sp>
        <p:nvSpPr>
          <p:cNvPr id="148" name="TextBox 7"/>
          <p:cNvSpPr/>
          <p:nvPr/>
        </p:nvSpPr>
        <p:spPr>
          <a:xfrm>
            <a:off x="731520" y="6035040"/>
            <a:ext cx="1005804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9ca3af"/>
                </a:solidFill>
                <a:latin typeface="Arial"/>
              </a:rPr>
              <a:t>IK Solver: TRAC-IK — resolves joint angles for 7-DOF Sawyer arm at ~1 kHz.</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f2937"/>
        </a:solidFill>
      </p:bgPr>
    </p:bg>
    <p:spTree>
      <p:nvGrpSpPr>
        <p:cNvPr id="1" name=""/>
        <p:cNvGrpSpPr/>
        <p:nvPr/>
      </p:nvGrpSpPr>
      <p:grpSpPr>
        <a:xfrm>
          <a:off x="0" y="0"/>
          <a:ext cx="0" cy="0"/>
          <a:chOff x="0" y="0"/>
          <a:chExt cx="0" cy="0"/>
        </a:xfrm>
      </p:grpSpPr>
      <p:sp>
        <p:nvSpPr>
          <p:cNvPr id="149" name="TextBox 1"/>
          <p:cNvSpPr/>
          <p:nvPr/>
        </p:nvSpPr>
        <p:spPr>
          <a:xfrm>
            <a:off x="731520" y="320040"/>
            <a:ext cx="1005804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ffffff"/>
                </a:solidFill>
                <a:latin typeface="Arial"/>
              </a:rPr>
              <a:t>Integration &amp; Results  —  Jossua</a:t>
            </a:r>
            <a:endParaRPr b="0" lang="en-US" sz="3000" spc="-1" strike="noStrike">
              <a:solidFill>
                <a:srgbClr val="ffffff"/>
              </a:solidFill>
              <a:latin typeface="Arial"/>
            </a:endParaRPr>
          </a:p>
        </p:txBody>
      </p:sp>
      <p:sp>
        <p:nvSpPr>
          <p:cNvPr id="150" name="Rectangle 2"/>
          <p:cNvSpPr/>
          <p:nvPr/>
        </p:nvSpPr>
        <p:spPr>
          <a:xfrm>
            <a:off x="731520" y="914400"/>
            <a:ext cx="2285640" cy="37800"/>
          </a:xfrm>
          <a:prstGeom prst="rect">
            <a:avLst/>
          </a:prstGeom>
          <a:solidFill>
            <a:srgbClr val="6b728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151" name="TextBox 3"/>
          <p:cNvSpPr/>
          <p:nvPr/>
        </p:nvSpPr>
        <p:spPr>
          <a:xfrm>
            <a:off x="914400" y="1280160"/>
            <a:ext cx="10515240" cy="77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500" spc="-1" strike="noStrike">
                <a:solidFill>
                  <a:srgbClr val="d1d5db"/>
                </a:solidFill>
                <a:latin typeface="Arial"/>
              </a:rPr>
              <a:t>The complete pipeline runs end-to-end: the user types a natural language instruction, the LLM generates task-specific code, and the Sawyer robot executes the pick-and-place operation in simulation. No manual trajectory programming, no fine-tuning, no task-specific code changes.</a:t>
            </a:r>
            <a:endParaRPr b="0" lang="en-US" sz="1500" spc="-1" strike="noStrike">
              <a:solidFill>
                <a:srgbClr val="ffffff"/>
              </a:solidFill>
              <a:latin typeface="Arial"/>
            </a:endParaRPr>
          </a:p>
        </p:txBody>
      </p:sp>
      <p:sp>
        <p:nvSpPr>
          <p:cNvPr id="152" name="TextBox 4"/>
          <p:cNvSpPr/>
          <p:nvPr/>
        </p:nvSpPr>
        <p:spPr>
          <a:xfrm>
            <a:off x="914400" y="1783080"/>
            <a:ext cx="10515240" cy="77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500" spc="-1" strike="noStrike">
                <a:solidFill>
                  <a:srgbClr val="d1d5db"/>
                </a:solidFill>
                <a:latin typeface="Arial"/>
              </a:rPr>
              <a:t>The system successfully handles variations in object positions, different object types, and multi-step instructions. Because the LLM generates code rather than raw motor commands, the output is interpretable: a human can read, verify, and modify the generated script if needed.</a:t>
            </a:r>
            <a:endParaRPr b="0" lang="en-US" sz="1500" spc="-1" strike="noStrike">
              <a:solidFill>
                <a:srgbClr val="ffffff"/>
              </a:solidFill>
              <a:latin typeface="Arial"/>
            </a:endParaRPr>
          </a:p>
        </p:txBody>
      </p:sp>
      <p:sp>
        <p:nvSpPr>
          <p:cNvPr id="153" name="TextBox 5"/>
          <p:cNvSpPr/>
          <p:nvPr/>
        </p:nvSpPr>
        <p:spPr>
          <a:xfrm>
            <a:off x="914400" y="2286000"/>
            <a:ext cx="10515240" cy="77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500" spc="-1" strike="noStrike">
                <a:solidFill>
                  <a:srgbClr val="d1d5db"/>
                </a:solidFill>
                <a:latin typeface="Arial"/>
              </a:rPr>
              <a:t>Key differences from the reference papers (Kwon et al., Liang et al.): we use Sawyer instead of Franka, Gazebo simulation instead of a real robot, and Qwen2.5-Coder 3B (locally hosted) instead of GPT-4 (cloud API). These choices make the system fully self-contained and reproducible.</a:t>
            </a:r>
            <a:endParaRPr b="0" lang="en-US" sz="1500" spc="-1" strike="noStrike">
              <a:solidFill>
                <a:srgbClr val="ffffff"/>
              </a:solidFill>
              <a:latin typeface="Arial"/>
            </a:endParaRPr>
          </a:p>
        </p:txBody>
      </p:sp>
      <p:sp>
        <p:nvSpPr>
          <p:cNvPr id="154" name="TextBox 6"/>
          <p:cNvSpPr/>
          <p:nvPr/>
        </p:nvSpPr>
        <p:spPr>
          <a:xfrm>
            <a:off x="914400" y="2788920"/>
            <a:ext cx="10515240" cy="77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500" spc="-1" strike="noStrike">
                <a:solidFill>
                  <a:srgbClr val="d1d5db"/>
                </a:solidFill>
                <a:latin typeface="Arial"/>
              </a:rPr>
              <a:t>Limitations: the current system assumes static scenes (objects don't move between perception and grasping), limited to pick-and-place primitives, and the LLM occasionally generates syntactically incorrect code that requires retries. Future work includes dynamic scene handling, error recovery, and more complex task primitives.</a:t>
            </a:r>
            <a:endParaRPr b="0" lang="en-US" sz="1500" spc="-1" strike="noStrike">
              <a:solidFill>
                <a:srgbClr val="ffffff"/>
              </a:solidFill>
              <a:latin typeface="Arial"/>
            </a:endParaRPr>
          </a:p>
        </p:txBody>
      </p:sp>
      <p:sp>
        <p:nvSpPr>
          <p:cNvPr id="155" name="TextBox 7"/>
          <p:cNvSpPr/>
          <p:nvPr/>
        </p:nvSpPr>
        <p:spPr>
          <a:xfrm>
            <a:off x="731520" y="6035040"/>
            <a:ext cx="10058040" cy="272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9ca3af"/>
                </a:solidFill>
                <a:latin typeface="Arial"/>
              </a:rPr>
              <a:t>Demo video available — see the project submission.</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f2937"/>
        </a:solidFill>
      </p:bgPr>
    </p:bg>
    <p:spTree>
      <p:nvGrpSpPr>
        <p:cNvPr id="1" name=""/>
        <p:cNvGrpSpPr/>
        <p:nvPr/>
      </p:nvGrpSpPr>
      <p:grpSpPr>
        <a:xfrm>
          <a:off x="0" y="0"/>
          <a:ext cx="0" cy="0"/>
          <a:chOff x="0" y="0"/>
          <a:chExt cx="0" cy="0"/>
        </a:xfrm>
      </p:grpSpPr>
      <p:sp>
        <p:nvSpPr>
          <p:cNvPr id="156" name="TextBox 1"/>
          <p:cNvSpPr/>
          <p:nvPr/>
        </p:nvSpPr>
        <p:spPr>
          <a:xfrm>
            <a:off x="731520" y="320040"/>
            <a:ext cx="1005804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000" spc="-1" strike="noStrike">
                <a:solidFill>
                  <a:srgbClr val="ffffff"/>
                </a:solidFill>
                <a:latin typeface="Arial"/>
              </a:rPr>
              <a:t>References &amp; Related Work</a:t>
            </a:r>
            <a:endParaRPr b="0" lang="en-US" sz="3000" spc="-1" strike="noStrike">
              <a:solidFill>
                <a:srgbClr val="ffffff"/>
              </a:solidFill>
              <a:latin typeface="Arial"/>
            </a:endParaRPr>
          </a:p>
        </p:txBody>
      </p:sp>
      <p:sp>
        <p:nvSpPr>
          <p:cNvPr id="157" name="Rectangle 2"/>
          <p:cNvSpPr/>
          <p:nvPr/>
        </p:nvSpPr>
        <p:spPr>
          <a:xfrm>
            <a:off x="731520" y="914400"/>
            <a:ext cx="2285640" cy="37800"/>
          </a:xfrm>
          <a:prstGeom prst="rect">
            <a:avLst/>
          </a:prstGeom>
          <a:solidFill>
            <a:srgbClr val="6b728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pc="-1" strike="noStrike">
              <a:solidFill>
                <a:schemeClr val="lt1"/>
              </a:solidFill>
              <a:latin typeface="Calibri"/>
            </a:endParaRPr>
          </a:p>
        </p:txBody>
      </p:sp>
      <p:sp>
        <p:nvSpPr>
          <p:cNvPr id="158" name="TextBox 3"/>
          <p:cNvSpPr/>
          <p:nvPr/>
        </p:nvSpPr>
        <p:spPr>
          <a:xfrm>
            <a:off x="914400" y="1280160"/>
            <a:ext cx="10515240" cy="77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500" spc="-1" strike="noStrike">
                <a:solidFill>
                  <a:srgbClr val="d1d5db"/>
                </a:solidFill>
                <a:latin typeface="Arial"/>
              </a:rPr>
              <a:t>Kwon, T., Kim, B., Lee, Y., and Choo, J. "Language Models as Zero-Shot Trajectory Generators." RSS 2023 Workshop on Learning for Task and Motion Planning. — The foundational paper showing that LLMs can generate executable trajectory code from language instructions.</a:t>
            </a:r>
            <a:endParaRPr b="0" lang="en-US" sz="1500" spc="-1" strike="noStrike">
              <a:solidFill>
                <a:srgbClr val="ffffff"/>
              </a:solidFill>
              <a:latin typeface="Arial"/>
            </a:endParaRPr>
          </a:p>
        </p:txBody>
      </p:sp>
      <p:sp>
        <p:nvSpPr>
          <p:cNvPr id="159" name="TextBox 4"/>
          <p:cNvSpPr/>
          <p:nvPr/>
        </p:nvSpPr>
        <p:spPr>
          <a:xfrm>
            <a:off x="914400" y="1783080"/>
            <a:ext cx="10515240" cy="77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500" spc="-1" strike="noStrike">
                <a:solidFill>
                  <a:srgbClr val="d1d5db"/>
                </a:solidFill>
                <a:latin typeface="Arial"/>
              </a:rPr>
              <a:t>Liang, J., Huang, W., Xia, F., Xu, P., Hausman, K., Ichter, B., Florence, P., and Zeng, A. "Code as Policies: Language Model Programs for Embodied Control." ICRA 2023. — Introduces the concept of using LLMs to generate robot control programs ("code as policies") with hierarchical code reuse.</a:t>
            </a:r>
            <a:endParaRPr b="0" lang="en-US" sz="1500" spc="-1" strike="noStrike">
              <a:solidFill>
                <a:srgbClr val="ffffff"/>
              </a:solidFill>
              <a:latin typeface="Arial"/>
            </a:endParaRPr>
          </a:p>
        </p:txBody>
      </p:sp>
      <p:sp>
        <p:nvSpPr>
          <p:cNvPr id="160" name="TextBox 5"/>
          <p:cNvSpPr/>
          <p:nvPr/>
        </p:nvSpPr>
        <p:spPr>
          <a:xfrm>
            <a:off x="914400" y="2286000"/>
            <a:ext cx="10515240" cy="77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500" spc="-1" strike="noStrike">
                <a:solidFill>
                  <a:srgbClr val="d1d5db"/>
                </a:solidFill>
                <a:latin typeface="Arial"/>
              </a:rPr>
              <a:t>Vemprala, S., Bonatti, R., Bucker, A., and Kapoor, A. "ChatGPT for Robotics: Design Principles and Model Abilities." Microsoft Research, 2023. — Provides design principles for integrating LLMs into robotic systems, emphasizing prompt engineering and API design.</a:t>
            </a:r>
            <a:endParaRPr b="0" lang="en-US" sz="1500" spc="-1" strike="noStrike">
              <a:solidFill>
                <a:srgbClr val="ffffff"/>
              </a:solidFill>
              <a:latin typeface="Arial"/>
            </a:endParaRPr>
          </a:p>
        </p:txBody>
      </p:sp>
      <p:sp>
        <p:nvSpPr>
          <p:cNvPr id="161" name="TextBox 6"/>
          <p:cNvSpPr/>
          <p:nvPr/>
        </p:nvSpPr>
        <p:spPr>
          <a:xfrm>
            <a:off x="914400" y="2788920"/>
            <a:ext cx="1051524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500" spc="-1" strike="noStrike">
                <a:solidFill>
                  <a:srgbClr val="d1d5db"/>
                </a:solidFill>
                <a:latin typeface="Arial"/>
              </a:rPr>
              <a:t>TRAC-IK: Beeson, P. and Ames, B. "TRAC-IK: An Open-Source Library for Improved Inverse Kinematics of Humanoid Robots." IEEE-RAS 2015. — Fast IK solver used for real-time motion generation.</a:t>
            </a:r>
            <a:endParaRPr b="0" lang="en-US" sz="1500" spc="-1" strike="noStrike">
              <a:solidFill>
                <a:srgbClr val="ffffff"/>
              </a:solidFill>
              <a:latin typeface="Arial"/>
            </a:endParaRPr>
          </a:p>
        </p:txBody>
      </p:sp>
      <p:sp>
        <p:nvSpPr>
          <p:cNvPr id="162" name="TextBox 7"/>
          <p:cNvSpPr/>
          <p:nvPr/>
        </p:nvSpPr>
        <p:spPr>
          <a:xfrm>
            <a:off x="914400" y="3291840"/>
            <a:ext cx="1051524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500" spc="-1" strike="noStrike">
                <a:solidFill>
                  <a:srgbClr val="d1d5db"/>
                </a:solidFill>
                <a:latin typeface="Arial"/>
              </a:rPr>
              <a:t>Ultralytics YOLOv8: Jocher, G. et al. "Ultralytics YOLOv8." 2023. — Real-time object detection model used for scene perception.</a:t>
            </a:r>
            <a:endParaRPr b="0" lang="en-US" sz="1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f2937"/>
        </a:solidFill>
      </p:bgPr>
    </p:bg>
    <p:spTree>
      <p:nvGrpSpPr>
        <p:cNvPr id="1" name=""/>
        <p:cNvGrpSpPr/>
        <p:nvPr/>
      </p:nvGrpSpPr>
      <p:grpSpPr>
        <a:xfrm>
          <a:off x="0" y="0"/>
          <a:ext cx="0" cy="0"/>
          <a:chOff x="0" y="0"/>
          <a:chExt cx="0" cy="0"/>
        </a:xfrm>
      </p:grpSpPr>
      <p:sp>
        <p:nvSpPr>
          <p:cNvPr id="163" name="Rectangle 1"/>
          <p:cNvSpPr/>
          <p:nvPr/>
        </p:nvSpPr>
        <p:spPr>
          <a:xfrm>
            <a:off x="0" y="2926080"/>
            <a:ext cx="12191400" cy="50400"/>
          </a:xfrm>
          <a:prstGeom prst="rect">
            <a:avLst/>
          </a:prstGeom>
          <a:solidFill>
            <a:srgbClr val="6b728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760" bIns="5760" anchor="ctr">
            <a:noAutofit/>
          </a:bodyPr>
          <a:p>
            <a:pPr algn="ctr" defTabSz="457200">
              <a:lnSpc>
                <a:spcPct val="100000"/>
              </a:lnSpc>
            </a:pPr>
            <a:endParaRPr b="0" lang="en-US" sz="1800" spc="-1" strike="noStrike">
              <a:solidFill>
                <a:schemeClr val="lt1"/>
              </a:solidFill>
              <a:latin typeface="Calibri"/>
            </a:endParaRPr>
          </a:p>
        </p:txBody>
      </p:sp>
      <p:sp>
        <p:nvSpPr>
          <p:cNvPr id="164" name="TextBox 2"/>
          <p:cNvSpPr/>
          <p:nvPr/>
        </p:nvSpPr>
        <p:spPr>
          <a:xfrm>
            <a:off x="914400" y="1645920"/>
            <a:ext cx="10332360" cy="7599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4400" spc="-1" strike="noStrike">
                <a:solidFill>
                  <a:srgbClr val="ffffff"/>
                </a:solidFill>
                <a:latin typeface="Arial"/>
              </a:rPr>
              <a:t>Thank You</a:t>
            </a:r>
            <a:endParaRPr b="0" lang="en-US" sz="4400" spc="-1" strike="noStrike">
              <a:solidFill>
                <a:srgbClr val="ffffff"/>
              </a:solidFill>
              <a:latin typeface="Arial"/>
            </a:endParaRPr>
          </a:p>
        </p:txBody>
      </p:sp>
      <p:sp>
        <p:nvSpPr>
          <p:cNvPr id="165" name="TextBox 3"/>
          <p:cNvSpPr/>
          <p:nvPr/>
        </p:nvSpPr>
        <p:spPr>
          <a:xfrm>
            <a:off x="914400" y="3291840"/>
            <a:ext cx="10332360" cy="4856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2600" spc="-1" strike="noStrike">
                <a:solidFill>
                  <a:srgbClr val="d1d5db"/>
                </a:solidFill>
                <a:latin typeface="Arial"/>
              </a:rPr>
              <a:t>Questions?</a:t>
            </a:r>
            <a:endParaRPr b="0" lang="en-US" sz="2600" spc="-1" strike="noStrike">
              <a:solidFill>
                <a:srgbClr val="ffffff"/>
              </a:solidFill>
              <a:latin typeface="Arial"/>
            </a:endParaRPr>
          </a:p>
        </p:txBody>
      </p:sp>
      <p:sp>
        <p:nvSpPr>
          <p:cNvPr id="166" name="TextBox 4"/>
          <p:cNvSpPr/>
          <p:nvPr/>
        </p:nvSpPr>
        <p:spPr>
          <a:xfrm>
            <a:off x="914400" y="4572000"/>
            <a:ext cx="10332360" cy="3639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pc="-1" strike="noStrike">
                <a:solidFill>
                  <a:srgbClr val="9ca3af"/>
                </a:solidFill>
                <a:latin typeface="Arial"/>
              </a:rPr>
              <a:t>Jun  ·  Sergio  ·  David  ·  Cadavid  ·  Jossua</a:t>
            </a:r>
            <a:endParaRPr b="0" lang="en-US" sz="1800" spc="-1" strike="noStrike">
              <a:solidFill>
                <a:srgbClr val="ffffff"/>
              </a:solidFill>
              <a:latin typeface="Arial"/>
            </a:endParaRPr>
          </a:p>
        </p:txBody>
      </p:sp>
      <p:sp>
        <p:nvSpPr>
          <p:cNvPr id="167" name="TextBox 5"/>
          <p:cNvSpPr/>
          <p:nvPr/>
        </p:nvSpPr>
        <p:spPr>
          <a:xfrm>
            <a:off x="914400" y="5029200"/>
            <a:ext cx="10332360" cy="3333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600" spc="-1" strike="noStrike">
                <a:solidFill>
                  <a:srgbClr val="9ca3af"/>
                </a:solidFill>
                <a:latin typeface="Arial"/>
              </a:rPr>
              <a:t>Robotics — Politecnico di Torino</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2026-06-22T17:01:49Z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