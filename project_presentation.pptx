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media/image8.jpeg" ContentType="image/jpeg"/>
  <Override PartName="/ppt/media/image6.jpeg" ContentType="image/jpeg"/>
  <Override PartName="/ppt/media/image9.png" ContentType="image/png"/>
  <Override PartName="/ppt/media/image7.jpeg" ContentType="image/jpeg"/>
  <Override PartName="/ppt/slides/slide1.xml" ContentType="application/vnd.openxmlformats-officedocument.presentationml.slide+xml"/>
  <Override PartName="/ppt/slides/_rels/slide9.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_rels/notesSlide6.xml.rels" ContentType="application/vnd.openxmlformats-package.relationships+xml"/>
  <Override PartName="/ppt/notesSlides/_rels/notesSlide4.xml.rels" ContentType="application/vnd.openxmlformats-package.relationships+xml"/>
  <Override PartName="/ppt/notesSlides/notesSlide4.xml" ContentType="application/vnd.openxmlformats-officedocument.presentationml.notesSlide+xml"/>
  <Override PartName="/ppt/notesSlides/notesSlide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6"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7"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8" name="PlaceHolder 4"/>
          <p:cNvSpPr>
            <a:spLocks noGrp="1"/>
          </p:cNvSpPr>
          <p:nvPr>
            <p:ph type="dt" idx="37"/>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9" name="PlaceHolder 5"/>
          <p:cNvSpPr>
            <a:spLocks noGrp="1"/>
          </p:cNvSpPr>
          <p:nvPr>
            <p:ph type="ftr" idx="38"/>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9"/>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8F59CABF-68B8-4AC6-997B-B6320700355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3" name="PlaceHolder 1"/>
          <p:cNvSpPr>
            <a:spLocks noGrp="1"/>
          </p:cNvSpPr>
          <p:nvPr>
            <p:ph type="sldImg"/>
          </p:nvPr>
        </p:nvSpPr>
        <p:spPr>
          <a:xfrm>
            <a:off x="685800" y="1143000"/>
            <a:ext cx="5486040" cy="3085920"/>
          </a:xfrm>
          <a:prstGeom prst="rect">
            <a:avLst/>
          </a:prstGeom>
          <a:ln w="0">
            <a:noFill/>
          </a:ln>
        </p:spPr>
      </p:sp>
      <p:sp>
        <p:nvSpPr>
          <p:cNvPr id="23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35"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BE20786-C01D-4776-8FDB-430C18599B9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6" name="PlaceHolder 1"/>
          <p:cNvSpPr>
            <a:spLocks noGrp="1"/>
          </p:cNvSpPr>
          <p:nvPr>
            <p:ph type="sldImg"/>
          </p:nvPr>
        </p:nvSpPr>
        <p:spPr>
          <a:xfrm>
            <a:off x="756000" y="1336320"/>
            <a:ext cx="6047280" cy="3607920"/>
          </a:xfrm>
          <a:prstGeom prst="rect">
            <a:avLst/>
          </a:prstGeom>
          <a:ln w="0">
            <a:noFill/>
          </a:ln>
        </p:spPr>
      </p:sp>
      <p:sp>
        <p:nvSpPr>
          <p:cNvPr id="237" name="PlaceHolder 2"/>
          <p:cNvSpPr>
            <a:spLocks noGrp="1"/>
          </p:cNvSpPr>
          <p:nvPr>
            <p:ph type="body"/>
          </p:nvPr>
        </p:nvSpPr>
        <p:spPr>
          <a:xfrm>
            <a:off x="756000" y="5145480"/>
            <a:ext cx="6047280" cy="4209120"/>
          </a:xfrm>
          <a:prstGeom prst="rect">
            <a:avLst/>
          </a:prstGeom>
          <a:noFill/>
          <a:ln w="0">
            <a:noFill/>
          </a:ln>
        </p:spPr>
        <p:txBody>
          <a:bodyPr lIns="91440" rIns="91440" tIns="45720" bIns="45720" anchor="t">
            <a:noAutofit/>
          </a:bodyPr>
          <a:p>
            <a:pPr marL="216000" indent="0" defTabSz="914400">
              <a:lnSpc>
                <a:spcPct val="100000"/>
              </a:lnSpc>
              <a:buNone/>
              <a:tabLst>
                <a:tab algn="l" pos="0"/>
              </a:tabLst>
            </a:pPr>
            <a:r>
              <a:rPr b="0" lang="en-US" sz="2000" spc="-1" strike="noStrike">
                <a:solidFill>
                  <a:srgbClr val="000000"/>
                </a:solidFill>
                <a:latin typeface="Arial"/>
              </a:rPr>
              <a:t>At the heart of the system is the LLM code generator. We use Qwen2.5-Coder 3B, a 3-billion-parameter code-specialized language model, running locally via Ollama on localhost:11434. Running locally eliminates latency, privacy concerns, and API costs.</a:t>
            </a:r>
            <a:endParaRPr b="0" lang="en-US" sz="2000" spc="-1" strike="noStrike">
              <a:solidFill>
                <a:srgbClr val="000000"/>
              </a:solidFill>
              <a:latin typeface="Arial"/>
            </a:endParaRPr>
          </a:p>
          <a:p>
            <a:pPr marL="216000" indent="0" defTabSz="914400">
              <a:lnSpc>
                <a:spcPct val="100000"/>
              </a:lnSpc>
              <a:buNone/>
              <a:tabLst>
                <a:tab algn="l" pos="0"/>
              </a:tabLst>
            </a:pPr>
            <a:r>
              <a:rPr b="0" lang="en-US" sz="2000" spc="-1" strike="noStrike">
                <a:solidFill>
                  <a:srgbClr val="000000"/>
                </a:solidFill>
                <a:latin typeface="Arial"/>
              </a:rPr>
              <a:t>The LLM receives a carefully crafted system prompt (system_prompt.md, 117 lines) that defines the robot's API: available functions (make_scene, execute_waypoints, adjust_grasp_waypoints), their signatures, return types, and usage patterns. This prompt acts as the "instruction manual" for the LLM.</a:t>
            </a:r>
            <a:endParaRPr b="0" lang="en-US" sz="2000" spc="-1" strike="noStrike">
              <a:solidFill>
                <a:srgbClr val="000000"/>
              </a:solidFill>
              <a:latin typeface="Arial"/>
            </a:endParaRPr>
          </a:p>
          <a:p>
            <a:pPr marL="216000" indent="0" defTabSz="914400">
              <a:lnSpc>
                <a:spcPct val="100000"/>
              </a:lnSpc>
              <a:buNone/>
              <a:tabLst>
                <a:tab algn="l" pos="0"/>
              </a:tabLst>
            </a:pPr>
            <a:r>
              <a:rPr b="0" lang="en-US" sz="2000" spc="-1" strike="noStrike">
                <a:solidFill>
                  <a:srgbClr val="000000"/>
                </a:solidFill>
                <a:latin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2000" spc="-1" strike="noStrike">
              <a:solidFill>
                <a:srgbClr val="000000"/>
              </a:solidFill>
              <a:latin typeface="Arial"/>
            </a:endParaRPr>
          </a:p>
          <a:p>
            <a:pPr marL="216000" indent="0" defTabSz="914400">
              <a:lnSpc>
                <a:spcPct val="100000"/>
              </a:lnSpc>
              <a:buNone/>
              <a:tabLst>
                <a:tab algn="l" pos="0"/>
              </a:tabLst>
            </a:pPr>
            <a:r>
              <a:rPr b="0" lang="en-US" sz="2000" spc="-1" strike="noStrike">
                <a:solidFill>
                  <a:srgbClr val="000000"/>
                </a:solidFill>
                <a:latin typeface="Arial"/>
              </a:rPr>
              <a:t>The user provides a natural language task description (e.g., "pick the red block and place it on the blue box"). The LLM generates a complete Python script (generated_task.py) that calls the API functions in the correct order to accomplish the task.</a:t>
            </a:r>
            <a:endParaRPr b="0" lang="en-US" sz="2000" spc="-1" strike="noStrike">
              <a:solidFill>
                <a:srgbClr val="000000"/>
              </a:solidFill>
              <a:latin typeface="Arial"/>
            </a:endParaRPr>
          </a:p>
          <a:p>
            <a:pPr marL="216000" indent="0" defTabSz="914400">
              <a:lnSpc>
                <a:spcPct val="100000"/>
              </a:lnSpc>
              <a:buNone/>
              <a:tabLst>
                <a:tab algn="l" pos="0"/>
              </a:tabLst>
            </a:pPr>
            <a:r>
              <a:rPr b="0" lang="en-US" sz="2000" spc="-1" strike="noStrike">
                <a:solidFill>
                  <a:srgbClr val="000000"/>
                </a:solidFill>
                <a:latin typeface="Arial"/>
              </a:rPr>
              <a:t>run_task.py orchestrates the process: it captures the user input, sends it to the LLM with the system prompt, writes the generated code to disk, reloads the module dynamically, and executes execute_task(). Error handling and retry logic ensure robustness.</a:t>
            </a:r>
            <a:endParaRPr b="0" lang="en-US" sz="2000" spc="-1" strike="noStrike">
              <a:solidFill>
                <a:srgbClr val="000000"/>
              </a:solidFill>
              <a:latin typeface="Arial"/>
            </a:endParaRPr>
          </a:p>
          <a:p>
            <a:pPr marL="216000" indent="0" defTabSz="914400">
              <a:lnSpc>
                <a:spcPct val="100000"/>
              </a:lnSpc>
              <a:buNone/>
              <a:tabLst>
                <a:tab algn="l" pos="0"/>
              </a:tabLst>
            </a:pPr>
            <a:r>
              <a:rPr b="0" lang="en-US" sz="2000" spc="-1" strike="noStrike">
                <a:solidFill>
                  <a:srgbClr val="000000"/>
                </a:solidFill>
                <a:latin typeface="Arial"/>
              </a:rPr>
              <a:t>Model: Qwen2.5-Coder 3B (Ollama, temp=0.7) — locally hosted, no cloud dependency.</a:t>
            </a:r>
            <a:endParaRPr b="0" lang="en-US" sz="2000" spc="-1" strike="noStrike">
              <a:solidFill>
                <a:srgbClr val="000000"/>
              </a:solidFill>
              <a:latin typeface="Arial"/>
            </a:endParaRPr>
          </a:p>
        </p:txBody>
      </p:sp>
      <p:sp>
        <p:nvSpPr>
          <p:cNvPr id="238" name="PlaceHolder 3"/>
          <p:cNvSpPr>
            <a:spLocks noGrp="1"/>
          </p:cNvSpPr>
          <p:nvPr>
            <p:ph type="sldNum" idx="41"/>
          </p:nvPr>
        </p:nvSpPr>
        <p:spPr>
          <a:xfrm>
            <a:off x="4282200" y="10155600"/>
            <a:ext cx="3275280" cy="53568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DC8ED0A-6FA8-41B1-ACF5-FE8DFD0C8D7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C1FCF917-AD2B-485C-937C-8339A6E6A342}"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8B7082F5-4DC8-47AB-8435-522C937599B0}"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B57CF5C6-312E-40D1-9594-22DAB693821B}"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0F1FECE5-D9B3-4D00-A7ED-79082A19CF3D}"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EE27AFCA-FCD4-4209-A150-77FAEDAD5009}"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C93E990D-E3AC-446F-9B16-4520C53C45A2}"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F4DD2AB9-D060-4B94-9F71-246713BF4D7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39FEF28E-BB88-411A-B6BD-4AF0C99A66F5}"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446006AB-DC2B-4273-A7C7-387FAE0672CC}"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8AC6AAC6-5B69-4BE3-BCCD-A4011F728733}"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6C16F56C-2FF8-46CE-8E28-EF58552B5F44}"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_">
    <p:spTree>
      <p:nvGrpSpPr>
        <p:cNvPr id="1" name=""/>
        <p:cNvGrpSpPr/>
        <p:nvPr/>
      </p:nvGrpSpPr>
      <p:grpSpPr>
        <a:xfrm>
          <a:off x="0" y="0"/>
          <a:ext cx="0" cy="0"/>
          <a:chOff x="0" y="0"/>
          <a:chExt cx="0" cy="0"/>
        </a:xfrm>
      </p:grpSpPr>
      <p:sp>
        <p:nvSpPr>
          <p:cNvPr id="2" name="PlaceHolder 1"/>
          <p:cNvSpPr>
            <a:spLocks noGrp="1"/>
          </p:cNvSpPr>
          <p:nvPr>
            <p:ph type="ftr" idx="35"/>
          </p:nvPr>
        </p:nvSpPr>
        <p:spPr/>
        <p:txBody>
          <a:bodyPr/>
          <a:p>
            <a:r>
              <a:t>Footer</a:t>
            </a:r>
          </a:p>
        </p:txBody>
      </p:sp>
      <p:sp>
        <p:nvSpPr>
          <p:cNvPr id="3" name="PlaceHolder 2"/>
          <p:cNvSpPr>
            <a:spLocks noGrp="1"/>
          </p:cNvSpPr>
          <p:nvPr>
            <p:ph type="sldNum" idx="36"/>
          </p:nvPr>
        </p:nvSpPr>
        <p:spPr/>
        <p:txBody>
          <a:bodyPr/>
          <a:p>
            <a:fld id="{DB8BC177-FBE9-465A-8C9E-616CC3AC7121}" type="slidenum">
              <a:t>&lt;#&gt;</a:t>
            </a:fld>
          </a:p>
        </p:txBody>
      </p:sp>
      <p:sp>
        <p:nvSpPr>
          <p:cNvPr id="4" name="PlaceHolder 3"/>
          <p:cNvSpPr>
            <a:spLocks noGrp="1"/>
          </p:cNvSpPr>
          <p:nvPr>
            <p:ph type="dt" idx="34"/>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272BC6D4-7C21-499C-9529-E1925C9E03F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15B97140-5CD6-433A-8D60-D75F1146FE5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2680C612-833D-4E71-80B6-586222AE559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609480" y="1604520"/>
            <a:ext cx="109717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BA60DFF7-529B-4BC7-96FD-2791925DF34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C9BA65C6-A774-4AC4-A7E7-A3FA452E96B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6DF209EC-301C-4D14-9A8E-2C70DF31AFDD}"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185410AF-3951-4174-8B59-CFD2C30951A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172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F4CCC8DE-246A-4089-9899-A5FE06A1F93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AE58E0BE-8636-49F8-AF92-76F0FBFD709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F701DF1E-59DD-4EE9-A8C6-A3536A04D97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760" cy="36432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3000" cy="36432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b="0" lang="en-US" sz="1200" spc="-1" strike="noStrike">
                <a:solidFill>
                  <a:schemeClr val="dk1">
                    <a:tint val="75000"/>
                  </a:schemeClr>
                </a:solidFill>
                <a:latin typeface="Calibri"/>
              </a:defRPr>
            </a:lvl1pPr>
          </a:lstStyle>
          <a:p>
            <a:pPr indent="0" algn="r" defTabSz="457200">
              <a:lnSpc>
                <a:spcPct val="100000"/>
              </a:lnSpc>
              <a:buNone/>
              <a:tabLst>
                <a:tab algn="l" pos="0"/>
              </a:tabLst>
            </a:pPr>
            <a:fld id="{C5C15A57-A490-4238-8AAA-DF9950ACC97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3000" cy="3643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3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3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3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38CA698-1159-48F0-B8FB-359BE74D4A5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eg"/><Relationship Id="rId6" Type="http://schemas.openxmlformats.org/officeDocument/2006/relationships/image" Target="../media/image7.jpeg"/><Relationship Id="rId7" Type="http://schemas.openxmlformats.org/officeDocument/2006/relationships/image" Target="../media/image1.png"/><Relationship Id="rId8" Type="http://schemas.openxmlformats.org/officeDocument/2006/relationships/image" Target="../media/image8.jpeg"/><Relationship Id="rId9" Type="http://schemas.openxmlformats.org/officeDocument/2006/relationships/slideLayout" Target="../slideLayouts/slideLayout12.xml"/><Relationship Id="rId10"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61" name="Rectangle 1"/>
          <p:cNvSpPr/>
          <p:nvPr/>
        </p:nvSpPr>
        <p:spPr>
          <a:xfrm>
            <a:off x="0" y="2560320"/>
            <a:ext cx="12191040" cy="500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760" bIns="5760" anchor="ctr">
            <a:noAutofit/>
          </a:bodyPr>
          <a:p>
            <a:pPr algn="ctr" defTabSz="457200">
              <a:lnSpc>
                <a:spcPct val="100000"/>
              </a:lnSpc>
            </a:pPr>
            <a:endParaRPr b="0" lang="en-US" sz="1800" spc="-1" strike="noStrike">
              <a:solidFill>
                <a:schemeClr val="lt1"/>
              </a:solidFill>
              <a:latin typeface="Calibri"/>
            </a:endParaRPr>
          </a:p>
        </p:txBody>
      </p:sp>
      <p:sp>
        <p:nvSpPr>
          <p:cNvPr id="62" name="TextBox 2"/>
          <p:cNvSpPr/>
          <p:nvPr/>
        </p:nvSpPr>
        <p:spPr>
          <a:xfrm>
            <a:off x="914400" y="914400"/>
            <a:ext cx="10332000" cy="1827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800" spc="-1" strike="noStrike">
                <a:solidFill>
                  <a:srgbClr val="ffffff"/>
                </a:solidFill>
                <a:latin typeface="Arial"/>
              </a:rPr>
              <a:t>Exploring Large Language Models</a:t>
            </a:r>
            <a:br>
              <a:rPr sz="3800"/>
            </a:br>
            <a:r>
              <a:rPr b="1" lang="en-US" sz="3800" spc="-1" strike="noStrike">
                <a:solidFill>
                  <a:srgbClr val="ffffff"/>
                </a:solidFill>
                <a:latin typeface="Arial"/>
              </a:rPr>
              <a:t>for Direct Trajectory Generation</a:t>
            </a:r>
            <a:br>
              <a:rPr sz="3800"/>
            </a:br>
            <a:r>
              <a:rPr b="1" lang="en-US" sz="3800" spc="-1" strike="noStrike">
                <a:solidFill>
                  <a:srgbClr val="ffffff"/>
                </a:solidFill>
                <a:latin typeface="Arial"/>
              </a:rPr>
              <a:t>in Robotic Manipulation</a:t>
            </a:r>
            <a:endParaRPr b="0" lang="en-US" sz="3800" spc="-1" strike="noStrike">
              <a:solidFill>
                <a:srgbClr val="ffffff"/>
              </a:solidFill>
              <a:latin typeface="Arial"/>
            </a:endParaRPr>
          </a:p>
        </p:txBody>
      </p:sp>
      <p:sp>
        <p:nvSpPr>
          <p:cNvPr id="63" name="TextBox 3"/>
          <p:cNvSpPr/>
          <p:nvPr/>
        </p:nvSpPr>
        <p:spPr>
          <a:xfrm>
            <a:off x="914400" y="3017520"/>
            <a:ext cx="10332000" cy="4248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2200" spc="-1" strike="noStrike">
                <a:solidFill>
                  <a:srgbClr val="d1d5db"/>
                </a:solidFill>
                <a:latin typeface="Arial"/>
              </a:rPr>
              <a:t>LLM-Driven Zero-Shot Pick-and-Place with the Sawyer Robot</a:t>
            </a:r>
            <a:endParaRPr b="0" lang="en-US" sz="2200" spc="-1" strike="noStrike">
              <a:solidFill>
                <a:srgbClr val="ffffff"/>
              </a:solidFill>
              <a:latin typeface="Arial"/>
            </a:endParaRPr>
          </a:p>
        </p:txBody>
      </p:sp>
      <p:sp>
        <p:nvSpPr>
          <p:cNvPr id="64" name="TextBox 4"/>
          <p:cNvSpPr/>
          <p:nvPr/>
        </p:nvSpPr>
        <p:spPr>
          <a:xfrm>
            <a:off x="914400" y="4389120"/>
            <a:ext cx="10332000" cy="3639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800" spc="-1" strike="noStrike">
                <a:solidFill>
                  <a:srgbClr val="9ca3af"/>
                </a:solidFill>
                <a:latin typeface="Arial"/>
              </a:rPr>
              <a:t>Jun  ·  Sergio  ·  David  ·  Cadavid  ·  Jossua</a:t>
            </a:r>
            <a:endParaRPr b="0" lang="en-US" sz="1800" spc="-1" strike="noStrike">
              <a:solidFill>
                <a:srgbClr val="ffffff"/>
              </a:solidFill>
              <a:latin typeface="Arial"/>
            </a:endParaRPr>
          </a:p>
        </p:txBody>
      </p:sp>
      <p:sp>
        <p:nvSpPr>
          <p:cNvPr id="65" name="TextBox 5"/>
          <p:cNvSpPr/>
          <p:nvPr/>
        </p:nvSpPr>
        <p:spPr>
          <a:xfrm>
            <a:off x="914400" y="4937760"/>
            <a:ext cx="10332000" cy="3333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9ca3af"/>
                </a:solidFill>
                <a:latin typeface="Arial"/>
              </a:rPr>
              <a:t>Robotics — Politecnico di Torino</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66" name="TextBox 1"/>
          <p:cNvSpPr/>
          <p:nvPr/>
        </p:nvSpPr>
        <p:spPr>
          <a:xfrm>
            <a:off x="731520" y="320040"/>
            <a:ext cx="10057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Why Large Language Models for Robotics?</a:t>
            </a:r>
            <a:endParaRPr b="0" lang="en-US" sz="3000" spc="-1" strike="noStrike">
              <a:solidFill>
                <a:srgbClr val="ffffff"/>
              </a:solidFill>
              <a:latin typeface="Arial"/>
            </a:endParaRPr>
          </a:p>
        </p:txBody>
      </p:sp>
      <p:sp>
        <p:nvSpPr>
          <p:cNvPr id="67" name="Rectangle 2"/>
          <p:cNvSpPr/>
          <p:nvPr/>
        </p:nvSpPr>
        <p:spPr>
          <a:xfrm>
            <a:off x="731520" y="914400"/>
            <a:ext cx="2285280" cy="374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68" name="TextBox 3"/>
          <p:cNvSpPr/>
          <p:nvPr/>
        </p:nvSpPr>
        <p:spPr>
          <a:xfrm>
            <a:off x="914400" y="128016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Traditional robotic manipulation relies on hand-crafted trajectories: a programmer must explicitly define every waypoint, every gripper angle, every timing parameter. This process is slow, error-prone, and breaks whenever the environment changes.</a:t>
            </a:r>
            <a:endParaRPr b="0" lang="en-US" sz="1500" spc="-1" strike="noStrike">
              <a:solidFill>
                <a:srgbClr val="ffffff"/>
              </a:solidFill>
              <a:latin typeface="Arial"/>
            </a:endParaRPr>
          </a:p>
        </p:txBody>
      </p:sp>
      <p:sp>
        <p:nvSpPr>
          <p:cNvPr id="69" name="TextBox 4"/>
          <p:cNvSpPr/>
          <p:nvPr/>
        </p:nvSpPr>
        <p:spPr>
          <a:xfrm>
            <a:off x="914400" y="178308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Recent work (Kwon et al., Liang et al., Vemprala et al.) has shown that LLMs can write robot control code directly from natural language descriptions — zero-shot, without any fine-tuning or task-specific training.</a:t>
            </a:r>
            <a:endParaRPr b="0" lang="en-US" sz="1500" spc="-1" strike="noStrike">
              <a:solidFill>
                <a:srgbClr val="ffffff"/>
              </a:solidFill>
              <a:latin typeface="Arial"/>
            </a:endParaRPr>
          </a:p>
        </p:txBody>
      </p:sp>
      <p:sp>
        <p:nvSpPr>
          <p:cNvPr id="70" name="TextBox 5"/>
          <p:cNvSpPr/>
          <p:nvPr/>
        </p:nvSpPr>
        <p:spPr>
          <a:xfrm>
            <a:off x="914400" y="228600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Instead of predicting joint angles or torques, these models generate Python code that calls robotics libraries (IK solvers, motion planners, perception pipelines). This makes the output interpretable, debuggable, and safe.</a:t>
            </a:r>
            <a:endParaRPr b="0" lang="en-US" sz="1500" spc="-1" strike="noStrike">
              <a:solidFill>
                <a:srgbClr val="ffffff"/>
              </a:solidFill>
              <a:latin typeface="Arial"/>
            </a:endParaRPr>
          </a:p>
        </p:txBody>
      </p:sp>
      <p:sp>
        <p:nvSpPr>
          <p:cNvPr id="71" name="TextBox 6"/>
          <p:cNvSpPr/>
          <p:nvPr/>
        </p:nvSpPr>
        <p:spPr>
          <a:xfrm>
            <a:off x="914400" y="278892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Our goal: apply this paradigm to a Sawyer robot in simulation, using a locally-run LLM (Qwen2.5-Coder 3B) to generate pick-and-place trajectories from user-provided natural language instructions.</a:t>
            </a:r>
            <a:endParaRPr b="0" lang="en-US" sz="1500" spc="-1" strike="noStrike">
              <a:solidFill>
                <a:srgbClr val="ffffff"/>
              </a:solidFill>
              <a:latin typeface="Arial"/>
            </a:endParaRPr>
          </a:p>
        </p:txBody>
      </p:sp>
      <p:sp>
        <p:nvSpPr>
          <p:cNvPr id="72" name="TextBox 7"/>
          <p:cNvSpPr/>
          <p:nvPr/>
        </p:nvSpPr>
        <p:spPr>
          <a:xfrm>
            <a:off x="731520" y="6035040"/>
            <a:ext cx="100576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9ca3af"/>
                </a:solidFill>
                <a:latin typeface="Arial"/>
              </a:rPr>
              <a:t>Key insight: the LLM acts as a code generator, not a motion predictor — it writes programs, not trajectories.</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73" name="TextBox 1"/>
          <p:cNvSpPr/>
          <p:nvPr/>
        </p:nvSpPr>
        <p:spPr>
          <a:xfrm>
            <a:off x="731520" y="320040"/>
            <a:ext cx="10057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System Architecture</a:t>
            </a:r>
            <a:endParaRPr b="0" lang="en-US" sz="3000" spc="-1" strike="noStrike">
              <a:solidFill>
                <a:srgbClr val="ffffff"/>
              </a:solidFill>
              <a:latin typeface="Arial"/>
            </a:endParaRPr>
          </a:p>
        </p:txBody>
      </p:sp>
      <p:sp>
        <p:nvSpPr>
          <p:cNvPr id="74" name="Rectangle 2"/>
          <p:cNvSpPr/>
          <p:nvPr/>
        </p:nvSpPr>
        <p:spPr>
          <a:xfrm>
            <a:off x="731520" y="914400"/>
            <a:ext cx="2285280" cy="374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75" name="TextBox 3"/>
          <p:cNvSpPr/>
          <p:nvPr/>
        </p:nvSpPr>
        <p:spPr>
          <a:xfrm>
            <a:off x="914400" y="1188720"/>
            <a:ext cx="10514880" cy="577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600" spc="-1" strike="noStrike">
                <a:solidFill>
                  <a:srgbClr val="d1d5db"/>
                </a:solidFill>
                <a:latin typeface="Arial"/>
              </a:rPr>
              <a:t>The system is divided into five sequential stages. Each stage produces the input for the next, forming a complete pipeline from user instruction to robotic action.</a:t>
            </a:r>
            <a:endParaRPr b="0" lang="en-US" sz="1600" spc="-1" strike="noStrike">
              <a:solidFill>
                <a:srgbClr val="ffffff"/>
              </a:solidFill>
              <a:latin typeface="Arial"/>
            </a:endParaRPr>
          </a:p>
        </p:txBody>
      </p:sp>
      <p:sp>
        <p:nvSpPr>
          <p:cNvPr id="76" name="Rectangle 4"/>
          <p:cNvSpPr/>
          <p:nvPr/>
        </p:nvSpPr>
        <p:spPr>
          <a:xfrm>
            <a:off x="548640" y="2377440"/>
            <a:ext cx="2028240" cy="1508400"/>
          </a:xfrm>
          <a:prstGeom prst="rect">
            <a:avLst/>
          </a:prstGeom>
          <a:solidFill>
            <a:srgbClr val="374151"/>
          </a:solidFill>
          <a:ln>
            <a:solidFill>
              <a:srgbClr val="6b728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77" name="TextBox 5"/>
          <p:cNvSpPr/>
          <p:nvPr/>
        </p:nvSpPr>
        <p:spPr>
          <a:xfrm>
            <a:off x="645480" y="2503080"/>
            <a:ext cx="183456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Arial"/>
              </a:rPr>
              <a:t>SIMULATION</a:t>
            </a:r>
            <a:endParaRPr b="0" lang="en-US" sz="1400" spc="-1" strike="noStrike">
              <a:solidFill>
                <a:srgbClr val="ffffff"/>
              </a:solidFill>
              <a:latin typeface="Arial"/>
            </a:endParaRPr>
          </a:p>
        </p:txBody>
      </p:sp>
      <p:sp>
        <p:nvSpPr>
          <p:cNvPr id="78" name="TextBox 6"/>
          <p:cNvSpPr/>
          <p:nvPr/>
        </p:nvSpPr>
        <p:spPr>
          <a:xfrm>
            <a:off x="645480" y="2943360"/>
            <a:ext cx="1834560" cy="592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d1d5db"/>
                </a:solidFill>
                <a:latin typeface="Arial"/>
              </a:rPr>
              <a:t>Gazebo + Sawyer</a:t>
            </a:r>
            <a:br>
              <a:rPr sz="1100"/>
            </a:br>
            <a:r>
              <a:rPr b="0" lang="en-US" sz="1100" spc="-1" strike="noStrike">
                <a:solidFill>
                  <a:srgbClr val="d1d5db"/>
                </a:solidFill>
                <a:latin typeface="Arial"/>
              </a:rPr>
              <a:t>Objects spawning</a:t>
            </a:r>
            <a:br>
              <a:rPr sz="1100"/>
            </a:br>
            <a:r>
              <a:rPr b="0" lang="en-US" sz="1100" spc="-1" strike="noStrike">
                <a:solidFill>
                  <a:srgbClr val="d1d5db"/>
                </a:solidFill>
                <a:latin typeface="Arial"/>
              </a:rPr>
              <a:t>Safe pose &amp; scan</a:t>
            </a:r>
            <a:endParaRPr b="0" lang="en-US" sz="1100" spc="-1" strike="noStrike">
              <a:solidFill>
                <a:srgbClr val="ffffff"/>
              </a:solidFill>
              <a:latin typeface="Arial"/>
            </a:endParaRPr>
          </a:p>
        </p:txBody>
      </p:sp>
      <p:sp>
        <p:nvSpPr>
          <p:cNvPr id="79" name="TextBox 7"/>
          <p:cNvSpPr/>
          <p:nvPr/>
        </p:nvSpPr>
        <p:spPr>
          <a:xfrm>
            <a:off x="2384280" y="2880720"/>
            <a:ext cx="578880" cy="5166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2800" spc="-1" strike="noStrike">
                <a:solidFill>
                  <a:srgbClr val="6b7280"/>
                </a:solidFill>
                <a:latin typeface="Arial"/>
              </a:rPr>
              <a:t>→</a:t>
            </a:r>
            <a:endParaRPr b="0" lang="en-US" sz="2800" spc="-1" strike="noStrike">
              <a:solidFill>
                <a:srgbClr val="ffffff"/>
              </a:solidFill>
              <a:latin typeface="Arial"/>
            </a:endParaRPr>
          </a:p>
        </p:txBody>
      </p:sp>
      <p:sp>
        <p:nvSpPr>
          <p:cNvPr id="80" name="Rectangle 8"/>
          <p:cNvSpPr/>
          <p:nvPr/>
        </p:nvSpPr>
        <p:spPr>
          <a:xfrm>
            <a:off x="2819160" y="2377440"/>
            <a:ext cx="2028240" cy="1508400"/>
          </a:xfrm>
          <a:prstGeom prst="rect">
            <a:avLst/>
          </a:prstGeom>
          <a:solidFill>
            <a:srgbClr val="374151"/>
          </a:solidFill>
          <a:ln>
            <a:solidFill>
              <a:srgbClr val="6b728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1" name="TextBox 9"/>
          <p:cNvSpPr/>
          <p:nvPr/>
        </p:nvSpPr>
        <p:spPr>
          <a:xfrm>
            <a:off x="2915640" y="2503080"/>
            <a:ext cx="183492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Arial"/>
              </a:rPr>
              <a:t>PERCEPTION</a:t>
            </a:r>
            <a:endParaRPr b="0" lang="en-US" sz="1400" spc="-1" strike="noStrike">
              <a:solidFill>
                <a:srgbClr val="ffffff"/>
              </a:solidFill>
              <a:latin typeface="Arial"/>
            </a:endParaRPr>
          </a:p>
        </p:txBody>
      </p:sp>
      <p:sp>
        <p:nvSpPr>
          <p:cNvPr id="82" name="TextBox 10"/>
          <p:cNvSpPr/>
          <p:nvPr/>
        </p:nvSpPr>
        <p:spPr>
          <a:xfrm>
            <a:off x="2915640" y="2943360"/>
            <a:ext cx="1834920" cy="592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d1d5db"/>
                </a:solidFill>
                <a:latin typeface="Arial"/>
              </a:rPr>
              <a:t>YOLOv8 detection</a:t>
            </a:r>
            <a:br>
              <a:rPr sz="1100"/>
            </a:br>
            <a:r>
              <a:rPr b="0" lang="en-US" sz="1100" spc="-1" strike="noStrike">
                <a:solidFill>
                  <a:srgbClr val="d1d5db"/>
                </a:solidFill>
                <a:latin typeface="Arial"/>
              </a:rPr>
              <a:t>frame2world</a:t>
            </a:r>
            <a:br>
              <a:rPr sz="1100"/>
            </a:br>
            <a:r>
              <a:rPr b="0" lang="en-US" sz="1100" spc="-1" strike="noStrike">
                <a:solidFill>
                  <a:srgbClr val="d1d5db"/>
                </a:solidFill>
                <a:latin typeface="Arial"/>
              </a:rPr>
              <a:t>2D → 3D coords</a:t>
            </a:r>
            <a:endParaRPr b="0" lang="en-US" sz="1100" spc="-1" strike="noStrike">
              <a:solidFill>
                <a:srgbClr val="ffffff"/>
              </a:solidFill>
              <a:latin typeface="Arial"/>
            </a:endParaRPr>
          </a:p>
        </p:txBody>
      </p:sp>
      <p:sp>
        <p:nvSpPr>
          <p:cNvPr id="83" name="TextBox 11"/>
          <p:cNvSpPr/>
          <p:nvPr/>
        </p:nvSpPr>
        <p:spPr>
          <a:xfrm>
            <a:off x="4654800" y="2880720"/>
            <a:ext cx="578880" cy="5166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2800" spc="-1" strike="noStrike">
                <a:solidFill>
                  <a:srgbClr val="6b7280"/>
                </a:solidFill>
                <a:latin typeface="Arial"/>
              </a:rPr>
              <a:t>→</a:t>
            </a:r>
            <a:endParaRPr b="0" lang="en-US" sz="2800" spc="-1" strike="noStrike">
              <a:solidFill>
                <a:srgbClr val="ffffff"/>
              </a:solidFill>
              <a:latin typeface="Arial"/>
            </a:endParaRPr>
          </a:p>
        </p:txBody>
      </p:sp>
      <p:sp>
        <p:nvSpPr>
          <p:cNvPr id="84" name="Rectangle 12"/>
          <p:cNvSpPr/>
          <p:nvPr/>
        </p:nvSpPr>
        <p:spPr>
          <a:xfrm>
            <a:off x="5089680" y="2377440"/>
            <a:ext cx="2027520" cy="1508400"/>
          </a:xfrm>
          <a:prstGeom prst="rect">
            <a:avLst/>
          </a:prstGeom>
          <a:solidFill>
            <a:srgbClr val="374151"/>
          </a:solidFill>
          <a:ln>
            <a:solidFill>
              <a:srgbClr val="6b728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5" name="TextBox 13"/>
          <p:cNvSpPr/>
          <p:nvPr/>
        </p:nvSpPr>
        <p:spPr>
          <a:xfrm>
            <a:off x="5186160" y="2503080"/>
            <a:ext cx="183456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Arial"/>
              </a:rPr>
              <a:t>LLM</a:t>
            </a:r>
            <a:endParaRPr b="0" lang="en-US" sz="1400" spc="-1" strike="noStrike">
              <a:solidFill>
                <a:srgbClr val="ffffff"/>
              </a:solidFill>
              <a:latin typeface="Arial"/>
            </a:endParaRPr>
          </a:p>
        </p:txBody>
      </p:sp>
      <p:sp>
        <p:nvSpPr>
          <p:cNvPr id="86" name="TextBox 14"/>
          <p:cNvSpPr/>
          <p:nvPr/>
        </p:nvSpPr>
        <p:spPr>
          <a:xfrm>
            <a:off x="5186160" y="2943360"/>
            <a:ext cx="1834560" cy="592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d1d5db"/>
                </a:solidFill>
                <a:latin typeface="Arial"/>
              </a:rPr>
              <a:t>System prompt</a:t>
            </a:r>
            <a:br>
              <a:rPr sz="1100"/>
            </a:br>
            <a:r>
              <a:rPr b="0" lang="en-US" sz="1100" spc="-1" strike="noStrike">
                <a:solidFill>
                  <a:srgbClr val="d1d5db"/>
                </a:solidFill>
                <a:latin typeface="Arial"/>
              </a:rPr>
              <a:t>Qwen2.5-Coder</a:t>
            </a:r>
            <a:br>
              <a:rPr sz="1100"/>
            </a:br>
            <a:r>
              <a:rPr b="0" lang="en-US" sz="1100" spc="-1" strike="noStrike">
                <a:solidFill>
                  <a:srgbClr val="d1d5db"/>
                </a:solidFill>
                <a:latin typeface="Arial"/>
              </a:rPr>
              <a:t>Code generation</a:t>
            </a:r>
            <a:endParaRPr b="0" lang="en-US" sz="1100" spc="-1" strike="noStrike">
              <a:solidFill>
                <a:srgbClr val="ffffff"/>
              </a:solidFill>
              <a:latin typeface="Arial"/>
            </a:endParaRPr>
          </a:p>
        </p:txBody>
      </p:sp>
      <p:sp>
        <p:nvSpPr>
          <p:cNvPr id="87" name="TextBox 15"/>
          <p:cNvSpPr/>
          <p:nvPr/>
        </p:nvSpPr>
        <p:spPr>
          <a:xfrm>
            <a:off x="6924960" y="2880720"/>
            <a:ext cx="579240" cy="5169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endParaRPr b="0" lang="en-US" sz="1800" spc="-1" strike="noStrike">
              <a:solidFill>
                <a:srgbClr val="ffffff"/>
              </a:solidFill>
              <a:latin typeface="Arial"/>
            </a:endParaRPr>
          </a:p>
        </p:txBody>
      </p:sp>
      <p:sp>
        <p:nvSpPr>
          <p:cNvPr id="88" name="Rectangle 16"/>
          <p:cNvSpPr/>
          <p:nvPr/>
        </p:nvSpPr>
        <p:spPr>
          <a:xfrm>
            <a:off x="2787480" y="4434840"/>
            <a:ext cx="2028240" cy="1508400"/>
          </a:xfrm>
          <a:prstGeom prst="rect">
            <a:avLst/>
          </a:prstGeom>
          <a:solidFill>
            <a:srgbClr val="374151"/>
          </a:solidFill>
          <a:ln>
            <a:solidFill>
              <a:srgbClr val="6b728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 name="TextBox 17"/>
          <p:cNvSpPr/>
          <p:nvPr/>
        </p:nvSpPr>
        <p:spPr>
          <a:xfrm>
            <a:off x="2884320" y="4560480"/>
            <a:ext cx="183492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Arial"/>
              </a:rPr>
              <a:t>MOTION</a:t>
            </a:r>
            <a:endParaRPr b="0" lang="en-US" sz="1400" spc="-1" strike="noStrike">
              <a:solidFill>
                <a:srgbClr val="ffffff"/>
              </a:solidFill>
              <a:latin typeface="Arial"/>
            </a:endParaRPr>
          </a:p>
        </p:txBody>
      </p:sp>
      <p:sp>
        <p:nvSpPr>
          <p:cNvPr id="90" name="TextBox 18"/>
          <p:cNvSpPr/>
          <p:nvPr/>
        </p:nvSpPr>
        <p:spPr>
          <a:xfrm>
            <a:off x="2884320" y="5000760"/>
            <a:ext cx="1834920" cy="592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d1d5db"/>
                </a:solidFill>
                <a:latin typeface="Arial"/>
              </a:rPr>
              <a:t>TRAC-IK solver</a:t>
            </a:r>
            <a:br>
              <a:rPr sz="1100"/>
            </a:br>
            <a:r>
              <a:rPr b="0" lang="en-US" sz="1100" spc="-1" strike="noStrike">
                <a:solidFill>
                  <a:srgbClr val="d1d5db"/>
                </a:solidFill>
                <a:latin typeface="Arial"/>
              </a:rPr>
              <a:t>Waypoint execution</a:t>
            </a:r>
            <a:br>
              <a:rPr sz="1100"/>
            </a:br>
            <a:r>
              <a:rPr b="0" lang="en-US" sz="1100" spc="-1" strike="noStrike">
                <a:solidFill>
                  <a:srgbClr val="d1d5db"/>
                </a:solidFill>
                <a:latin typeface="Arial"/>
              </a:rPr>
              <a:t>Gripper control</a:t>
            </a:r>
            <a:endParaRPr b="0" lang="en-US" sz="1100" spc="-1" strike="noStrike">
              <a:solidFill>
                <a:srgbClr val="ffffff"/>
              </a:solidFill>
              <a:latin typeface="Arial"/>
            </a:endParaRPr>
          </a:p>
        </p:txBody>
      </p:sp>
      <p:sp>
        <p:nvSpPr>
          <p:cNvPr id="91" name="TextBox 19"/>
          <p:cNvSpPr/>
          <p:nvPr/>
        </p:nvSpPr>
        <p:spPr>
          <a:xfrm>
            <a:off x="4623480" y="4938120"/>
            <a:ext cx="578880" cy="5166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2800" spc="-1" strike="noStrike">
                <a:solidFill>
                  <a:srgbClr val="6b7280"/>
                </a:solidFill>
                <a:latin typeface="Arial"/>
              </a:rPr>
              <a:t>→</a:t>
            </a:r>
            <a:endParaRPr b="0" lang="en-US" sz="2800" spc="-1" strike="noStrike">
              <a:solidFill>
                <a:srgbClr val="ffffff"/>
              </a:solidFill>
              <a:latin typeface="Arial"/>
            </a:endParaRPr>
          </a:p>
        </p:txBody>
      </p:sp>
      <p:sp>
        <p:nvSpPr>
          <p:cNvPr id="92" name="Rectangle 20"/>
          <p:cNvSpPr/>
          <p:nvPr/>
        </p:nvSpPr>
        <p:spPr>
          <a:xfrm>
            <a:off x="5058000" y="4434840"/>
            <a:ext cx="2028240" cy="1508400"/>
          </a:xfrm>
          <a:prstGeom prst="rect">
            <a:avLst/>
          </a:prstGeom>
          <a:solidFill>
            <a:srgbClr val="374151"/>
          </a:solidFill>
          <a:ln>
            <a:solidFill>
              <a:srgbClr val="6b728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 name="TextBox 21"/>
          <p:cNvSpPr/>
          <p:nvPr/>
        </p:nvSpPr>
        <p:spPr>
          <a:xfrm>
            <a:off x="5154840" y="4560480"/>
            <a:ext cx="183456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1400" spc="-1" strike="noStrike">
                <a:solidFill>
                  <a:srgbClr val="ffffff"/>
                </a:solidFill>
                <a:latin typeface="Arial"/>
              </a:rPr>
              <a:t>ROBOT</a:t>
            </a:r>
            <a:endParaRPr b="0" lang="en-US" sz="1400" spc="-1" strike="noStrike">
              <a:solidFill>
                <a:srgbClr val="ffffff"/>
              </a:solidFill>
              <a:latin typeface="Arial"/>
            </a:endParaRPr>
          </a:p>
        </p:txBody>
      </p:sp>
      <p:sp>
        <p:nvSpPr>
          <p:cNvPr id="94" name="TextBox 22"/>
          <p:cNvSpPr/>
          <p:nvPr/>
        </p:nvSpPr>
        <p:spPr>
          <a:xfrm>
            <a:off x="5154840" y="5000760"/>
            <a:ext cx="1834560" cy="5929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100" spc="-1" strike="noStrike">
                <a:solidFill>
                  <a:srgbClr val="d1d5db"/>
                </a:solidFill>
                <a:latin typeface="Arial"/>
              </a:rPr>
              <a:t>intera_interface</a:t>
            </a:r>
            <a:br>
              <a:rPr sz="1100"/>
            </a:br>
            <a:r>
              <a:rPr b="0" lang="en-US" sz="1100" spc="-1" strike="noStrike">
                <a:solidFill>
                  <a:srgbClr val="d1d5db"/>
                </a:solidFill>
                <a:latin typeface="Arial"/>
              </a:rPr>
              <a:t>Joint publishers</a:t>
            </a:r>
            <a:br>
              <a:rPr sz="1100"/>
            </a:br>
            <a:r>
              <a:rPr b="0" lang="en-US" sz="1100" spc="-1" strike="noStrike">
                <a:solidFill>
                  <a:srgbClr val="d1d5db"/>
                </a:solidFill>
                <a:latin typeface="Arial"/>
              </a:rPr>
              <a:t>ROS topics</a:t>
            </a:r>
            <a:endParaRPr b="0" lang="en-US" sz="1100" spc="-1" strike="noStrike">
              <a:solidFill>
                <a:srgbClr val="ffffff"/>
              </a:solidFill>
              <a:latin typeface="Arial"/>
            </a:endParaRPr>
          </a:p>
        </p:txBody>
      </p:sp>
      <p:pic>
        <p:nvPicPr>
          <p:cNvPr id="95" name="" descr=""/>
          <p:cNvPicPr/>
          <p:nvPr/>
        </p:nvPicPr>
        <p:blipFill>
          <a:blip r:embed="rId1"/>
          <a:stretch/>
        </p:blipFill>
        <p:spPr>
          <a:xfrm>
            <a:off x="8001000" y="1690560"/>
            <a:ext cx="3885840" cy="4938480"/>
          </a:xfrm>
          <a:prstGeom prst="rect">
            <a:avLst/>
          </a:prstGeom>
          <a:ln w="0">
            <a:noFill/>
          </a:ln>
        </p:spPr>
      </p:pic>
      <p:cxnSp>
        <p:nvCxnSpPr>
          <p:cNvPr id="96" name=""/>
          <p:cNvCxnSpPr>
            <a:stCxn id="84" idx="3"/>
            <a:endCxn id="88" idx="1"/>
          </p:cNvCxnSpPr>
          <p:nvPr/>
        </p:nvCxnSpPr>
        <p:spPr>
          <a:xfrm flipH="1">
            <a:off x="2787480" y="3131640"/>
            <a:ext cx="4330080" cy="2057760"/>
          </a:xfrm>
          <a:prstGeom prst="bentConnector5">
            <a:avLst>
              <a:gd name="adj1" fmla="val -4165"/>
              <a:gd name="adj2" fmla="val 50026"/>
              <a:gd name="adj3" fmla="val 106294"/>
            </a:avLst>
          </a:prstGeom>
          <a:ln w="0">
            <a:solidFill>
              <a:srgbClr val="6b7280"/>
            </a:solidFill>
          </a:ln>
        </p:spPr>
      </p:cxnSp>
      <p:sp>
        <p:nvSpPr>
          <p:cNvPr id="97" name=""/>
          <p:cNvSpPr/>
          <p:nvPr/>
        </p:nvSpPr>
        <p:spPr>
          <a:xfrm>
            <a:off x="2514600" y="5189040"/>
            <a:ext cx="276840" cy="360"/>
          </a:xfrm>
          <a:prstGeom prst="line">
            <a:avLst/>
          </a:prstGeom>
          <a:ln w="0">
            <a:solidFill>
              <a:srgbClr val="6b7280"/>
            </a:solidFill>
            <a:tailEnd len="med" type="triangle" w="med"/>
          </a:ln>
        </p:spPr>
        <p:style>
          <a:lnRef idx="0"/>
          <a:fillRef idx="0"/>
          <a:effectRef idx="0"/>
          <a:fontRef idx="minor"/>
        </p:style>
        <p:txBody>
          <a:bodyPr lIns="90000" rIns="90000" tIns="-45000" bIns="-45000" anchor="ctr">
            <a:noAutofit/>
          </a:bodyPr>
          <a:p>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98" name="Rounded Rectangle 1"/>
          <p:cNvSpPr/>
          <p:nvPr/>
        </p:nvSpPr>
        <p:spPr>
          <a:xfrm>
            <a:off x="2780640" y="1148040"/>
            <a:ext cx="6725880" cy="4983120"/>
          </a:xfrm>
          <a:prstGeom prst="roundRect">
            <a:avLst>
              <a:gd name="adj" fmla="val 16667"/>
            </a:avLst>
          </a:prstGeom>
          <a:solidFill>
            <a:schemeClr val="accent4">
              <a:lumMod val="50000"/>
            </a:schemeClr>
          </a:solidFill>
          <a:ln w="12700">
            <a:solidFill>
              <a:srgbClr val="634aa7"/>
            </a:solidFill>
            <a:prstDash val="dash"/>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99" name="Rounded Rectangle 9"/>
          <p:cNvSpPr/>
          <p:nvPr/>
        </p:nvSpPr>
        <p:spPr>
          <a:xfrm>
            <a:off x="105480" y="1212120"/>
            <a:ext cx="2531880" cy="4919040"/>
          </a:xfrm>
          <a:prstGeom prst="roundRect">
            <a:avLst>
              <a:gd name="adj" fmla="val 16667"/>
            </a:avLst>
          </a:prstGeom>
          <a:solidFill>
            <a:schemeClr val="tx2">
              <a:lumMod val="75000"/>
            </a:schemeClr>
          </a:solidFill>
          <a:ln w="12700">
            <a:solidFill>
              <a:srgbClr val="1f497d">
                <a:lumMod val="40000"/>
                <a:lumOff val="60000"/>
              </a:srgbClr>
            </a:solidFill>
            <a:prstDash val="dash"/>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00" name="Rounded Rectangle 17"/>
          <p:cNvSpPr/>
          <p:nvPr/>
        </p:nvSpPr>
        <p:spPr>
          <a:xfrm>
            <a:off x="1391760" y="4087440"/>
            <a:ext cx="1096920" cy="246600"/>
          </a:xfrm>
          <a:prstGeom prst="roundRect">
            <a:avLst>
              <a:gd name="adj" fmla="val 16667"/>
            </a:avLst>
          </a:prstGeom>
          <a:solidFill>
            <a:schemeClr val="tx1"/>
          </a:solidFill>
          <a:ln w="10160">
            <a:solidFill>
              <a:srgbClr val="1c63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01" name="TextBox 12"/>
          <p:cNvSpPr/>
          <p:nvPr/>
        </p:nvSpPr>
        <p:spPr>
          <a:xfrm>
            <a:off x="435240" y="145080"/>
            <a:ext cx="1005804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Simulation Environment  —  Jun</a:t>
            </a:r>
            <a:endParaRPr b="0" lang="en-US" sz="3000" spc="-1" strike="noStrike">
              <a:solidFill>
                <a:srgbClr val="ffffff"/>
              </a:solidFill>
              <a:latin typeface="Arial"/>
            </a:endParaRPr>
          </a:p>
        </p:txBody>
      </p:sp>
      <p:sp>
        <p:nvSpPr>
          <p:cNvPr id="102" name="Rectangle 5"/>
          <p:cNvSpPr/>
          <p:nvPr/>
        </p:nvSpPr>
        <p:spPr>
          <a:xfrm>
            <a:off x="731520" y="914400"/>
            <a:ext cx="2285640" cy="3780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endParaRPr b="0" lang="en-US" sz="1800" spc="-1" strike="noStrike">
              <a:solidFill>
                <a:schemeClr val="lt1"/>
              </a:solidFill>
              <a:latin typeface="Calibri"/>
            </a:endParaRPr>
          </a:p>
        </p:txBody>
      </p:sp>
      <p:sp>
        <p:nvSpPr>
          <p:cNvPr id="103" name="Rounded Rectangle 18"/>
          <p:cNvSpPr/>
          <p:nvPr/>
        </p:nvSpPr>
        <p:spPr>
          <a:xfrm>
            <a:off x="350640" y="1037520"/>
            <a:ext cx="2040120" cy="415800"/>
          </a:xfrm>
          <a:prstGeom prst="roundRect">
            <a:avLst>
              <a:gd name="adj" fmla="val 16667"/>
            </a:avLst>
          </a:prstGeom>
          <a:solidFill>
            <a:schemeClr val="accent1">
              <a:lumMod val="75000"/>
            </a:schemeClr>
          </a:solidFill>
          <a:ln w="1270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27360" bIns="27360" anchor="ctr">
            <a:noAutofit/>
          </a:bodyPr>
          <a:p>
            <a:pPr algn="ctr" defTabSz="457200">
              <a:lnSpc>
                <a:spcPct val="100000"/>
              </a:lnSpc>
            </a:pPr>
            <a:r>
              <a:rPr b="1" lang="en-US" sz="1200" spc="-1" strike="noStrike">
                <a:solidFill>
                  <a:schemeClr val="lt1"/>
                </a:solidFill>
                <a:latin typeface="Arial"/>
              </a:rPr>
              <a:t>Simulation Platform Overview</a:t>
            </a:r>
            <a:endParaRPr b="0" lang="en-US" sz="1200" spc="-1" strike="noStrike">
              <a:solidFill>
                <a:srgbClr val="ffffff"/>
              </a:solidFill>
              <a:latin typeface="Arial"/>
            </a:endParaRPr>
          </a:p>
        </p:txBody>
      </p:sp>
      <p:sp>
        <p:nvSpPr>
          <p:cNvPr id="104" name="TextBox 38"/>
          <p:cNvSpPr/>
          <p:nvPr/>
        </p:nvSpPr>
        <p:spPr>
          <a:xfrm>
            <a:off x="388440" y="4450320"/>
            <a:ext cx="959760" cy="424800"/>
          </a:xfrm>
          <a:prstGeom prst="rect">
            <a:avLst/>
          </a:prstGeom>
          <a:noFill/>
          <a:ln w="0">
            <a:noFill/>
          </a:ln>
        </p:spPr>
        <p:style>
          <a:lnRef idx="0"/>
          <a:fillRef idx="0"/>
          <a:effectRef idx="0"/>
          <a:fontRef idx="minor"/>
        </p:style>
        <p:txBody>
          <a:bodyPr lIns="45720" rIns="45720" tIns="18360" bIns="18360" anchor="ctr">
            <a:spAutoFit/>
          </a:bodyPr>
          <a:p>
            <a:r>
              <a:rPr b="0" lang="en-US" sz="850" spc="-1" strike="noStrike">
                <a:solidFill>
                  <a:schemeClr val="lt1"/>
                </a:solidFill>
                <a:latin typeface="Arial"/>
              </a:rPr>
              <a:t>Physics simulation</a:t>
            </a:r>
            <a:endParaRPr b="0" lang="en-US" sz="850" spc="-1" strike="noStrike">
              <a:solidFill>
                <a:srgbClr val="ffffff"/>
              </a:solidFill>
              <a:latin typeface="Arial"/>
            </a:endParaRPr>
          </a:p>
          <a:p>
            <a:pPr defTabSz="457200">
              <a:lnSpc>
                <a:spcPct val="100000"/>
              </a:lnSpc>
            </a:pPr>
            <a:r>
              <a:rPr b="0" lang="en-US" sz="850" spc="-1" strike="noStrike">
                <a:solidFill>
                  <a:schemeClr val="lt1"/>
                </a:solidFill>
                <a:latin typeface="Arial"/>
              </a:rPr>
              <a:t>and rendering</a:t>
            </a:r>
            <a:endParaRPr b="0" lang="en-US" sz="850" spc="-1" strike="noStrike">
              <a:solidFill>
                <a:srgbClr val="ffffff"/>
              </a:solidFill>
              <a:latin typeface="Arial"/>
            </a:endParaRPr>
          </a:p>
        </p:txBody>
      </p:sp>
      <p:sp>
        <p:nvSpPr>
          <p:cNvPr id="105" name="TextBox 39"/>
          <p:cNvSpPr/>
          <p:nvPr/>
        </p:nvSpPr>
        <p:spPr>
          <a:xfrm>
            <a:off x="1490760" y="4450320"/>
            <a:ext cx="1176840" cy="424800"/>
          </a:xfrm>
          <a:prstGeom prst="rect">
            <a:avLst/>
          </a:prstGeom>
          <a:noFill/>
          <a:ln w="0">
            <a:noFill/>
          </a:ln>
        </p:spPr>
        <p:style>
          <a:lnRef idx="0"/>
          <a:fillRef idx="0"/>
          <a:effectRef idx="0"/>
          <a:fontRef idx="minor"/>
        </p:style>
        <p:txBody>
          <a:bodyPr lIns="45720" rIns="45720" tIns="18360" bIns="18360" anchor="ctr">
            <a:spAutoFit/>
          </a:bodyPr>
          <a:p>
            <a:pPr defTabSz="457200">
              <a:lnSpc>
                <a:spcPct val="100000"/>
              </a:lnSpc>
            </a:pPr>
            <a:r>
              <a:rPr b="0" lang="en-US" sz="850" spc="-1" strike="noStrike">
                <a:solidFill>
                  <a:schemeClr val="lt1"/>
                </a:solidFill>
                <a:latin typeface="Arial"/>
              </a:rPr>
              <a:t>7-DOF arm</a:t>
            </a:r>
            <a:endParaRPr b="0" lang="en-US" sz="850" spc="-1" strike="noStrike">
              <a:solidFill>
                <a:srgbClr val="ffffff"/>
              </a:solidFill>
              <a:latin typeface="Arial"/>
            </a:endParaRPr>
          </a:p>
          <a:p>
            <a:pPr defTabSz="457200">
              <a:lnSpc>
                <a:spcPct val="100000"/>
              </a:lnSpc>
            </a:pPr>
            <a:r>
              <a:rPr b="0" lang="en-US" sz="850" spc="-1" strike="noStrike">
                <a:solidFill>
                  <a:schemeClr val="lt1"/>
                </a:solidFill>
                <a:latin typeface="Arial"/>
              </a:rPr>
              <a:t>Top-down view</a:t>
            </a:r>
            <a:endParaRPr b="0" lang="en-US" sz="850" spc="-1" strike="noStrike">
              <a:solidFill>
                <a:srgbClr val="ffffff"/>
              </a:solidFill>
              <a:latin typeface="Arial"/>
            </a:endParaRPr>
          </a:p>
          <a:p>
            <a:pPr defTabSz="457200">
              <a:lnSpc>
                <a:spcPct val="100000"/>
              </a:lnSpc>
            </a:pPr>
            <a:endParaRPr b="0" lang="en-US" sz="850" spc="-1" strike="noStrike">
              <a:solidFill>
                <a:srgbClr val="ffffff"/>
              </a:solidFill>
              <a:latin typeface="Arial"/>
            </a:endParaRPr>
          </a:p>
        </p:txBody>
      </p:sp>
      <p:sp>
        <p:nvSpPr>
          <p:cNvPr id="106" name="TextBox 40"/>
          <p:cNvSpPr/>
          <p:nvPr/>
        </p:nvSpPr>
        <p:spPr>
          <a:xfrm>
            <a:off x="1549800" y="5472360"/>
            <a:ext cx="959760" cy="165600"/>
          </a:xfrm>
          <a:prstGeom prst="rect">
            <a:avLst/>
          </a:prstGeom>
          <a:noFill/>
          <a:ln w="0">
            <a:noFill/>
          </a:ln>
        </p:spPr>
        <p:style>
          <a:lnRef idx="0"/>
          <a:fillRef idx="0"/>
          <a:effectRef idx="0"/>
          <a:fontRef idx="minor"/>
        </p:style>
        <p:txBody>
          <a:bodyPr lIns="45720" rIns="45720" tIns="18360" bIns="18360" anchor="ctr">
            <a:spAutoFit/>
          </a:bodyPr>
          <a:p>
            <a:pPr defTabSz="457200">
              <a:lnSpc>
                <a:spcPct val="100000"/>
              </a:lnSpc>
            </a:pPr>
            <a:r>
              <a:rPr b="0" lang="en-US" sz="850" spc="-1" strike="noStrike">
                <a:solidFill>
                  <a:schemeClr val="lt1"/>
                </a:solidFill>
                <a:latin typeface="Arial"/>
              </a:rPr>
              <a:t>Electric gripper</a:t>
            </a:r>
            <a:endParaRPr b="0" lang="en-US" sz="850" spc="-1" strike="noStrike">
              <a:solidFill>
                <a:srgbClr val="ffffff"/>
              </a:solidFill>
              <a:latin typeface="Arial"/>
            </a:endParaRPr>
          </a:p>
        </p:txBody>
      </p:sp>
      <p:sp>
        <p:nvSpPr>
          <p:cNvPr id="107" name="TextBox 41"/>
          <p:cNvSpPr/>
          <p:nvPr/>
        </p:nvSpPr>
        <p:spPr>
          <a:xfrm>
            <a:off x="388440" y="5433840"/>
            <a:ext cx="959760" cy="295200"/>
          </a:xfrm>
          <a:prstGeom prst="rect">
            <a:avLst/>
          </a:prstGeom>
          <a:noFill/>
          <a:ln w="0">
            <a:noFill/>
          </a:ln>
        </p:spPr>
        <p:style>
          <a:lnRef idx="0"/>
          <a:fillRef idx="0"/>
          <a:effectRef idx="0"/>
          <a:fontRef idx="minor"/>
        </p:style>
        <p:txBody>
          <a:bodyPr lIns="45720" rIns="45720" tIns="18360" bIns="18360" anchor="ctr">
            <a:spAutoFit/>
          </a:bodyPr>
          <a:p>
            <a:r>
              <a:rPr b="0" lang="en-US" sz="850" spc="-1" strike="noStrike">
                <a:solidFill>
                  <a:schemeClr val="lt1"/>
                </a:solidFill>
                <a:latin typeface="Arial"/>
              </a:rPr>
              <a:t>Communication</a:t>
            </a:r>
            <a:endParaRPr b="0" lang="en-US" sz="850" spc="-1" strike="noStrike">
              <a:solidFill>
                <a:srgbClr val="ffffff"/>
              </a:solidFill>
              <a:latin typeface="Arial"/>
            </a:endParaRPr>
          </a:p>
          <a:p>
            <a:pPr defTabSz="457200">
              <a:lnSpc>
                <a:spcPct val="100000"/>
              </a:lnSpc>
            </a:pPr>
            <a:r>
              <a:rPr b="0" lang="en-US" sz="850" spc="-1" strike="noStrike">
                <a:solidFill>
                  <a:schemeClr val="lt1"/>
                </a:solidFill>
                <a:latin typeface="Arial"/>
              </a:rPr>
              <a:t>and integration</a:t>
            </a:r>
            <a:endParaRPr b="0" lang="en-US" sz="850" spc="-1" strike="noStrike">
              <a:solidFill>
                <a:srgbClr val="ffffff"/>
              </a:solidFill>
              <a:latin typeface="Arial"/>
            </a:endParaRPr>
          </a:p>
        </p:txBody>
      </p:sp>
      <p:sp>
        <p:nvSpPr>
          <p:cNvPr id="108" name="Rounded Rectangle 19"/>
          <p:cNvSpPr/>
          <p:nvPr/>
        </p:nvSpPr>
        <p:spPr>
          <a:xfrm>
            <a:off x="189360" y="4084560"/>
            <a:ext cx="1096920" cy="246600"/>
          </a:xfrm>
          <a:prstGeom prst="roundRect">
            <a:avLst>
              <a:gd name="adj" fmla="val 16667"/>
            </a:avLst>
          </a:prstGeom>
          <a:solidFill>
            <a:schemeClr val="tx1"/>
          </a:solidFill>
          <a:ln w="10160">
            <a:solidFill>
              <a:srgbClr val="1c63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09" name="TextBox 42"/>
          <p:cNvSpPr/>
          <p:nvPr/>
        </p:nvSpPr>
        <p:spPr>
          <a:xfrm>
            <a:off x="505080" y="4114800"/>
            <a:ext cx="461160" cy="151560"/>
          </a:xfrm>
          <a:prstGeom prst="rect">
            <a:avLst/>
          </a:prstGeom>
          <a:noFill/>
          <a:ln w="0">
            <a:noFill/>
          </a:ln>
        </p:spPr>
        <p:style>
          <a:lnRef idx="0"/>
          <a:fillRef idx="0"/>
          <a:effectRef idx="0"/>
          <a:fontRef idx="minor"/>
        </p:style>
        <p:txBody>
          <a:bodyPr wrap="none" lIns="27360" rIns="27360" tIns="9000" bIns="9000" anchor="t">
            <a:spAutoFit/>
          </a:bodyPr>
          <a:p>
            <a:pPr algn="ctr" defTabSz="457200">
              <a:lnSpc>
                <a:spcPct val="100000"/>
              </a:lnSpc>
            </a:pPr>
            <a:r>
              <a:rPr b="1" lang="en-US" sz="880" spc="-1" strike="noStrike">
                <a:solidFill>
                  <a:schemeClr val="lt1"/>
                </a:solidFill>
                <a:latin typeface="Calibri"/>
              </a:rPr>
              <a:t>Gazebo</a:t>
            </a:r>
            <a:endParaRPr b="0" lang="en-US" sz="880" spc="-1" strike="noStrike">
              <a:solidFill>
                <a:srgbClr val="ffffff"/>
              </a:solidFill>
              <a:latin typeface="Arial"/>
            </a:endParaRPr>
          </a:p>
        </p:txBody>
      </p:sp>
      <p:sp>
        <p:nvSpPr>
          <p:cNvPr id="110" name="TextBox 43"/>
          <p:cNvSpPr/>
          <p:nvPr/>
        </p:nvSpPr>
        <p:spPr>
          <a:xfrm>
            <a:off x="1276920" y="4112280"/>
            <a:ext cx="1326960" cy="151560"/>
          </a:xfrm>
          <a:prstGeom prst="rect">
            <a:avLst/>
          </a:prstGeom>
          <a:noFill/>
          <a:ln w="0">
            <a:noFill/>
          </a:ln>
        </p:spPr>
        <p:style>
          <a:lnRef idx="0"/>
          <a:fillRef idx="0"/>
          <a:effectRef idx="0"/>
          <a:fontRef idx="minor"/>
        </p:style>
        <p:txBody>
          <a:bodyPr wrap="none" lIns="27360" rIns="27360" tIns="9000" bIns="9000" anchor="t">
            <a:spAutoFit/>
          </a:bodyPr>
          <a:p>
            <a:pPr algn="ctr" defTabSz="457200">
              <a:lnSpc>
                <a:spcPct val="100000"/>
              </a:lnSpc>
            </a:pPr>
            <a:r>
              <a:rPr b="1" lang="en-US" sz="880" spc="-1" strike="noStrike">
                <a:solidFill>
                  <a:schemeClr val="lt1"/>
                </a:solidFill>
                <a:latin typeface="Calibri"/>
              </a:rPr>
              <a:t>Sawyer &amp; hand camara</a:t>
            </a:r>
            <a:endParaRPr b="0" lang="en-US" sz="880" spc="-1" strike="noStrike">
              <a:solidFill>
                <a:srgbClr val="ffffff"/>
              </a:solidFill>
              <a:latin typeface="Arial"/>
            </a:endParaRPr>
          </a:p>
        </p:txBody>
      </p:sp>
      <p:sp>
        <p:nvSpPr>
          <p:cNvPr id="111" name="Rounded Rectangle 23"/>
          <p:cNvSpPr/>
          <p:nvPr/>
        </p:nvSpPr>
        <p:spPr>
          <a:xfrm>
            <a:off x="1391760" y="5078880"/>
            <a:ext cx="1096920" cy="246600"/>
          </a:xfrm>
          <a:prstGeom prst="roundRect">
            <a:avLst>
              <a:gd name="adj" fmla="val 16667"/>
            </a:avLst>
          </a:prstGeom>
          <a:solidFill>
            <a:schemeClr val="tx1"/>
          </a:solidFill>
          <a:ln w="10160">
            <a:solidFill>
              <a:srgbClr val="1c63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12" name="TextBox 44"/>
          <p:cNvSpPr/>
          <p:nvPr/>
        </p:nvSpPr>
        <p:spPr>
          <a:xfrm>
            <a:off x="1403280" y="5101200"/>
            <a:ext cx="1146960" cy="151560"/>
          </a:xfrm>
          <a:prstGeom prst="rect">
            <a:avLst/>
          </a:prstGeom>
          <a:noFill/>
          <a:ln w="0">
            <a:noFill/>
          </a:ln>
        </p:spPr>
        <p:style>
          <a:lnRef idx="0"/>
          <a:fillRef idx="0"/>
          <a:effectRef idx="0"/>
          <a:fontRef idx="minor"/>
        </p:style>
        <p:txBody>
          <a:bodyPr wrap="none" lIns="27360" rIns="27360" tIns="9000" bIns="9000" anchor="t">
            <a:spAutoFit/>
          </a:bodyPr>
          <a:p>
            <a:pPr algn="ctr" defTabSz="457200">
              <a:lnSpc>
                <a:spcPct val="100000"/>
              </a:lnSpc>
            </a:pPr>
            <a:r>
              <a:rPr b="1" lang="en-US" sz="880" spc="-1" strike="noStrike">
                <a:solidFill>
                  <a:schemeClr val="lt1"/>
                </a:solidFill>
                <a:latin typeface="Calibri"/>
              </a:rPr>
              <a:t>Parallel-jaw gripper</a:t>
            </a:r>
            <a:endParaRPr b="0" lang="en-US" sz="880" spc="-1" strike="noStrike">
              <a:solidFill>
                <a:srgbClr val="ffffff"/>
              </a:solidFill>
              <a:latin typeface="Arial"/>
            </a:endParaRPr>
          </a:p>
        </p:txBody>
      </p:sp>
      <p:sp>
        <p:nvSpPr>
          <p:cNvPr id="113" name="Rounded Rectangle 24"/>
          <p:cNvSpPr/>
          <p:nvPr/>
        </p:nvSpPr>
        <p:spPr>
          <a:xfrm>
            <a:off x="189360" y="5078880"/>
            <a:ext cx="1096920" cy="246600"/>
          </a:xfrm>
          <a:prstGeom prst="roundRect">
            <a:avLst>
              <a:gd name="adj" fmla="val 16667"/>
            </a:avLst>
          </a:prstGeom>
          <a:solidFill>
            <a:schemeClr val="tx1"/>
          </a:solidFill>
          <a:ln w="10160">
            <a:solidFill>
              <a:srgbClr val="1c63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14" name="TextBox 45"/>
          <p:cNvSpPr/>
          <p:nvPr/>
        </p:nvSpPr>
        <p:spPr>
          <a:xfrm>
            <a:off x="582120" y="5102280"/>
            <a:ext cx="276840" cy="151560"/>
          </a:xfrm>
          <a:prstGeom prst="rect">
            <a:avLst/>
          </a:prstGeom>
          <a:noFill/>
          <a:ln w="0">
            <a:noFill/>
          </a:ln>
        </p:spPr>
        <p:style>
          <a:lnRef idx="0"/>
          <a:fillRef idx="0"/>
          <a:effectRef idx="0"/>
          <a:fontRef idx="minor"/>
        </p:style>
        <p:txBody>
          <a:bodyPr wrap="none" lIns="27360" rIns="27360" tIns="9000" bIns="9000" anchor="t">
            <a:spAutoFit/>
          </a:bodyPr>
          <a:p>
            <a:pPr algn="ctr" defTabSz="457200">
              <a:lnSpc>
                <a:spcPct val="100000"/>
              </a:lnSpc>
            </a:pPr>
            <a:r>
              <a:rPr b="1" lang="en-US" sz="880" spc="-1" strike="noStrike">
                <a:solidFill>
                  <a:schemeClr val="lt1"/>
                </a:solidFill>
                <a:latin typeface="Calibri"/>
              </a:rPr>
              <a:t>ROS</a:t>
            </a:r>
            <a:endParaRPr b="0" lang="en-US" sz="880" spc="-1" strike="noStrike">
              <a:solidFill>
                <a:srgbClr val="ffffff"/>
              </a:solidFill>
              <a:latin typeface="Arial"/>
            </a:endParaRPr>
          </a:p>
        </p:txBody>
      </p:sp>
      <p:pic>
        <p:nvPicPr>
          <p:cNvPr id="115" name="图片 9" descr=""/>
          <p:cNvPicPr/>
          <p:nvPr/>
        </p:nvPicPr>
        <p:blipFill>
          <a:blip r:embed="rId1"/>
          <a:stretch/>
        </p:blipFill>
        <p:spPr>
          <a:xfrm>
            <a:off x="350640" y="1902600"/>
            <a:ext cx="1980360" cy="1980360"/>
          </a:xfrm>
          <a:prstGeom prst="rect">
            <a:avLst/>
          </a:prstGeom>
          <a:ln w="0">
            <a:noFill/>
          </a:ln>
        </p:spPr>
      </p:pic>
      <p:sp>
        <p:nvSpPr>
          <p:cNvPr id="116" name="Rounded Rectangle 25"/>
          <p:cNvSpPr/>
          <p:nvPr/>
        </p:nvSpPr>
        <p:spPr>
          <a:xfrm>
            <a:off x="4097520" y="1037520"/>
            <a:ext cx="4419360" cy="383760"/>
          </a:xfrm>
          <a:prstGeom prst="roundRect">
            <a:avLst>
              <a:gd name="adj" fmla="val 16667"/>
            </a:avLst>
          </a:prstGeom>
          <a:solidFill>
            <a:schemeClr val="accent4">
              <a:lumMod val="60000"/>
              <a:lumOff val="40000"/>
            </a:schemeClr>
          </a:solidFill>
          <a:ln w="12700">
            <a:solidFill>
              <a:srgbClr val="634aa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27360" bIns="27360" anchor="ctr">
            <a:noAutofit/>
          </a:bodyPr>
          <a:p>
            <a:pPr algn="ctr" defTabSz="457200">
              <a:lnSpc>
                <a:spcPct val="100000"/>
              </a:lnSpc>
            </a:pPr>
            <a:r>
              <a:rPr b="1" lang="en-US" sz="1500" spc="-1" strike="noStrike">
                <a:solidFill>
                  <a:srgbClr val="634aa7"/>
                </a:solidFill>
                <a:latin typeface="Arial"/>
              </a:rPr>
              <a:t>Startup Sequence (Orchestrated Launch)</a:t>
            </a:r>
            <a:endParaRPr b="0" lang="en-US" sz="1500" spc="-1" strike="noStrike">
              <a:solidFill>
                <a:srgbClr val="000000"/>
              </a:solidFill>
              <a:latin typeface="Arial"/>
            </a:endParaRPr>
          </a:p>
        </p:txBody>
      </p:sp>
      <p:sp>
        <p:nvSpPr>
          <p:cNvPr id="117" name="Rounded Rectangle 26"/>
          <p:cNvSpPr/>
          <p:nvPr/>
        </p:nvSpPr>
        <p:spPr>
          <a:xfrm>
            <a:off x="4025160" y="1755360"/>
            <a:ext cx="4617360" cy="502560"/>
          </a:xfrm>
          <a:prstGeom prst="roundRect">
            <a:avLst>
              <a:gd name="adj" fmla="val 16667"/>
            </a:avLst>
          </a:prstGeom>
          <a:solidFill>
            <a:schemeClr val="accent4">
              <a:lumMod val="20000"/>
              <a:lumOff val="80000"/>
            </a:schemeClr>
          </a:solidFill>
          <a:ln w="12700">
            <a:solidFill>
              <a:srgbClr val="634aa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18" name="TextBox 46"/>
          <p:cNvSpPr/>
          <p:nvPr/>
        </p:nvSpPr>
        <p:spPr>
          <a:xfrm>
            <a:off x="4204800" y="1796760"/>
            <a:ext cx="4205880" cy="211320"/>
          </a:xfrm>
          <a:prstGeom prst="rect">
            <a:avLst/>
          </a:prstGeom>
          <a:noFill/>
          <a:ln w="0">
            <a:noFill/>
          </a:ln>
        </p:spPr>
        <p:style>
          <a:lnRef idx="0"/>
          <a:fillRef idx="0"/>
          <a:effectRef idx="0"/>
          <a:fontRef idx="minor"/>
        </p:style>
        <p:txBody>
          <a:bodyPr lIns="45720" rIns="45720" tIns="18360" bIns="18360" anchor="ctr">
            <a:spAutoFit/>
          </a:bodyPr>
          <a:p>
            <a:pPr defTabSz="457200">
              <a:lnSpc>
                <a:spcPct val="100000"/>
              </a:lnSpc>
            </a:pPr>
            <a:r>
              <a:rPr b="1" lang="en-US" sz="1150" spc="-1" strike="noStrike">
                <a:solidFill>
                  <a:srgbClr val="634aa7"/>
                </a:solidFill>
                <a:latin typeface="Arial"/>
              </a:rPr>
              <a:t>Custom launch file: sawyer_david.launch</a:t>
            </a:r>
            <a:endParaRPr b="0" lang="en-US" sz="1150" spc="-1" strike="noStrike">
              <a:solidFill>
                <a:srgbClr val="ffffff"/>
              </a:solidFill>
              <a:latin typeface="Arial"/>
            </a:endParaRPr>
          </a:p>
        </p:txBody>
      </p:sp>
      <p:sp>
        <p:nvSpPr>
          <p:cNvPr id="119" name="TextBox 47"/>
          <p:cNvSpPr/>
          <p:nvPr/>
        </p:nvSpPr>
        <p:spPr>
          <a:xfrm>
            <a:off x="4311000" y="1992240"/>
            <a:ext cx="4205880" cy="180720"/>
          </a:xfrm>
          <a:prstGeom prst="rect">
            <a:avLst/>
          </a:prstGeom>
          <a:noFill/>
          <a:ln w="0">
            <a:noFill/>
          </a:ln>
        </p:spPr>
        <p:style>
          <a:lnRef idx="0"/>
          <a:fillRef idx="0"/>
          <a:effectRef idx="0"/>
          <a:fontRef idx="minor"/>
        </p:style>
        <p:txBody>
          <a:bodyPr lIns="45720" rIns="45720" tIns="18360" bIns="18360" anchor="ctr">
            <a:spAutoFit/>
          </a:bodyPr>
          <a:p>
            <a:pPr defTabSz="457200">
              <a:lnSpc>
                <a:spcPct val="100000"/>
              </a:lnSpc>
            </a:pPr>
            <a:r>
              <a:rPr b="0" lang="en-US" sz="950" spc="-1" strike="noStrike">
                <a:solidFill>
                  <a:srgbClr val="505050"/>
                </a:solidFill>
                <a:latin typeface="Arial"/>
              </a:rPr>
              <a:t>Orchestrates the startup sequence</a:t>
            </a:r>
            <a:endParaRPr b="0" lang="en-US" sz="950" spc="-1" strike="noStrike">
              <a:solidFill>
                <a:srgbClr val="ffffff"/>
              </a:solidFill>
              <a:latin typeface="Arial"/>
            </a:endParaRPr>
          </a:p>
        </p:txBody>
      </p:sp>
      <p:sp>
        <p:nvSpPr>
          <p:cNvPr id="120" name="Rounded Rectangle 27"/>
          <p:cNvSpPr/>
          <p:nvPr/>
        </p:nvSpPr>
        <p:spPr>
          <a:xfrm>
            <a:off x="3076560" y="2765880"/>
            <a:ext cx="1205640" cy="2907360"/>
          </a:xfrm>
          <a:prstGeom prst="roundRect">
            <a:avLst>
              <a:gd name="adj" fmla="val 16667"/>
            </a:avLst>
          </a:prstGeom>
          <a:solidFill>
            <a:schemeClr val="tx2">
              <a:lumMod val="75000"/>
            </a:schemeClr>
          </a:solidFill>
          <a:ln w="1397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21" name="Oval 11"/>
          <p:cNvSpPr/>
          <p:nvPr/>
        </p:nvSpPr>
        <p:spPr>
          <a:xfrm>
            <a:off x="3515400" y="2564640"/>
            <a:ext cx="347040" cy="347040"/>
          </a:xfrm>
          <a:prstGeom prst="ellipse">
            <a:avLst/>
          </a:prstGeom>
          <a:solidFill>
            <a:srgbClr val="2563a5"/>
          </a:solidFill>
          <a:ln w="1524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500" spc="-1" strike="noStrike">
                <a:solidFill>
                  <a:srgbClr val="ffffff"/>
                </a:solidFill>
                <a:latin typeface="Arial"/>
              </a:rPr>
              <a:t>1</a:t>
            </a:r>
            <a:endParaRPr b="0" lang="en-US" sz="1500" spc="-1" strike="noStrike">
              <a:solidFill>
                <a:srgbClr val="ffffff"/>
              </a:solidFill>
              <a:latin typeface="Arial"/>
            </a:endParaRPr>
          </a:p>
        </p:txBody>
      </p:sp>
      <p:sp>
        <p:nvSpPr>
          <p:cNvPr id="122" name="TextBox 48"/>
          <p:cNvSpPr/>
          <p:nvPr/>
        </p:nvSpPr>
        <p:spPr>
          <a:xfrm>
            <a:off x="3115440" y="2924640"/>
            <a:ext cx="1133640" cy="295200"/>
          </a:xfrm>
          <a:prstGeom prst="rect">
            <a:avLst/>
          </a:prstGeom>
          <a:noFill/>
          <a:ln w="0">
            <a:noFill/>
          </a:ln>
        </p:spPr>
        <p:style>
          <a:lnRef idx="0"/>
          <a:fillRef idx="0"/>
          <a:effectRef idx="0"/>
          <a:fontRef idx="minor"/>
        </p:style>
        <p:txBody>
          <a:bodyPr lIns="45720" rIns="45720" tIns="18360" bIns="18360" anchor="ctr">
            <a:spAutoFit/>
          </a:bodyPr>
          <a:p>
            <a:pPr algn="ctr" defTabSz="457200">
              <a:lnSpc>
                <a:spcPct val="100000"/>
              </a:lnSpc>
            </a:pPr>
            <a:r>
              <a:rPr b="1" lang="en-US" sz="1700" spc="-1" strike="noStrike">
                <a:solidFill>
                  <a:schemeClr val="accent1">
                    <a:lumMod val="40000"/>
                    <a:lumOff val="60000"/>
                  </a:schemeClr>
                </a:solidFill>
                <a:latin typeface="Arial"/>
              </a:rPr>
              <a:t>0 s:</a:t>
            </a:r>
            <a:endParaRPr b="0" lang="en-US" sz="1700" spc="-1" strike="noStrike">
              <a:solidFill>
                <a:srgbClr val="ffffff"/>
              </a:solidFill>
              <a:latin typeface="Arial"/>
            </a:endParaRPr>
          </a:p>
        </p:txBody>
      </p:sp>
      <p:sp>
        <p:nvSpPr>
          <p:cNvPr id="123" name="TextBox 49"/>
          <p:cNvSpPr/>
          <p:nvPr/>
        </p:nvSpPr>
        <p:spPr>
          <a:xfrm>
            <a:off x="3115440" y="3218400"/>
            <a:ext cx="1151640" cy="380880"/>
          </a:xfrm>
          <a:prstGeom prst="rect">
            <a:avLst/>
          </a:prstGeom>
          <a:noFill/>
          <a:ln w="0">
            <a:noFill/>
          </a:ln>
        </p:spPr>
        <p:style>
          <a:lnRef idx="0"/>
          <a:fillRef idx="0"/>
          <a:effectRef idx="0"/>
          <a:fontRef idx="minor"/>
        </p:style>
        <p:txBody>
          <a:bodyPr lIns="45720" rIns="45720" tIns="18360" bIns="18360" anchor="ctr">
            <a:spAutoFit/>
          </a:bodyPr>
          <a:p>
            <a:r>
              <a:rPr b="1" lang="en-US" sz="1130" spc="-1" strike="noStrike">
                <a:solidFill>
                  <a:schemeClr val="lt1"/>
                </a:solidFill>
                <a:latin typeface="Arial"/>
              </a:rPr>
              <a:t>Launch</a:t>
            </a:r>
            <a:endParaRPr b="0" lang="en-US" sz="1130" spc="-1" strike="noStrike">
              <a:solidFill>
                <a:srgbClr val="ffffff"/>
              </a:solidFill>
              <a:latin typeface="Arial"/>
            </a:endParaRPr>
          </a:p>
          <a:p>
            <a:pPr algn="ctr" defTabSz="457200">
              <a:lnSpc>
                <a:spcPct val="100000"/>
              </a:lnSpc>
            </a:pPr>
            <a:r>
              <a:rPr b="1" lang="en-US" sz="1130" spc="-1" strike="noStrike">
                <a:solidFill>
                  <a:schemeClr val="lt1"/>
                </a:solidFill>
                <a:latin typeface="Arial"/>
              </a:rPr>
              <a:t>simulation</a:t>
            </a:r>
            <a:endParaRPr b="0" lang="en-US" sz="1130" spc="-1" strike="noStrike">
              <a:solidFill>
                <a:srgbClr val="ffffff"/>
              </a:solidFill>
              <a:latin typeface="Arial"/>
            </a:endParaRPr>
          </a:p>
        </p:txBody>
      </p:sp>
      <p:cxnSp>
        <p:nvCxnSpPr>
          <p:cNvPr id="124" name="Connector 14"/>
          <p:cNvCxnSpPr/>
          <p:nvPr/>
        </p:nvCxnSpPr>
        <p:spPr>
          <a:xfrm flipV="1">
            <a:off x="3230640" y="3811680"/>
            <a:ext cx="843840" cy="10800"/>
          </a:xfrm>
          <a:prstGeom prst="straightConnector1">
            <a:avLst/>
          </a:prstGeom>
          <a:ln w="12700">
            <a:solidFill>
              <a:srgbClr val="2563a5"/>
            </a:solidFill>
            <a:round/>
          </a:ln>
        </p:spPr>
      </p:cxnSp>
      <p:sp>
        <p:nvSpPr>
          <p:cNvPr id="125" name="Rounded Rectangle 28"/>
          <p:cNvSpPr/>
          <p:nvPr/>
        </p:nvSpPr>
        <p:spPr>
          <a:xfrm>
            <a:off x="4624920" y="2777760"/>
            <a:ext cx="1206720" cy="2907360"/>
          </a:xfrm>
          <a:prstGeom prst="roundRect">
            <a:avLst>
              <a:gd name="adj" fmla="val 16667"/>
            </a:avLst>
          </a:prstGeom>
          <a:solidFill>
            <a:schemeClr val="accent3">
              <a:lumMod val="50000"/>
            </a:schemeClr>
          </a:solidFill>
          <a:ln w="13970">
            <a:solidFill>
              <a:srgbClr val="498b4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26" name="Oval 12"/>
          <p:cNvSpPr/>
          <p:nvPr/>
        </p:nvSpPr>
        <p:spPr>
          <a:xfrm>
            <a:off x="5033160" y="2564640"/>
            <a:ext cx="347040" cy="347040"/>
          </a:xfrm>
          <a:prstGeom prst="ellipse">
            <a:avLst/>
          </a:prstGeom>
          <a:solidFill>
            <a:srgbClr val="498b40"/>
          </a:solidFill>
          <a:ln w="15240">
            <a:solidFill>
              <a:srgbClr val="498b4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500" spc="-1" strike="noStrike">
                <a:solidFill>
                  <a:srgbClr val="ffffff"/>
                </a:solidFill>
                <a:latin typeface="Arial"/>
              </a:rPr>
              <a:t>2</a:t>
            </a:r>
            <a:endParaRPr b="0" lang="en-US" sz="1500" spc="-1" strike="noStrike">
              <a:solidFill>
                <a:srgbClr val="ffffff"/>
              </a:solidFill>
              <a:latin typeface="Arial"/>
            </a:endParaRPr>
          </a:p>
        </p:txBody>
      </p:sp>
      <p:sp>
        <p:nvSpPr>
          <p:cNvPr id="127" name="TextBox 50"/>
          <p:cNvSpPr/>
          <p:nvPr/>
        </p:nvSpPr>
        <p:spPr>
          <a:xfrm>
            <a:off x="4679640" y="2945520"/>
            <a:ext cx="1133640" cy="295200"/>
          </a:xfrm>
          <a:prstGeom prst="rect">
            <a:avLst/>
          </a:prstGeom>
          <a:noFill/>
          <a:ln w="0">
            <a:noFill/>
          </a:ln>
        </p:spPr>
        <p:style>
          <a:lnRef idx="0"/>
          <a:fillRef idx="0"/>
          <a:effectRef idx="0"/>
          <a:fontRef idx="minor"/>
        </p:style>
        <p:txBody>
          <a:bodyPr lIns="45720" rIns="45720" tIns="18360" bIns="18360" anchor="ctr">
            <a:spAutoFit/>
          </a:bodyPr>
          <a:p>
            <a:pPr algn="ctr" defTabSz="457200">
              <a:lnSpc>
                <a:spcPct val="100000"/>
              </a:lnSpc>
            </a:pPr>
            <a:r>
              <a:rPr b="1" lang="en-US" sz="1700" spc="-1" strike="noStrike">
                <a:solidFill>
                  <a:schemeClr val="accent3">
                    <a:lumMod val="40000"/>
                    <a:lumOff val="60000"/>
                  </a:schemeClr>
                </a:solidFill>
                <a:latin typeface="Arial"/>
              </a:rPr>
              <a:t>18 s:</a:t>
            </a:r>
            <a:endParaRPr b="0" lang="en-US" sz="1700" spc="-1" strike="noStrike">
              <a:solidFill>
                <a:srgbClr val="ffffff"/>
              </a:solidFill>
              <a:latin typeface="Arial"/>
            </a:endParaRPr>
          </a:p>
        </p:txBody>
      </p:sp>
      <p:sp>
        <p:nvSpPr>
          <p:cNvPr id="128" name="TextBox 51"/>
          <p:cNvSpPr/>
          <p:nvPr/>
        </p:nvSpPr>
        <p:spPr>
          <a:xfrm>
            <a:off x="4679640" y="3229920"/>
            <a:ext cx="1151640" cy="380880"/>
          </a:xfrm>
          <a:prstGeom prst="rect">
            <a:avLst/>
          </a:prstGeom>
          <a:noFill/>
          <a:ln w="0">
            <a:noFill/>
          </a:ln>
        </p:spPr>
        <p:style>
          <a:lnRef idx="0"/>
          <a:fillRef idx="0"/>
          <a:effectRef idx="0"/>
          <a:fontRef idx="minor"/>
        </p:style>
        <p:txBody>
          <a:bodyPr lIns="45720" rIns="45720" tIns="18360" bIns="18360" anchor="ctr">
            <a:spAutoFit/>
          </a:bodyPr>
          <a:p>
            <a:r>
              <a:rPr b="1" lang="en-US" sz="1130" spc="-1" strike="noStrike">
                <a:solidFill>
                  <a:schemeClr val="accent3">
                    <a:lumMod val="40000"/>
                    <a:lumOff val="60000"/>
                  </a:schemeClr>
                </a:solidFill>
                <a:latin typeface="Arial"/>
              </a:rPr>
              <a:t>spawn_pick_</a:t>
            </a:r>
            <a:endParaRPr b="0" lang="en-US" sz="1130" spc="-1" strike="noStrike">
              <a:solidFill>
                <a:srgbClr val="ffffff"/>
              </a:solidFill>
              <a:latin typeface="Arial"/>
            </a:endParaRPr>
          </a:p>
          <a:p>
            <a:pPr algn="ctr" defTabSz="457200">
              <a:lnSpc>
                <a:spcPct val="100000"/>
              </a:lnSpc>
            </a:pPr>
            <a:r>
              <a:rPr b="1" lang="en-US" sz="1130" spc="-1" strike="noStrike">
                <a:solidFill>
                  <a:schemeClr val="accent3">
                    <a:lumMod val="40000"/>
                    <a:lumOff val="60000"/>
                  </a:schemeClr>
                </a:solidFill>
                <a:latin typeface="Arial"/>
              </a:rPr>
              <a:t>place_scene.py</a:t>
            </a:r>
            <a:endParaRPr b="0" lang="en-US" sz="1130" spc="-1" strike="noStrike">
              <a:solidFill>
                <a:srgbClr val="ffffff"/>
              </a:solidFill>
              <a:latin typeface="Arial"/>
            </a:endParaRPr>
          </a:p>
        </p:txBody>
      </p:sp>
      <p:cxnSp>
        <p:nvCxnSpPr>
          <p:cNvPr id="129" name="Connector 15"/>
          <p:cNvCxnSpPr/>
          <p:nvPr/>
        </p:nvCxnSpPr>
        <p:spPr>
          <a:xfrm>
            <a:off x="4697640" y="3830400"/>
            <a:ext cx="1073160" cy="360"/>
          </a:xfrm>
          <a:prstGeom prst="straightConnector1">
            <a:avLst/>
          </a:prstGeom>
          <a:ln w="12700">
            <a:solidFill>
              <a:srgbClr val="498b40"/>
            </a:solidFill>
            <a:round/>
          </a:ln>
        </p:spPr>
      </p:cxnSp>
      <p:sp>
        <p:nvSpPr>
          <p:cNvPr id="130" name="TextBox 52"/>
          <p:cNvSpPr/>
          <p:nvPr/>
        </p:nvSpPr>
        <p:spPr>
          <a:xfrm>
            <a:off x="4624920" y="3899160"/>
            <a:ext cx="1151640" cy="878760"/>
          </a:xfrm>
          <a:prstGeom prst="rect">
            <a:avLst/>
          </a:prstGeom>
          <a:noFill/>
          <a:ln w="0">
            <a:noFill/>
          </a:ln>
        </p:spPr>
        <p:style>
          <a:lnRef idx="0"/>
          <a:fillRef idx="0"/>
          <a:effectRef idx="0"/>
          <a:fontRef idx="minor"/>
        </p:style>
        <p:txBody>
          <a:bodyPr lIns="45720" rIns="45720" tIns="18360" bIns="18360" anchor="t">
            <a:spAutoFit/>
          </a:bodyPr>
          <a:p>
            <a:r>
              <a:rPr b="0" lang="en-US" sz="920" spc="-1" strike="noStrike">
                <a:solidFill>
                  <a:schemeClr val="accent3">
                    <a:lumMod val="40000"/>
                    <a:lumOff val="60000"/>
                  </a:schemeClr>
                </a:solidFill>
                <a:latin typeface="Arial"/>
              </a:rPr>
              <a:t>Populate the table</a:t>
            </a:r>
            <a:endParaRPr b="0" lang="en-US" sz="920" spc="-1" strike="noStrike">
              <a:solidFill>
                <a:srgbClr val="ffffff"/>
              </a:solidFill>
              <a:latin typeface="Arial"/>
            </a:endParaRPr>
          </a:p>
          <a:p>
            <a:r>
              <a:rPr b="0" lang="en-US" sz="920" spc="-1" strike="noStrike">
                <a:solidFill>
                  <a:schemeClr val="accent3">
                    <a:lumMod val="40000"/>
                    <a:lumOff val="60000"/>
                  </a:schemeClr>
                </a:solidFill>
                <a:latin typeface="Arial"/>
              </a:rPr>
              <a:t>with 9 objects</a:t>
            </a:r>
            <a:endParaRPr b="0" lang="en-US" sz="920" spc="-1" strike="noStrike">
              <a:solidFill>
                <a:srgbClr val="ffffff"/>
              </a:solidFill>
              <a:latin typeface="Arial"/>
            </a:endParaRPr>
          </a:p>
          <a:p>
            <a:r>
              <a:rPr b="0" lang="en-US" sz="920" spc="-1" strike="noStrike">
                <a:solidFill>
                  <a:schemeClr val="accent3">
                    <a:lumMod val="40000"/>
                    <a:lumOff val="60000"/>
                  </a:schemeClr>
                </a:solidFill>
                <a:latin typeface="Arial"/>
              </a:rPr>
              <a:t>(blocks, cans, boxes</a:t>
            </a:r>
            <a:endParaRPr b="0" lang="en-US" sz="920" spc="-1" strike="noStrike">
              <a:solidFill>
                <a:srgbClr val="ffffff"/>
              </a:solidFill>
              <a:latin typeface="Arial"/>
            </a:endParaRPr>
          </a:p>
          <a:p>
            <a:r>
              <a:rPr b="0" lang="en-US" sz="920" spc="-1" strike="noStrike">
                <a:solidFill>
                  <a:schemeClr val="accent3">
                    <a:lumMod val="40000"/>
                    <a:lumOff val="60000"/>
                  </a:schemeClr>
                </a:solidFill>
                <a:latin typeface="Arial"/>
              </a:rPr>
              <a:t>of different sizes</a:t>
            </a:r>
            <a:endParaRPr b="0" lang="en-US" sz="920" spc="-1" strike="noStrike">
              <a:solidFill>
                <a:srgbClr val="ffffff"/>
              </a:solidFill>
              <a:latin typeface="Arial"/>
            </a:endParaRPr>
          </a:p>
          <a:p>
            <a:pPr algn="ctr" defTabSz="457200">
              <a:lnSpc>
                <a:spcPct val="100000"/>
              </a:lnSpc>
            </a:pPr>
            <a:r>
              <a:rPr b="0" lang="en-US" sz="920" spc="-1" strike="noStrike">
                <a:solidFill>
                  <a:schemeClr val="accent3">
                    <a:lumMod val="40000"/>
                    <a:lumOff val="60000"/>
                  </a:schemeClr>
                </a:solidFill>
                <a:latin typeface="Arial"/>
              </a:rPr>
              <a:t>and colors)</a:t>
            </a:r>
            <a:endParaRPr b="0" lang="en-US" sz="920" spc="-1" strike="noStrike">
              <a:solidFill>
                <a:srgbClr val="ffffff"/>
              </a:solidFill>
              <a:latin typeface="Arial"/>
            </a:endParaRPr>
          </a:p>
        </p:txBody>
      </p:sp>
      <p:sp>
        <p:nvSpPr>
          <p:cNvPr id="131" name="Rounded Rectangle 29"/>
          <p:cNvSpPr/>
          <p:nvPr/>
        </p:nvSpPr>
        <p:spPr>
          <a:xfrm>
            <a:off x="6266520" y="2777760"/>
            <a:ext cx="1261440" cy="2952720"/>
          </a:xfrm>
          <a:prstGeom prst="roundRect">
            <a:avLst>
              <a:gd name="adj" fmla="val 16667"/>
            </a:avLst>
          </a:prstGeom>
          <a:solidFill>
            <a:schemeClr val="accent6">
              <a:lumMod val="75000"/>
            </a:schemeClr>
          </a:solidFill>
          <a:ln w="13970">
            <a:solidFill>
              <a:srgbClr val="e8941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32" name="Oval 13"/>
          <p:cNvSpPr/>
          <p:nvPr/>
        </p:nvSpPr>
        <p:spPr>
          <a:xfrm>
            <a:off x="6705360" y="2576520"/>
            <a:ext cx="347040" cy="352440"/>
          </a:xfrm>
          <a:prstGeom prst="ellipse">
            <a:avLst/>
          </a:prstGeom>
          <a:solidFill>
            <a:srgbClr val="e89417"/>
          </a:solidFill>
          <a:ln w="15240">
            <a:solidFill>
              <a:srgbClr val="e8941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500" spc="-1" strike="noStrike">
                <a:solidFill>
                  <a:srgbClr val="ffffff"/>
                </a:solidFill>
                <a:latin typeface="Arial"/>
              </a:rPr>
              <a:t>3</a:t>
            </a:r>
            <a:endParaRPr b="0" lang="en-US" sz="1500" spc="-1" strike="noStrike">
              <a:solidFill>
                <a:srgbClr val="000000"/>
              </a:solidFill>
              <a:latin typeface="Arial"/>
            </a:endParaRPr>
          </a:p>
        </p:txBody>
      </p:sp>
      <p:sp>
        <p:nvSpPr>
          <p:cNvPr id="133" name="TextBox 53"/>
          <p:cNvSpPr/>
          <p:nvPr/>
        </p:nvSpPr>
        <p:spPr>
          <a:xfrm>
            <a:off x="6352560" y="2962080"/>
            <a:ext cx="1133640" cy="295200"/>
          </a:xfrm>
          <a:prstGeom prst="rect">
            <a:avLst/>
          </a:prstGeom>
          <a:noFill/>
          <a:ln w="0">
            <a:noFill/>
          </a:ln>
        </p:spPr>
        <p:style>
          <a:lnRef idx="0"/>
          <a:fillRef idx="0"/>
          <a:effectRef idx="0"/>
          <a:fontRef idx="minor"/>
        </p:style>
        <p:txBody>
          <a:bodyPr lIns="45720" rIns="45720" tIns="18360" bIns="18360" anchor="ctr">
            <a:spAutoFit/>
          </a:bodyPr>
          <a:p>
            <a:pPr algn="ctr" defTabSz="457200">
              <a:lnSpc>
                <a:spcPct val="100000"/>
              </a:lnSpc>
            </a:pPr>
            <a:r>
              <a:rPr b="1" lang="en-US" sz="1700" spc="-1" strike="noStrike">
                <a:solidFill>
                  <a:schemeClr val="accent6">
                    <a:lumMod val="60000"/>
                    <a:lumOff val="40000"/>
                  </a:schemeClr>
                </a:solidFill>
                <a:latin typeface="Arial"/>
              </a:rPr>
              <a:t>35 s:</a:t>
            </a:r>
            <a:endParaRPr b="0" lang="en-US" sz="1700" spc="-1" strike="noStrike">
              <a:solidFill>
                <a:srgbClr val="ffffff"/>
              </a:solidFill>
              <a:latin typeface="Arial"/>
            </a:endParaRPr>
          </a:p>
        </p:txBody>
      </p:sp>
      <p:sp>
        <p:nvSpPr>
          <p:cNvPr id="134" name="TextBox 54"/>
          <p:cNvSpPr/>
          <p:nvPr/>
        </p:nvSpPr>
        <p:spPr>
          <a:xfrm>
            <a:off x="6321240" y="3229920"/>
            <a:ext cx="1151640" cy="380880"/>
          </a:xfrm>
          <a:prstGeom prst="rect">
            <a:avLst/>
          </a:prstGeom>
          <a:noFill/>
          <a:ln w="0">
            <a:noFill/>
          </a:ln>
        </p:spPr>
        <p:style>
          <a:lnRef idx="0"/>
          <a:fillRef idx="0"/>
          <a:effectRef idx="0"/>
          <a:fontRef idx="minor"/>
        </p:style>
        <p:txBody>
          <a:bodyPr lIns="45720" rIns="45720" tIns="18360" bIns="18360" anchor="ctr">
            <a:spAutoFit/>
          </a:bodyPr>
          <a:p>
            <a:r>
              <a:rPr b="1" lang="en-US" sz="1130" spc="-1" strike="noStrike">
                <a:solidFill>
                  <a:schemeClr val="accent6">
                    <a:lumMod val="20000"/>
                    <a:lumOff val="80000"/>
                  </a:schemeClr>
                </a:solidFill>
                <a:latin typeface="Arial"/>
              </a:rPr>
              <a:t>send_safe_</a:t>
            </a:r>
            <a:endParaRPr b="0" lang="en-US" sz="1130" spc="-1" strike="noStrike">
              <a:solidFill>
                <a:srgbClr val="ffffff"/>
              </a:solidFill>
              <a:latin typeface="Arial"/>
            </a:endParaRPr>
          </a:p>
          <a:p>
            <a:pPr algn="ctr" defTabSz="457200">
              <a:lnSpc>
                <a:spcPct val="100000"/>
              </a:lnSpc>
            </a:pPr>
            <a:r>
              <a:rPr b="1" lang="en-US" sz="1130" spc="-1" strike="noStrike">
                <a:solidFill>
                  <a:schemeClr val="accent6">
                    <a:lumMod val="20000"/>
                    <a:lumOff val="80000"/>
                  </a:schemeClr>
                </a:solidFill>
                <a:latin typeface="Arial"/>
              </a:rPr>
              <a:t>pose.py</a:t>
            </a:r>
            <a:endParaRPr b="0" lang="en-US" sz="1130" spc="-1" strike="noStrike">
              <a:solidFill>
                <a:srgbClr val="ffffff"/>
              </a:solidFill>
              <a:latin typeface="Arial"/>
            </a:endParaRPr>
          </a:p>
        </p:txBody>
      </p:sp>
      <p:cxnSp>
        <p:nvCxnSpPr>
          <p:cNvPr id="135" name="Connector 16"/>
          <p:cNvCxnSpPr/>
          <p:nvPr/>
        </p:nvCxnSpPr>
        <p:spPr>
          <a:xfrm>
            <a:off x="6410520" y="3822120"/>
            <a:ext cx="1042920" cy="360"/>
          </a:xfrm>
          <a:prstGeom prst="straightConnector1">
            <a:avLst/>
          </a:prstGeom>
          <a:ln w="12700">
            <a:solidFill>
              <a:srgbClr val="e89417"/>
            </a:solidFill>
            <a:round/>
          </a:ln>
        </p:spPr>
      </p:cxnSp>
      <p:sp>
        <p:nvSpPr>
          <p:cNvPr id="136" name="TextBox 55"/>
          <p:cNvSpPr/>
          <p:nvPr/>
        </p:nvSpPr>
        <p:spPr>
          <a:xfrm>
            <a:off x="6284520" y="3894840"/>
            <a:ext cx="1151640" cy="457560"/>
          </a:xfrm>
          <a:prstGeom prst="rect">
            <a:avLst/>
          </a:prstGeom>
          <a:noFill/>
          <a:ln w="0">
            <a:noFill/>
          </a:ln>
        </p:spPr>
        <p:style>
          <a:lnRef idx="0"/>
          <a:fillRef idx="0"/>
          <a:effectRef idx="0"/>
          <a:fontRef idx="minor"/>
        </p:style>
        <p:txBody>
          <a:bodyPr lIns="45720" rIns="45720" tIns="18360" bIns="18360" anchor="t">
            <a:spAutoFit/>
          </a:bodyPr>
          <a:p>
            <a:r>
              <a:rPr b="0" lang="en-US" sz="920" spc="-1" strike="noStrike">
                <a:solidFill>
                  <a:schemeClr val="accent6">
                    <a:lumMod val="20000"/>
                    <a:lumOff val="80000"/>
                  </a:schemeClr>
                </a:solidFill>
                <a:latin typeface="Arial"/>
              </a:rPr>
              <a:t>Move the arm to</a:t>
            </a:r>
            <a:endParaRPr b="0" lang="en-US" sz="920" spc="-1" strike="noStrike">
              <a:solidFill>
                <a:srgbClr val="ffffff"/>
              </a:solidFill>
              <a:latin typeface="Arial"/>
            </a:endParaRPr>
          </a:p>
          <a:p>
            <a:r>
              <a:rPr b="0" lang="en-US" sz="920" spc="-1" strike="noStrike">
                <a:solidFill>
                  <a:schemeClr val="accent6">
                    <a:lumMod val="20000"/>
                    <a:lumOff val="80000"/>
                  </a:schemeClr>
                </a:solidFill>
                <a:latin typeface="Arial"/>
              </a:rPr>
              <a:t>a neutral / safe</a:t>
            </a:r>
            <a:endParaRPr b="0" lang="en-US" sz="920" spc="-1" strike="noStrike">
              <a:solidFill>
                <a:srgbClr val="ffffff"/>
              </a:solidFill>
              <a:latin typeface="Arial"/>
            </a:endParaRPr>
          </a:p>
          <a:p>
            <a:pPr algn="ctr" defTabSz="457200">
              <a:lnSpc>
                <a:spcPct val="100000"/>
              </a:lnSpc>
            </a:pPr>
            <a:r>
              <a:rPr b="0" lang="en-US" sz="920" spc="-1" strike="noStrike">
                <a:solidFill>
                  <a:schemeClr val="accent6">
                    <a:lumMod val="20000"/>
                    <a:lumOff val="80000"/>
                  </a:schemeClr>
                </a:solidFill>
                <a:latin typeface="Arial"/>
              </a:rPr>
              <a:t>posture</a:t>
            </a:r>
            <a:endParaRPr b="0" lang="en-US" sz="920" spc="-1" strike="noStrike">
              <a:solidFill>
                <a:srgbClr val="ffffff"/>
              </a:solidFill>
              <a:latin typeface="Arial"/>
            </a:endParaRPr>
          </a:p>
        </p:txBody>
      </p:sp>
      <p:sp>
        <p:nvSpPr>
          <p:cNvPr id="137" name="Rounded Rectangle 30"/>
          <p:cNvSpPr/>
          <p:nvPr/>
        </p:nvSpPr>
        <p:spPr>
          <a:xfrm>
            <a:off x="7938360" y="2786400"/>
            <a:ext cx="1398600" cy="2964600"/>
          </a:xfrm>
          <a:prstGeom prst="roundRect">
            <a:avLst>
              <a:gd name="adj" fmla="val 16667"/>
            </a:avLst>
          </a:prstGeom>
          <a:solidFill>
            <a:srgbClr val="a50021"/>
          </a:solidFill>
          <a:ln w="1397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38" name="Oval 14"/>
          <p:cNvSpPr/>
          <p:nvPr/>
        </p:nvSpPr>
        <p:spPr>
          <a:xfrm>
            <a:off x="8377560" y="2564640"/>
            <a:ext cx="321840" cy="353880"/>
          </a:xfrm>
          <a:prstGeom prst="ellipse">
            <a:avLst/>
          </a:prstGeom>
          <a:solidFill>
            <a:srgbClr val="c00000"/>
          </a:solidFill>
          <a:ln w="1524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1" lang="en-US" sz="1500" spc="-1" strike="noStrike">
                <a:solidFill>
                  <a:srgbClr val="ffffff"/>
                </a:solidFill>
                <a:latin typeface="Arial"/>
              </a:rPr>
              <a:t>4</a:t>
            </a:r>
            <a:endParaRPr b="0" lang="en-US" sz="1500" spc="-1" strike="noStrike">
              <a:solidFill>
                <a:srgbClr val="ffffff"/>
              </a:solidFill>
              <a:latin typeface="Arial"/>
            </a:endParaRPr>
          </a:p>
        </p:txBody>
      </p:sp>
      <p:sp>
        <p:nvSpPr>
          <p:cNvPr id="139" name="TextBox 56"/>
          <p:cNvSpPr/>
          <p:nvPr/>
        </p:nvSpPr>
        <p:spPr>
          <a:xfrm>
            <a:off x="8065080" y="2944080"/>
            <a:ext cx="1178280" cy="295200"/>
          </a:xfrm>
          <a:prstGeom prst="rect">
            <a:avLst/>
          </a:prstGeom>
          <a:noFill/>
          <a:ln w="0">
            <a:noFill/>
          </a:ln>
        </p:spPr>
        <p:style>
          <a:lnRef idx="0"/>
          <a:fillRef idx="0"/>
          <a:effectRef idx="0"/>
          <a:fontRef idx="minor"/>
        </p:style>
        <p:txBody>
          <a:bodyPr lIns="45720" rIns="45720" tIns="18360" bIns="18360" anchor="ctr">
            <a:spAutoFit/>
          </a:bodyPr>
          <a:p>
            <a:pPr algn="ctr" defTabSz="457200">
              <a:lnSpc>
                <a:spcPct val="100000"/>
              </a:lnSpc>
            </a:pPr>
            <a:r>
              <a:rPr b="1" lang="en-US" sz="1700" spc="-1" strike="noStrike">
                <a:solidFill>
                  <a:schemeClr val="accent2">
                    <a:lumMod val="40000"/>
                    <a:lumOff val="60000"/>
                  </a:schemeClr>
                </a:solidFill>
                <a:latin typeface="Arial"/>
              </a:rPr>
              <a:t>70 s:</a:t>
            </a:r>
            <a:endParaRPr b="0" lang="en-US" sz="1700" spc="-1" strike="noStrike">
              <a:solidFill>
                <a:srgbClr val="ffffff"/>
              </a:solidFill>
              <a:latin typeface="Arial"/>
            </a:endParaRPr>
          </a:p>
        </p:txBody>
      </p:sp>
      <p:sp>
        <p:nvSpPr>
          <p:cNvPr id="140" name="TextBox 57"/>
          <p:cNvSpPr/>
          <p:nvPr/>
        </p:nvSpPr>
        <p:spPr>
          <a:xfrm>
            <a:off x="8048160" y="3204000"/>
            <a:ext cx="1195200" cy="553320"/>
          </a:xfrm>
          <a:prstGeom prst="rect">
            <a:avLst/>
          </a:prstGeom>
          <a:noFill/>
          <a:ln w="0">
            <a:noFill/>
          </a:ln>
        </p:spPr>
        <p:style>
          <a:lnRef idx="0"/>
          <a:fillRef idx="0"/>
          <a:effectRef idx="0"/>
          <a:fontRef idx="minor"/>
        </p:style>
        <p:txBody>
          <a:bodyPr lIns="45720" rIns="45720" tIns="18360" bIns="18360" anchor="ctr">
            <a:spAutoFit/>
          </a:bodyPr>
          <a:p>
            <a:r>
              <a:rPr b="1" lang="en-US" sz="1130" spc="-1" strike="noStrike">
                <a:solidFill>
                  <a:schemeClr val="accent2">
                    <a:lumMod val="40000"/>
                    <a:lumOff val="60000"/>
                  </a:schemeClr>
                </a:solidFill>
                <a:latin typeface="Arial"/>
              </a:rPr>
              <a:t>go_to_top_</a:t>
            </a:r>
            <a:endParaRPr b="0" lang="en-US" sz="1130" spc="-1" strike="noStrike">
              <a:solidFill>
                <a:srgbClr val="ffffff"/>
              </a:solidFill>
              <a:latin typeface="Arial"/>
            </a:endParaRPr>
          </a:p>
          <a:p>
            <a:r>
              <a:rPr b="1" lang="en-US" sz="1130" spc="-1" strike="noStrike">
                <a:solidFill>
                  <a:schemeClr val="accent2">
                    <a:lumMod val="40000"/>
                    <a:lumOff val="60000"/>
                  </a:schemeClr>
                </a:solidFill>
                <a:latin typeface="Arial"/>
              </a:rPr>
              <a:t>hand_camera_</a:t>
            </a:r>
            <a:endParaRPr b="0" lang="en-US" sz="1130" spc="-1" strike="noStrike">
              <a:solidFill>
                <a:srgbClr val="ffffff"/>
              </a:solidFill>
              <a:latin typeface="Arial"/>
            </a:endParaRPr>
          </a:p>
          <a:p>
            <a:pPr algn="ctr" defTabSz="457200">
              <a:lnSpc>
                <a:spcPct val="100000"/>
              </a:lnSpc>
            </a:pPr>
            <a:r>
              <a:rPr b="1" lang="en-US" sz="1130" spc="-1" strike="noStrike">
                <a:solidFill>
                  <a:schemeClr val="accent2">
                    <a:lumMod val="40000"/>
                    <a:lumOff val="60000"/>
                  </a:schemeClr>
                </a:solidFill>
                <a:latin typeface="Arial"/>
              </a:rPr>
              <a:t>pos.py</a:t>
            </a:r>
            <a:endParaRPr b="0" lang="en-US" sz="1130" spc="-1" strike="noStrike">
              <a:solidFill>
                <a:srgbClr val="ffffff"/>
              </a:solidFill>
              <a:latin typeface="Arial"/>
            </a:endParaRPr>
          </a:p>
        </p:txBody>
      </p:sp>
      <p:cxnSp>
        <p:nvCxnSpPr>
          <p:cNvPr id="141" name="Connector 17"/>
          <p:cNvCxnSpPr/>
          <p:nvPr/>
        </p:nvCxnSpPr>
        <p:spPr>
          <a:xfrm>
            <a:off x="8102880" y="3825720"/>
            <a:ext cx="1094040" cy="360"/>
          </a:xfrm>
          <a:prstGeom prst="straightConnector1">
            <a:avLst/>
          </a:prstGeom>
          <a:ln>
            <a:solidFill>
              <a:srgbClr val="be4b48"/>
            </a:solidFill>
            <a:round/>
          </a:ln>
        </p:spPr>
      </p:cxnSp>
      <p:sp>
        <p:nvSpPr>
          <p:cNvPr id="142" name="TextBox 58"/>
          <p:cNvSpPr/>
          <p:nvPr/>
        </p:nvSpPr>
        <p:spPr>
          <a:xfrm>
            <a:off x="7967880" y="3834000"/>
            <a:ext cx="1288800" cy="597960"/>
          </a:xfrm>
          <a:prstGeom prst="rect">
            <a:avLst/>
          </a:prstGeom>
          <a:noFill/>
          <a:ln w="0">
            <a:noFill/>
          </a:ln>
        </p:spPr>
        <p:style>
          <a:lnRef idx="0"/>
          <a:fillRef idx="0"/>
          <a:effectRef idx="0"/>
          <a:fontRef idx="minor"/>
        </p:style>
        <p:txBody>
          <a:bodyPr lIns="45720" rIns="45720" tIns="18360" bIns="18360" anchor="t">
            <a:spAutoFit/>
          </a:bodyPr>
          <a:p>
            <a:r>
              <a:rPr b="0" lang="en-US" sz="920" spc="-1" strike="noStrike">
                <a:solidFill>
                  <a:schemeClr val="accent2">
                    <a:lumMod val="40000"/>
                    <a:lumOff val="60000"/>
                  </a:schemeClr>
                </a:solidFill>
                <a:latin typeface="Arial"/>
              </a:rPr>
              <a:t>Move the hand</a:t>
            </a:r>
            <a:endParaRPr b="0" lang="en-US" sz="920" spc="-1" strike="noStrike">
              <a:solidFill>
                <a:srgbClr val="ffffff"/>
              </a:solidFill>
              <a:latin typeface="Arial"/>
            </a:endParaRPr>
          </a:p>
          <a:p>
            <a:r>
              <a:rPr b="0" lang="en-US" sz="920" spc="-1" strike="noStrike">
                <a:solidFill>
                  <a:schemeClr val="accent2">
                    <a:lumMod val="40000"/>
                    <a:lumOff val="60000"/>
                  </a:schemeClr>
                </a:solidFill>
                <a:latin typeface="Arial"/>
              </a:rPr>
              <a:t>camera above the</a:t>
            </a:r>
            <a:endParaRPr b="0" lang="en-US" sz="920" spc="-1" strike="noStrike">
              <a:solidFill>
                <a:srgbClr val="ffffff"/>
              </a:solidFill>
              <a:latin typeface="Arial"/>
            </a:endParaRPr>
          </a:p>
          <a:p>
            <a:r>
              <a:rPr b="0" lang="en-US" sz="920" spc="-1" strike="noStrike">
                <a:solidFill>
                  <a:schemeClr val="accent2">
                    <a:lumMod val="40000"/>
                    <a:lumOff val="60000"/>
                  </a:schemeClr>
                </a:solidFill>
                <a:latin typeface="Arial"/>
              </a:rPr>
              <a:t>workspace for</a:t>
            </a:r>
            <a:endParaRPr b="0" lang="en-US" sz="920" spc="-1" strike="noStrike">
              <a:solidFill>
                <a:srgbClr val="ffffff"/>
              </a:solidFill>
              <a:latin typeface="Arial"/>
            </a:endParaRPr>
          </a:p>
          <a:p>
            <a:pPr algn="ctr" defTabSz="457200">
              <a:lnSpc>
                <a:spcPct val="100000"/>
              </a:lnSpc>
            </a:pPr>
            <a:r>
              <a:rPr b="0" lang="en-US" sz="920" spc="-1" strike="noStrike">
                <a:solidFill>
                  <a:schemeClr val="accent2">
                    <a:lumMod val="40000"/>
                    <a:lumOff val="60000"/>
                  </a:schemeClr>
                </a:solidFill>
                <a:latin typeface="Arial"/>
              </a:rPr>
              <a:t>top-down perception</a:t>
            </a:r>
            <a:endParaRPr b="0" lang="en-US" sz="920" spc="-1" strike="noStrike">
              <a:solidFill>
                <a:srgbClr val="ffffff"/>
              </a:solidFill>
              <a:latin typeface="Arial"/>
            </a:endParaRPr>
          </a:p>
        </p:txBody>
      </p:sp>
      <p:cxnSp>
        <p:nvCxnSpPr>
          <p:cNvPr id="143" name="Connector 18"/>
          <p:cNvCxnSpPr/>
          <p:nvPr/>
        </p:nvCxnSpPr>
        <p:spPr>
          <a:xfrm>
            <a:off x="4329000" y="4064040"/>
            <a:ext cx="201600" cy="360"/>
          </a:xfrm>
          <a:prstGeom prst="straightConnector1">
            <a:avLst/>
          </a:prstGeom>
          <a:ln w="30480">
            <a:solidFill>
              <a:srgbClr val="1f497d">
                <a:lumMod val="60000"/>
                <a:lumOff val="40000"/>
              </a:srgbClr>
            </a:solidFill>
            <a:round/>
          </a:ln>
        </p:spPr>
      </p:cxnSp>
      <p:sp>
        <p:nvSpPr>
          <p:cNvPr id="144" name="AutoShape 2"/>
          <p:cNvSpPr/>
          <p:nvPr/>
        </p:nvSpPr>
        <p:spPr>
          <a:xfrm>
            <a:off x="6040800" y="3585600"/>
            <a:ext cx="309240" cy="309240"/>
          </a:xfrm>
          <a:prstGeom prst="rect">
            <a:avLst/>
          </a:prstGeom>
          <a:noFill/>
          <a:ln w="0">
            <a:noFill/>
          </a:ln>
        </p:spPr>
        <p:style>
          <a:lnRef idx="0"/>
          <a:fillRef idx="0"/>
          <a:effectRef idx="0"/>
          <a:fontRef idx="minor"/>
        </p:style>
        <p:txBody>
          <a:bodyPr numCol="1" spcCol="0" anchor="t">
            <a:noAutofit/>
          </a:bodyPr>
          <a:p>
            <a:endParaRPr b="0" lang="en-US" sz="1800" spc="-1" strike="noStrike">
              <a:solidFill>
                <a:schemeClr val="dk1"/>
              </a:solidFill>
              <a:latin typeface="Calibri"/>
            </a:endParaRPr>
          </a:p>
        </p:txBody>
      </p:sp>
      <p:pic>
        <p:nvPicPr>
          <p:cNvPr id="145" name="图片 10" descr=""/>
          <p:cNvPicPr/>
          <p:nvPr/>
        </p:nvPicPr>
        <p:blipFill>
          <a:blip r:embed="rId2"/>
          <a:stretch/>
        </p:blipFill>
        <p:spPr>
          <a:xfrm>
            <a:off x="6431040" y="4520880"/>
            <a:ext cx="1016640" cy="1116000"/>
          </a:xfrm>
          <a:prstGeom prst="rect">
            <a:avLst/>
          </a:prstGeom>
          <a:ln w="0">
            <a:noFill/>
          </a:ln>
        </p:spPr>
      </p:pic>
      <p:cxnSp>
        <p:nvCxnSpPr>
          <p:cNvPr id="146" name="Connector 19"/>
          <p:cNvCxnSpPr/>
          <p:nvPr/>
        </p:nvCxnSpPr>
        <p:spPr>
          <a:xfrm>
            <a:off x="5942520" y="4064040"/>
            <a:ext cx="201600" cy="360"/>
          </a:xfrm>
          <a:prstGeom prst="straightConnector1">
            <a:avLst/>
          </a:prstGeom>
          <a:ln w="30480">
            <a:solidFill>
              <a:srgbClr val="1f497d">
                <a:lumMod val="60000"/>
                <a:lumOff val="40000"/>
              </a:srgbClr>
            </a:solidFill>
            <a:round/>
          </a:ln>
        </p:spPr>
      </p:cxnSp>
      <p:cxnSp>
        <p:nvCxnSpPr>
          <p:cNvPr id="147" name="Connector 20"/>
          <p:cNvCxnSpPr/>
          <p:nvPr/>
        </p:nvCxnSpPr>
        <p:spPr>
          <a:xfrm>
            <a:off x="7649280" y="4053960"/>
            <a:ext cx="201600" cy="360"/>
          </a:xfrm>
          <a:prstGeom prst="straightConnector1">
            <a:avLst/>
          </a:prstGeom>
          <a:ln w="30480">
            <a:solidFill>
              <a:srgbClr val="1f497d">
                <a:lumMod val="60000"/>
                <a:lumOff val="40000"/>
              </a:srgbClr>
            </a:solidFill>
            <a:round/>
          </a:ln>
        </p:spPr>
      </p:cxnSp>
      <p:sp>
        <p:nvSpPr>
          <p:cNvPr id="148" name="Rounded Rectangle 31"/>
          <p:cNvSpPr/>
          <p:nvPr/>
        </p:nvSpPr>
        <p:spPr>
          <a:xfrm>
            <a:off x="9648000" y="1148040"/>
            <a:ext cx="2415600" cy="4983120"/>
          </a:xfrm>
          <a:prstGeom prst="roundRect">
            <a:avLst>
              <a:gd name="adj" fmla="val 16667"/>
            </a:avLst>
          </a:prstGeom>
          <a:solidFill>
            <a:srgbClr val="003300"/>
          </a:solidFill>
          <a:ln w="13970">
            <a:solidFill>
              <a:srgbClr val="498b40"/>
            </a:solidFill>
            <a:prstDash val="dash"/>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49" name="Rounded Rectangle 32"/>
          <p:cNvSpPr/>
          <p:nvPr/>
        </p:nvSpPr>
        <p:spPr>
          <a:xfrm>
            <a:off x="10059480" y="913320"/>
            <a:ext cx="1657080" cy="325440"/>
          </a:xfrm>
          <a:prstGeom prst="roundRect">
            <a:avLst>
              <a:gd name="adj" fmla="val 16667"/>
            </a:avLst>
          </a:prstGeom>
          <a:solidFill>
            <a:schemeClr val="accent3">
              <a:lumMod val="75000"/>
            </a:schemeClr>
          </a:solidFill>
          <a:ln w="12700">
            <a:solidFill>
              <a:srgbClr val="498b4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27360" bIns="27360" anchor="ctr">
            <a:noAutofit/>
          </a:bodyPr>
          <a:p>
            <a:pPr algn="ctr" defTabSz="457200">
              <a:lnSpc>
                <a:spcPct val="100000"/>
              </a:lnSpc>
            </a:pPr>
            <a:r>
              <a:rPr b="1" lang="en-US" sz="1250" spc="-1" strike="noStrike">
                <a:solidFill>
                  <a:srgbClr val="1e642d"/>
                </a:solidFill>
                <a:latin typeface="Arial"/>
              </a:rPr>
              <a:t>Initialization Result</a:t>
            </a:r>
            <a:endParaRPr b="0" lang="en-US" sz="1250" spc="-1" strike="noStrike">
              <a:solidFill>
                <a:srgbClr val="ffffff"/>
              </a:solidFill>
              <a:latin typeface="Arial"/>
            </a:endParaRPr>
          </a:p>
        </p:txBody>
      </p:sp>
      <p:sp>
        <p:nvSpPr>
          <p:cNvPr id="150" name="TextBox 59"/>
          <p:cNvSpPr/>
          <p:nvPr/>
        </p:nvSpPr>
        <p:spPr>
          <a:xfrm>
            <a:off x="10141560" y="1389240"/>
            <a:ext cx="1850040" cy="607320"/>
          </a:xfrm>
          <a:prstGeom prst="rect">
            <a:avLst/>
          </a:prstGeom>
          <a:noFill/>
          <a:ln w="0">
            <a:noFill/>
          </a:ln>
        </p:spPr>
        <p:style>
          <a:lnRef idx="0"/>
          <a:fillRef idx="0"/>
          <a:effectRef idx="0"/>
          <a:fontRef idx="minor"/>
        </p:style>
        <p:txBody>
          <a:bodyPr lIns="45720" rIns="45720" tIns="18360" bIns="18360" anchor="ctr">
            <a:spAutoFit/>
          </a:bodyPr>
          <a:p>
            <a:r>
              <a:rPr b="1" lang="en-US" sz="1250" spc="-1" strike="noStrike">
                <a:solidFill>
                  <a:schemeClr val="accent3">
                    <a:lumMod val="40000"/>
                    <a:lumOff val="60000"/>
                  </a:schemeClr>
                </a:solidFill>
                <a:latin typeface="Arial"/>
              </a:rPr>
              <a:t>System Ready for Perception</a:t>
            </a:r>
            <a:endParaRPr b="0" lang="en-US" sz="1250" spc="-1" strike="noStrike">
              <a:solidFill>
                <a:srgbClr val="ffffff"/>
              </a:solidFill>
              <a:latin typeface="Arial"/>
            </a:endParaRPr>
          </a:p>
          <a:p>
            <a:pPr defTabSz="457200">
              <a:lnSpc>
                <a:spcPct val="100000"/>
              </a:lnSpc>
            </a:pPr>
            <a:r>
              <a:rPr b="1" lang="en-US" sz="1250" spc="-1" strike="noStrike">
                <a:solidFill>
                  <a:schemeClr val="accent3">
                    <a:lumMod val="40000"/>
                    <a:lumOff val="60000"/>
                  </a:schemeClr>
                </a:solidFill>
                <a:latin typeface="Arial"/>
              </a:rPr>
              <a:t>and Task Execution</a:t>
            </a:r>
            <a:endParaRPr b="0" lang="en-US" sz="1250" spc="-1" strike="noStrike">
              <a:solidFill>
                <a:srgbClr val="ffffff"/>
              </a:solidFill>
              <a:latin typeface="Arial"/>
            </a:endParaRPr>
          </a:p>
        </p:txBody>
      </p:sp>
      <p:sp>
        <p:nvSpPr>
          <p:cNvPr id="151" name="TextBox 60"/>
          <p:cNvSpPr/>
          <p:nvPr/>
        </p:nvSpPr>
        <p:spPr>
          <a:xfrm>
            <a:off x="9784440" y="2059560"/>
            <a:ext cx="2113920" cy="844560"/>
          </a:xfrm>
          <a:prstGeom prst="rect">
            <a:avLst/>
          </a:prstGeom>
          <a:noFill/>
          <a:ln w="0">
            <a:noFill/>
          </a:ln>
        </p:spPr>
        <p:style>
          <a:lnRef idx="0"/>
          <a:fillRef idx="0"/>
          <a:effectRef idx="0"/>
          <a:fontRef idx="minor"/>
        </p:style>
        <p:txBody>
          <a:bodyPr lIns="45720" rIns="45720" tIns="18360" bIns="18360" anchor="t">
            <a:spAutoFit/>
          </a:bodyPr>
          <a:p>
            <a:pPr defTabSz="457200">
              <a:lnSpc>
                <a:spcPct val="100000"/>
              </a:lnSpc>
            </a:pPr>
            <a:r>
              <a:rPr b="0" lang="en-US" sz="1060" spc="-1" strike="noStrike">
                <a:solidFill>
                  <a:schemeClr val="accent3">
                    <a:lumMod val="20000"/>
                    <a:lumOff val="80000"/>
                  </a:schemeClr>
                </a:solidFill>
                <a:latin typeface="Arial"/>
              </a:rPr>
              <a:t>This staged initialization ensures the scene is ready, the arm is initialized, and the camera has a clear top-down view before LLM-generated code runs.</a:t>
            </a:r>
            <a:endParaRPr b="0" lang="en-US" sz="1060" spc="-1" strike="noStrike">
              <a:solidFill>
                <a:srgbClr val="ffffff"/>
              </a:solidFill>
              <a:latin typeface="Arial"/>
            </a:endParaRPr>
          </a:p>
        </p:txBody>
      </p:sp>
      <p:sp>
        <p:nvSpPr>
          <p:cNvPr id="152" name="Rounded Rectangle 33"/>
          <p:cNvSpPr/>
          <p:nvPr/>
        </p:nvSpPr>
        <p:spPr>
          <a:xfrm>
            <a:off x="9866520" y="3088440"/>
            <a:ext cx="2018880" cy="1899000"/>
          </a:xfrm>
          <a:prstGeom prst="roundRect">
            <a:avLst>
              <a:gd name="adj" fmla="val 16667"/>
            </a:avLst>
          </a:prstGeom>
          <a:solidFill>
            <a:schemeClr val="accent3">
              <a:lumMod val="60000"/>
              <a:lumOff val="40000"/>
            </a:schemeClr>
          </a:solidFill>
          <a:ln w="10160">
            <a:solidFill>
              <a:srgbClr val="498b4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53" name="Rounded Rectangle 34"/>
          <p:cNvSpPr/>
          <p:nvPr/>
        </p:nvSpPr>
        <p:spPr>
          <a:xfrm>
            <a:off x="10202040" y="2926080"/>
            <a:ext cx="1279800" cy="314640"/>
          </a:xfrm>
          <a:prstGeom prst="roundRect">
            <a:avLst>
              <a:gd name="adj" fmla="val 16667"/>
            </a:avLst>
          </a:prstGeom>
          <a:solidFill>
            <a:srgbClr val="f7fff5"/>
          </a:solidFill>
          <a:ln w="10160">
            <a:solidFill>
              <a:srgbClr val="498b4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54720" rIns="54720" tIns="27360" bIns="27360" anchor="ctr">
            <a:noAutofit/>
          </a:bodyPr>
          <a:p>
            <a:pPr algn="ctr" defTabSz="457200">
              <a:lnSpc>
                <a:spcPct val="100000"/>
              </a:lnSpc>
            </a:pPr>
            <a:r>
              <a:rPr b="0" lang="en-US" sz="850" spc="-1" strike="noStrike">
                <a:solidFill>
                  <a:srgbClr val="000000"/>
                </a:solidFill>
                <a:latin typeface="Arial"/>
              </a:rPr>
              <a:t>Top-down camera view</a:t>
            </a:r>
            <a:endParaRPr b="0" lang="en-US" sz="850" spc="-1" strike="noStrike">
              <a:solidFill>
                <a:srgbClr val="000000"/>
              </a:solidFill>
              <a:latin typeface="Arial"/>
            </a:endParaRPr>
          </a:p>
        </p:txBody>
      </p:sp>
      <p:cxnSp>
        <p:nvCxnSpPr>
          <p:cNvPr id="154" name="Connector 21"/>
          <p:cNvCxnSpPr/>
          <p:nvPr/>
        </p:nvCxnSpPr>
        <p:spPr>
          <a:xfrm>
            <a:off x="10702080" y="5537160"/>
            <a:ext cx="422280" cy="360"/>
          </a:xfrm>
          <a:prstGeom prst="straightConnector1">
            <a:avLst/>
          </a:prstGeom>
          <a:ln w="22860">
            <a:solidFill>
              <a:srgbClr val="498b40"/>
            </a:solidFill>
            <a:round/>
          </a:ln>
        </p:spPr>
      </p:cxnSp>
      <p:sp>
        <p:nvSpPr>
          <p:cNvPr id="155" name="TextBox 61"/>
          <p:cNvSpPr/>
          <p:nvPr/>
        </p:nvSpPr>
        <p:spPr>
          <a:xfrm>
            <a:off x="9876600" y="5749920"/>
            <a:ext cx="813240" cy="289440"/>
          </a:xfrm>
          <a:prstGeom prst="rect">
            <a:avLst/>
          </a:prstGeom>
          <a:noFill/>
          <a:ln w="0">
            <a:noFill/>
          </a:ln>
        </p:spPr>
        <p:style>
          <a:lnRef idx="0"/>
          <a:fillRef idx="0"/>
          <a:effectRef idx="0"/>
          <a:fontRef idx="minor"/>
        </p:style>
        <p:txBody>
          <a:bodyPr lIns="45720" rIns="45720" tIns="18360" bIns="18360" anchor="ctr">
            <a:spAutoFit/>
          </a:bodyPr>
          <a:p>
            <a:r>
              <a:rPr b="0" lang="en-US" sz="830" spc="-1" strike="noStrike">
                <a:solidFill>
                  <a:schemeClr val="accent3">
                    <a:lumMod val="20000"/>
                    <a:lumOff val="80000"/>
                  </a:schemeClr>
                </a:solidFill>
                <a:latin typeface="Arial"/>
              </a:rPr>
              <a:t>LLM-generated</a:t>
            </a:r>
            <a:endParaRPr b="0" lang="en-US" sz="830" spc="-1" strike="noStrike">
              <a:solidFill>
                <a:srgbClr val="ffffff"/>
              </a:solidFill>
              <a:latin typeface="Arial"/>
            </a:endParaRPr>
          </a:p>
          <a:p>
            <a:pPr algn="ctr" defTabSz="457200">
              <a:lnSpc>
                <a:spcPct val="100000"/>
              </a:lnSpc>
            </a:pPr>
            <a:r>
              <a:rPr b="0" lang="en-US" sz="830" spc="-1" strike="noStrike">
                <a:solidFill>
                  <a:schemeClr val="accent3">
                    <a:lumMod val="20000"/>
                    <a:lumOff val="80000"/>
                  </a:schemeClr>
                </a:solidFill>
                <a:latin typeface="Arial"/>
              </a:rPr>
              <a:t>code execution</a:t>
            </a:r>
            <a:endParaRPr b="0" lang="en-US" sz="830" spc="-1" strike="noStrike">
              <a:solidFill>
                <a:srgbClr val="ffffff"/>
              </a:solidFill>
              <a:latin typeface="Arial"/>
            </a:endParaRPr>
          </a:p>
        </p:txBody>
      </p:sp>
      <p:sp>
        <p:nvSpPr>
          <p:cNvPr id="156" name="TextBox 62"/>
          <p:cNvSpPr/>
          <p:nvPr/>
        </p:nvSpPr>
        <p:spPr>
          <a:xfrm>
            <a:off x="11359440" y="5731920"/>
            <a:ext cx="632520" cy="289440"/>
          </a:xfrm>
          <a:prstGeom prst="rect">
            <a:avLst/>
          </a:prstGeom>
          <a:noFill/>
          <a:ln w="0">
            <a:noFill/>
          </a:ln>
        </p:spPr>
        <p:style>
          <a:lnRef idx="0"/>
          <a:fillRef idx="0"/>
          <a:effectRef idx="0"/>
          <a:fontRef idx="minor"/>
        </p:style>
        <p:txBody>
          <a:bodyPr lIns="45720" rIns="45720" tIns="18360" bIns="18360" anchor="ctr">
            <a:spAutoFit/>
          </a:bodyPr>
          <a:p>
            <a:r>
              <a:rPr b="0" lang="en-US" sz="830" spc="-1" strike="noStrike">
                <a:solidFill>
                  <a:schemeClr val="accent3">
                    <a:lumMod val="20000"/>
                    <a:lumOff val="80000"/>
                  </a:schemeClr>
                </a:solidFill>
                <a:latin typeface="Arial"/>
              </a:rPr>
              <a:t>Task</a:t>
            </a:r>
            <a:endParaRPr b="0" lang="en-US" sz="830" spc="-1" strike="noStrike">
              <a:solidFill>
                <a:srgbClr val="ffffff"/>
              </a:solidFill>
              <a:latin typeface="Arial"/>
            </a:endParaRPr>
          </a:p>
          <a:p>
            <a:pPr algn="ctr" defTabSz="457200">
              <a:lnSpc>
                <a:spcPct val="100000"/>
              </a:lnSpc>
            </a:pPr>
            <a:r>
              <a:rPr b="0" lang="en-US" sz="830" spc="-1" strike="noStrike">
                <a:solidFill>
                  <a:schemeClr val="accent3">
                    <a:lumMod val="20000"/>
                    <a:lumOff val="80000"/>
                  </a:schemeClr>
                </a:solidFill>
                <a:latin typeface="Arial"/>
              </a:rPr>
              <a:t>execution</a:t>
            </a:r>
            <a:endParaRPr b="0" lang="en-US" sz="830" spc="-1" strike="noStrike">
              <a:solidFill>
                <a:srgbClr val="ffffff"/>
              </a:solidFill>
              <a:latin typeface="Arial"/>
            </a:endParaRPr>
          </a:p>
        </p:txBody>
      </p:sp>
      <p:pic>
        <p:nvPicPr>
          <p:cNvPr id="157" name="图片 11" descr=""/>
          <p:cNvPicPr/>
          <p:nvPr/>
        </p:nvPicPr>
        <p:blipFill>
          <a:blip r:embed="rId3"/>
          <a:srcRect l="20233" t="12630" r="13251" b="13550"/>
          <a:stretch/>
        </p:blipFill>
        <p:spPr>
          <a:xfrm>
            <a:off x="11400480" y="5209920"/>
            <a:ext cx="487440" cy="541080"/>
          </a:xfrm>
          <a:prstGeom prst="rect">
            <a:avLst/>
          </a:prstGeom>
          <a:ln w="0">
            <a:noFill/>
          </a:ln>
        </p:spPr>
      </p:pic>
      <p:pic>
        <p:nvPicPr>
          <p:cNvPr id="158" name="图片 12" descr=""/>
          <p:cNvPicPr/>
          <p:nvPr/>
        </p:nvPicPr>
        <p:blipFill>
          <a:blip r:embed="rId4"/>
          <a:srcRect l="18026" t="12983" r="13613" b="15747"/>
          <a:stretch/>
        </p:blipFill>
        <p:spPr>
          <a:xfrm>
            <a:off x="9960840" y="5209920"/>
            <a:ext cx="528480" cy="551160"/>
          </a:xfrm>
          <a:prstGeom prst="rect">
            <a:avLst/>
          </a:prstGeom>
          <a:ln w="0">
            <a:noFill/>
          </a:ln>
        </p:spPr>
      </p:pic>
      <p:cxnSp>
        <p:nvCxnSpPr>
          <p:cNvPr id="159" name="Connector 22"/>
          <p:cNvCxnSpPr/>
          <p:nvPr/>
        </p:nvCxnSpPr>
        <p:spPr>
          <a:xfrm>
            <a:off x="10409040" y="5078880"/>
            <a:ext cx="1073160" cy="360"/>
          </a:xfrm>
          <a:prstGeom prst="straightConnector1">
            <a:avLst/>
          </a:prstGeom>
          <a:ln w="12700">
            <a:solidFill>
              <a:srgbClr val="498b40"/>
            </a:solidFill>
            <a:round/>
          </a:ln>
        </p:spPr>
      </p:cxnSp>
      <p:cxnSp>
        <p:nvCxnSpPr>
          <p:cNvPr id="160" name="直接箭头连接符 2"/>
          <p:cNvCxnSpPr/>
          <p:nvPr/>
        </p:nvCxnSpPr>
        <p:spPr>
          <a:xfrm>
            <a:off x="10931760" y="5078880"/>
            <a:ext cx="360" cy="176400"/>
          </a:xfrm>
          <a:prstGeom prst="straightConnector1">
            <a:avLst/>
          </a:prstGeom>
          <a:ln>
            <a:solidFill>
              <a:srgbClr val="9bbb59"/>
            </a:solidFill>
            <a:round/>
            <a:tailEnd len="med" type="triangle" w="med"/>
          </a:ln>
        </p:spPr>
      </p:cxnSp>
      <p:sp>
        <p:nvSpPr>
          <p:cNvPr id="161" name="Rounded Rectangle 35"/>
          <p:cNvSpPr/>
          <p:nvPr/>
        </p:nvSpPr>
        <p:spPr>
          <a:xfrm>
            <a:off x="189360" y="6168240"/>
            <a:ext cx="11841120" cy="597600"/>
          </a:xfrm>
          <a:prstGeom prst="roundRect">
            <a:avLst>
              <a:gd name="adj" fmla="val 16667"/>
            </a:avLst>
          </a:prstGeom>
          <a:solidFill>
            <a:schemeClr val="bg1">
              <a:lumMod val="50000"/>
            </a:schemeClr>
          </a:solidFill>
          <a:ln w="1270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ndParaRPr>
          </a:p>
        </p:txBody>
      </p:sp>
      <p:sp>
        <p:nvSpPr>
          <p:cNvPr id="162" name="Oval 15"/>
          <p:cNvSpPr/>
          <p:nvPr/>
        </p:nvSpPr>
        <p:spPr>
          <a:xfrm>
            <a:off x="483120" y="6309360"/>
            <a:ext cx="383760" cy="338760"/>
          </a:xfrm>
          <a:prstGeom prst="ellipse">
            <a:avLst/>
          </a:prstGeom>
          <a:solidFill>
            <a:srgbClr val="ffffff"/>
          </a:solidFill>
          <a:ln w="1524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0" lang="en-US" sz="1600" spc="-1" strike="noStrike">
                <a:solidFill>
                  <a:srgbClr val="2563a5"/>
                </a:solidFill>
                <a:latin typeface="Arial"/>
              </a:rPr>
              <a:t>⏱</a:t>
            </a:r>
            <a:endParaRPr b="0" lang="en-US" sz="1600" spc="-1" strike="noStrike">
              <a:solidFill>
                <a:srgbClr val="000000"/>
              </a:solidFill>
              <a:latin typeface="Arial"/>
            </a:endParaRPr>
          </a:p>
        </p:txBody>
      </p:sp>
      <p:sp>
        <p:nvSpPr>
          <p:cNvPr id="163" name="TextBox 63"/>
          <p:cNvSpPr/>
          <p:nvPr/>
        </p:nvSpPr>
        <p:spPr>
          <a:xfrm>
            <a:off x="952560" y="6373080"/>
            <a:ext cx="1378440" cy="203760"/>
          </a:xfrm>
          <a:prstGeom prst="rect">
            <a:avLst/>
          </a:prstGeom>
          <a:noFill/>
          <a:ln w="0">
            <a:noFill/>
          </a:ln>
        </p:spPr>
        <p:style>
          <a:lnRef idx="0"/>
          <a:fillRef idx="0"/>
          <a:effectRef idx="0"/>
          <a:fontRef idx="minor"/>
        </p:style>
        <p:txBody>
          <a:bodyPr lIns="45720" rIns="45720" tIns="18360" bIns="18360" anchor="ctr">
            <a:spAutoFit/>
          </a:bodyPr>
          <a:p>
            <a:pPr defTabSz="457200">
              <a:lnSpc>
                <a:spcPct val="100000"/>
              </a:lnSpc>
            </a:pPr>
            <a:r>
              <a:rPr b="1" lang="en-US" sz="1100" spc="-1" strike="noStrike">
                <a:solidFill>
                  <a:srgbClr val="07315d"/>
                </a:solidFill>
                <a:latin typeface="Arial"/>
              </a:rPr>
              <a:t>Timing Summary</a:t>
            </a:r>
            <a:endParaRPr b="0" lang="en-US" sz="1100" spc="-1" strike="noStrike">
              <a:solidFill>
                <a:srgbClr val="ffffff"/>
              </a:solidFill>
              <a:latin typeface="Arial"/>
            </a:endParaRPr>
          </a:p>
        </p:txBody>
      </p:sp>
      <p:sp>
        <p:nvSpPr>
          <p:cNvPr id="164" name="Oval 16"/>
          <p:cNvSpPr/>
          <p:nvPr/>
        </p:nvSpPr>
        <p:spPr>
          <a:xfrm>
            <a:off x="3017520" y="6309360"/>
            <a:ext cx="370440" cy="353520"/>
          </a:xfrm>
          <a:prstGeom prst="ellipse">
            <a:avLst/>
          </a:prstGeom>
          <a:solidFill>
            <a:srgbClr val="ffffff"/>
          </a:solidFill>
          <a:ln w="1524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rIns="90000" tIns="45000" bIns="45000" anchor="ctr">
            <a:noAutofit/>
          </a:bodyPr>
          <a:p>
            <a:pPr defTabSz="457200">
              <a:lnSpc>
                <a:spcPct val="100000"/>
              </a:lnSpc>
            </a:pPr>
            <a:r>
              <a:rPr b="1" lang="en-US" sz="1100" spc="-1" strike="noStrike">
                <a:solidFill>
                  <a:srgbClr val="2563a5"/>
                </a:solidFill>
                <a:latin typeface="Times New Roman"/>
              </a:rPr>
              <a:t>0s</a:t>
            </a:r>
            <a:endParaRPr b="0" lang="en-US" sz="1100" spc="-1" strike="noStrike">
              <a:solidFill>
                <a:srgbClr val="000000"/>
              </a:solidFill>
              <a:latin typeface="Arial"/>
            </a:endParaRPr>
          </a:p>
        </p:txBody>
      </p:sp>
      <p:sp>
        <p:nvSpPr>
          <p:cNvPr id="165" name="TextBox 64"/>
          <p:cNvSpPr/>
          <p:nvPr/>
        </p:nvSpPr>
        <p:spPr>
          <a:xfrm>
            <a:off x="3507120" y="6408000"/>
            <a:ext cx="566640" cy="180720"/>
          </a:xfrm>
          <a:prstGeom prst="rect">
            <a:avLst/>
          </a:prstGeom>
          <a:noFill/>
          <a:ln w="0">
            <a:noFill/>
          </a:ln>
        </p:spPr>
        <p:style>
          <a:lnRef idx="0"/>
          <a:fillRef idx="0"/>
          <a:effectRef idx="0"/>
          <a:fontRef idx="minor"/>
        </p:style>
        <p:txBody>
          <a:bodyPr lIns="45720" rIns="45720" tIns="18360" bIns="18360" anchor="ctr">
            <a:spAutoFit/>
          </a:bodyPr>
          <a:p>
            <a:pPr defTabSz="457200">
              <a:lnSpc>
                <a:spcPct val="100000"/>
              </a:lnSpc>
            </a:pPr>
            <a:r>
              <a:rPr b="1" lang="en-US" sz="950" spc="-1" strike="noStrike">
                <a:solidFill>
                  <a:srgbClr val="07315d"/>
                </a:solidFill>
                <a:latin typeface="Arial"/>
              </a:rPr>
              <a:t>launch</a:t>
            </a:r>
            <a:endParaRPr b="0" lang="en-US" sz="950" spc="-1" strike="noStrike">
              <a:solidFill>
                <a:srgbClr val="ffffff"/>
              </a:solidFill>
              <a:latin typeface="Arial"/>
            </a:endParaRPr>
          </a:p>
        </p:txBody>
      </p:sp>
      <p:cxnSp>
        <p:nvCxnSpPr>
          <p:cNvPr id="166" name="Connector 23"/>
          <p:cNvCxnSpPr/>
          <p:nvPr/>
        </p:nvCxnSpPr>
        <p:spPr>
          <a:xfrm>
            <a:off x="4097520" y="6466680"/>
            <a:ext cx="342000" cy="360"/>
          </a:xfrm>
          <a:prstGeom prst="straightConnector1">
            <a:avLst/>
          </a:prstGeom>
          <a:ln>
            <a:solidFill>
              <a:srgbClr val="634aa7"/>
            </a:solidFill>
            <a:round/>
          </a:ln>
        </p:spPr>
      </p:cxnSp>
      <p:sp>
        <p:nvSpPr>
          <p:cNvPr id="167" name="Oval 17"/>
          <p:cNvSpPr/>
          <p:nvPr/>
        </p:nvSpPr>
        <p:spPr>
          <a:xfrm>
            <a:off x="4677480" y="6309360"/>
            <a:ext cx="381240" cy="367560"/>
          </a:xfrm>
          <a:prstGeom prst="ellipse">
            <a:avLst/>
          </a:prstGeom>
          <a:solidFill>
            <a:srgbClr val="ffffff"/>
          </a:solidFill>
          <a:ln w="15240">
            <a:solidFill>
              <a:srgbClr val="498b4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rIns="90000" tIns="45000" bIns="45000" anchor="ctr">
            <a:noAutofit/>
          </a:bodyPr>
          <a:p>
            <a:pPr algn="ctr" defTabSz="457200">
              <a:lnSpc>
                <a:spcPct val="100000"/>
              </a:lnSpc>
            </a:pPr>
            <a:r>
              <a:rPr b="1" lang="en-US" sz="1050" spc="-1" strike="noStrike">
                <a:solidFill>
                  <a:srgbClr val="498b40"/>
                </a:solidFill>
                <a:latin typeface="Arial"/>
              </a:rPr>
              <a:t>18 s</a:t>
            </a:r>
            <a:endParaRPr b="0" lang="en-US" sz="1050" spc="-1" strike="noStrike">
              <a:solidFill>
                <a:srgbClr val="000000"/>
              </a:solidFill>
              <a:latin typeface="Arial"/>
            </a:endParaRPr>
          </a:p>
        </p:txBody>
      </p:sp>
      <p:sp>
        <p:nvSpPr>
          <p:cNvPr id="168" name="TextBox 65"/>
          <p:cNvSpPr/>
          <p:nvPr/>
        </p:nvSpPr>
        <p:spPr>
          <a:xfrm>
            <a:off x="5160600" y="6310440"/>
            <a:ext cx="934200" cy="311040"/>
          </a:xfrm>
          <a:prstGeom prst="rect">
            <a:avLst/>
          </a:prstGeom>
          <a:noFill/>
          <a:ln w="0">
            <a:noFill/>
          </a:ln>
        </p:spPr>
        <p:style>
          <a:lnRef idx="0"/>
          <a:fillRef idx="0"/>
          <a:effectRef idx="0"/>
          <a:fontRef idx="minor"/>
        </p:style>
        <p:txBody>
          <a:bodyPr lIns="45720" rIns="45720" tIns="18360" bIns="18360" anchor="ctr">
            <a:spAutoFit/>
          </a:bodyPr>
          <a:p>
            <a:r>
              <a:rPr b="1" lang="en-US" sz="900" spc="-1" strike="noStrike">
                <a:solidFill>
                  <a:srgbClr val="07315d"/>
                </a:solidFill>
                <a:latin typeface="Arial"/>
              </a:rPr>
              <a:t>objects</a:t>
            </a:r>
            <a:endParaRPr b="0" lang="en-US" sz="900" spc="-1" strike="noStrike">
              <a:solidFill>
                <a:srgbClr val="ffffff"/>
              </a:solidFill>
              <a:latin typeface="Arial"/>
            </a:endParaRPr>
          </a:p>
          <a:p>
            <a:pPr defTabSz="457200">
              <a:lnSpc>
                <a:spcPct val="100000"/>
              </a:lnSpc>
            </a:pPr>
            <a:r>
              <a:rPr b="1" lang="en-US" sz="900" spc="-1" strike="noStrike">
                <a:solidFill>
                  <a:srgbClr val="07315d"/>
                </a:solidFill>
                <a:latin typeface="Arial"/>
              </a:rPr>
              <a:t>(populated)</a:t>
            </a:r>
            <a:endParaRPr b="0" lang="en-US" sz="900" spc="-1" strike="noStrike">
              <a:solidFill>
                <a:srgbClr val="ffffff"/>
              </a:solidFill>
              <a:latin typeface="Arial"/>
            </a:endParaRPr>
          </a:p>
        </p:txBody>
      </p:sp>
      <p:cxnSp>
        <p:nvCxnSpPr>
          <p:cNvPr id="169" name="Connector 24"/>
          <p:cNvCxnSpPr/>
          <p:nvPr/>
        </p:nvCxnSpPr>
        <p:spPr>
          <a:xfrm>
            <a:off x="5942520" y="6500520"/>
            <a:ext cx="342000" cy="360"/>
          </a:xfrm>
          <a:prstGeom prst="straightConnector1">
            <a:avLst/>
          </a:prstGeom>
          <a:ln>
            <a:solidFill>
              <a:srgbClr val="634aa7"/>
            </a:solidFill>
            <a:round/>
          </a:ln>
        </p:spPr>
      </p:cxnSp>
      <p:sp>
        <p:nvSpPr>
          <p:cNvPr id="170" name="Oval 18"/>
          <p:cNvSpPr/>
          <p:nvPr/>
        </p:nvSpPr>
        <p:spPr>
          <a:xfrm>
            <a:off x="6514560" y="6309360"/>
            <a:ext cx="381240" cy="367560"/>
          </a:xfrm>
          <a:prstGeom prst="ellipse">
            <a:avLst/>
          </a:prstGeom>
          <a:solidFill>
            <a:srgbClr val="ffffff"/>
          </a:solidFill>
          <a:ln w="15240">
            <a:solidFill>
              <a:srgbClr val="e89417"/>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rIns="90000" tIns="45000" bIns="45000" anchor="ctr">
            <a:noAutofit/>
          </a:bodyPr>
          <a:p>
            <a:pPr algn="ctr" defTabSz="457200">
              <a:lnSpc>
                <a:spcPct val="100000"/>
              </a:lnSpc>
            </a:pPr>
            <a:r>
              <a:rPr b="1" lang="en-US" sz="1100" spc="-1" strike="noStrike">
                <a:solidFill>
                  <a:srgbClr val="e89417"/>
                </a:solidFill>
                <a:latin typeface="Arial"/>
              </a:rPr>
              <a:t>35 s</a:t>
            </a:r>
            <a:endParaRPr b="0" lang="en-US" sz="1100" spc="-1" strike="noStrike">
              <a:solidFill>
                <a:srgbClr val="000000"/>
              </a:solidFill>
              <a:latin typeface="Arial"/>
            </a:endParaRPr>
          </a:p>
        </p:txBody>
      </p:sp>
      <p:sp>
        <p:nvSpPr>
          <p:cNvPr id="171" name="TextBox 66"/>
          <p:cNvSpPr/>
          <p:nvPr/>
        </p:nvSpPr>
        <p:spPr>
          <a:xfrm>
            <a:off x="7019640" y="6310440"/>
            <a:ext cx="754560" cy="311040"/>
          </a:xfrm>
          <a:prstGeom prst="rect">
            <a:avLst/>
          </a:prstGeom>
          <a:noFill/>
          <a:ln w="0">
            <a:noFill/>
          </a:ln>
        </p:spPr>
        <p:style>
          <a:lnRef idx="0"/>
          <a:fillRef idx="0"/>
          <a:effectRef idx="0"/>
          <a:fontRef idx="minor"/>
        </p:style>
        <p:txBody>
          <a:bodyPr lIns="45720" rIns="45720" tIns="18360" bIns="18360" anchor="ctr">
            <a:spAutoFit/>
          </a:bodyPr>
          <a:p>
            <a:r>
              <a:rPr b="1" lang="en-US" sz="900" spc="-1" strike="noStrike">
                <a:solidFill>
                  <a:srgbClr val="07315d"/>
                </a:solidFill>
                <a:latin typeface="Arial"/>
              </a:rPr>
              <a:t>safe pose</a:t>
            </a:r>
            <a:endParaRPr b="0" lang="en-US" sz="900" spc="-1" strike="noStrike">
              <a:solidFill>
                <a:srgbClr val="ffffff"/>
              </a:solidFill>
              <a:latin typeface="Arial"/>
            </a:endParaRPr>
          </a:p>
          <a:p>
            <a:pPr defTabSz="457200">
              <a:lnSpc>
                <a:spcPct val="100000"/>
              </a:lnSpc>
            </a:pPr>
            <a:r>
              <a:rPr b="1" lang="en-US" sz="900" spc="-1" strike="noStrike">
                <a:solidFill>
                  <a:srgbClr val="07315d"/>
                </a:solidFill>
                <a:latin typeface="Arial"/>
              </a:rPr>
              <a:t>(arm ready)</a:t>
            </a:r>
            <a:endParaRPr b="0" lang="en-US" sz="900" spc="-1" strike="noStrike">
              <a:solidFill>
                <a:srgbClr val="ffffff"/>
              </a:solidFill>
              <a:latin typeface="Arial"/>
            </a:endParaRPr>
          </a:p>
        </p:txBody>
      </p:sp>
      <p:cxnSp>
        <p:nvCxnSpPr>
          <p:cNvPr id="172" name="Connector 25"/>
          <p:cNvCxnSpPr/>
          <p:nvPr/>
        </p:nvCxnSpPr>
        <p:spPr>
          <a:xfrm>
            <a:off x="7774560" y="6466680"/>
            <a:ext cx="358200" cy="360"/>
          </a:xfrm>
          <a:prstGeom prst="straightConnector1">
            <a:avLst/>
          </a:prstGeom>
          <a:ln>
            <a:solidFill>
              <a:srgbClr val="634aa7"/>
            </a:solidFill>
            <a:round/>
          </a:ln>
        </p:spPr>
      </p:cxnSp>
      <p:sp>
        <p:nvSpPr>
          <p:cNvPr id="173" name="Oval 19"/>
          <p:cNvSpPr/>
          <p:nvPr/>
        </p:nvSpPr>
        <p:spPr>
          <a:xfrm>
            <a:off x="8261640" y="6309360"/>
            <a:ext cx="381240" cy="367560"/>
          </a:xfrm>
          <a:prstGeom prst="ellipse">
            <a:avLst/>
          </a:prstGeom>
          <a:solidFill>
            <a:srgbClr val="ffffff"/>
          </a:solidFill>
          <a:ln w="15240">
            <a:solidFill>
              <a:srgbClr val="a50021"/>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wrap="none" lIns="90000" rIns="90000" tIns="45000" bIns="45000" anchor="ctr">
            <a:noAutofit/>
          </a:bodyPr>
          <a:p>
            <a:pPr algn="ctr" defTabSz="457200">
              <a:lnSpc>
                <a:spcPct val="100000"/>
              </a:lnSpc>
            </a:pPr>
            <a:r>
              <a:rPr b="1" lang="en-US" sz="1050" spc="-1" strike="noStrike">
                <a:solidFill>
                  <a:srgbClr val="c00000"/>
                </a:solidFill>
                <a:latin typeface="Arial"/>
              </a:rPr>
              <a:t>70 s</a:t>
            </a:r>
            <a:endParaRPr b="0" lang="en-US" sz="1050" spc="-1" strike="noStrike">
              <a:solidFill>
                <a:srgbClr val="000000"/>
              </a:solidFill>
              <a:latin typeface="Arial"/>
            </a:endParaRPr>
          </a:p>
        </p:txBody>
      </p:sp>
      <p:sp>
        <p:nvSpPr>
          <p:cNvPr id="174" name="TextBox 67"/>
          <p:cNvSpPr/>
          <p:nvPr/>
        </p:nvSpPr>
        <p:spPr>
          <a:xfrm>
            <a:off x="8700480" y="6326640"/>
            <a:ext cx="873720" cy="311040"/>
          </a:xfrm>
          <a:prstGeom prst="rect">
            <a:avLst/>
          </a:prstGeom>
          <a:noFill/>
          <a:ln w="0">
            <a:noFill/>
          </a:ln>
        </p:spPr>
        <p:style>
          <a:lnRef idx="0"/>
          <a:fillRef idx="0"/>
          <a:effectRef idx="0"/>
          <a:fontRef idx="minor"/>
        </p:style>
        <p:txBody>
          <a:bodyPr lIns="45720" rIns="45720" tIns="18360" bIns="18360" anchor="ctr">
            <a:spAutoFit/>
          </a:bodyPr>
          <a:p>
            <a:r>
              <a:rPr b="1" lang="en-US" sz="900" spc="-1" strike="noStrike">
                <a:solidFill>
                  <a:srgbClr val="07315d"/>
                </a:solidFill>
                <a:latin typeface="Arial"/>
              </a:rPr>
              <a:t>camera scan</a:t>
            </a:r>
            <a:endParaRPr b="0" lang="en-US" sz="900" spc="-1" strike="noStrike">
              <a:solidFill>
                <a:srgbClr val="ffffff"/>
              </a:solidFill>
              <a:latin typeface="Arial"/>
            </a:endParaRPr>
          </a:p>
          <a:p>
            <a:pPr defTabSz="457200">
              <a:lnSpc>
                <a:spcPct val="100000"/>
              </a:lnSpc>
            </a:pPr>
            <a:r>
              <a:rPr b="1" lang="en-US" sz="900" spc="-1" strike="noStrike">
                <a:solidFill>
                  <a:srgbClr val="07315d"/>
                </a:solidFill>
                <a:latin typeface="Arial"/>
              </a:rPr>
              <a:t>ready</a:t>
            </a:r>
            <a:endParaRPr b="0" lang="en-US" sz="900" spc="-1" strike="noStrike">
              <a:solidFill>
                <a:srgbClr val="ffffff"/>
              </a:solidFill>
              <a:latin typeface="Arial"/>
            </a:endParaRPr>
          </a:p>
        </p:txBody>
      </p:sp>
      <p:cxnSp>
        <p:nvCxnSpPr>
          <p:cNvPr id="175" name="Connector 26"/>
          <p:cNvCxnSpPr/>
          <p:nvPr/>
        </p:nvCxnSpPr>
        <p:spPr>
          <a:xfrm>
            <a:off x="9589320" y="6271560"/>
            <a:ext cx="360" cy="345240"/>
          </a:xfrm>
          <a:prstGeom prst="straightConnector1">
            <a:avLst/>
          </a:prstGeom>
          <a:ln w="12700">
            <a:solidFill>
              <a:srgbClr val="2563a5"/>
            </a:solidFill>
            <a:round/>
          </a:ln>
        </p:spPr>
      </p:cxnSp>
      <p:sp>
        <p:nvSpPr>
          <p:cNvPr id="176" name="Oval 20"/>
          <p:cNvSpPr/>
          <p:nvPr/>
        </p:nvSpPr>
        <p:spPr>
          <a:xfrm>
            <a:off x="9900360" y="6313320"/>
            <a:ext cx="317520" cy="306360"/>
          </a:xfrm>
          <a:prstGeom prst="ellipse">
            <a:avLst/>
          </a:prstGeom>
          <a:solidFill>
            <a:srgbClr val="ffffff"/>
          </a:solidFill>
          <a:ln w="15240">
            <a:solidFill>
              <a:srgbClr val="2563a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r>
              <a:rPr b="0" lang="en-US" sz="1800" spc="-1" strike="noStrike">
                <a:solidFill>
                  <a:srgbClr val="2563a5"/>
                </a:solidFill>
                <a:latin typeface="Arial"/>
              </a:rPr>
              <a:t>◎</a:t>
            </a:r>
            <a:endParaRPr b="0" lang="en-US" sz="1800" spc="-1" strike="noStrike">
              <a:solidFill>
                <a:srgbClr val="000000"/>
              </a:solidFill>
              <a:latin typeface="Arial"/>
            </a:endParaRPr>
          </a:p>
        </p:txBody>
      </p:sp>
      <p:sp>
        <p:nvSpPr>
          <p:cNvPr id="177" name="TextBox 68"/>
          <p:cNvSpPr/>
          <p:nvPr/>
        </p:nvSpPr>
        <p:spPr>
          <a:xfrm>
            <a:off x="10375920" y="6320160"/>
            <a:ext cx="1509480" cy="341280"/>
          </a:xfrm>
          <a:prstGeom prst="rect">
            <a:avLst/>
          </a:prstGeom>
          <a:noFill/>
          <a:ln w="0">
            <a:noFill/>
          </a:ln>
        </p:spPr>
        <p:style>
          <a:lnRef idx="0"/>
          <a:fillRef idx="0"/>
          <a:effectRef idx="0"/>
          <a:fontRef idx="minor"/>
        </p:style>
        <p:txBody>
          <a:bodyPr lIns="45720" rIns="45720" tIns="18360" bIns="18360" anchor="ctr">
            <a:spAutoFit/>
          </a:bodyPr>
          <a:p>
            <a:r>
              <a:rPr b="1" lang="en-US" sz="1000" spc="-1" strike="noStrike">
                <a:solidFill>
                  <a:srgbClr val="07315d"/>
                </a:solidFill>
                <a:latin typeface="Arial"/>
              </a:rPr>
              <a:t>Ready for perception</a:t>
            </a:r>
            <a:endParaRPr b="0" lang="en-US" sz="1000" spc="-1" strike="noStrike">
              <a:solidFill>
                <a:srgbClr val="ffffff"/>
              </a:solidFill>
              <a:latin typeface="Arial"/>
            </a:endParaRPr>
          </a:p>
          <a:p>
            <a:pPr defTabSz="457200">
              <a:lnSpc>
                <a:spcPct val="100000"/>
              </a:lnSpc>
            </a:pPr>
            <a:r>
              <a:rPr b="1" lang="en-US" sz="1000" spc="-1" strike="noStrike">
                <a:solidFill>
                  <a:srgbClr val="07315d"/>
                </a:solidFill>
                <a:latin typeface="Arial"/>
              </a:rPr>
              <a:t>and task execution</a:t>
            </a:r>
            <a:endParaRPr b="0" lang="en-US" sz="1000" spc="-1" strike="noStrike">
              <a:solidFill>
                <a:srgbClr val="ffffff"/>
              </a:solidFill>
              <a:latin typeface="Arial"/>
            </a:endParaRPr>
          </a:p>
        </p:txBody>
      </p:sp>
      <p:pic>
        <p:nvPicPr>
          <p:cNvPr id="178" name="图片 13" descr=""/>
          <p:cNvPicPr/>
          <p:nvPr/>
        </p:nvPicPr>
        <p:blipFill>
          <a:blip r:embed="rId5"/>
          <a:stretch/>
        </p:blipFill>
        <p:spPr>
          <a:xfrm>
            <a:off x="4677480" y="4623840"/>
            <a:ext cx="1114560" cy="888480"/>
          </a:xfrm>
          <a:prstGeom prst="rect">
            <a:avLst/>
          </a:prstGeom>
          <a:ln w="0">
            <a:noFill/>
          </a:ln>
        </p:spPr>
      </p:pic>
      <p:pic>
        <p:nvPicPr>
          <p:cNvPr id="179" name="图片 14" descr=""/>
          <p:cNvPicPr/>
          <p:nvPr/>
        </p:nvPicPr>
        <p:blipFill>
          <a:blip r:embed="rId6"/>
          <a:stretch/>
        </p:blipFill>
        <p:spPr>
          <a:xfrm>
            <a:off x="3217320" y="3943440"/>
            <a:ext cx="909000" cy="1637640"/>
          </a:xfrm>
          <a:prstGeom prst="rect">
            <a:avLst/>
          </a:prstGeom>
          <a:ln w="0">
            <a:noFill/>
          </a:ln>
        </p:spPr>
      </p:pic>
      <p:pic>
        <p:nvPicPr>
          <p:cNvPr id="180" name="图片 15" descr=""/>
          <p:cNvPicPr/>
          <p:nvPr/>
        </p:nvPicPr>
        <p:blipFill>
          <a:blip r:embed="rId7"/>
          <a:srcRect l="5424" t="4836" r="12847" b="16570"/>
          <a:stretch/>
        </p:blipFill>
        <p:spPr>
          <a:xfrm>
            <a:off x="10093320" y="3310200"/>
            <a:ext cx="1623240" cy="1566720"/>
          </a:xfrm>
          <a:prstGeom prst="rect">
            <a:avLst/>
          </a:prstGeom>
          <a:ln w="0">
            <a:noFill/>
          </a:ln>
        </p:spPr>
      </p:pic>
      <p:pic>
        <p:nvPicPr>
          <p:cNvPr id="181" name="图片 16" descr=""/>
          <p:cNvPicPr/>
          <p:nvPr/>
        </p:nvPicPr>
        <p:blipFill>
          <a:blip r:embed="rId8"/>
          <a:srcRect l="0" t="0" r="0" b="13834"/>
          <a:stretch/>
        </p:blipFill>
        <p:spPr>
          <a:xfrm>
            <a:off x="8078040" y="4459680"/>
            <a:ext cx="1118520" cy="117936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82" name="TextBox 1"/>
          <p:cNvSpPr/>
          <p:nvPr/>
        </p:nvSpPr>
        <p:spPr>
          <a:xfrm>
            <a:off x="731520" y="320040"/>
            <a:ext cx="10057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Scene Perception  —  Sergio</a:t>
            </a:r>
            <a:endParaRPr b="0" lang="en-US" sz="3000" spc="-1" strike="noStrike">
              <a:solidFill>
                <a:srgbClr val="ffffff"/>
              </a:solidFill>
              <a:latin typeface="Arial"/>
            </a:endParaRPr>
          </a:p>
        </p:txBody>
      </p:sp>
      <p:sp>
        <p:nvSpPr>
          <p:cNvPr id="183" name="Rectangle 2"/>
          <p:cNvSpPr/>
          <p:nvPr/>
        </p:nvSpPr>
        <p:spPr>
          <a:xfrm>
            <a:off x="731520" y="914400"/>
            <a:ext cx="2285280" cy="374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184" name="TextBox 3"/>
          <p:cNvSpPr/>
          <p:nvPr/>
        </p:nvSpPr>
        <p:spPr>
          <a:xfrm>
            <a:off x="914400" y="128016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Before the robot can manipulate objects, it needs to know where they are. The perception pipeline starts with make_scene(), which captures an RGB image and a synchronized depth frame from the hand-mounted camera.</a:t>
            </a:r>
            <a:endParaRPr b="0" lang="en-US" sz="1500" spc="-1" strike="noStrike">
              <a:solidFill>
                <a:srgbClr val="ffffff"/>
              </a:solidFill>
              <a:latin typeface="Arial"/>
            </a:endParaRPr>
          </a:p>
        </p:txBody>
      </p:sp>
      <p:sp>
        <p:nvSpPr>
          <p:cNvPr id="185" name="TextBox 4"/>
          <p:cNvSpPr/>
          <p:nvPr/>
        </p:nvSpPr>
        <p:spPr>
          <a:xfrm>
            <a:off x="914400" y="178308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A YOLOv8 model (trained on the object set) detects each visible object and returns 2D bounding boxes with class labels. The detector runs in real time and can handle partial occlusions and varying lighting conditions in simulation.</a:t>
            </a:r>
            <a:endParaRPr b="0" lang="en-US" sz="1500" spc="-1" strike="noStrike">
              <a:solidFill>
                <a:srgbClr val="ffffff"/>
              </a:solidFill>
              <a:latin typeface="Arial"/>
            </a:endParaRPr>
          </a:p>
        </p:txBody>
      </p:sp>
      <p:sp>
        <p:nvSpPr>
          <p:cNvPr id="186" name="TextBox 5"/>
          <p:cNvSpPr/>
          <p:nvPr/>
        </p:nvSpPr>
        <p:spPr>
          <a:xfrm>
            <a:off x="914400" y="228600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The 2D detections are meaningless for manipulation — the robot needs 3D coordinates. The frame2world.py module takes each bounding box center, samples the depth image at that pixel, and back-projects the 2D point into 3D world coordinates using the camera intrinsics and the known hand-eye transformation.</a:t>
            </a:r>
            <a:endParaRPr b="0" lang="en-US" sz="1500" spc="-1" strike="noStrike">
              <a:solidFill>
                <a:srgbClr val="ffffff"/>
              </a:solidFill>
              <a:latin typeface="Arial"/>
            </a:endParaRPr>
          </a:p>
        </p:txBody>
      </p:sp>
      <p:sp>
        <p:nvSpPr>
          <p:cNvPr id="187" name="TextBox 6"/>
          <p:cNvSpPr/>
          <p:nvPr/>
        </p:nvSpPr>
        <p:spPr>
          <a:xfrm>
            <a:off x="914400" y="278892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The output is a Python dictionary mapping object names to their pose: {object_name: (x, y, z, yaw)}. This dictionary is passed to the LLM-generated code, which uses it to plan approach vectors and grasp targets.</a:t>
            </a:r>
            <a:endParaRPr b="0" lang="en-US" sz="1500" spc="-1" strike="noStrike">
              <a:solidFill>
                <a:srgbClr val="ffffff"/>
              </a:solidFill>
              <a:latin typeface="Arial"/>
            </a:endParaRPr>
          </a:p>
        </p:txBody>
      </p:sp>
      <p:sp>
        <p:nvSpPr>
          <p:cNvPr id="188" name="TextBox 7"/>
          <p:cNvSpPr/>
          <p:nvPr/>
        </p:nvSpPr>
        <p:spPr>
          <a:xfrm>
            <a:off x="731520" y="6035040"/>
            <a:ext cx="100576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9ca3af"/>
                </a:solidFill>
                <a:latin typeface="Arial"/>
              </a:rPr>
              <a:t>Output: {object_name: (x, y, z, yaw)} — used directly by the motion planner.</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189" name="TextBox 8"/>
          <p:cNvSpPr/>
          <p:nvPr/>
        </p:nvSpPr>
        <p:spPr>
          <a:xfrm>
            <a:off x="7525080" y="320040"/>
            <a:ext cx="4342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LLM Code Generation</a:t>
            </a:r>
            <a:endParaRPr b="0" lang="en-US" sz="3000" spc="-1" strike="noStrike">
              <a:solidFill>
                <a:srgbClr val="ffffff"/>
              </a:solidFill>
              <a:latin typeface="Arial"/>
            </a:endParaRPr>
          </a:p>
        </p:txBody>
      </p:sp>
      <p:sp>
        <p:nvSpPr>
          <p:cNvPr id="190" name="Rectangle 3"/>
          <p:cNvSpPr/>
          <p:nvPr/>
        </p:nvSpPr>
        <p:spPr>
          <a:xfrm>
            <a:off x="6931080" y="899280"/>
            <a:ext cx="2879640" cy="5256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8280" bIns="8280" anchor="ctr">
            <a:noAutofit/>
          </a:bodyPr>
          <a:p>
            <a:pPr>
              <a:lnSpc>
                <a:spcPct val="100000"/>
              </a:lnSpc>
            </a:pPr>
            <a:endParaRPr b="0" lang="en-US" sz="1800" spc="-1" strike="noStrike">
              <a:solidFill>
                <a:schemeClr val="lt1"/>
              </a:solidFill>
              <a:latin typeface="Calibri"/>
            </a:endParaRPr>
          </a:p>
        </p:txBody>
      </p:sp>
      <p:sp>
        <p:nvSpPr>
          <p:cNvPr id="191" name="Shape 3"/>
          <p:cNvSpPr/>
          <p:nvPr/>
        </p:nvSpPr>
        <p:spPr>
          <a:xfrm>
            <a:off x="5862600" y="1230480"/>
            <a:ext cx="2887920" cy="1701000"/>
          </a:xfrm>
          <a:prstGeom prst="roundRect">
            <a:avLst>
              <a:gd name="adj" fmla="val 4370"/>
            </a:avLst>
          </a:prstGeom>
          <a:solidFill>
            <a:srgbClr val="101620"/>
          </a:solidFill>
          <a:ln w="14288">
            <a:solidFill>
              <a:srgbClr val="002a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chemeClr val="dk1"/>
              </a:solidFill>
              <a:latin typeface="Calibri"/>
            </a:endParaRPr>
          </a:p>
        </p:txBody>
      </p:sp>
      <p:sp>
        <p:nvSpPr>
          <p:cNvPr id="192" name="Text 4"/>
          <p:cNvSpPr/>
          <p:nvPr/>
        </p:nvSpPr>
        <p:spPr>
          <a:xfrm>
            <a:off x="6056640" y="1398960"/>
            <a:ext cx="2197080" cy="286920"/>
          </a:xfrm>
          <a:prstGeom prst="rect">
            <a:avLst/>
          </a:prstGeom>
          <a:noFill/>
          <a:ln w="0">
            <a:noFill/>
          </a:ln>
        </p:spPr>
        <p:style>
          <a:lnRef idx="0"/>
          <a:fillRef idx="0"/>
          <a:effectRef idx="0"/>
          <a:fontRef idx="minor"/>
        </p:style>
        <p:txBody>
          <a:bodyPr wrap="none" lIns="0" rIns="0" tIns="0" bIns="0" anchor="t">
            <a:noAutofit/>
          </a:bodyPr>
          <a:p>
            <a:pPr defTabSz="457200">
              <a:lnSpc>
                <a:spcPct val="108000"/>
              </a:lnSpc>
              <a:tabLst>
                <a:tab algn="l" pos="0"/>
              </a:tabLst>
            </a:pPr>
            <a:r>
              <a:rPr b="1" lang="en-US" sz="1800" spc="-1" strike="noStrike">
                <a:solidFill>
                  <a:srgbClr val="ebedf0"/>
                </a:solidFill>
                <a:latin typeface="Geist Bold"/>
                <a:ea typeface="Geist Bold"/>
              </a:rPr>
              <a:t>Model</a:t>
            </a:r>
            <a:endParaRPr b="0" lang="en-US" sz="1800" spc="-1" strike="noStrike">
              <a:solidFill>
                <a:srgbClr val="ffffff"/>
              </a:solidFill>
              <a:latin typeface="Arial"/>
            </a:endParaRPr>
          </a:p>
        </p:txBody>
      </p:sp>
      <p:sp>
        <p:nvSpPr>
          <p:cNvPr id="193" name="Text 5"/>
          <p:cNvSpPr/>
          <p:nvPr/>
        </p:nvSpPr>
        <p:spPr>
          <a:xfrm>
            <a:off x="6056640" y="1813320"/>
            <a:ext cx="2500200" cy="918360"/>
          </a:xfrm>
          <a:prstGeom prst="rect">
            <a:avLst/>
          </a:prstGeom>
          <a:noFill/>
          <a:ln w="0">
            <a:noFill/>
          </a:ln>
        </p:spPr>
        <p:style>
          <a:lnRef idx="0"/>
          <a:fillRef idx="0"/>
          <a:effectRef idx="0"/>
          <a:fontRef idx="minor"/>
        </p:style>
        <p:txBody>
          <a:bodyPr lIns="0" rIns="0" tIns="0" bIns="0" anchor="t">
            <a:normAutofit/>
          </a:bodyPr>
          <a:p>
            <a:pPr defTabSz="457200">
              <a:lnSpc>
                <a:spcPct val="107000"/>
              </a:lnSpc>
              <a:tabLst>
                <a:tab algn="l" pos="0"/>
              </a:tabLst>
            </a:pPr>
            <a:r>
              <a:rPr b="0" lang="en-US" sz="1200" spc="-1" strike="noStrike">
                <a:solidFill>
                  <a:srgbClr val="ebedf0"/>
                </a:solidFill>
                <a:latin typeface="Geist"/>
                <a:ea typeface="Geist"/>
              </a:rPr>
              <a:t>Qwen2.5-Coder 3B — code-specialized LLM running locally via Ollama at </a:t>
            </a:r>
            <a:r>
              <a:rPr b="0" lang="en-US" sz="1200" spc="-1" strike="noStrike">
                <a:solidFill>
                  <a:srgbClr val="ebedf0"/>
                </a:solidFill>
                <a:highlight>
                  <a:srgbClr val="1d232d"/>
                </a:highlight>
                <a:latin typeface="Consolas"/>
                <a:ea typeface="Consolas"/>
              </a:rPr>
              <a:t>localhost:11434</a:t>
            </a:r>
            <a:endParaRPr b="0" lang="en-US" sz="1200" spc="-1" strike="noStrike">
              <a:solidFill>
                <a:srgbClr val="ffffff"/>
              </a:solidFill>
              <a:latin typeface="Arial"/>
            </a:endParaRPr>
          </a:p>
        </p:txBody>
      </p:sp>
      <p:sp>
        <p:nvSpPr>
          <p:cNvPr id="194" name="Shape 6"/>
          <p:cNvSpPr/>
          <p:nvPr/>
        </p:nvSpPr>
        <p:spPr>
          <a:xfrm>
            <a:off x="8979840" y="1226520"/>
            <a:ext cx="2887920" cy="1701000"/>
          </a:xfrm>
          <a:prstGeom prst="roundRect">
            <a:avLst>
              <a:gd name="adj" fmla="val 4370"/>
            </a:avLst>
          </a:prstGeom>
          <a:solidFill>
            <a:srgbClr val="101620"/>
          </a:solidFill>
          <a:ln w="14288">
            <a:solidFill>
              <a:srgbClr val="002a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chemeClr val="dk1"/>
              </a:solidFill>
              <a:latin typeface="Calibri"/>
            </a:endParaRPr>
          </a:p>
        </p:txBody>
      </p:sp>
      <p:sp>
        <p:nvSpPr>
          <p:cNvPr id="195" name="Text 7"/>
          <p:cNvSpPr/>
          <p:nvPr/>
        </p:nvSpPr>
        <p:spPr>
          <a:xfrm>
            <a:off x="9173520" y="1399320"/>
            <a:ext cx="2197080" cy="286920"/>
          </a:xfrm>
          <a:prstGeom prst="rect">
            <a:avLst/>
          </a:prstGeom>
          <a:noFill/>
          <a:ln w="0">
            <a:noFill/>
          </a:ln>
        </p:spPr>
        <p:style>
          <a:lnRef idx="0"/>
          <a:fillRef idx="0"/>
          <a:effectRef idx="0"/>
          <a:fontRef idx="minor"/>
        </p:style>
        <p:txBody>
          <a:bodyPr wrap="none" lIns="0" rIns="0" tIns="0" bIns="0" anchor="t">
            <a:noAutofit/>
          </a:bodyPr>
          <a:p>
            <a:pPr defTabSz="457200">
              <a:lnSpc>
                <a:spcPct val="108000"/>
              </a:lnSpc>
              <a:tabLst>
                <a:tab algn="l" pos="0"/>
              </a:tabLst>
            </a:pPr>
            <a:r>
              <a:rPr b="1" lang="en-US" sz="1800" spc="-1" strike="noStrike">
                <a:solidFill>
                  <a:srgbClr val="ebedf0"/>
                </a:solidFill>
                <a:latin typeface="Geist Bold"/>
                <a:ea typeface="Geist Bold"/>
              </a:rPr>
              <a:t>Why Local</a:t>
            </a:r>
            <a:endParaRPr b="0" lang="en-US" sz="1800" spc="-1" strike="noStrike">
              <a:solidFill>
                <a:srgbClr val="ffffff"/>
              </a:solidFill>
              <a:latin typeface="Arial"/>
            </a:endParaRPr>
          </a:p>
        </p:txBody>
      </p:sp>
      <p:sp>
        <p:nvSpPr>
          <p:cNvPr id="196" name="Text 8"/>
          <p:cNvSpPr/>
          <p:nvPr/>
        </p:nvSpPr>
        <p:spPr>
          <a:xfrm>
            <a:off x="9173520" y="1801800"/>
            <a:ext cx="2500200" cy="912600"/>
          </a:xfrm>
          <a:prstGeom prst="rect">
            <a:avLst/>
          </a:prstGeom>
          <a:noFill/>
          <a:ln w="0">
            <a:noFill/>
          </a:ln>
        </p:spPr>
        <p:style>
          <a:lnRef idx="0"/>
          <a:fillRef idx="0"/>
          <a:effectRef idx="0"/>
          <a:fontRef idx="minor"/>
        </p:style>
        <p:txBody>
          <a:bodyPr lIns="0" rIns="0" tIns="0" bIns="0" anchor="t">
            <a:normAutofit/>
          </a:bodyPr>
          <a:p>
            <a:pPr defTabSz="457200">
              <a:lnSpc>
                <a:spcPct val="107000"/>
              </a:lnSpc>
              <a:tabLst>
                <a:tab algn="l" pos="0"/>
              </a:tabLst>
            </a:pPr>
            <a:r>
              <a:rPr b="0" lang="en-US" sz="1200" spc="-1" strike="noStrike">
                <a:solidFill>
                  <a:srgbClr val="ebedf0"/>
                </a:solidFill>
                <a:latin typeface="Geist"/>
                <a:ea typeface="Geist"/>
              </a:rPr>
              <a:t>Eliminates API latency, privacy risks, and inference costs — critical for iterative robotics research</a:t>
            </a:r>
            <a:endParaRPr b="0" lang="en-US" sz="1200" spc="-1" strike="noStrike">
              <a:solidFill>
                <a:srgbClr val="ffffff"/>
              </a:solidFill>
              <a:latin typeface="Arial"/>
            </a:endParaRPr>
          </a:p>
        </p:txBody>
      </p:sp>
      <p:sp>
        <p:nvSpPr>
          <p:cNvPr id="197" name="Shape 8"/>
          <p:cNvSpPr/>
          <p:nvPr/>
        </p:nvSpPr>
        <p:spPr>
          <a:xfrm>
            <a:off x="5918040" y="5292720"/>
            <a:ext cx="5949720" cy="1244520"/>
          </a:xfrm>
          <a:prstGeom prst="roundRect">
            <a:avLst>
              <a:gd name="adj" fmla="val 5972"/>
            </a:avLst>
          </a:prstGeom>
          <a:solidFill>
            <a:srgbClr val="101620"/>
          </a:solidFill>
          <a:ln w="14288">
            <a:solidFill>
              <a:srgbClr val="002a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chemeClr val="dk1"/>
              </a:solidFill>
              <a:latin typeface="Calibri"/>
            </a:endParaRPr>
          </a:p>
        </p:txBody>
      </p:sp>
      <p:sp>
        <p:nvSpPr>
          <p:cNvPr id="198" name="Text 10"/>
          <p:cNvSpPr/>
          <p:nvPr/>
        </p:nvSpPr>
        <p:spPr>
          <a:xfrm>
            <a:off x="6208200" y="5461560"/>
            <a:ext cx="2197080" cy="286920"/>
          </a:xfrm>
          <a:prstGeom prst="rect">
            <a:avLst/>
          </a:prstGeom>
          <a:noFill/>
          <a:ln w="0">
            <a:noFill/>
          </a:ln>
        </p:spPr>
        <p:style>
          <a:lnRef idx="0"/>
          <a:fillRef idx="0"/>
          <a:effectRef idx="0"/>
          <a:fontRef idx="minor"/>
        </p:style>
        <p:txBody>
          <a:bodyPr wrap="none" lIns="0" rIns="0" tIns="0" bIns="0" anchor="t">
            <a:noAutofit/>
          </a:bodyPr>
          <a:p>
            <a:pPr defTabSz="457200">
              <a:lnSpc>
                <a:spcPct val="108000"/>
              </a:lnSpc>
              <a:tabLst>
                <a:tab algn="l" pos="0"/>
              </a:tabLst>
            </a:pPr>
            <a:r>
              <a:rPr b="1" lang="en-US" sz="1800" spc="-1" strike="noStrike">
                <a:solidFill>
                  <a:srgbClr val="ebedf0"/>
                </a:solidFill>
                <a:latin typeface="Geist Bold"/>
                <a:ea typeface="Geist Bold"/>
              </a:rPr>
              <a:t>Output</a:t>
            </a:r>
            <a:endParaRPr b="0" lang="en-US" sz="1800" spc="-1" strike="noStrike">
              <a:solidFill>
                <a:srgbClr val="ffffff"/>
              </a:solidFill>
              <a:latin typeface="Arial"/>
            </a:endParaRPr>
          </a:p>
        </p:txBody>
      </p:sp>
      <p:sp>
        <p:nvSpPr>
          <p:cNvPr id="199" name="Text 11"/>
          <p:cNvSpPr/>
          <p:nvPr/>
        </p:nvSpPr>
        <p:spPr>
          <a:xfrm>
            <a:off x="6152040" y="5921640"/>
            <a:ext cx="5562000" cy="461880"/>
          </a:xfrm>
          <a:prstGeom prst="rect">
            <a:avLst/>
          </a:prstGeom>
          <a:noFill/>
          <a:ln w="0">
            <a:noFill/>
          </a:ln>
        </p:spPr>
        <p:style>
          <a:lnRef idx="0"/>
          <a:fillRef idx="0"/>
          <a:effectRef idx="0"/>
          <a:fontRef idx="minor"/>
        </p:style>
        <p:txBody>
          <a:bodyPr lIns="0" rIns="0" tIns="0" bIns="0" anchor="t">
            <a:normAutofit/>
          </a:bodyPr>
          <a:p>
            <a:pPr defTabSz="457200">
              <a:lnSpc>
                <a:spcPct val="107000"/>
              </a:lnSpc>
              <a:tabLst>
                <a:tab algn="l" pos="0"/>
              </a:tabLst>
            </a:pPr>
            <a:r>
              <a:rPr b="0" lang="en-US" sz="1200" spc="-1" strike="noStrike">
                <a:solidFill>
                  <a:srgbClr val="ebedf0"/>
                </a:solidFill>
                <a:latin typeface="Geist"/>
                <a:ea typeface="Geist"/>
              </a:rPr>
              <a:t>Generates a complete, executable Python script (</a:t>
            </a:r>
            <a:r>
              <a:rPr b="0" lang="en-US" sz="1200" spc="-1" strike="noStrike">
                <a:solidFill>
                  <a:srgbClr val="ebedf0"/>
                </a:solidFill>
                <a:highlight>
                  <a:srgbClr val="1d232d"/>
                </a:highlight>
                <a:latin typeface="Consolas"/>
                <a:ea typeface="Consolas"/>
              </a:rPr>
              <a:t>generated_task.py</a:t>
            </a:r>
            <a:r>
              <a:rPr b="0" lang="en-US" sz="1200" spc="-1" strike="noStrike">
                <a:solidFill>
                  <a:srgbClr val="ebedf0"/>
                </a:solidFill>
                <a:latin typeface="Geist"/>
                <a:ea typeface="Geist"/>
              </a:rPr>
              <a:t>) from raw natural language.</a:t>
            </a:r>
            <a:endParaRPr b="0" lang="en-US" sz="1200" spc="-1" strike="noStrike">
              <a:solidFill>
                <a:srgbClr val="ffffff"/>
              </a:solidFill>
              <a:latin typeface="Arial"/>
            </a:endParaRPr>
          </a:p>
        </p:txBody>
      </p:sp>
      <p:sp>
        <p:nvSpPr>
          <p:cNvPr id="200" name="Shape 9"/>
          <p:cNvSpPr/>
          <p:nvPr/>
        </p:nvSpPr>
        <p:spPr>
          <a:xfrm>
            <a:off x="5862600" y="3284640"/>
            <a:ext cx="2887920" cy="1701000"/>
          </a:xfrm>
          <a:prstGeom prst="roundRect">
            <a:avLst>
              <a:gd name="adj" fmla="val 4370"/>
            </a:avLst>
          </a:prstGeom>
          <a:solidFill>
            <a:srgbClr val="101620"/>
          </a:solidFill>
          <a:ln w="14288">
            <a:solidFill>
              <a:srgbClr val="002a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chemeClr val="dk1"/>
              </a:solidFill>
              <a:latin typeface="Calibri"/>
            </a:endParaRPr>
          </a:p>
        </p:txBody>
      </p:sp>
      <p:sp>
        <p:nvSpPr>
          <p:cNvPr id="201" name="Text 17"/>
          <p:cNvSpPr/>
          <p:nvPr/>
        </p:nvSpPr>
        <p:spPr>
          <a:xfrm>
            <a:off x="6056640" y="3470400"/>
            <a:ext cx="2197080" cy="286920"/>
          </a:xfrm>
          <a:prstGeom prst="rect">
            <a:avLst/>
          </a:prstGeom>
          <a:noFill/>
          <a:ln w="0">
            <a:noFill/>
          </a:ln>
        </p:spPr>
        <p:style>
          <a:lnRef idx="0"/>
          <a:fillRef idx="0"/>
          <a:effectRef idx="0"/>
          <a:fontRef idx="minor"/>
        </p:style>
        <p:txBody>
          <a:bodyPr wrap="none" lIns="0" rIns="0" tIns="0" bIns="0" anchor="t">
            <a:noAutofit/>
          </a:bodyPr>
          <a:p>
            <a:pPr defTabSz="457200">
              <a:lnSpc>
                <a:spcPct val="108000"/>
              </a:lnSpc>
              <a:tabLst>
                <a:tab algn="l" pos="0"/>
              </a:tabLst>
            </a:pPr>
            <a:r>
              <a:rPr b="1" lang="en-US" sz="1800" spc="-1" strike="noStrike">
                <a:solidFill>
                  <a:srgbClr val="ebedf0"/>
                </a:solidFill>
                <a:latin typeface="Geist Bold"/>
                <a:ea typeface="Geist Bold"/>
              </a:rPr>
              <a:t>The System Prompt</a:t>
            </a:r>
            <a:endParaRPr b="0" lang="en-US" sz="1800" spc="-1" strike="noStrike">
              <a:solidFill>
                <a:srgbClr val="ffffff"/>
              </a:solidFill>
              <a:latin typeface="Arial"/>
            </a:endParaRPr>
          </a:p>
        </p:txBody>
      </p:sp>
      <p:sp>
        <p:nvSpPr>
          <p:cNvPr id="202" name="Text 18"/>
          <p:cNvSpPr/>
          <p:nvPr/>
        </p:nvSpPr>
        <p:spPr>
          <a:xfrm>
            <a:off x="6096600" y="3913560"/>
            <a:ext cx="2500200" cy="918360"/>
          </a:xfrm>
          <a:prstGeom prst="rect">
            <a:avLst/>
          </a:prstGeom>
          <a:noFill/>
          <a:ln w="0">
            <a:noFill/>
          </a:ln>
        </p:spPr>
        <p:style>
          <a:lnRef idx="0"/>
          <a:fillRef idx="0"/>
          <a:effectRef idx="0"/>
          <a:fontRef idx="minor"/>
        </p:style>
        <p:txBody>
          <a:bodyPr lIns="0" rIns="0" tIns="0" bIns="0" anchor="t">
            <a:normAutofit/>
          </a:bodyPr>
          <a:p>
            <a:pPr defTabSz="457200">
              <a:lnSpc>
                <a:spcPct val="100000"/>
              </a:lnSpc>
            </a:pPr>
            <a:r>
              <a:rPr b="0" lang="en-US" sz="1200" spc="-1" strike="noStrike">
                <a:solidFill>
                  <a:schemeClr val="lt1"/>
                </a:solidFill>
                <a:latin typeface="Calibri"/>
              </a:rPr>
              <a:t>A </a:t>
            </a:r>
            <a:r>
              <a:rPr b="0" lang="en-US" sz="1200" spc="-1" strike="noStrike">
                <a:solidFill>
                  <a:srgbClr val="ebedf0"/>
                </a:solidFill>
                <a:highlight>
                  <a:srgbClr val="1d232d"/>
                </a:highlight>
                <a:latin typeface="Consolas"/>
                <a:ea typeface="Consolas"/>
              </a:rPr>
              <a:t>system_prompt.md</a:t>
            </a:r>
            <a:r>
              <a:rPr b="0" lang="en-US" sz="1200" spc="-1" strike="noStrike">
                <a:solidFill>
                  <a:srgbClr val="ebedf0"/>
                </a:solidFill>
                <a:latin typeface="Geist"/>
                <a:ea typeface="Geist"/>
              </a:rPr>
              <a:t> defines the full robot API, acting as the LLM's instruction manual.</a:t>
            </a:r>
            <a:endParaRPr b="0" lang="en-US" sz="1200" spc="-1" strike="noStrike">
              <a:solidFill>
                <a:srgbClr val="ffffff"/>
              </a:solidFill>
              <a:latin typeface="Arial"/>
            </a:endParaRPr>
          </a:p>
        </p:txBody>
      </p:sp>
      <p:sp>
        <p:nvSpPr>
          <p:cNvPr id="203" name="Shape 10"/>
          <p:cNvSpPr/>
          <p:nvPr/>
        </p:nvSpPr>
        <p:spPr>
          <a:xfrm>
            <a:off x="8979840" y="3260880"/>
            <a:ext cx="2887920" cy="1701000"/>
          </a:xfrm>
          <a:prstGeom prst="roundRect">
            <a:avLst>
              <a:gd name="adj" fmla="val 4370"/>
            </a:avLst>
          </a:prstGeom>
          <a:solidFill>
            <a:srgbClr val="101620"/>
          </a:solidFill>
          <a:ln w="14288">
            <a:solidFill>
              <a:srgbClr val="002a80"/>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chemeClr val="dk1"/>
              </a:solidFill>
              <a:latin typeface="Calibri"/>
            </a:endParaRPr>
          </a:p>
        </p:txBody>
      </p:sp>
      <p:sp>
        <p:nvSpPr>
          <p:cNvPr id="204" name="Text 19"/>
          <p:cNvSpPr/>
          <p:nvPr/>
        </p:nvSpPr>
        <p:spPr>
          <a:xfrm>
            <a:off x="9173520" y="3451680"/>
            <a:ext cx="2197080" cy="305640"/>
          </a:xfrm>
          <a:prstGeom prst="rect">
            <a:avLst/>
          </a:prstGeom>
          <a:noFill/>
          <a:ln w="0">
            <a:noFill/>
          </a:ln>
        </p:spPr>
        <p:style>
          <a:lnRef idx="0"/>
          <a:fillRef idx="0"/>
          <a:effectRef idx="0"/>
          <a:fontRef idx="minor"/>
        </p:style>
        <p:txBody>
          <a:bodyPr wrap="none" lIns="0" rIns="0" tIns="0" bIns="0" anchor="t">
            <a:noAutofit/>
          </a:bodyPr>
          <a:p>
            <a:pPr defTabSz="457200">
              <a:lnSpc>
                <a:spcPct val="108000"/>
              </a:lnSpc>
            </a:pPr>
            <a:r>
              <a:rPr b="1" lang="en-US" sz="1800" spc="-1" strike="noStrike">
                <a:solidFill>
                  <a:srgbClr val="ebedf0"/>
                </a:solidFill>
                <a:latin typeface="Geist Bold"/>
                <a:ea typeface="Geist Bold"/>
              </a:rPr>
              <a:t>Orchestration</a:t>
            </a:r>
            <a:endParaRPr b="0" lang="en-US" sz="1800" spc="-1" strike="noStrike">
              <a:solidFill>
                <a:srgbClr val="ffffff"/>
              </a:solidFill>
              <a:latin typeface="Arial"/>
            </a:endParaRPr>
          </a:p>
        </p:txBody>
      </p:sp>
      <p:sp>
        <p:nvSpPr>
          <p:cNvPr id="205" name="Text 20"/>
          <p:cNvSpPr/>
          <p:nvPr/>
        </p:nvSpPr>
        <p:spPr>
          <a:xfrm>
            <a:off x="9213840" y="3890880"/>
            <a:ext cx="2500200" cy="912600"/>
          </a:xfrm>
          <a:prstGeom prst="rect">
            <a:avLst/>
          </a:prstGeom>
          <a:noFill/>
          <a:ln w="0">
            <a:noFill/>
          </a:ln>
        </p:spPr>
        <p:style>
          <a:lnRef idx="0"/>
          <a:fillRef idx="0"/>
          <a:effectRef idx="0"/>
          <a:fontRef idx="minor"/>
        </p:style>
        <p:txBody>
          <a:bodyPr lIns="0" rIns="0" tIns="0" bIns="0" anchor="t">
            <a:normAutofit/>
          </a:bodyPr>
          <a:p>
            <a:pPr defTabSz="457200">
              <a:lnSpc>
                <a:spcPct val="94000"/>
              </a:lnSpc>
            </a:pPr>
            <a:r>
              <a:rPr b="0" lang="en-US" sz="1200" spc="-1" strike="noStrike">
                <a:solidFill>
                  <a:srgbClr val="ebedf0"/>
                </a:solidFill>
                <a:latin typeface="Geist"/>
                <a:ea typeface="Geist"/>
              </a:rPr>
              <a:t>Captures user input, queries Ollama, writes generated code, reloads the module, and executes </a:t>
            </a:r>
            <a:r>
              <a:rPr b="0" lang="en-US" sz="1200" spc="-1" strike="noStrike">
                <a:solidFill>
                  <a:srgbClr val="ebedf0"/>
                </a:solidFill>
                <a:highlight>
                  <a:srgbClr val="1d232d"/>
                </a:highlight>
                <a:latin typeface="Consolas"/>
                <a:ea typeface="Consolas"/>
              </a:rPr>
              <a:t>execute_task()</a:t>
            </a:r>
            <a:r>
              <a:rPr b="0" lang="en-US" sz="1200" spc="-1" strike="noStrike">
                <a:solidFill>
                  <a:srgbClr val="ebedf0"/>
                </a:solidFill>
                <a:latin typeface="Geist"/>
                <a:ea typeface="Geist"/>
              </a:rPr>
              <a:t>. Built-in retry logic ensures robustness.</a:t>
            </a:r>
            <a:endParaRPr b="0" lang="en-US" sz="1200" spc="-1" strike="noStrike">
              <a:solidFill>
                <a:srgbClr val="ffffff"/>
              </a:solidFill>
              <a:latin typeface="Arial"/>
            </a:endParaRPr>
          </a:p>
        </p:txBody>
      </p:sp>
      <p:pic>
        <p:nvPicPr>
          <p:cNvPr id="206" name="Picture 2" descr=""/>
          <p:cNvPicPr/>
          <p:nvPr/>
        </p:nvPicPr>
        <p:blipFill>
          <a:blip r:embed="rId1"/>
          <a:stretch/>
        </p:blipFill>
        <p:spPr>
          <a:xfrm>
            <a:off x="0" y="1979280"/>
            <a:ext cx="5762880" cy="325080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07" name="TextBox 1"/>
          <p:cNvSpPr/>
          <p:nvPr/>
        </p:nvSpPr>
        <p:spPr>
          <a:xfrm>
            <a:off x="731520" y="320040"/>
            <a:ext cx="10057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Motion Control  —  Cadavid</a:t>
            </a:r>
            <a:endParaRPr b="0" lang="en-US" sz="3000" spc="-1" strike="noStrike">
              <a:solidFill>
                <a:srgbClr val="ffffff"/>
              </a:solidFill>
              <a:latin typeface="Arial"/>
            </a:endParaRPr>
          </a:p>
        </p:txBody>
      </p:sp>
      <p:sp>
        <p:nvSpPr>
          <p:cNvPr id="208" name="Rectangle 2"/>
          <p:cNvSpPr/>
          <p:nvPr/>
        </p:nvSpPr>
        <p:spPr>
          <a:xfrm>
            <a:off x="731520" y="914400"/>
            <a:ext cx="2285280" cy="374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09" name="TextBox 3"/>
          <p:cNvSpPr/>
          <p:nvPr/>
        </p:nvSpPr>
        <p:spPr>
          <a:xfrm>
            <a:off x="914400" y="128016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The generated code calls execute_waypoints() with a list of target poses. Each waypoint specifies a position and orientation for the end-effector. The motion controller processes these waypoints using an L-shaped vertical approach pattern: move above the target, descend straight down, grasp, lift straight up, then move to the destination.</a:t>
            </a:r>
            <a:endParaRPr b="0" lang="en-US" sz="1500" spc="-1" strike="noStrike">
              <a:solidFill>
                <a:srgbClr val="ffffff"/>
              </a:solidFill>
              <a:latin typeface="Arial"/>
            </a:endParaRPr>
          </a:p>
        </p:txBody>
      </p:sp>
      <p:sp>
        <p:nvSpPr>
          <p:cNvPr id="210" name="TextBox 4"/>
          <p:cNvSpPr/>
          <p:nvPr/>
        </p:nvSpPr>
        <p:spPr>
          <a:xfrm>
            <a:off x="914400" y="178308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For each target pose, the system calls _compute_ik(), which uses TRAC-IK — a fast and robust inverse kinematics solver. TRAC-IK efficiently finds joint configurations that satisfy the desired end-effector pose while respecting joint limits and avoiding singularities.</a:t>
            </a:r>
            <a:endParaRPr b="0" lang="en-US" sz="1500" spc="-1" strike="noStrike">
              <a:solidFill>
                <a:srgbClr val="ffffff"/>
              </a:solidFill>
              <a:latin typeface="Arial"/>
            </a:endParaRPr>
          </a:p>
        </p:txBody>
      </p:sp>
      <p:sp>
        <p:nvSpPr>
          <p:cNvPr id="211" name="TextBox 5"/>
          <p:cNvSpPr/>
          <p:nvPr/>
        </p:nvSpPr>
        <p:spPr>
          <a:xfrm>
            <a:off x="914400" y="228600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Before grasping, adjust_grasp_waypoints() inserts additional waypoints: a pre-grasp offset (slightly above the object), an approach vector (straight down to the object), and a retreat vector (straight up after closing the gripper). This ensures clean, collision-free pick-ups.</a:t>
            </a:r>
            <a:endParaRPr b="0" lang="en-US" sz="1500" spc="-1" strike="noStrike">
              <a:solidFill>
                <a:srgbClr val="ffffff"/>
              </a:solidFill>
              <a:latin typeface="Arial"/>
            </a:endParaRPr>
          </a:p>
        </p:txBody>
      </p:sp>
      <p:sp>
        <p:nvSpPr>
          <p:cNvPr id="212" name="TextBox 6"/>
          <p:cNvSpPr/>
          <p:nvPr/>
        </p:nvSpPr>
        <p:spPr>
          <a:xfrm>
            <a:off x="914400" y="278892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The gripper is controlled through intera_interface: close with controlled force, verify grasp (wait_and_check_grasp), lift via move_straight_z(), move to place location, open to release. The entire motion sequence is synchronized through ROS topic publishers.</a:t>
            </a:r>
            <a:endParaRPr b="0" lang="en-US" sz="1500" spc="-1" strike="noStrike">
              <a:solidFill>
                <a:srgbClr val="ffffff"/>
              </a:solidFill>
              <a:latin typeface="Arial"/>
            </a:endParaRPr>
          </a:p>
        </p:txBody>
      </p:sp>
      <p:sp>
        <p:nvSpPr>
          <p:cNvPr id="213" name="TextBox 7"/>
          <p:cNvSpPr/>
          <p:nvPr/>
        </p:nvSpPr>
        <p:spPr>
          <a:xfrm>
            <a:off x="731520" y="6035040"/>
            <a:ext cx="100576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9ca3af"/>
                </a:solidFill>
                <a:latin typeface="Arial"/>
              </a:rPr>
              <a:t>IK Solver: TRAC-IK — resolves joint angles for 7-DOF Sawyer arm at ~1 kHz.</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14" name="TextBox 1"/>
          <p:cNvSpPr/>
          <p:nvPr/>
        </p:nvSpPr>
        <p:spPr>
          <a:xfrm>
            <a:off x="731520" y="320040"/>
            <a:ext cx="10057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Integration &amp; Results  —  Jossua</a:t>
            </a:r>
            <a:endParaRPr b="0" lang="en-US" sz="3000" spc="-1" strike="noStrike">
              <a:solidFill>
                <a:srgbClr val="ffffff"/>
              </a:solidFill>
              <a:latin typeface="Arial"/>
            </a:endParaRPr>
          </a:p>
        </p:txBody>
      </p:sp>
      <p:sp>
        <p:nvSpPr>
          <p:cNvPr id="215" name="Rectangle 2"/>
          <p:cNvSpPr/>
          <p:nvPr/>
        </p:nvSpPr>
        <p:spPr>
          <a:xfrm>
            <a:off x="731520" y="914400"/>
            <a:ext cx="2285280" cy="374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16" name="TextBox 3"/>
          <p:cNvSpPr/>
          <p:nvPr/>
        </p:nvSpPr>
        <p:spPr>
          <a:xfrm>
            <a:off x="914400" y="128016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The complete pipeline runs end-to-end: the user types a natural language instruction, the LLM generates task-specific code, and the Sawyer robot executes the pick-and-place operation in simulation. No manual trajectory programming, no fine-tuning, no task-specific code changes.</a:t>
            </a:r>
            <a:endParaRPr b="0" lang="en-US" sz="1500" spc="-1" strike="noStrike">
              <a:solidFill>
                <a:srgbClr val="ffffff"/>
              </a:solidFill>
              <a:latin typeface="Arial"/>
            </a:endParaRPr>
          </a:p>
        </p:txBody>
      </p:sp>
      <p:sp>
        <p:nvSpPr>
          <p:cNvPr id="217" name="TextBox 4"/>
          <p:cNvSpPr/>
          <p:nvPr/>
        </p:nvSpPr>
        <p:spPr>
          <a:xfrm>
            <a:off x="914400" y="178308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The system successfully handles variations in object positions, different object types, and multi-step instructions. Because the LLM generates code rather than raw motor commands, the output is interpretable: a human can read, verify, and modify the generated script if needed.</a:t>
            </a:r>
            <a:endParaRPr b="0" lang="en-US" sz="1500" spc="-1" strike="noStrike">
              <a:solidFill>
                <a:srgbClr val="ffffff"/>
              </a:solidFill>
              <a:latin typeface="Arial"/>
            </a:endParaRPr>
          </a:p>
        </p:txBody>
      </p:sp>
      <p:sp>
        <p:nvSpPr>
          <p:cNvPr id="218" name="TextBox 5"/>
          <p:cNvSpPr/>
          <p:nvPr/>
        </p:nvSpPr>
        <p:spPr>
          <a:xfrm>
            <a:off x="914400" y="228600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Key differences from the reference papers (Kwon et al., Liang et al.): we use Sawyer instead of Franka, Gazebo simulation instead of a real robot, and Qwen2.5-Coder 3B (locally hosted) instead of GPT-4 (cloud API). These choices make the system fully self-contained and reproducible.</a:t>
            </a:r>
            <a:endParaRPr b="0" lang="en-US" sz="1500" spc="-1" strike="noStrike">
              <a:solidFill>
                <a:srgbClr val="ffffff"/>
              </a:solidFill>
              <a:latin typeface="Arial"/>
            </a:endParaRPr>
          </a:p>
        </p:txBody>
      </p:sp>
      <p:sp>
        <p:nvSpPr>
          <p:cNvPr id="219" name="TextBox 6"/>
          <p:cNvSpPr/>
          <p:nvPr/>
        </p:nvSpPr>
        <p:spPr>
          <a:xfrm>
            <a:off x="914400" y="278892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Limitations: the current system assumes static scenes (objects don't move between perception and grasping), limited to pick-and-place primitives, and the LLM occasionally generates syntactically incorrect code that requires retries. Future work includes dynamic scene handling, error recovery, and more complex task primitives.</a:t>
            </a:r>
            <a:endParaRPr b="0" lang="en-US" sz="1500" spc="-1" strike="noStrike">
              <a:solidFill>
                <a:srgbClr val="ffffff"/>
              </a:solidFill>
              <a:latin typeface="Arial"/>
            </a:endParaRPr>
          </a:p>
        </p:txBody>
      </p:sp>
      <p:sp>
        <p:nvSpPr>
          <p:cNvPr id="220" name="TextBox 7"/>
          <p:cNvSpPr/>
          <p:nvPr/>
        </p:nvSpPr>
        <p:spPr>
          <a:xfrm>
            <a:off x="731520" y="6035040"/>
            <a:ext cx="1005768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0" lang="en-US" sz="1200" spc="-1" strike="noStrike">
                <a:solidFill>
                  <a:srgbClr val="9ca3af"/>
                </a:solidFill>
                <a:latin typeface="Arial"/>
              </a:rPr>
              <a:t>Demo video available — see the project submission.</a:t>
            </a:r>
            <a:endParaRPr b="0" lang="en-US" sz="1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21" name="TextBox 1"/>
          <p:cNvSpPr/>
          <p:nvPr/>
        </p:nvSpPr>
        <p:spPr>
          <a:xfrm>
            <a:off x="731520" y="320040"/>
            <a:ext cx="100576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b="1" lang="en-US" sz="3000" spc="-1" strike="noStrike">
                <a:solidFill>
                  <a:srgbClr val="ffffff"/>
                </a:solidFill>
                <a:latin typeface="Arial"/>
              </a:rPr>
              <a:t>References &amp; Related Work</a:t>
            </a:r>
            <a:endParaRPr b="0" lang="en-US" sz="3000" spc="-1" strike="noStrike">
              <a:solidFill>
                <a:srgbClr val="ffffff"/>
              </a:solidFill>
              <a:latin typeface="Arial"/>
            </a:endParaRPr>
          </a:p>
        </p:txBody>
      </p:sp>
      <p:sp>
        <p:nvSpPr>
          <p:cNvPr id="222" name="Rectangle 2"/>
          <p:cNvSpPr/>
          <p:nvPr/>
        </p:nvSpPr>
        <p:spPr>
          <a:xfrm>
            <a:off x="731520" y="914400"/>
            <a:ext cx="2285280" cy="374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6840" bIns="-6840" anchor="ctr">
            <a:noAutofit/>
          </a:bodyPr>
          <a:p>
            <a:pPr algn="ctr" defTabSz="457200">
              <a:lnSpc>
                <a:spcPct val="100000"/>
              </a:lnSpc>
            </a:pPr>
            <a:endParaRPr b="0" lang="en-US" sz="1800" spc="-1" strike="noStrike">
              <a:solidFill>
                <a:schemeClr val="lt1"/>
              </a:solidFill>
              <a:latin typeface="Calibri"/>
            </a:endParaRPr>
          </a:p>
        </p:txBody>
      </p:sp>
      <p:sp>
        <p:nvSpPr>
          <p:cNvPr id="223" name="TextBox 3"/>
          <p:cNvSpPr/>
          <p:nvPr/>
        </p:nvSpPr>
        <p:spPr>
          <a:xfrm>
            <a:off x="914400" y="128016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Kwon, T., Kim, B., Lee, Y., and Choo, J. "Language Models as Zero-Shot Trajectory Generators." RSS 2023 Workshop on Learning for Task and Motion Planning. — The foundational paper showing that LLMs can generate executable trajectory code from language instructions.</a:t>
            </a:r>
            <a:endParaRPr b="0" lang="en-US" sz="1500" spc="-1" strike="noStrike">
              <a:solidFill>
                <a:srgbClr val="ffffff"/>
              </a:solidFill>
              <a:latin typeface="Arial"/>
            </a:endParaRPr>
          </a:p>
        </p:txBody>
      </p:sp>
      <p:sp>
        <p:nvSpPr>
          <p:cNvPr id="224" name="TextBox 4"/>
          <p:cNvSpPr/>
          <p:nvPr/>
        </p:nvSpPr>
        <p:spPr>
          <a:xfrm>
            <a:off x="914400" y="178308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Liang, J., Huang, W., Xia, F., Xu, P., Hausman, K., Ichter, B., Florence, P., and Zeng, A. "Code as Policies: Language Model Programs for Embodied Control." ICRA 2023. — Introduces the concept of using LLMs to generate robot control programs ("code as policies") with hierarchical code reuse.</a:t>
            </a:r>
            <a:endParaRPr b="0" lang="en-US" sz="1500" spc="-1" strike="noStrike">
              <a:solidFill>
                <a:srgbClr val="ffffff"/>
              </a:solidFill>
              <a:latin typeface="Arial"/>
            </a:endParaRPr>
          </a:p>
        </p:txBody>
      </p:sp>
      <p:sp>
        <p:nvSpPr>
          <p:cNvPr id="225" name="TextBox 5"/>
          <p:cNvSpPr/>
          <p:nvPr/>
        </p:nvSpPr>
        <p:spPr>
          <a:xfrm>
            <a:off x="914400" y="2286000"/>
            <a:ext cx="10514880" cy="7754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Vemprala, S., Bonatti, R., Bucker, A., and Kapoor, A. "ChatGPT for Robotics: Design Principles and Model Abilities." Microsoft Research, 2023. — Provides design principles for integrating LLMs into robotic systems, emphasizing prompt engineering and API design.</a:t>
            </a:r>
            <a:endParaRPr b="0" lang="en-US" sz="1500" spc="-1" strike="noStrike">
              <a:solidFill>
                <a:srgbClr val="ffffff"/>
              </a:solidFill>
              <a:latin typeface="Arial"/>
            </a:endParaRPr>
          </a:p>
        </p:txBody>
      </p:sp>
      <p:sp>
        <p:nvSpPr>
          <p:cNvPr id="226" name="TextBox 6"/>
          <p:cNvSpPr/>
          <p:nvPr/>
        </p:nvSpPr>
        <p:spPr>
          <a:xfrm>
            <a:off x="914400" y="278892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TRAC-IK: Beeson, P. and Ames, B. "TRAC-IK: An Open-Source Library for Improved Inverse Kinematics of Humanoid Robots." IEEE-RAS 2015. — Fast IK solver used for real-time motion generation.</a:t>
            </a:r>
            <a:endParaRPr b="0" lang="en-US" sz="1500" spc="-1" strike="noStrike">
              <a:solidFill>
                <a:srgbClr val="ffffff"/>
              </a:solidFill>
              <a:latin typeface="Arial"/>
            </a:endParaRPr>
          </a:p>
        </p:txBody>
      </p:sp>
      <p:sp>
        <p:nvSpPr>
          <p:cNvPr id="227" name="TextBox 7"/>
          <p:cNvSpPr/>
          <p:nvPr/>
        </p:nvSpPr>
        <p:spPr>
          <a:xfrm>
            <a:off x="914400" y="3291840"/>
            <a:ext cx="10514880" cy="5468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spcAft>
                <a:spcPts val="799"/>
              </a:spcAft>
            </a:pPr>
            <a:r>
              <a:rPr b="0" lang="en-US" sz="1500" spc="-1" strike="noStrike">
                <a:solidFill>
                  <a:srgbClr val="d1d5db"/>
                </a:solidFill>
                <a:latin typeface="Arial"/>
              </a:rPr>
              <a:t>Ultralytics YOLOv8: Jocher, G. et al. "Ultralytics YOLOv8." 2023. — Real-time object detection model used for scene perception.</a:t>
            </a:r>
            <a:endParaRPr b="0" lang="en-US" sz="15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f2937"/>
        </a:solidFill>
      </p:bgPr>
    </p:bg>
    <p:spTree>
      <p:nvGrpSpPr>
        <p:cNvPr id="1" name=""/>
        <p:cNvGrpSpPr/>
        <p:nvPr/>
      </p:nvGrpSpPr>
      <p:grpSpPr>
        <a:xfrm>
          <a:off x="0" y="0"/>
          <a:ext cx="0" cy="0"/>
          <a:chOff x="0" y="0"/>
          <a:chExt cx="0" cy="0"/>
        </a:xfrm>
      </p:grpSpPr>
      <p:sp>
        <p:nvSpPr>
          <p:cNvPr id="228" name="Rectangle 1"/>
          <p:cNvSpPr/>
          <p:nvPr/>
        </p:nvSpPr>
        <p:spPr>
          <a:xfrm>
            <a:off x="0" y="2926080"/>
            <a:ext cx="12191040" cy="50040"/>
          </a:xfrm>
          <a:prstGeom prst="rect">
            <a:avLst/>
          </a:prstGeom>
          <a:solidFill>
            <a:srgbClr val="6b728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5760" bIns="5760" anchor="ctr">
            <a:noAutofit/>
          </a:bodyPr>
          <a:p>
            <a:pPr algn="ctr" defTabSz="457200">
              <a:lnSpc>
                <a:spcPct val="100000"/>
              </a:lnSpc>
            </a:pPr>
            <a:endParaRPr b="0" lang="en-US" sz="1800" spc="-1" strike="noStrike">
              <a:solidFill>
                <a:schemeClr val="lt1"/>
              </a:solidFill>
              <a:latin typeface="Calibri"/>
            </a:endParaRPr>
          </a:p>
        </p:txBody>
      </p:sp>
      <p:sp>
        <p:nvSpPr>
          <p:cNvPr id="229" name="TextBox 2"/>
          <p:cNvSpPr/>
          <p:nvPr/>
        </p:nvSpPr>
        <p:spPr>
          <a:xfrm>
            <a:off x="914400" y="1645920"/>
            <a:ext cx="10332000" cy="7599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1" lang="en-US" sz="4400" spc="-1" strike="noStrike">
                <a:solidFill>
                  <a:srgbClr val="ffffff"/>
                </a:solidFill>
                <a:latin typeface="Arial"/>
              </a:rPr>
              <a:t>Thank You</a:t>
            </a:r>
            <a:endParaRPr b="0" lang="en-US" sz="4400" spc="-1" strike="noStrike">
              <a:solidFill>
                <a:srgbClr val="ffffff"/>
              </a:solidFill>
              <a:latin typeface="Arial"/>
            </a:endParaRPr>
          </a:p>
        </p:txBody>
      </p:sp>
      <p:sp>
        <p:nvSpPr>
          <p:cNvPr id="230" name="TextBox 3"/>
          <p:cNvSpPr/>
          <p:nvPr/>
        </p:nvSpPr>
        <p:spPr>
          <a:xfrm>
            <a:off x="914400" y="3291840"/>
            <a:ext cx="10332000" cy="48564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2600" spc="-1" strike="noStrike">
                <a:solidFill>
                  <a:srgbClr val="d1d5db"/>
                </a:solidFill>
                <a:latin typeface="Arial"/>
              </a:rPr>
              <a:t>Questions?</a:t>
            </a:r>
            <a:endParaRPr b="0" lang="en-US" sz="2600" spc="-1" strike="noStrike">
              <a:solidFill>
                <a:srgbClr val="ffffff"/>
              </a:solidFill>
              <a:latin typeface="Arial"/>
            </a:endParaRPr>
          </a:p>
        </p:txBody>
      </p:sp>
      <p:sp>
        <p:nvSpPr>
          <p:cNvPr id="231" name="TextBox 4"/>
          <p:cNvSpPr/>
          <p:nvPr/>
        </p:nvSpPr>
        <p:spPr>
          <a:xfrm>
            <a:off x="914400" y="4572000"/>
            <a:ext cx="10332000" cy="3639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800" spc="-1" strike="noStrike">
                <a:solidFill>
                  <a:srgbClr val="9ca3af"/>
                </a:solidFill>
                <a:latin typeface="Arial"/>
              </a:rPr>
              <a:t>Jun  ·  Sergio  ·  David  ·  Cadavid  ·  Jossua</a:t>
            </a:r>
            <a:endParaRPr b="0" lang="en-US" sz="1800" spc="-1" strike="noStrike">
              <a:solidFill>
                <a:srgbClr val="ffffff"/>
              </a:solidFill>
              <a:latin typeface="Arial"/>
            </a:endParaRPr>
          </a:p>
        </p:txBody>
      </p:sp>
      <p:sp>
        <p:nvSpPr>
          <p:cNvPr id="232" name="TextBox 5"/>
          <p:cNvSpPr/>
          <p:nvPr/>
        </p:nvSpPr>
        <p:spPr>
          <a:xfrm>
            <a:off x="914400" y="5029200"/>
            <a:ext cx="10332000" cy="3333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b="0" lang="en-US" sz="1600" spc="-1" strike="noStrike">
                <a:solidFill>
                  <a:srgbClr val="9ca3af"/>
                </a:solidFill>
                <a:latin typeface="Arial"/>
              </a:rPr>
              <a:t>Robotics — Politecnico di Torino</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2026-06-22T17:07:26Z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