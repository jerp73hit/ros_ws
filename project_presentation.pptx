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Rectangle 1"/>
          <p:cNvSpPr/>
          <p:nvPr/>
        </p:nvSpPr>
        <p:spPr>
          <a:xfrm>
            <a:off x="0" y="2560320"/>
            <a:ext cx="12191695" cy="508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32720" cy="1371600"/>
          </a:xfrm>
          <a:prstGeom prst="rect">
            <a:avLst/>
          </a:prstGeom>
          <a:noFill/>
        </p:spPr>
        <p:txBody>
          <a:bodyPr wrap="square">
            <a:spAutoFit/>
          </a:bodyPr>
          <a:lstStyle/>
          <a:p>
            <a:pPr algn="l">
              <a:defRPr sz="3800" b="1">
                <a:solidFill>
                  <a:srgbClr val="FFFFFF"/>
                </a:solidFill>
                <a:latin typeface="Arial"/>
              </a:defRPr>
            </a:pPr>
            <a:r>
              <a:t>Exploring Large Language Models</a:t>
            </a:r>
            <a:br/>
            <a:r>
              <a:t>for Direct Trajectory Generation</a:t>
            </a:r>
            <a:br/>
            <a:r>
              <a:t>in Robotic Manipulation</a:t>
            </a:r>
          </a:p>
        </p:txBody>
      </p:sp>
      <p:sp>
        <p:nvSpPr>
          <p:cNvPr id="4" name="TextBox 3"/>
          <p:cNvSpPr txBox="1"/>
          <p:nvPr/>
        </p:nvSpPr>
        <p:spPr>
          <a:xfrm>
            <a:off x="914400" y="3017520"/>
            <a:ext cx="10332720" cy="548640"/>
          </a:xfrm>
          <a:prstGeom prst="rect">
            <a:avLst/>
          </a:prstGeom>
          <a:noFill/>
        </p:spPr>
        <p:txBody>
          <a:bodyPr wrap="square">
            <a:spAutoFit/>
          </a:bodyPr>
          <a:lstStyle/>
          <a:p>
            <a:pPr algn="l">
              <a:defRPr sz="2200" b="0">
                <a:solidFill>
                  <a:srgbClr val="D1D5DB"/>
                </a:solidFill>
                <a:latin typeface="Arial"/>
              </a:defRPr>
            </a:pPr>
            <a:r>
              <a:t>LLM-Driven Zero-Shot Pick-and-Place with the Sawyer Robot</a:t>
            </a:r>
          </a:p>
        </p:txBody>
      </p:sp>
      <p:sp>
        <p:nvSpPr>
          <p:cNvPr id="5" name="TextBox 4"/>
          <p:cNvSpPr txBox="1"/>
          <p:nvPr/>
        </p:nvSpPr>
        <p:spPr>
          <a:xfrm>
            <a:off x="914400" y="4389120"/>
            <a:ext cx="10332720" cy="457200"/>
          </a:xfrm>
          <a:prstGeom prst="rect">
            <a:avLst/>
          </a:prstGeom>
          <a:noFill/>
        </p:spPr>
        <p:txBody>
          <a:bodyPr wrap="square">
            <a:spAutoFit/>
          </a:bodyPr>
          <a:lstStyle/>
          <a:p>
            <a:pPr algn="l">
              <a:defRPr sz="1800" b="0">
                <a:solidFill>
                  <a:srgbClr val="9CA3AF"/>
                </a:solidFill>
                <a:latin typeface="Arial"/>
              </a:defRPr>
            </a:pPr>
            <a:r>
              <a:t>Jun  ·  Sergio  ·  David  ·  Cadavid  ·  Jossua</a:t>
            </a:r>
          </a:p>
        </p:txBody>
      </p:sp>
      <p:sp>
        <p:nvSpPr>
          <p:cNvPr id="6" name="TextBox 5"/>
          <p:cNvSpPr txBox="1"/>
          <p:nvPr/>
        </p:nvSpPr>
        <p:spPr>
          <a:xfrm>
            <a:off x="914400" y="4937760"/>
            <a:ext cx="10332720" cy="457200"/>
          </a:xfrm>
          <a:prstGeom prst="rect">
            <a:avLst/>
          </a:prstGeom>
          <a:noFill/>
        </p:spPr>
        <p:txBody>
          <a:bodyPr wrap="square">
            <a:spAutoFit/>
          </a:bodyPr>
          <a:lstStyle/>
          <a:p>
            <a:pPr algn="l">
              <a:defRPr sz="1600" b="0">
                <a:solidFill>
                  <a:srgbClr val="9CA3AF"/>
                </a:solidFill>
                <a:latin typeface="Arial"/>
              </a:defRPr>
            </a:pPr>
            <a:r>
              <a:t>Robotics — Politecnico di Torino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Why Large Language Models for Robotics?</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Traditional robotic manipulation relies on hand-crafted trajectories: a programmer must explicitly define every waypoint, every gripper angle, every timing parameter. This process is slow, error-prone, and breaks whenever the environment changes.</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Recent work (Kwon et al., Liang et al., Vemprala et al.) has shown that LLMs can write robot control code directly from natural language descriptions — zero-shot, without any fine-tuning or task-specific training.</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Instead of predicting joint angles or torques, these models generate Python code that calls robotics libraries (IK solvers, motion planners, perception pipelines). This makes the output interpretable, debuggable, and safe.</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Our goal: apply this paradigm to a Sawyer robot in simulation, using a locally-run LLM (Qwen2.5-Coder 3B) to generate pick-and-place trajectories from user-provided natural language instructions.</a:t>
            </a:r>
          </a:p>
        </p:txBody>
      </p:sp>
      <p:sp>
        <p:nvSpPr>
          <p:cNvPr id="8" name="TextBox 7"/>
          <p:cNvSpPr txBox="1"/>
          <p:nvPr/>
        </p:nvSpPr>
        <p:spPr>
          <a:xfrm>
            <a:off x="731520" y="6035040"/>
            <a:ext cx="10058400" cy="457200"/>
          </a:xfrm>
          <a:prstGeom prst="rect">
            <a:avLst/>
          </a:prstGeom>
          <a:noFill/>
        </p:spPr>
        <p:txBody>
          <a:bodyPr wrap="square">
            <a:spAutoFit/>
          </a:bodyPr>
          <a:lstStyle/>
          <a:p>
            <a:pPr algn="l">
              <a:defRPr sz="1200" b="0">
                <a:solidFill>
                  <a:srgbClr val="9CA3AF"/>
                </a:solidFill>
                <a:latin typeface="Arial"/>
              </a:defRPr>
            </a:pPr>
            <a:r>
              <a:t>Key insight: the LLM acts as a code generator, not a motion predictor — it writes programs, not trajectories.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System Architecture</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88720"/>
            <a:ext cx="10515600" cy="914400"/>
          </a:xfrm>
          <a:prstGeom prst="rect">
            <a:avLst/>
          </a:prstGeom>
          <a:noFill/>
        </p:spPr>
        <p:txBody>
          <a:bodyPr wrap="square">
            <a:spAutoFit/>
          </a:bodyPr>
          <a:lstStyle/>
          <a:p>
            <a:pPr algn="l">
              <a:defRPr sz="1600" b="0">
                <a:solidFill>
                  <a:srgbClr val="D1D5DB"/>
                </a:solidFill>
                <a:latin typeface="Arial"/>
              </a:defRPr>
            </a:pPr>
            <a:r>
              <a:t>The system is divided into five sequential stages. Each stage produces the input for the next, forming a complete pipeline from user instruction to robotic action.</a:t>
            </a:r>
          </a:p>
        </p:txBody>
      </p:sp>
      <p:sp>
        <p:nvSpPr>
          <p:cNvPr id="5" name="Rectangle 4"/>
          <p:cNvSpPr/>
          <p:nvPr/>
        </p:nvSpPr>
        <p:spPr>
          <a:xfrm>
            <a:off x="548640" y="2377440"/>
            <a:ext cx="1920240" cy="109728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468880"/>
            <a:ext cx="1737360" cy="320040"/>
          </a:xfrm>
          <a:prstGeom prst="rect">
            <a:avLst/>
          </a:prstGeom>
          <a:noFill/>
        </p:spPr>
        <p:txBody>
          <a:bodyPr wrap="square">
            <a:spAutoFit/>
          </a:bodyPr>
          <a:lstStyle/>
          <a:p>
            <a:pPr algn="ctr">
              <a:defRPr sz="1400" b="1">
                <a:solidFill>
                  <a:srgbClr val="FFFFFF"/>
                </a:solidFill>
                <a:latin typeface="Arial"/>
              </a:defRPr>
            </a:pPr>
            <a:r>
              <a:t>SIMULATION</a:t>
            </a:r>
          </a:p>
        </p:txBody>
      </p:sp>
      <p:sp>
        <p:nvSpPr>
          <p:cNvPr id="7" name="TextBox 6"/>
          <p:cNvSpPr txBox="1"/>
          <p:nvPr/>
        </p:nvSpPr>
        <p:spPr>
          <a:xfrm>
            <a:off x="640080" y="2788920"/>
            <a:ext cx="1737360" cy="640080"/>
          </a:xfrm>
          <a:prstGeom prst="rect">
            <a:avLst/>
          </a:prstGeom>
          <a:noFill/>
        </p:spPr>
        <p:txBody>
          <a:bodyPr wrap="square">
            <a:spAutoFit/>
          </a:bodyPr>
          <a:lstStyle/>
          <a:p>
            <a:pPr algn="ctr">
              <a:defRPr sz="1100" b="0">
                <a:solidFill>
                  <a:srgbClr val="D1D5DB"/>
                </a:solidFill>
                <a:latin typeface="Arial"/>
              </a:defRPr>
            </a:pPr>
            <a:r>
              <a:t>Gazebo + Sawyer</a:t>
            </a:r>
            <a:br/>
            <a:r>
              <a:t>Objects spawning</a:t>
            </a:r>
            <a:br/>
            <a:r>
              <a:t>Safe pose &amp; scan</a:t>
            </a:r>
          </a:p>
        </p:txBody>
      </p:sp>
      <p:sp>
        <p:nvSpPr>
          <p:cNvPr id="8" name="TextBox 7"/>
          <p:cNvSpPr txBox="1"/>
          <p:nvPr/>
        </p:nvSpPr>
        <p:spPr>
          <a:xfrm>
            <a:off x="2286000" y="2743200"/>
            <a:ext cx="548640" cy="365760"/>
          </a:xfrm>
          <a:prstGeom prst="rect">
            <a:avLst/>
          </a:prstGeom>
          <a:noFill/>
        </p:spPr>
        <p:txBody>
          <a:bodyPr wrap="square">
            <a:spAutoFit/>
          </a:bodyPr>
          <a:lstStyle/>
          <a:p>
            <a:pPr algn="ctr">
              <a:defRPr sz="2800" b="0">
                <a:solidFill>
                  <a:srgbClr val="6B7280"/>
                </a:solidFill>
                <a:latin typeface="Arial"/>
              </a:defRPr>
            </a:pPr>
            <a:r>
              <a:t>→</a:t>
            </a:r>
          </a:p>
        </p:txBody>
      </p:sp>
      <p:sp>
        <p:nvSpPr>
          <p:cNvPr id="9" name="Rectangle 8"/>
          <p:cNvSpPr/>
          <p:nvPr/>
        </p:nvSpPr>
        <p:spPr>
          <a:xfrm>
            <a:off x="2697480" y="2377440"/>
            <a:ext cx="1920240" cy="109728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88920" y="2468880"/>
            <a:ext cx="1737360" cy="320040"/>
          </a:xfrm>
          <a:prstGeom prst="rect">
            <a:avLst/>
          </a:prstGeom>
          <a:noFill/>
        </p:spPr>
        <p:txBody>
          <a:bodyPr wrap="square">
            <a:spAutoFit/>
          </a:bodyPr>
          <a:lstStyle/>
          <a:p>
            <a:pPr algn="ctr">
              <a:defRPr sz="1400" b="1">
                <a:solidFill>
                  <a:srgbClr val="FFFFFF"/>
                </a:solidFill>
                <a:latin typeface="Arial"/>
              </a:defRPr>
            </a:pPr>
            <a:r>
              <a:t>PERCEPTION</a:t>
            </a:r>
          </a:p>
        </p:txBody>
      </p:sp>
      <p:sp>
        <p:nvSpPr>
          <p:cNvPr id="11" name="TextBox 10"/>
          <p:cNvSpPr txBox="1"/>
          <p:nvPr/>
        </p:nvSpPr>
        <p:spPr>
          <a:xfrm>
            <a:off x="2788920" y="2788920"/>
            <a:ext cx="1737360" cy="640080"/>
          </a:xfrm>
          <a:prstGeom prst="rect">
            <a:avLst/>
          </a:prstGeom>
          <a:noFill/>
        </p:spPr>
        <p:txBody>
          <a:bodyPr wrap="square">
            <a:spAutoFit/>
          </a:bodyPr>
          <a:lstStyle/>
          <a:p>
            <a:pPr algn="ctr">
              <a:defRPr sz="1100" b="0">
                <a:solidFill>
                  <a:srgbClr val="D1D5DB"/>
                </a:solidFill>
                <a:latin typeface="Arial"/>
              </a:defRPr>
            </a:pPr>
            <a:r>
              <a:t>YOLOv8 detection</a:t>
            </a:r>
            <a:br/>
            <a:r>
              <a:t>frame2world</a:t>
            </a:r>
            <a:br/>
            <a:r>
              <a:t>2D → 3D coords</a:t>
            </a:r>
          </a:p>
        </p:txBody>
      </p:sp>
      <p:sp>
        <p:nvSpPr>
          <p:cNvPr id="12" name="TextBox 11"/>
          <p:cNvSpPr txBox="1"/>
          <p:nvPr/>
        </p:nvSpPr>
        <p:spPr>
          <a:xfrm>
            <a:off x="4434840" y="2743200"/>
            <a:ext cx="548640" cy="365760"/>
          </a:xfrm>
          <a:prstGeom prst="rect">
            <a:avLst/>
          </a:prstGeom>
          <a:noFill/>
        </p:spPr>
        <p:txBody>
          <a:bodyPr wrap="square">
            <a:spAutoFit/>
          </a:bodyPr>
          <a:lstStyle/>
          <a:p>
            <a:pPr algn="ctr">
              <a:defRPr sz="2800" b="0">
                <a:solidFill>
                  <a:srgbClr val="6B7280"/>
                </a:solidFill>
                <a:latin typeface="Arial"/>
              </a:defRPr>
            </a:pPr>
            <a:r>
              <a:t>→</a:t>
            </a:r>
          </a:p>
        </p:txBody>
      </p:sp>
      <p:sp>
        <p:nvSpPr>
          <p:cNvPr id="13" name="Rectangle 12"/>
          <p:cNvSpPr/>
          <p:nvPr/>
        </p:nvSpPr>
        <p:spPr>
          <a:xfrm>
            <a:off x="4846320" y="2377440"/>
            <a:ext cx="1920240" cy="109728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0" y="2468880"/>
            <a:ext cx="1737360" cy="320040"/>
          </a:xfrm>
          <a:prstGeom prst="rect">
            <a:avLst/>
          </a:prstGeom>
          <a:noFill/>
        </p:spPr>
        <p:txBody>
          <a:bodyPr wrap="square">
            <a:spAutoFit/>
          </a:bodyPr>
          <a:lstStyle/>
          <a:p>
            <a:pPr algn="ctr">
              <a:defRPr sz="1400" b="1">
                <a:solidFill>
                  <a:srgbClr val="FFFFFF"/>
                </a:solidFill>
                <a:latin typeface="Arial"/>
              </a:defRPr>
            </a:pPr>
            <a:r>
              <a:t>LLM</a:t>
            </a:r>
          </a:p>
        </p:txBody>
      </p:sp>
      <p:sp>
        <p:nvSpPr>
          <p:cNvPr id="15" name="TextBox 14"/>
          <p:cNvSpPr txBox="1"/>
          <p:nvPr/>
        </p:nvSpPr>
        <p:spPr>
          <a:xfrm>
            <a:off x="4937760" y="2788920"/>
            <a:ext cx="1737360" cy="640080"/>
          </a:xfrm>
          <a:prstGeom prst="rect">
            <a:avLst/>
          </a:prstGeom>
          <a:noFill/>
        </p:spPr>
        <p:txBody>
          <a:bodyPr wrap="square">
            <a:spAutoFit/>
          </a:bodyPr>
          <a:lstStyle/>
          <a:p>
            <a:pPr algn="ctr">
              <a:defRPr sz="1100" b="0">
                <a:solidFill>
                  <a:srgbClr val="D1D5DB"/>
                </a:solidFill>
                <a:latin typeface="Arial"/>
              </a:defRPr>
            </a:pPr>
            <a:r>
              <a:t>System prompt</a:t>
            </a:r>
            <a:br/>
            <a:r>
              <a:t>Qwen2.5-Coder</a:t>
            </a:r>
            <a:br/>
            <a:r>
              <a:t>Code generation</a:t>
            </a:r>
          </a:p>
        </p:txBody>
      </p:sp>
      <p:sp>
        <p:nvSpPr>
          <p:cNvPr id="16" name="TextBox 15"/>
          <p:cNvSpPr txBox="1"/>
          <p:nvPr/>
        </p:nvSpPr>
        <p:spPr>
          <a:xfrm>
            <a:off x="6583680" y="2743200"/>
            <a:ext cx="548640" cy="365760"/>
          </a:xfrm>
          <a:prstGeom prst="rect">
            <a:avLst/>
          </a:prstGeom>
          <a:noFill/>
        </p:spPr>
        <p:txBody>
          <a:bodyPr wrap="square">
            <a:spAutoFit/>
          </a:bodyPr>
          <a:lstStyle/>
          <a:p>
            <a:pPr algn="ctr">
              <a:defRPr sz="2800" b="0">
                <a:solidFill>
                  <a:srgbClr val="6B7280"/>
                </a:solidFill>
                <a:latin typeface="Arial"/>
              </a:defRPr>
            </a:pPr>
            <a:r>
              <a:t>→</a:t>
            </a:r>
          </a:p>
        </p:txBody>
      </p:sp>
      <p:sp>
        <p:nvSpPr>
          <p:cNvPr id="17" name="Rectangle 16"/>
          <p:cNvSpPr/>
          <p:nvPr/>
        </p:nvSpPr>
        <p:spPr>
          <a:xfrm>
            <a:off x="6995160" y="2377440"/>
            <a:ext cx="1920240" cy="109728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86600" y="2468880"/>
            <a:ext cx="1737360" cy="320040"/>
          </a:xfrm>
          <a:prstGeom prst="rect">
            <a:avLst/>
          </a:prstGeom>
          <a:noFill/>
        </p:spPr>
        <p:txBody>
          <a:bodyPr wrap="square">
            <a:spAutoFit/>
          </a:bodyPr>
          <a:lstStyle/>
          <a:p>
            <a:pPr algn="ctr">
              <a:defRPr sz="1400" b="1">
                <a:solidFill>
                  <a:srgbClr val="FFFFFF"/>
                </a:solidFill>
                <a:latin typeface="Arial"/>
              </a:defRPr>
            </a:pPr>
            <a:r>
              <a:t>MOTION</a:t>
            </a:r>
          </a:p>
        </p:txBody>
      </p:sp>
      <p:sp>
        <p:nvSpPr>
          <p:cNvPr id="19" name="TextBox 18"/>
          <p:cNvSpPr txBox="1"/>
          <p:nvPr/>
        </p:nvSpPr>
        <p:spPr>
          <a:xfrm>
            <a:off x="7086600" y="2788920"/>
            <a:ext cx="1737360" cy="640080"/>
          </a:xfrm>
          <a:prstGeom prst="rect">
            <a:avLst/>
          </a:prstGeom>
          <a:noFill/>
        </p:spPr>
        <p:txBody>
          <a:bodyPr wrap="square">
            <a:spAutoFit/>
          </a:bodyPr>
          <a:lstStyle/>
          <a:p>
            <a:pPr algn="ctr">
              <a:defRPr sz="1100" b="0">
                <a:solidFill>
                  <a:srgbClr val="D1D5DB"/>
                </a:solidFill>
                <a:latin typeface="Arial"/>
              </a:defRPr>
            </a:pPr>
            <a:r>
              <a:t>TRAC-IK solver</a:t>
            </a:r>
            <a:br/>
            <a:r>
              <a:t>Waypoint execution</a:t>
            </a:r>
            <a:br/>
            <a:r>
              <a:t>Gripper control</a:t>
            </a:r>
          </a:p>
        </p:txBody>
      </p:sp>
      <p:sp>
        <p:nvSpPr>
          <p:cNvPr id="20" name="TextBox 19"/>
          <p:cNvSpPr txBox="1"/>
          <p:nvPr/>
        </p:nvSpPr>
        <p:spPr>
          <a:xfrm>
            <a:off x="8732520" y="2743200"/>
            <a:ext cx="548640" cy="365760"/>
          </a:xfrm>
          <a:prstGeom prst="rect">
            <a:avLst/>
          </a:prstGeom>
          <a:noFill/>
        </p:spPr>
        <p:txBody>
          <a:bodyPr wrap="square">
            <a:spAutoFit/>
          </a:bodyPr>
          <a:lstStyle/>
          <a:p>
            <a:pPr algn="ctr">
              <a:defRPr sz="2800" b="0">
                <a:solidFill>
                  <a:srgbClr val="6B7280"/>
                </a:solidFill>
                <a:latin typeface="Arial"/>
              </a:defRPr>
            </a:pPr>
            <a:r>
              <a:t>→</a:t>
            </a:r>
          </a:p>
        </p:txBody>
      </p:sp>
      <p:sp>
        <p:nvSpPr>
          <p:cNvPr id="21" name="Rectangle 20"/>
          <p:cNvSpPr/>
          <p:nvPr/>
        </p:nvSpPr>
        <p:spPr>
          <a:xfrm>
            <a:off x="9144000" y="2377440"/>
            <a:ext cx="1920240" cy="109728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0" y="2468880"/>
            <a:ext cx="1737360" cy="320040"/>
          </a:xfrm>
          <a:prstGeom prst="rect">
            <a:avLst/>
          </a:prstGeom>
          <a:noFill/>
        </p:spPr>
        <p:txBody>
          <a:bodyPr wrap="square">
            <a:spAutoFit/>
          </a:bodyPr>
          <a:lstStyle/>
          <a:p>
            <a:pPr algn="ctr">
              <a:defRPr sz="1400" b="1">
                <a:solidFill>
                  <a:srgbClr val="FFFFFF"/>
                </a:solidFill>
                <a:latin typeface="Arial"/>
              </a:defRPr>
            </a:pPr>
            <a:r>
              <a:t>ROBOT</a:t>
            </a:r>
          </a:p>
        </p:txBody>
      </p:sp>
      <p:sp>
        <p:nvSpPr>
          <p:cNvPr id="23" name="TextBox 22"/>
          <p:cNvSpPr txBox="1"/>
          <p:nvPr/>
        </p:nvSpPr>
        <p:spPr>
          <a:xfrm>
            <a:off x="9235440" y="2788920"/>
            <a:ext cx="1737360" cy="640080"/>
          </a:xfrm>
          <a:prstGeom prst="rect">
            <a:avLst/>
          </a:prstGeom>
          <a:noFill/>
        </p:spPr>
        <p:txBody>
          <a:bodyPr wrap="square">
            <a:spAutoFit/>
          </a:bodyPr>
          <a:lstStyle/>
          <a:p>
            <a:pPr algn="ctr">
              <a:defRPr sz="1100" b="0">
                <a:solidFill>
                  <a:srgbClr val="D1D5DB"/>
                </a:solidFill>
                <a:latin typeface="Arial"/>
              </a:defRPr>
            </a:pPr>
            <a:r>
              <a:t>intera_interface</a:t>
            </a:r>
            <a:br/>
            <a:r>
              <a:t>Joint publishers</a:t>
            </a:r>
            <a:br/>
            <a:r>
              <a:t>ROS topics</a:t>
            </a:r>
          </a:p>
        </p:txBody>
      </p:sp>
      <p:sp>
        <p:nvSpPr>
          <p:cNvPr id="24" name="TextBox 23"/>
          <p:cNvSpPr txBox="1"/>
          <p:nvPr/>
        </p:nvSpPr>
        <p:spPr>
          <a:xfrm>
            <a:off x="731520" y="3749039"/>
            <a:ext cx="1828800" cy="320040"/>
          </a:xfrm>
          <a:prstGeom prst="rect">
            <a:avLst/>
          </a:prstGeom>
          <a:noFill/>
        </p:spPr>
        <p:txBody>
          <a:bodyPr wrap="square">
            <a:spAutoFit/>
          </a:bodyPr>
          <a:lstStyle/>
          <a:p>
            <a:pPr algn="l">
              <a:defRPr sz="1400" b="1">
                <a:solidFill>
                  <a:srgbClr val="D1D5DB"/>
                </a:solidFill>
                <a:latin typeface="Arial"/>
              </a:defRPr>
            </a:pPr>
            <a:r>
              <a:t>1. Simulation:</a:t>
            </a:r>
          </a:p>
        </p:txBody>
      </p:sp>
      <p:sp>
        <p:nvSpPr>
          <p:cNvPr id="25" name="TextBox 24"/>
          <p:cNvSpPr txBox="1"/>
          <p:nvPr/>
        </p:nvSpPr>
        <p:spPr>
          <a:xfrm>
            <a:off x="2560320" y="3749039"/>
            <a:ext cx="9144000" cy="457200"/>
          </a:xfrm>
          <a:prstGeom prst="rect">
            <a:avLst/>
          </a:prstGeom>
          <a:noFill/>
        </p:spPr>
        <p:txBody>
          <a:bodyPr wrap="square">
            <a:spAutoFit/>
          </a:bodyPr>
          <a:lstStyle/>
          <a:p>
            <a:pPr algn="l">
              <a:defRPr sz="1200" b="0">
                <a:solidFill>
                  <a:srgbClr val="9CA3AF"/>
                </a:solidFill>
                <a:latin typeface="Arial"/>
              </a:defRPr>
            </a:pPr>
            <a:r>
              <a:t>The Gazebo environment launches the Sawyer robot, spawns nine target objects, and moves the arm to a ready position with the camera looking down at the workspace.</a:t>
            </a:r>
          </a:p>
        </p:txBody>
      </p:sp>
      <p:sp>
        <p:nvSpPr>
          <p:cNvPr id="26" name="TextBox 25"/>
          <p:cNvSpPr txBox="1"/>
          <p:nvPr/>
        </p:nvSpPr>
        <p:spPr>
          <a:xfrm>
            <a:off x="731520" y="4297679"/>
            <a:ext cx="1828800" cy="320040"/>
          </a:xfrm>
          <a:prstGeom prst="rect">
            <a:avLst/>
          </a:prstGeom>
          <a:noFill/>
        </p:spPr>
        <p:txBody>
          <a:bodyPr wrap="square">
            <a:spAutoFit/>
          </a:bodyPr>
          <a:lstStyle/>
          <a:p>
            <a:pPr algn="l">
              <a:defRPr sz="1400" b="1">
                <a:solidFill>
                  <a:srgbClr val="D1D5DB"/>
                </a:solidFill>
                <a:latin typeface="Arial"/>
              </a:defRPr>
            </a:pPr>
            <a:r>
              <a:t>2. Perception:</a:t>
            </a:r>
          </a:p>
        </p:txBody>
      </p:sp>
      <p:sp>
        <p:nvSpPr>
          <p:cNvPr id="27" name="TextBox 26"/>
          <p:cNvSpPr txBox="1"/>
          <p:nvPr/>
        </p:nvSpPr>
        <p:spPr>
          <a:xfrm>
            <a:off x="2560320" y="4297679"/>
            <a:ext cx="9144000" cy="457200"/>
          </a:xfrm>
          <a:prstGeom prst="rect">
            <a:avLst/>
          </a:prstGeom>
          <a:noFill/>
        </p:spPr>
        <p:txBody>
          <a:bodyPr wrap="square">
            <a:spAutoFit/>
          </a:bodyPr>
          <a:lstStyle/>
          <a:p>
            <a:pPr algn="l">
              <a:defRPr sz="1200" b="0">
                <a:solidFill>
                  <a:srgbClr val="9CA3AF"/>
                </a:solidFill>
                <a:latin typeface="Arial"/>
              </a:defRPr>
            </a:pPr>
            <a:r>
              <a:t>A YOLOv8 model detects objects in the camera image. Each 2D bounding box is back-projected into 3D world coordinates using camera intrinsics and depth data.</a:t>
            </a:r>
          </a:p>
        </p:txBody>
      </p:sp>
      <p:sp>
        <p:nvSpPr>
          <p:cNvPr id="28" name="TextBox 27"/>
          <p:cNvSpPr txBox="1"/>
          <p:nvPr/>
        </p:nvSpPr>
        <p:spPr>
          <a:xfrm>
            <a:off x="731520" y="4846319"/>
            <a:ext cx="1828800" cy="320040"/>
          </a:xfrm>
          <a:prstGeom prst="rect">
            <a:avLst/>
          </a:prstGeom>
          <a:noFill/>
        </p:spPr>
        <p:txBody>
          <a:bodyPr wrap="square">
            <a:spAutoFit/>
          </a:bodyPr>
          <a:lstStyle/>
          <a:p>
            <a:pPr algn="l">
              <a:defRPr sz="1400" b="1">
                <a:solidFill>
                  <a:srgbClr val="D1D5DB"/>
                </a:solidFill>
                <a:latin typeface="Arial"/>
              </a:defRPr>
            </a:pPr>
            <a:r>
              <a:t>3. LLM:</a:t>
            </a:r>
          </a:p>
        </p:txBody>
      </p:sp>
      <p:sp>
        <p:nvSpPr>
          <p:cNvPr id="29" name="TextBox 28"/>
          <p:cNvSpPr txBox="1"/>
          <p:nvPr/>
        </p:nvSpPr>
        <p:spPr>
          <a:xfrm>
            <a:off x="2560320" y="4846319"/>
            <a:ext cx="9144000" cy="457200"/>
          </a:xfrm>
          <a:prstGeom prst="rect">
            <a:avLst/>
          </a:prstGeom>
          <a:noFill/>
        </p:spPr>
        <p:txBody>
          <a:bodyPr wrap="square">
            <a:spAutoFit/>
          </a:bodyPr>
          <a:lstStyle/>
          <a:p>
            <a:pPr algn="l">
              <a:defRPr sz="1200" b="0">
                <a:solidFill>
                  <a:srgbClr val="9CA3AF"/>
                </a:solidFill>
                <a:latin typeface="Arial"/>
              </a:defRPr>
            </a:pPr>
            <a:r>
              <a:t>The LLM receives the scene state and the user's task description. Guided by a 117-line system prompt, it writes a Python script that calls the available API functions.</a:t>
            </a:r>
          </a:p>
        </p:txBody>
      </p:sp>
      <p:sp>
        <p:nvSpPr>
          <p:cNvPr id="30" name="TextBox 29"/>
          <p:cNvSpPr txBox="1"/>
          <p:nvPr/>
        </p:nvSpPr>
        <p:spPr>
          <a:xfrm>
            <a:off x="731520" y="5394959"/>
            <a:ext cx="1828800" cy="320040"/>
          </a:xfrm>
          <a:prstGeom prst="rect">
            <a:avLst/>
          </a:prstGeom>
          <a:noFill/>
        </p:spPr>
        <p:txBody>
          <a:bodyPr wrap="square">
            <a:spAutoFit/>
          </a:bodyPr>
          <a:lstStyle/>
          <a:p>
            <a:pPr algn="l">
              <a:defRPr sz="1400" b="1">
                <a:solidFill>
                  <a:srgbClr val="D1D5DB"/>
                </a:solidFill>
                <a:latin typeface="Arial"/>
              </a:defRPr>
            </a:pPr>
            <a:r>
              <a:t>4. Motion:</a:t>
            </a:r>
          </a:p>
        </p:txBody>
      </p:sp>
      <p:sp>
        <p:nvSpPr>
          <p:cNvPr id="31" name="TextBox 30"/>
          <p:cNvSpPr txBox="1"/>
          <p:nvPr/>
        </p:nvSpPr>
        <p:spPr>
          <a:xfrm>
            <a:off x="2560320" y="5394959"/>
            <a:ext cx="9144000" cy="457200"/>
          </a:xfrm>
          <a:prstGeom prst="rect">
            <a:avLst/>
          </a:prstGeom>
          <a:noFill/>
        </p:spPr>
        <p:txBody>
          <a:bodyPr wrap="square">
            <a:spAutoFit/>
          </a:bodyPr>
          <a:lstStyle/>
          <a:p>
            <a:pPr algn="l">
              <a:defRPr sz="1200" b="0">
                <a:solidFill>
                  <a:srgbClr val="9CA3AF"/>
                </a:solidFill>
                <a:latin typeface="Arial"/>
              </a:defRPr>
            </a:pPr>
            <a:r>
              <a:t>The generated code calls the motion API: it computes inverse kinematics via TRAC-IK, executes a vertical approach trajectory, and controls the gripper for pick-and-place.</a:t>
            </a:r>
          </a:p>
        </p:txBody>
      </p:sp>
      <p:sp>
        <p:nvSpPr>
          <p:cNvPr id="32" name="TextBox 31"/>
          <p:cNvSpPr txBox="1"/>
          <p:nvPr/>
        </p:nvSpPr>
        <p:spPr>
          <a:xfrm>
            <a:off x="731520" y="5943599"/>
            <a:ext cx="1828800" cy="320040"/>
          </a:xfrm>
          <a:prstGeom prst="rect">
            <a:avLst/>
          </a:prstGeom>
          <a:noFill/>
        </p:spPr>
        <p:txBody>
          <a:bodyPr wrap="square">
            <a:spAutoFit/>
          </a:bodyPr>
          <a:lstStyle/>
          <a:p>
            <a:pPr algn="l">
              <a:defRPr sz="1400" b="1">
                <a:solidFill>
                  <a:srgbClr val="D1D5DB"/>
                </a:solidFill>
                <a:latin typeface="Arial"/>
              </a:defRPr>
            </a:pPr>
            <a:r>
              <a:t>5. Robot:</a:t>
            </a:r>
          </a:p>
        </p:txBody>
      </p:sp>
      <p:sp>
        <p:nvSpPr>
          <p:cNvPr id="33" name="TextBox 32"/>
          <p:cNvSpPr txBox="1"/>
          <p:nvPr/>
        </p:nvSpPr>
        <p:spPr>
          <a:xfrm>
            <a:off x="2560320" y="5943599"/>
            <a:ext cx="9144000" cy="457200"/>
          </a:xfrm>
          <a:prstGeom prst="rect">
            <a:avLst/>
          </a:prstGeom>
          <a:noFill/>
        </p:spPr>
        <p:txBody>
          <a:bodyPr wrap="square">
            <a:spAutoFit/>
          </a:bodyPr>
          <a:lstStyle/>
          <a:p>
            <a:pPr algn="l">
              <a:defRPr sz="1200" b="0">
                <a:solidFill>
                  <a:srgbClr val="9CA3AF"/>
                </a:solidFill>
                <a:latin typeface="Arial"/>
              </a:defRPr>
            </a:pPr>
            <a:r>
              <a:t>All joint and gripper commands are sent through intera_interface ROS topics, which interface directly with the simulated Sawyer robot.</a:t>
            </a:r>
          </a:p>
        </p:txBody>
      </p:sp>
      <p:sp>
        <p:nvSpPr>
          <p:cNvPr id="34" name="Rectangle 33"/>
          <p:cNvSpPr/>
          <p:nvPr/>
        </p:nvSpPr>
        <p:spPr>
          <a:xfrm>
            <a:off x="7772400" y="5029200"/>
            <a:ext cx="3657600" cy="137160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772400" y="5440680"/>
            <a:ext cx="3657600" cy="548640"/>
          </a:xfrm>
          <a:prstGeom prst="rect">
            <a:avLst/>
          </a:prstGeom>
          <a:noFill/>
        </p:spPr>
        <p:txBody>
          <a:bodyPr wrap="square">
            <a:spAutoFit/>
          </a:bodyPr>
          <a:lstStyle/>
          <a:p>
            <a:pPr algn="ctr">
              <a:defRPr sz="1400" b="0">
                <a:solidFill>
                  <a:srgbClr val="9CA3AF"/>
                </a:solidFill>
                <a:latin typeface="Arial"/>
              </a:defRPr>
            </a:pPr>
            <a:r>
              <a:t>[ Architecture diagram ]</a:t>
            </a:r>
          </a:p>
        </p:txBody>
      </p:sp>
      <p:sp>
        <p:nvSpPr>
          <p:cNvPr id="36" name="Rectangle 35"/>
          <p:cNvSpPr/>
          <p:nvPr/>
        </p:nvSpPr>
        <p:spPr>
          <a:xfrm>
            <a:off x="8686800" y="5029200"/>
            <a:ext cx="3200400" cy="137160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0" y="5440680"/>
            <a:ext cx="3200400" cy="548640"/>
          </a:xfrm>
          <a:prstGeom prst="rect">
            <a:avLst/>
          </a:prstGeom>
          <a:noFill/>
        </p:spPr>
        <p:txBody>
          <a:bodyPr wrap="square">
            <a:spAutoFit/>
          </a:bodyPr>
          <a:lstStyle/>
          <a:p>
            <a:pPr algn="ctr">
              <a:defRPr sz="1400" b="0">
                <a:solidFill>
                  <a:srgbClr val="9CA3AF"/>
                </a:solidFill>
                <a:latin typeface="Arial"/>
              </a:defRPr>
            </a:pPr>
            <a:r>
              <a:t>[ Perception pipeline ]</a:t>
            </a:r>
          </a:p>
        </p:txBody>
      </p:sp>
      <p:sp>
        <p:nvSpPr>
          <p:cNvPr id="38" name="Rectangle 37"/>
          <p:cNvSpPr/>
          <p:nvPr/>
        </p:nvSpPr>
        <p:spPr>
          <a:xfrm>
            <a:off x="8686800" y="5029200"/>
            <a:ext cx="3200400" cy="1371600"/>
          </a:xfrm>
          <a:prstGeom prst="rect">
            <a:avLst/>
          </a:prstGeom>
          <a:solidFill>
            <a:srgbClr val="374151"/>
          </a:solidFill>
          <a:ln>
            <a:solidFill>
              <a:srgbClr val="6B7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0" y="5440680"/>
            <a:ext cx="3200400" cy="548640"/>
          </a:xfrm>
          <a:prstGeom prst="rect">
            <a:avLst/>
          </a:prstGeom>
          <a:noFill/>
        </p:spPr>
        <p:txBody>
          <a:bodyPr wrap="square">
            <a:spAutoFit/>
          </a:bodyPr>
          <a:lstStyle/>
          <a:p>
            <a:pPr algn="ctr">
              <a:defRPr sz="1400" b="0">
                <a:solidFill>
                  <a:srgbClr val="9CA3AF"/>
                </a:solidFill>
                <a:latin typeface="Arial"/>
              </a:defRPr>
            </a:pPr>
            <a:r>
              <a:t>[ Demo screenshot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Simulation Environment  —  Jun</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We use Gazebo as our simulation platform, running the Sawyer robot model with a parallel-jaw electric gripper. The simulation provides realistic physics, sensor data, and ROS integration, allowing us to develop and test the entire pipeline without a physical robot.</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A custom launch file (sawyer_david.launch) orchestrates the startup sequence: first the world loads, then spawn_pick_place_scene.py populates the table with nine objects (blocks, cans, boxes of various sizes and colors) at 18 seconds.</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At 35 seconds, send_safe_pose.py moves the arm to a neutral posture. At 70 seconds, go_to_top_hand_camera_pos.py positions the hand camera directly above the workspace, ready for perception.</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This staged startup ensures everything is initialized before the LLM-generated code runs: the scene is set, the arm is ready, and the camera has a clear top-down view.</a:t>
            </a:r>
          </a:p>
        </p:txBody>
      </p:sp>
      <p:sp>
        <p:nvSpPr>
          <p:cNvPr id="8" name="TextBox 7"/>
          <p:cNvSpPr txBox="1"/>
          <p:nvPr/>
        </p:nvSpPr>
        <p:spPr>
          <a:xfrm>
            <a:off x="731520" y="6035040"/>
            <a:ext cx="10058400" cy="457200"/>
          </a:xfrm>
          <a:prstGeom prst="rect">
            <a:avLst/>
          </a:prstGeom>
          <a:noFill/>
        </p:spPr>
        <p:txBody>
          <a:bodyPr wrap="square">
            <a:spAutoFit/>
          </a:bodyPr>
          <a:lstStyle/>
          <a:p>
            <a:pPr algn="l">
              <a:defRPr sz="1200" b="0">
                <a:solidFill>
                  <a:srgbClr val="9CA3AF"/>
                </a:solidFill>
                <a:latin typeface="Arial"/>
              </a:defRPr>
            </a:pPr>
            <a:r>
              <a:t>Timing: 0s launch → 18s objects → 35s safe pose → 70s camera scan ready.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Scene Perception  —  Sergio</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Before the robot can manipulate objects, it needs to know where they are. The perception pipeline starts with make_scene(), which captures an RGB image and a synchronized depth frame from the hand-mounted camera.</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A YOLOv8 model (trained on the object set) detects each visible object and returns 2D bounding boxes with class labels. The detector runs in real time and can handle partial occlusions and varying lighting conditions in simulation.</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The output is a Python dictionary mapping object names to their pose: {object_name: (x, y, z, yaw)}. This dictionary is passed to the LLM-generated code, which uses it to plan approach vectors and grasp targets.</a:t>
            </a:r>
          </a:p>
        </p:txBody>
      </p:sp>
      <p:sp>
        <p:nvSpPr>
          <p:cNvPr id="8" name="TextBox 7"/>
          <p:cNvSpPr txBox="1"/>
          <p:nvPr/>
        </p:nvSpPr>
        <p:spPr>
          <a:xfrm>
            <a:off x="731520" y="6035040"/>
            <a:ext cx="10058400" cy="457200"/>
          </a:xfrm>
          <a:prstGeom prst="rect">
            <a:avLst/>
          </a:prstGeom>
          <a:noFill/>
        </p:spPr>
        <p:txBody>
          <a:bodyPr wrap="square">
            <a:spAutoFit/>
          </a:bodyPr>
          <a:lstStyle/>
          <a:p>
            <a:pPr algn="l">
              <a:defRPr sz="1200" b="0">
                <a:solidFill>
                  <a:srgbClr val="9CA3AF"/>
                </a:solidFill>
                <a:latin typeface="Arial"/>
              </a:defRPr>
            </a:pPr>
            <a:r>
              <a:t>Output: {object_name: (x, y, z, yaw)} — used directly by the motion planner.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LLM Code Generation  —  David</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At the heart of the system is the LLM code generator. We use Qwen2.5-Coder 3B, a 3-billion-parameter code-specialized language model, running locally via Ollama on localhost:11434. Running locally eliminates latency, privacy concerns, and API costs.</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The user provides a natural language task description (e.g., "pick the red block and place it on the blue box"). The LLM generates a complete Python script (generated_task.py) that calls the API functions in the correct order to accomplish the task.</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run_task.py orchestrates the process: it captures the user input, sends it to the LLM with the system prompt, writes the generated code to disk, reloads the module dynamically, and executes execute_task(). Error handling and retry logic ensure robustness.</a:t>
            </a:r>
          </a:p>
        </p:txBody>
      </p:sp>
      <p:sp>
        <p:nvSpPr>
          <p:cNvPr id="8" name="TextBox 7"/>
          <p:cNvSpPr txBox="1"/>
          <p:nvPr/>
        </p:nvSpPr>
        <p:spPr>
          <a:xfrm>
            <a:off x="731520" y="6035040"/>
            <a:ext cx="10058400" cy="457200"/>
          </a:xfrm>
          <a:prstGeom prst="rect">
            <a:avLst/>
          </a:prstGeom>
          <a:noFill/>
        </p:spPr>
        <p:txBody>
          <a:bodyPr wrap="square">
            <a:spAutoFit/>
          </a:bodyPr>
          <a:lstStyle/>
          <a:p>
            <a:pPr algn="l">
              <a:defRPr sz="1200" b="0">
                <a:solidFill>
                  <a:srgbClr val="9CA3AF"/>
                </a:solidFill>
                <a:latin typeface="Arial"/>
              </a:defRPr>
            </a:pPr>
            <a:r>
              <a:t>Model: Qwen2.5-Coder 3B (Ollama, temp=0.7) — locally hosted, no cloud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Motion Control  —  Cadavid</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The generated code calls execute_waypoints() with a list of target poses. Each waypoint specifies a position and orientation for the end-effector. The motion controller processes these waypoints using an L-shaped vertical approach pattern: move above the target, descend straight down, grasp, lift straight up, then move to the destination.</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For each target pose, the system calls _compute_ik(), which uses TRAC-IK — a fast and robust inverse kinematics solver. TRAC-IK efficiently finds joint configurations that satisfy the desired end-effector pose while respecting joint limits and avoiding singularities.</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Before grasping, adjust_grasp_waypoints() inserts additional waypoints: a pre-grasp offset (slightly above the object), an approach vector (straight down to the object), and a retreat vector (straight up after closing the gripper). This ensures clean, collision-free pick-ups.</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The gripper is controlled through intera_interface: close with controlled force, verify grasp (wait_and_check_grasp), lift via move_straight_z(), move to place location, open to release. The entire motion sequence is synchronized through ROS topic publishers.</a:t>
            </a:r>
          </a:p>
        </p:txBody>
      </p:sp>
      <p:sp>
        <p:nvSpPr>
          <p:cNvPr id="8" name="TextBox 7"/>
          <p:cNvSpPr txBox="1"/>
          <p:nvPr/>
        </p:nvSpPr>
        <p:spPr>
          <a:xfrm>
            <a:off x="731520" y="6035040"/>
            <a:ext cx="10058400" cy="457200"/>
          </a:xfrm>
          <a:prstGeom prst="rect">
            <a:avLst/>
          </a:prstGeom>
          <a:noFill/>
        </p:spPr>
        <p:txBody>
          <a:bodyPr wrap="square">
            <a:spAutoFit/>
          </a:bodyPr>
          <a:lstStyle/>
          <a:p>
            <a:pPr algn="l">
              <a:defRPr sz="1200" b="0">
                <a:solidFill>
                  <a:srgbClr val="9CA3AF"/>
                </a:solidFill>
                <a:latin typeface="Arial"/>
              </a:defRPr>
            </a:pPr>
            <a:r>
              <a:t>IK Solver: TRAC-IK — resolves joint angles for 7-DOF Sawyer arm at ~1 kHz.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Integration &amp; Results  —  Jossua</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The complete pipeline runs end-to-end: the user types a natural language instruction, the LLM generates task-specific code, and the Sawyer robot executes the pick-and-place operation in simulation. No manual trajectory programming, no fine-tuning, no task-specific code changes.</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The system successfully handles variations in object positions, different object types, and multi-step instructions. Because the LLM generates code rather than raw motor commands, the output is interpretable: a human can read, verify, and modify the generated script if needed.</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Key differences from the reference papers (Kwon et al., Liang et al.): we use Sawyer instead of Franka, Gazebo simulation instead of a real robot, and Qwen2.5-Coder 3B (locally hosted) instead of GPT-4 (cloud API). These choices make the system fully self-contained and reproducible.</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Limitations: the current system assumes static scenes (objects don't move between perception and grasping), limited to pick-and-place primitives, and the LLM occasionally generates syntactically incorrect code that requires retries. Future work includes dynamic scene handling, error recovery, and more complex task primitives.</a:t>
            </a:r>
          </a:p>
        </p:txBody>
      </p:sp>
      <p:sp>
        <p:nvSpPr>
          <p:cNvPr id="8" name="TextBox 7"/>
          <p:cNvSpPr txBox="1"/>
          <p:nvPr/>
        </p:nvSpPr>
        <p:spPr>
          <a:xfrm>
            <a:off x="731520" y="6035040"/>
            <a:ext cx="10058400" cy="457200"/>
          </a:xfrm>
          <a:prstGeom prst="rect">
            <a:avLst/>
          </a:prstGeom>
          <a:noFill/>
        </p:spPr>
        <p:txBody>
          <a:bodyPr wrap="square">
            <a:spAutoFit/>
          </a:bodyPr>
          <a:lstStyle/>
          <a:p>
            <a:pPr algn="l">
              <a:defRPr sz="1200" b="0">
                <a:solidFill>
                  <a:srgbClr val="9CA3AF"/>
                </a:solidFill>
                <a:latin typeface="Arial"/>
              </a:defRPr>
            </a:pPr>
            <a:r>
              <a:t>Demo video available — see the project submission.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TextBox 1"/>
          <p:cNvSpPr txBox="1"/>
          <p:nvPr/>
        </p:nvSpPr>
        <p:spPr>
          <a:xfrm>
            <a:off x="731520" y="320040"/>
            <a:ext cx="10058400" cy="640080"/>
          </a:xfrm>
          <a:prstGeom prst="rect">
            <a:avLst/>
          </a:prstGeom>
          <a:noFill/>
        </p:spPr>
        <p:txBody>
          <a:bodyPr wrap="square">
            <a:spAutoFit/>
          </a:bodyPr>
          <a:lstStyle/>
          <a:p>
            <a:pPr algn="l">
              <a:defRPr sz="3000" b="1">
                <a:solidFill>
                  <a:srgbClr val="FFFFFF"/>
                </a:solidFill>
                <a:latin typeface="Arial"/>
              </a:defRPr>
            </a:pPr>
            <a:r>
              <a:t>References &amp; Related Work</a:t>
            </a:r>
          </a:p>
        </p:txBody>
      </p:sp>
      <p:sp>
        <p:nvSpPr>
          <p:cNvPr id="3" name="Rectangle 2"/>
          <p:cNvSpPr/>
          <p:nvPr/>
        </p:nvSpPr>
        <p:spPr>
          <a:xfrm>
            <a:off x="731520" y="914400"/>
            <a:ext cx="2286000" cy="381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515600" cy="457200"/>
          </a:xfrm>
          <a:prstGeom prst="rect">
            <a:avLst/>
          </a:prstGeom>
          <a:noFill/>
        </p:spPr>
        <p:txBody>
          <a:bodyPr wrap="square">
            <a:spAutoFit/>
          </a:bodyPr>
          <a:lstStyle/>
          <a:p>
            <a:pPr>
              <a:spcAft>
                <a:spcPts val="800"/>
              </a:spcAft>
              <a:defRPr sz="1500">
                <a:solidFill>
                  <a:srgbClr val="D1D5DB"/>
                </a:solidFill>
                <a:latin typeface="Arial"/>
              </a:defRPr>
            </a:pPr>
            <a:r>
              <a:t>Kwon, T., Kim, B., Lee, Y., and Choo, J. "Language Models as Zero-Shot Trajectory Generators." RSS 2023 Workshop on Learning for Task and Motion Planning. — The foundational paper showing that LLMs can generate executable trajectory code from language instructions.</a:t>
            </a:r>
          </a:p>
        </p:txBody>
      </p:sp>
      <p:sp>
        <p:nvSpPr>
          <p:cNvPr id="5" name="TextBox 4"/>
          <p:cNvSpPr txBox="1"/>
          <p:nvPr/>
        </p:nvSpPr>
        <p:spPr>
          <a:xfrm>
            <a:off x="914400" y="1783080"/>
            <a:ext cx="10515600" cy="457200"/>
          </a:xfrm>
          <a:prstGeom prst="rect">
            <a:avLst/>
          </a:prstGeom>
          <a:noFill/>
        </p:spPr>
        <p:txBody>
          <a:bodyPr wrap="square">
            <a:spAutoFit/>
          </a:bodyPr>
          <a:lstStyle/>
          <a:p>
            <a:pPr>
              <a:spcAft>
                <a:spcPts val="800"/>
              </a:spcAft>
              <a:defRPr sz="1500">
                <a:solidFill>
                  <a:srgbClr val="D1D5DB"/>
                </a:solidFill>
                <a:latin typeface="Arial"/>
              </a:defRPr>
            </a:pPr>
            <a:r>
              <a:t>Liang, J., Huang, W., Xia, F., Xu, P., Hausman, K., Ichter, B., Florence, P., and Zeng, A. "Code as Policies: Language Model Programs for Embodied Control." ICRA 2023. — Introduces the concept of using LLMs to generate robot control programs ("code as policies") with hierarchical code reuse.</a:t>
            </a:r>
          </a:p>
        </p:txBody>
      </p:sp>
      <p:sp>
        <p:nvSpPr>
          <p:cNvPr id="6" name="TextBox 5"/>
          <p:cNvSpPr txBox="1"/>
          <p:nvPr/>
        </p:nvSpPr>
        <p:spPr>
          <a:xfrm>
            <a:off x="914400" y="2286000"/>
            <a:ext cx="10515600" cy="457200"/>
          </a:xfrm>
          <a:prstGeom prst="rect">
            <a:avLst/>
          </a:prstGeom>
          <a:noFill/>
        </p:spPr>
        <p:txBody>
          <a:bodyPr wrap="square">
            <a:spAutoFit/>
          </a:bodyPr>
          <a:lstStyle/>
          <a:p>
            <a:pPr>
              <a:spcAft>
                <a:spcPts val="800"/>
              </a:spcAft>
              <a:defRPr sz="1500">
                <a:solidFill>
                  <a:srgbClr val="D1D5DB"/>
                </a:solidFill>
                <a:latin typeface="Arial"/>
              </a:defRPr>
            </a:pPr>
            <a:r>
              <a:t>Vemprala, S., Bonatti, R., Bucker, A., and Kapoor, A. "ChatGPT for Robotics: Design Principles and Model Abilities." Microsoft Research, 2023. — Provides design principles for integrating LLMs into robotic systems, emphasizing prompt engineering and API design.</a:t>
            </a:r>
          </a:p>
        </p:txBody>
      </p:sp>
      <p:sp>
        <p:nvSpPr>
          <p:cNvPr id="7" name="TextBox 6"/>
          <p:cNvSpPr txBox="1"/>
          <p:nvPr/>
        </p:nvSpPr>
        <p:spPr>
          <a:xfrm>
            <a:off x="914400" y="2788920"/>
            <a:ext cx="10515600" cy="457200"/>
          </a:xfrm>
          <a:prstGeom prst="rect">
            <a:avLst/>
          </a:prstGeom>
          <a:noFill/>
        </p:spPr>
        <p:txBody>
          <a:bodyPr wrap="square">
            <a:spAutoFit/>
          </a:bodyPr>
          <a:lstStyle/>
          <a:p>
            <a:pPr>
              <a:spcAft>
                <a:spcPts val="800"/>
              </a:spcAft>
              <a:defRPr sz="1500">
                <a:solidFill>
                  <a:srgbClr val="D1D5DB"/>
                </a:solidFill>
                <a:latin typeface="Arial"/>
              </a:defRPr>
            </a:pPr>
            <a:r>
              <a:t>TRAC-IK: Beeson, P. and Ames, B. "TRAC-IK: An Open-Source Library for Improved Inverse Kinematics of Humanoid Robots." IEEE-RAS 2015. — Fast IK solver used for real-time motion generation.</a:t>
            </a:r>
          </a:p>
        </p:txBody>
      </p:sp>
      <p:sp>
        <p:nvSpPr>
          <p:cNvPr id="8" name="TextBox 7"/>
          <p:cNvSpPr txBox="1"/>
          <p:nvPr/>
        </p:nvSpPr>
        <p:spPr>
          <a:xfrm>
            <a:off x="914400" y="3291840"/>
            <a:ext cx="10515600" cy="457200"/>
          </a:xfrm>
          <a:prstGeom prst="rect">
            <a:avLst/>
          </a:prstGeom>
          <a:noFill/>
        </p:spPr>
        <p:txBody>
          <a:bodyPr wrap="square">
            <a:spAutoFit/>
          </a:bodyPr>
          <a:lstStyle/>
          <a:p>
            <a:pPr>
              <a:spcAft>
                <a:spcPts val="800"/>
              </a:spcAft>
              <a:defRPr sz="1500">
                <a:solidFill>
                  <a:srgbClr val="D1D5DB"/>
                </a:solidFill>
                <a:latin typeface="Arial"/>
              </a:defRPr>
            </a:pPr>
            <a:r>
              <a:t>Ultralytics YOLOv8: Jocher, G. et al. "Ultralytics YOLOv8." 2023. — Real-time object detection model used for scene perception.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2937"/>
        </a:solidFill>
        <a:effectLst/>
      </p:bgPr>
    </p:bg>
    <p:spTree>
      <p:nvGrpSpPr>
        <p:cNvPr id="1" name=""/>
        <p:cNvGrpSpPr/>
        <p:nvPr/>
      </p:nvGrpSpPr>
      <p:grpSpPr/>
      <p:sp>
        <p:nvSpPr>
          <p:cNvPr id="2" name="Rectangle 1"/>
          <p:cNvSpPr/>
          <p:nvPr/>
        </p:nvSpPr>
        <p:spPr>
          <a:xfrm>
            <a:off x="0" y="2926080"/>
            <a:ext cx="12191695" cy="50800"/>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914400"/>
          </a:xfrm>
          <a:prstGeom prst="rect">
            <a:avLst/>
          </a:prstGeom>
          <a:noFill/>
        </p:spPr>
        <p:txBody>
          <a:bodyPr wrap="square">
            <a:spAutoFit/>
          </a:bodyPr>
          <a:lstStyle/>
          <a:p>
            <a:pPr algn="ctr">
              <a:defRPr sz="4400" b="1">
                <a:solidFill>
                  <a:srgbClr val="FFFFFF"/>
                </a:solidFill>
                <a:latin typeface="Arial"/>
              </a:defRPr>
            </a:pPr>
            <a:r>
              <a:t>Thank You</a:t>
            </a:r>
          </a:p>
        </p:txBody>
      </p:sp>
      <p:sp>
        <p:nvSpPr>
          <p:cNvPr id="4" name="TextBox 3"/>
          <p:cNvSpPr txBox="1"/>
          <p:nvPr/>
        </p:nvSpPr>
        <p:spPr>
          <a:xfrm>
            <a:off x="914400" y="3291840"/>
            <a:ext cx="10332720" cy="548640"/>
          </a:xfrm>
          <a:prstGeom prst="rect">
            <a:avLst/>
          </a:prstGeom>
          <a:noFill/>
        </p:spPr>
        <p:txBody>
          <a:bodyPr wrap="square">
            <a:spAutoFit/>
          </a:bodyPr>
          <a:lstStyle/>
          <a:p>
            <a:pPr algn="ctr">
              <a:defRPr sz="2600" b="0">
                <a:solidFill>
                  <a:srgbClr val="D1D5DB"/>
                </a:solidFill>
                <a:latin typeface="Arial"/>
              </a:defRPr>
            </a:pPr>
            <a:r>
              <a:t>Questions?</a:t>
            </a:r>
          </a:p>
        </p:txBody>
      </p:sp>
      <p:sp>
        <p:nvSpPr>
          <p:cNvPr id="5" name="TextBox 4"/>
          <p:cNvSpPr txBox="1"/>
          <p:nvPr/>
        </p:nvSpPr>
        <p:spPr>
          <a:xfrm>
            <a:off x="914400" y="4572000"/>
            <a:ext cx="10332720" cy="457200"/>
          </a:xfrm>
          <a:prstGeom prst="rect">
            <a:avLst/>
          </a:prstGeom>
          <a:noFill/>
        </p:spPr>
        <p:txBody>
          <a:bodyPr wrap="square">
            <a:spAutoFit/>
          </a:bodyPr>
          <a:lstStyle/>
          <a:p>
            <a:pPr algn="ctr">
              <a:defRPr sz="1800" b="0">
                <a:solidFill>
                  <a:srgbClr val="9CA3AF"/>
                </a:solidFill>
                <a:latin typeface="Arial"/>
              </a:defRPr>
            </a:pPr>
            <a:r>
              <a:t>Jun  ·  Sergio  ·  David  ·  Cadavid  ·  Jossua</a:t>
            </a:r>
          </a:p>
        </p:txBody>
      </p:sp>
      <p:sp>
        <p:nvSpPr>
          <p:cNvPr id="6" name="TextBox 5"/>
          <p:cNvSpPr txBox="1"/>
          <p:nvPr/>
        </p:nvSpPr>
        <p:spPr>
          <a:xfrm>
            <a:off x="914400" y="5029200"/>
            <a:ext cx="10332720" cy="457200"/>
          </a:xfrm>
          <a:prstGeom prst="rect">
            <a:avLst/>
          </a:prstGeom>
          <a:noFill/>
        </p:spPr>
        <p:txBody>
          <a:bodyPr wrap="square">
            <a:spAutoFit/>
          </a:bodyPr>
          <a:lstStyle/>
          <a:p>
            <a:pPr algn="ctr">
              <a:defRPr sz="1600" b="0">
                <a:solidFill>
                  <a:srgbClr val="9CA3AF"/>
                </a:solidFill>
                <a:latin typeface="Arial"/>
              </a:defRPr>
            </a:pPr>
            <a:r>
              <a:t>Robotics — Politecnico di Torino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