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Lst>
  <p:notesMasterIdLst>
    <p:notesMasterId r:id="rId23"/>
  </p:notesMasterIdLst>
  <p:sldIdLst>
    <p:sldId id="256" r:id="rId13"/>
    <p:sldId id="257" r:id="rId14"/>
    <p:sldId id="258" r:id="rId15"/>
    <p:sldId id="259" r:id="rId16"/>
    <p:sldId id="260" r:id="rId17"/>
    <p:sldId id="261" r:id="rId18"/>
    <p:sldId id="262" r:id="rId19"/>
    <p:sldId id="263" r:id="rId20"/>
    <p:sldId id="264" r:id="rId21"/>
    <p:sldId id="265" r:id="rId22"/>
  </p:sldIdLst>
  <p:sldSz cx="12192000" cy="6858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90" d="100"/>
          <a:sy n="90" d="100"/>
        </p:scale>
        <p:origin x="147"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9.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4.xml"/><Relationship Id="rId20" Type="http://schemas.openxmlformats.org/officeDocument/2006/relationships/slide" Target="slides/slide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3.xml"/><Relationship Id="rId23" Type="http://schemas.openxmlformats.org/officeDocument/2006/relationships/notesMaster" Target="notesMasters/notesMaster1.xml"/><Relationship Id="rId10" Type="http://schemas.openxmlformats.org/officeDocument/2006/relationships/slideMaster" Target="slideMasters/slideMaster10.xml"/><Relationship Id="rId19" Type="http://schemas.openxmlformats.org/officeDocument/2006/relationships/slide" Target="slides/slide7.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US" sz="4400" b="0" strike="noStrike" spc="-1">
                <a:solidFill>
                  <a:srgbClr val="000000"/>
                </a:solidFill>
                <a:latin typeface="Arial"/>
              </a:rPr>
              <a:t>Click to move the slide</a:t>
            </a:r>
          </a:p>
        </p:txBody>
      </p:sp>
      <p:sp>
        <p:nvSpPr>
          <p:cNvPr id="5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5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58" name="PlaceHolder 4"/>
          <p:cNvSpPr>
            <a:spLocks noGrp="1"/>
          </p:cNvSpPr>
          <p:nvPr>
            <p:ph type="dt" idx="37"/>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59" name="PlaceHolder 5"/>
          <p:cNvSpPr>
            <a:spLocks noGrp="1"/>
          </p:cNvSpPr>
          <p:nvPr>
            <p:ph type="ftr" idx="38"/>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60" name="PlaceHolder 6"/>
          <p:cNvSpPr>
            <a:spLocks noGrp="1"/>
          </p:cNvSpPr>
          <p:nvPr>
            <p:ph type="sldNum" idx="3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8F59CABF-68B8-4AC6-997B-B63207003555}" type="slidenum">
              <a:rPr lang="en-US" sz="1400" b="0" strike="noStrike" spc="-1">
                <a:solidFill>
                  <a:srgbClr val="000000"/>
                </a:solidFill>
                <a:latin typeface="Times New Roman"/>
              </a:rPr>
              <a:t>‹Nº›</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35"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6BE20786-C01D-4776-8FDB-430C18599B9B}" type="slidenum">
              <a:rPr lang="en-US" sz="1200" b="0" strike="noStrike" spc="-1">
                <a:solidFill>
                  <a:srgbClr val="000000"/>
                </a:solidFill>
                <a:latin typeface="Times New Roman"/>
              </a:rPr>
              <a:t>4</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756000" y="1336320"/>
            <a:ext cx="6047280" cy="3607920"/>
          </a:xfrm>
          <a:prstGeom prst="rect">
            <a:avLst/>
          </a:prstGeom>
          <a:ln w="0">
            <a:noFill/>
          </a:ln>
        </p:spPr>
      </p:sp>
      <p:sp>
        <p:nvSpPr>
          <p:cNvPr id="237" name="PlaceHolder 2"/>
          <p:cNvSpPr>
            <a:spLocks noGrp="1"/>
          </p:cNvSpPr>
          <p:nvPr>
            <p:ph type="body"/>
          </p:nvPr>
        </p:nvSpPr>
        <p:spPr>
          <a:xfrm>
            <a:off x="756000" y="5145480"/>
            <a:ext cx="6047280" cy="4209120"/>
          </a:xfrm>
          <a:prstGeom prst="rect">
            <a:avLst/>
          </a:prstGeom>
          <a:noFill/>
          <a:ln w="0">
            <a:noFill/>
          </a:ln>
        </p:spPr>
        <p:txBody>
          <a:bodyPr lIns="91440" tIns="45720" rIns="91440" bIns="45720" anchor="t">
            <a:noAutofit/>
          </a:bodyPr>
          <a:lstStyle/>
          <a:p>
            <a:pPr marL="216000" indent="0" defTabSz="914400">
              <a:lnSpc>
                <a:spcPct val="100000"/>
              </a:lnSpc>
              <a:buNone/>
              <a:tabLst>
                <a:tab pos="0" algn="l"/>
              </a:tabLst>
            </a:pPr>
            <a:r>
              <a:rPr lang="en-US" sz="2000" b="0" strike="noStrike" spc="-1">
                <a:solidFill>
                  <a:srgbClr val="000000"/>
                </a:solidFill>
                <a:latin typeface="Arial"/>
              </a:rPr>
              <a:t>At the heart of the system is the LLM code generator. We use Qwen2.5-Coder 3B, a 3-billion-parameter code-specialized language model, running locally via Ollama on localhost:11434. Running locally eliminates latency, privacy concerns, and API costs.</a:t>
            </a:r>
          </a:p>
          <a:p>
            <a:pPr marL="216000" indent="0" defTabSz="914400">
              <a:lnSpc>
                <a:spcPct val="100000"/>
              </a:lnSpc>
              <a:buNone/>
              <a:tabLst>
                <a:tab pos="0" algn="l"/>
              </a:tabLst>
            </a:pPr>
            <a:r>
              <a:rPr lang="en-US" sz="2000" b="0" strike="noStrike" spc="-1">
                <a:solidFill>
                  <a:srgbClr val="000000"/>
                </a:solidFill>
                <a:latin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p>
          <a:p>
            <a:pPr marL="216000" indent="0" defTabSz="914400">
              <a:lnSpc>
                <a:spcPct val="100000"/>
              </a:lnSpc>
              <a:buNone/>
              <a:tabLst>
                <a:tab pos="0" algn="l"/>
              </a:tabLst>
            </a:pPr>
            <a:r>
              <a:rPr lang="en-US" sz="2000" b="0" strike="noStrike" spc="-1">
                <a:solidFill>
                  <a:srgbClr val="000000"/>
                </a:solidFill>
                <a:latin typeface="Arial"/>
              </a:rPr>
              <a:t>The user provides a natural language task description (e.g., "pick the red block and place it on the blue box"). The LLM generates a complete Python script (generated_task.py) that calls the API functions in the correct order to accomplish the task.</a:t>
            </a:r>
          </a:p>
          <a:p>
            <a:pPr marL="216000" indent="0" defTabSz="914400">
              <a:lnSpc>
                <a:spcPct val="100000"/>
              </a:lnSpc>
              <a:buNone/>
              <a:tabLst>
                <a:tab pos="0" algn="l"/>
              </a:tabLst>
            </a:pPr>
            <a:r>
              <a:rPr lang="en-US" sz="2000" b="0" strike="noStrike" spc="-1">
                <a:solidFill>
                  <a:srgbClr val="000000"/>
                </a:solidFill>
                <a:latin typeface="Arial"/>
              </a:rPr>
              <a:t>The user provides a natural language task description (e.g., "pick the red block and place it on the blue box"). The LLM generates a complete Python script (generated_task.py) that calls the API functions in the correct order to accomplish the task.</a:t>
            </a:r>
          </a:p>
          <a:p>
            <a:pPr marL="216000" indent="0" defTabSz="914400">
              <a:lnSpc>
                <a:spcPct val="100000"/>
              </a:lnSpc>
              <a:buNone/>
              <a:tabLst>
                <a:tab pos="0" algn="l"/>
              </a:tabLst>
            </a:pPr>
            <a:r>
              <a:rPr lang="en-US" sz="2000" b="0" strike="noStrike" spc="-1">
                <a:solidFill>
                  <a:srgbClr val="000000"/>
                </a:solidFill>
                <a:latin typeface="Arial"/>
              </a:rPr>
              <a:t>run_task.py orchestrates the process: it captures the user input, sends it to the LLM with the system prompt, writes the generated code to disk, reloads the module dynamically, and executes execute_task(). Error handling and retry logic ensure robustness.</a:t>
            </a:r>
          </a:p>
          <a:p>
            <a:pPr marL="216000" indent="0" defTabSz="914400">
              <a:lnSpc>
                <a:spcPct val="100000"/>
              </a:lnSpc>
              <a:buNone/>
              <a:tabLst>
                <a:tab pos="0" algn="l"/>
              </a:tabLst>
            </a:pPr>
            <a:r>
              <a:rPr lang="en-US" sz="2000" b="0" strike="noStrike" spc="-1">
                <a:solidFill>
                  <a:srgbClr val="000000"/>
                </a:solidFill>
                <a:latin typeface="Arial"/>
              </a:rPr>
              <a:t>Model: Qwen2.5-Coder 3B (Ollama, temp=0.7) — locally hosted, no cloud dependency.</a:t>
            </a:r>
          </a:p>
        </p:txBody>
      </p:sp>
      <p:sp>
        <p:nvSpPr>
          <p:cNvPr id="238" name="PlaceHolder 3"/>
          <p:cNvSpPr>
            <a:spLocks noGrp="1"/>
          </p:cNvSpPr>
          <p:nvPr>
            <p:ph type="sldNum" idx="41"/>
          </p:nvPr>
        </p:nvSpPr>
        <p:spPr>
          <a:xfrm>
            <a:off x="4282200" y="10155600"/>
            <a:ext cx="3275280" cy="5356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BDC8ED0A-6FA8-41B1-ACF5-FE8DFD0C8D74}" type="slidenum">
              <a:rPr lang="en-US" sz="1200" b="0" strike="noStrike" spc="-1">
                <a:solidFill>
                  <a:srgbClr val="000000"/>
                </a:solidFill>
                <a:latin typeface="Times New Roman"/>
              </a:rPr>
              <a:t>6</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0" y="812800"/>
            <a:ext cx="0" cy="0"/>
          </a:xfrm>
        </p:spPr>
      </p:sp>
      <p:sp>
        <p:nvSpPr>
          <p:cNvPr id="3" name="Marcador de notas 2"/>
          <p:cNvSpPr>
            <a:spLocks noGrp="1"/>
          </p:cNvSpPr>
          <p:nvPr>
            <p:ph type="body" idx="1"/>
          </p:nvPr>
        </p:nvSpPr>
        <p:spPr/>
        <p:txBody>
          <a:bodyPr/>
          <a:lstStyle/>
          <a:p>
            <a:endParaRPr lang="en-US" dirty="0"/>
          </a:p>
        </p:txBody>
      </p:sp>
      <p:sp>
        <p:nvSpPr>
          <p:cNvPr id="4" name="Marcador de número de diapositiva 3"/>
          <p:cNvSpPr>
            <a:spLocks noGrp="1"/>
          </p:cNvSpPr>
          <p:nvPr>
            <p:ph type="sldNum" idx="39"/>
          </p:nvPr>
        </p:nvSpPr>
        <p:spPr/>
        <p:txBody>
          <a:bodyPr/>
          <a:lstStyle/>
          <a:p>
            <a:pPr indent="0" algn="r">
              <a:buNone/>
            </a:pPr>
            <a:fld id="{8F59CABF-68B8-4AC6-997B-B63207003555}" type="slidenum">
              <a:rPr lang="en-US" sz="1400" b="0" strike="noStrike" spc="-1" smtClean="0">
                <a:solidFill>
                  <a:srgbClr val="000000"/>
                </a:solidFill>
                <a:latin typeface="Times New Roman"/>
              </a:rPr>
              <a:t>7</a:t>
            </a:fld>
            <a:endParaRPr lang="en-US" sz="1400" b="0" strike="noStrike" spc="-1">
              <a:solidFill>
                <a:srgbClr val="000000"/>
              </a:solidFill>
              <a:latin typeface="Times New Roman"/>
            </a:endParaRPr>
          </a:p>
        </p:txBody>
      </p:sp>
    </p:spTree>
    <p:extLst>
      <p:ext uri="{BB962C8B-B14F-4D97-AF65-F5344CB8AC3E}">
        <p14:creationId xmlns:p14="http://schemas.microsoft.com/office/powerpoint/2010/main" val="2704469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C1FCF917-AD2B-485C-937C-8339A6E6A342}" type="slidenum">
              <a:t>‹Nº›</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8B7082F5-4DC8-47AB-8435-522C937599B0}" type="slidenum">
              <a:t>‹Nº›</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B57CF5C6-312E-40D1-9594-22DAB693821B}" type="slidenum">
              <a:t>‹Nº›</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0F1FECE5-D9B3-4D00-A7ED-79082A19CF3D}"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EE27AFCA-FCD4-4209-A150-77FAEDAD5009}" type="slidenum">
              <a:t>‹Nº›</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29"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30"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C93E990D-E3AC-446F-9B16-4520C53C45A2}" type="slidenum">
              <a:t>‹Nº›</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F4DD2AB9-D060-4B94-9F71-246713BF4D7F}" type="slidenum">
              <a:t>‹Nº›</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39FEF28E-BB88-411A-B6BD-4AF0C99A66F5}" type="slidenum">
              <a:t>‹Nº›</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446006AB-DC2B-4273-A7C7-387FAE0672CC}" type="slidenum">
              <a:t>‹Nº›</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8AC6AAC6-5B69-4BE3-BCCD-A4011F728733}" type="slidenum">
              <a:t>‹Nº›</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6C16F56C-2FF8-46CE-8E28-EF58552B5F44}" type="slidenum">
              <a:t>‹Nº›</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_">
    <p:spTree>
      <p:nvGrpSpPr>
        <p:cNvPr id="1" name=""/>
        <p:cNvGrpSpPr/>
        <p:nvPr/>
      </p:nvGrpSpPr>
      <p:grpSpPr>
        <a:xfrm>
          <a:off x="0" y="0"/>
          <a:ext cx="0" cy="0"/>
          <a:chOff x="0" y="0"/>
          <a:chExt cx="0" cy="0"/>
        </a:xfrm>
      </p:grpSpPr>
      <p:sp>
        <p:nvSpPr>
          <p:cNvPr id="2" name="PlaceHolder 1"/>
          <p:cNvSpPr>
            <a:spLocks noGrp="1"/>
          </p:cNvSpPr>
          <p:nvPr>
            <p:ph type="ftr" idx="35"/>
          </p:nvPr>
        </p:nvSpPr>
        <p:spPr/>
        <p:txBody>
          <a:bodyPr/>
          <a:lstStyle/>
          <a:p>
            <a:r>
              <a:t>Footer</a:t>
            </a:r>
          </a:p>
        </p:txBody>
      </p:sp>
      <p:sp>
        <p:nvSpPr>
          <p:cNvPr id="3" name="PlaceHolder 2"/>
          <p:cNvSpPr>
            <a:spLocks noGrp="1"/>
          </p:cNvSpPr>
          <p:nvPr>
            <p:ph type="sldNum" idx="36"/>
          </p:nvPr>
        </p:nvSpPr>
        <p:spPr/>
        <p:txBody>
          <a:bodyPr/>
          <a:lstStyle/>
          <a:p>
            <a:fld id="{DB8BC177-FBE9-465A-8C9E-616CC3AC7121}" type="slidenum">
              <a:t>‹Nº›</a:t>
            </a:fld>
            <a:endParaRPr/>
          </a:p>
        </p:txBody>
      </p:sp>
      <p:sp>
        <p:nvSpPr>
          <p:cNvPr id="4" name="PlaceHolder 3"/>
          <p:cNvSpPr>
            <a:spLocks noGrp="1"/>
          </p:cNvSpPr>
          <p:nvPr>
            <p:ph type="dt" idx="3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5" name="PlaceHolder 2"/>
          <p:cNvSpPr>
            <a:spLocks noGrp="1"/>
          </p:cNvSpPr>
          <p:nvPr>
            <p:ph type="ftr" idx="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272BC6D4-7C21-499C-9529-E1925C9E03FE}"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15B97140-5CD6-433A-8D60-D75F1146FE58}"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2680C612-833D-4E71-80B6-586222AE559E}"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13" name="PlaceHolder 2"/>
          <p:cNvSpPr>
            <a:spLocks noGrp="1"/>
          </p:cNvSpPr>
          <p:nvPr>
            <p:ph type="body"/>
          </p:nvPr>
        </p:nvSpPr>
        <p:spPr>
          <a:xfrm>
            <a:off x="609480" y="1604520"/>
            <a:ext cx="109717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BA60DFF7-529B-4BC7-96FD-2791925DF346}"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C9BA65C6-A774-4AC4-A7E7-A3FA452E96B7}"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23"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24"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1800" b="0" strike="noStrike" spc="-1">
                <a:solidFill>
                  <a:srgbClr val="000000"/>
                </a:solidFill>
                <a:latin typeface="Arial"/>
              </a:rPr>
              <a:t>Seventh Outline Level</a:t>
            </a: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6DF209EC-301C-4D14-9A8E-2C70DF31AFDD}"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185410AF-3951-4174-8B59-CFD2C30951AC}"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F4CCC8DE-246A-4089-9899-A5FE06A1F93F}"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AE58E0BE-8636-49F8-AF92-76F0FBFD7094}"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F701DF1E-59DD-4EE9-A8C6-A3536A04D976}"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strike="noStrike" spc="-1">
                <a:solidFill>
                  <a:srgbClr val="000000"/>
                </a:solidFill>
                <a:latin typeface="Times New Roman"/>
              </a:defRPr>
            </a:lvl1pPr>
          </a:lstStyle>
          <a:p>
            <a:pPr indent="0" algn="ctr">
              <a:lnSpc>
                <a:spcPct val="100000"/>
              </a:lnSpc>
              <a:buNone/>
              <a:tabLst>
                <a:tab pos="0" algn="l"/>
              </a:tabLst>
            </a:pPr>
            <a:r>
              <a:rPr lang="en-US" sz="1400" b="0" strike="noStrike" spc="-1">
                <a:solidFill>
                  <a:srgbClr val="000000"/>
                </a:solidFill>
                <a:latin typeface="Times New Roman"/>
              </a:rPr>
              <a:t>&lt;footer&gt;</a:t>
            </a: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strike="noStrike" spc="-1">
                <a:solidFill>
                  <a:schemeClr val="dk1">
                    <a:tint val="75000"/>
                  </a:schemeClr>
                </a:solidFill>
                <a:latin typeface="Calibri"/>
              </a:defRPr>
            </a:lvl1pPr>
          </a:lstStyle>
          <a:p>
            <a:pPr indent="0" algn="r" defTabSz="457200">
              <a:lnSpc>
                <a:spcPct val="100000"/>
              </a:lnSpc>
              <a:buNone/>
              <a:tabLst>
                <a:tab pos="0" algn="l"/>
              </a:tabLst>
            </a:pPr>
            <a:fld id="{C5C15A57-A490-4238-8AAA-DF9950ACC974}"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dt" idx="34"/>
          </p:nvPr>
        </p:nvSpPr>
        <p:spPr>
          <a:xfrm>
            <a:off x="457200" y="6356520"/>
            <a:ext cx="2133360" cy="364680"/>
          </a:xfrm>
          <a:prstGeom prst="rect">
            <a:avLst/>
          </a:prstGeom>
          <a:noFill/>
          <a:ln w="0">
            <a:noFill/>
          </a:ln>
        </p:spPr>
        <p:txBody>
          <a:bodyPr lIns="91440" tIns="45720" rIns="91440" bIns="45720" anchor="ctr">
            <a:noAutofit/>
          </a:bodyPr>
          <a:lstStyle>
            <a:lvl1pPr indent="0" defTabSz="457200">
              <a:lnSpc>
                <a:spcPct val="100000"/>
              </a:lnSpc>
              <a:buNone/>
              <a:defRPr lang="en-US" sz="1200" b="0" strike="noStrike" spc="-1">
                <a:solidFill>
                  <a:schemeClr val="dk1">
                    <a:tint val="75000"/>
                  </a:schemeClr>
                </a:solidFill>
                <a:latin typeface="Calibri"/>
              </a:defRPr>
            </a:lvl1pPr>
          </a:lstStyle>
          <a:p>
            <a:pPr indent="0" defTabSz="457200">
              <a:lnSpc>
                <a:spcPct val="100000"/>
              </a:lnSpc>
              <a:buNone/>
            </a:pPr>
            <a:r>
              <a:rPr lang="en-US" sz="1200" b="0" strike="noStrike" spc="-1">
                <a:solidFill>
                  <a:schemeClr val="dk1">
                    <a:tint val="75000"/>
                  </a:schemeClr>
                </a:solidFill>
                <a:latin typeface="Calibri"/>
              </a:rPr>
              <a:t>&lt;date/time&gt;</a:t>
            </a:r>
            <a:endParaRPr lang="en-US" sz="1200" b="0" strike="noStrike" spc="-1">
              <a:solidFill>
                <a:srgbClr val="000000"/>
              </a:solidFill>
              <a:latin typeface="Times New Roman"/>
            </a:endParaRPr>
          </a:p>
        </p:txBody>
      </p:sp>
      <p:sp>
        <p:nvSpPr>
          <p:cNvPr id="51" name="PlaceHolder 2"/>
          <p:cNvSpPr>
            <a:spLocks noGrp="1"/>
          </p:cNvSpPr>
          <p:nvPr>
            <p:ph type="ftr" idx="3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2" name="PlaceHolder 3"/>
          <p:cNvSpPr>
            <a:spLocks noGrp="1"/>
          </p:cNvSpPr>
          <p:nvPr>
            <p:ph type="sldNum" idx="3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strike="noStrike" spc="-1">
                <a:solidFill>
                  <a:schemeClr val="dk1">
                    <a:tint val="75000"/>
                  </a:schemeClr>
                </a:solidFill>
                <a:latin typeface="Calibri"/>
              </a:defRPr>
            </a:lvl1pPr>
          </a:lstStyle>
          <a:p>
            <a:pPr indent="0" algn="r" defTabSz="457200">
              <a:lnSpc>
                <a:spcPct val="100000"/>
              </a:lnSpc>
              <a:buNone/>
            </a:pPr>
            <a:fld id="{938CA698-1159-48F0-B8FB-359BE74D4A51}" type="slidenum">
              <a:rPr lang="en-US" sz="1200" b="0" strike="noStrike" spc="-1">
                <a:solidFill>
                  <a:schemeClr val="dk1">
                    <a:tint val="75000"/>
                  </a:schemeClr>
                </a:solidFill>
                <a:latin typeface="Calibri"/>
              </a:rPr>
              <a:t>‹Nº›</a:t>
            </a:fld>
            <a:endParaRPr lang="en-US" sz="1200" b="0" strike="noStrike" spc="-1">
              <a:solidFill>
                <a:srgbClr val="000000"/>
              </a:solidFill>
              <a:latin typeface="Times New Roman"/>
            </a:endParaRPr>
          </a:p>
        </p:txBody>
      </p:sp>
      <p:sp>
        <p:nvSpPr>
          <p:cNvPr id="53"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Click to edit the title text format</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8.jpeg"/><Relationship Id="rId4" Type="http://schemas.openxmlformats.org/officeDocument/2006/relationships/image" Target="../media/image3.png"/><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61" name="Rectangle 1"/>
          <p:cNvSpPr/>
          <p:nvPr/>
        </p:nvSpPr>
        <p:spPr>
          <a:xfrm>
            <a:off x="0" y="2560320"/>
            <a:ext cx="12191040" cy="500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760" rIns="90000" bIns="5760" anchor="ctr">
            <a:noAutofit/>
          </a:bodyPr>
          <a:lstStyle/>
          <a:p>
            <a:pPr algn="ctr" defTabSz="457200">
              <a:lnSpc>
                <a:spcPct val="100000"/>
              </a:lnSpc>
            </a:pPr>
            <a:endParaRPr lang="en-US" sz="1800" b="0" strike="noStrike" spc="-1">
              <a:solidFill>
                <a:schemeClr val="lt1"/>
              </a:solidFill>
              <a:latin typeface="Calibri"/>
            </a:endParaRPr>
          </a:p>
        </p:txBody>
      </p:sp>
      <p:sp>
        <p:nvSpPr>
          <p:cNvPr id="62" name="TextBox 2"/>
          <p:cNvSpPr/>
          <p:nvPr/>
        </p:nvSpPr>
        <p:spPr>
          <a:xfrm>
            <a:off x="914400" y="914400"/>
            <a:ext cx="10332000" cy="1827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800" b="1" strike="noStrike" spc="-1">
                <a:solidFill>
                  <a:srgbClr val="FFFFFF"/>
                </a:solidFill>
                <a:latin typeface="Arial"/>
              </a:rPr>
              <a:t>Exploring Large Language Models</a:t>
            </a:r>
            <a:br>
              <a:rPr sz="3800"/>
            </a:br>
            <a:r>
              <a:rPr lang="en-US" sz="3800" b="1" strike="noStrike" spc="-1">
                <a:solidFill>
                  <a:srgbClr val="FFFFFF"/>
                </a:solidFill>
                <a:latin typeface="Arial"/>
              </a:rPr>
              <a:t>for Direct Trajectory Generation</a:t>
            </a:r>
            <a:br>
              <a:rPr sz="3800"/>
            </a:br>
            <a:r>
              <a:rPr lang="en-US" sz="3800" b="1" strike="noStrike" spc="-1">
                <a:solidFill>
                  <a:srgbClr val="FFFFFF"/>
                </a:solidFill>
                <a:latin typeface="Arial"/>
              </a:rPr>
              <a:t>in Robotic Manipulation</a:t>
            </a:r>
            <a:endParaRPr lang="en-US" sz="3800" b="0" strike="noStrike" spc="-1">
              <a:solidFill>
                <a:srgbClr val="FFFFFF"/>
              </a:solidFill>
              <a:latin typeface="Arial"/>
            </a:endParaRPr>
          </a:p>
        </p:txBody>
      </p:sp>
      <p:sp>
        <p:nvSpPr>
          <p:cNvPr id="63" name="TextBox 3"/>
          <p:cNvSpPr/>
          <p:nvPr/>
        </p:nvSpPr>
        <p:spPr>
          <a:xfrm>
            <a:off x="914400" y="3017520"/>
            <a:ext cx="10332000" cy="424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2200" b="0" strike="noStrike" spc="-1">
                <a:solidFill>
                  <a:srgbClr val="D1D5DB"/>
                </a:solidFill>
                <a:latin typeface="Arial"/>
              </a:rPr>
              <a:t>LLM-Driven Zero-Shot Pick-and-Place with the Sawyer Robot</a:t>
            </a:r>
            <a:endParaRPr lang="en-US" sz="2200" b="0" strike="noStrike" spc="-1">
              <a:solidFill>
                <a:srgbClr val="FFFFFF"/>
              </a:solidFill>
              <a:latin typeface="Arial"/>
            </a:endParaRPr>
          </a:p>
        </p:txBody>
      </p:sp>
      <p:sp>
        <p:nvSpPr>
          <p:cNvPr id="64" name="TextBox 4"/>
          <p:cNvSpPr/>
          <p:nvPr/>
        </p:nvSpPr>
        <p:spPr>
          <a:xfrm>
            <a:off x="914400" y="4389120"/>
            <a:ext cx="103320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a:solidFill>
                  <a:srgbClr val="9CA3AF"/>
                </a:solidFill>
                <a:latin typeface="Arial"/>
              </a:rPr>
              <a:t>Jun  ·  Sergio  ·  David  ·  Cadavid  ·  Jossua</a:t>
            </a:r>
            <a:endParaRPr lang="en-US" sz="1800" b="0" strike="noStrike" spc="-1">
              <a:solidFill>
                <a:srgbClr val="FFFFFF"/>
              </a:solidFill>
              <a:latin typeface="Arial"/>
            </a:endParaRPr>
          </a:p>
        </p:txBody>
      </p:sp>
      <p:sp>
        <p:nvSpPr>
          <p:cNvPr id="65" name="TextBox 5"/>
          <p:cNvSpPr/>
          <p:nvPr/>
        </p:nvSpPr>
        <p:spPr>
          <a:xfrm>
            <a:off x="914400" y="4937760"/>
            <a:ext cx="1033200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600" b="0" strike="noStrike" spc="-1">
                <a:solidFill>
                  <a:srgbClr val="9CA3AF"/>
                </a:solidFill>
                <a:latin typeface="Arial"/>
              </a:rPr>
              <a:t>Robotics — Politecnico di Torino</a:t>
            </a:r>
            <a:endParaRPr lang="en-US" sz="160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66" name="TextBox 1"/>
          <p:cNvSpPr/>
          <p:nvPr/>
        </p:nvSpPr>
        <p:spPr>
          <a:xfrm>
            <a:off x="731520" y="320040"/>
            <a:ext cx="10057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Why Large Language Models for Robotics?</a:t>
            </a:r>
            <a:endParaRPr lang="en-US" sz="3000" b="0" strike="noStrike" spc="-1">
              <a:solidFill>
                <a:srgbClr val="FFFFFF"/>
              </a:solidFill>
              <a:latin typeface="Arial"/>
            </a:endParaRPr>
          </a:p>
        </p:txBody>
      </p:sp>
      <p:sp>
        <p:nvSpPr>
          <p:cNvPr id="67" name="Rectangle 2"/>
          <p:cNvSpPr/>
          <p:nvPr/>
        </p:nvSpPr>
        <p:spPr>
          <a:xfrm>
            <a:off x="731520" y="914400"/>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sp>
        <p:nvSpPr>
          <p:cNvPr id="68" name="TextBox 3"/>
          <p:cNvSpPr/>
          <p:nvPr/>
        </p:nvSpPr>
        <p:spPr>
          <a:xfrm>
            <a:off x="914400" y="128016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Traditional robotic manipulation relies on hand-crafted trajectories: a programmer must explicitly define every waypoint, every gripper angle, every timing parameter. This process is slow, error-prone, and breaks whenever the environment changes.</a:t>
            </a:r>
            <a:endParaRPr lang="en-US" sz="1500" b="0" strike="noStrike" spc="-1">
              <a:solidFill>
                <a:srgbClr val="FFFFFF"/>
              </a:solidFill>
              <a:latin typeface="Arial"/>
            </a:endParaRPr>
          </a:p>
        </p:txBody>
      </p:sp>
      <p:sp>
        <p:nvSpPr>
          <p:cNvPr id="69" name="TextBox 4"/>
          <p:cNvSpPr/>
          <p:nvPr/>
        </p:nvSpPr>
        <p:spPr>
          <a:xfrm>
            <a:off x="914400" y="178308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Recent work (Kwon et al., Liang et al., Vemprala et al.) has shown that LLMs can write robot control code directly from natural language descriptions — zero-shot, without any fine-tuning or task-specific training.</a:t>
            </a:r>
            <a:endParaRPr lang="en-US" sz="1500" b="0" strike="noStrike" spc="-1">
              <a:solidFill>
                <a:srgbClr val="FFFFFF"/>
              </a:solidFill>
              <a:latin typeface="Arial"/>
            </a:endParaRPr>
          </a:p>
        </p:txBody>
      </p:sp>
      <p:sp>
        <p:nvSpPr>
          <p:cNvPr id="70" name="TextBox 5"/>
          <p:cNvSpPr/>
          <p:nvPr/>
        </p:nvSpPr>
        <p:spPr>
          <a:xfrm>
            <a:off x="914400" y="228600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Instead of predicting joint angles or torques, these models generate Python code that calls robotics libraries (IK solvers, motion planners, perception pipelines). This makes the output interpretable, debuggable, and safe.</a:t>
            </a:r>
            <a:endParaRPr lang="en-US" sz="1500" b="0" strike="noStrike" spc="-1">
              <a:solidFill>
                <a:srgbClr val="FFFFFF"/>
              </a:solidFill>
              <a:latin typeface="Arial"/>
            </a:endParaRPr>
          </a:p>
        </p:txBody>
      </p:sp>
      <p:sp>
        <p:nvSpPr>
          <p:cNvPr id="71" name="TextBox 6"/>
          <p:cNvSpPr/>
          <p:nvPr/>
        </p:nvSpPr>
        <p:spPr>
          <a:xfrm>
            <a:off x="914400" y="278892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Our goal: apply this paradigm to a Sawyer robot in simulation, using a locally-run LLM (Qwen2.5-Coder 3B) to generate pick-and-place trajectories from user-provided natural language instructions.</a:t>
            </a:r>
            <a:endParaRPr lang="en-US" sz="1500" b="0" strike="noStrike" spc="-1">
              <a:solidFill>
                <a:srgbClr val="FFFFFF"/>
              </a:solidFill>
              <a:latin typeface="Arial"/>
            </a:endParaRPr>
          </a:p>
        </p:txBody>
      </p:sp>
      <p:sp>
        <p:nvSpPr>
          <p:cNvPr id="72" name="TextBox 7"/>
          <p:cNvSpPr/>
          <p:nvPr/>
        </p:nvSpPr>
        <p:spPr>
          <a:xfrm>
            <a:off x="731520" y="6035040"/>
            <a:ext cx="10057680" cy="27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200" b="0" strike="noStrike" spc="-1">
                <a:solidFill>
                  <a:srgbClr val="9CA3AF"/>
                </a:solidFill>
                <a:latin typeface="Arial"/>
              </a:rPr>
              <a:t>Key insight: the LLM acts as a code generator, not a motion predictor — it writes programs, not trajectories.</a:t>
            </a:r>
            <a:endParaRPr lang="en-US" sz="1200" b="0" strike="noStrike" spc="-1">
              <a:solidFill>
                <a:srgbClr val="FFFFFF"/>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73" name="TextBox 1"/>
          <p:cNvSpPr/>
          <p:nvPr/>
        </p:nvSpPr>
        <p:spPr>
          <a:xfrm>
            <a:off x="731520" y="320040"/>
            <a:ext cx="10057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System Architecture</a:t>
            </a:r>
            <a:endParaRPr lang="en-US" sz="3000" b="0" strike="noStrike" spc="-1">
              <a:solidFill>
                <a:srgbClr val="FFFFFF"/>
              </a:solidFill>
              <a:latin typeface="Arial"/>
            </a:endParaRPr>
          </a:p>
        </p:txBody>
      </p:sp>
      <p:sp>
        <p:nvSpPr>
          <p:cNvPr id="74" name="Rectangle 2"/>
          <p:cNvSpPr/>
          <p:nvPr/>
        </p:nvSpPr>
        <p:spPr>
          <a:xfrm>
            <a:off x="731520" y="914400"/>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sp>
        <p:nvSpPr>
          <p:cNvPr id="75" name="TextBox 3"/>
          <p:cNvSpPr/>
          <p:nvPr/>
        </p:nvSpPr>
        <p:spPr>
          <a:xfrm>
            <a:off x="914400" y="1188720"/>
            <a:ext cx="10514880" cy="577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600" b="0" strike="noStrike" spc="-1">
                <a:solidFill>
                  <a:srgbClr val="D1D5DB"/>
                </a:solidFill>
                <a:latin typeface="Arial"/>
              </a:rPr>
              <a:t>The system is divided into five sequential stages. Each stage produces the input for the next, forming a complete pipeline from user instruction to robotic action.</a:t>
            </a:r>
            <a:endParaRPr lang="en-US" sz="1600" b="0" strike="noStrike" spc="-1">
              <a:solidFill>
                <a:srgbClr val="FFFFFF"/>
              </a:solidFill>
              <a:latin typeface="Arial"/>
            </a:endParaRPr>
          </a:p>
        </p:txBody>
      </p:sp>
      <p:sp>
        <p:nvSpPr>
          <p:cNvPr id="76" name="Rectangle 4"/>
          <p:cNvSpPr/>
          <p:nvPr/>
        </p:nvSpPr>
        <p:spPr>
          <a:xfrm>
            <a:off x="548640" y="2377440"/>
            <a:ext cx="2028240" cy="1508400"/>
          </a:xfrm>
          <a:prstGeom prst="rect">
            <a:avLst/>
          </a:prstGeom>
          <a:solidFill>
            <a:srgbClr val="374151"/>
          </a:solidFill>
          <a:ln>
            <a:solidFill>
              <a:srgbClr val="6B728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77" name="TextBox 5"/>
          <p:cNvSpPr/>
          <p:nvPr/>
        </p:nvSpPr>
        <p:spPr>
          <a:xfrm>
            <a:off x="645480" y="2503080"/>
            <a:ext cx="183456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400" b="1" strike="noStrike" spc="-1">
                <a:solidFill>
                  <a:srgbClr val="FFFFFF"/>
                </a:solidFill>
                <a:latin typeface="Arial"/>
              </a:rPr>
              <a:t>SIMULATION</a:t>
            </a:r>
            <a:endParaRPr lang="en-US" sz="1400" b="0" strike="noStrike" spc="-1">
              <a:solidFill>
                <a:srgbClr val="FFFFFF"/>
              </a:solidFill>
              <a:latin typeface="Arial"/>
            </a:endParaRPr>
          </a:p>
        </p:txBody>
      </p:sp>
      <p:sp>
        <p:nvSpPr>
          <p:cNvPr id="78" name="TextBox 6"/>
          <p:cNvSpPr/>
          <p:nvPr/>
        </p:nvSpPr>
        <p:spPr>
          <a:xfrm>
            <a:off x="645480" y="2943360"/>
            <a:ext cx="1834560" cy="592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100" b="0" strike="noStrike" spc="-1">
                <a:solidFill>
                  <a:srgbClr val="D1D5DB"/>
                </a:solidFill>
                <a:latin typeface="Arial"/>
              </a:rPr>
              <a:t>Gazebo + Sawyer</a:t>
            </a:r>
            <a:br>
              <a:rPr sz="1100"/>
            </a:br>
            <a:r>
              <a:rPr lang="en-US" sz="1100" b="0" strike="noStrike" spc="-1">
                <a:solidFill>
                  <a:srgbClr val="D1D5DB"/>
                </a:solidFill>
                <a:latin typeface="Arial"/>
              </a:rPr>
              <a:t>Objects spawning</a:t>
            </a:r>
            <a:br>
              <a:rPr sz="1100"/>
            </a:br>
            <a:r>
              <a:rPr lang="en-US" sz="1100" b="0" strike="noStrike" spc="-1">
                <a:solidFill>
                  <a:srgbClr val="D1D5DB"/>
                </a:solidFill>
                <a:latin typeface="Arial"/>
              </a:rPr>
              <a:t>Safe pose &amp; scan</a:t>
            </a:r>
            <a:endParaRPr lang="en-US" sz="1100" b="0" strike="noStrike" spc="-1">
              <a:solidFill>
                <a:srgbClr val="FFFFFF"/>
              </a:solidFill>
              <a:latin typeface="Arial"/>
            </a:endParaRPr>
          </a:p>
        </p:txBody>
      </p:sp>
      <p:sp>
        <p:nvSpPr>
          <p:cNvPr id="79" name="TextBox 7"/>
          <p:cNvSpPr/>
          <p:nvPr/>
        </p:nvSpPr>
        <p:spPr>
          <a:xfrm>
            <a:off x="2384280" y="2880720"/>
            <a:ext cx="5788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2800" b="0" strike="noStrike" spc="-1">
                <a:solidFill>
                  <a:srgbClr val="6B7280"/>
                </a:solidFill>
                <a:latin typeface="Arial"/>
              </a:rPr>
              <a:t>→</a:t>
            </a:r>
            <a:endParaRPr lang="en-US" sz="2800" b="0" strike="noStrike" spc="-1">
              <a:solidFill>
                <a:srgbClr val="FFFFFF"/>
              </a:solidFill>
              <a:latin typeface="Arial"/>
            </a:endParaRPr>
          </a:p>
        </p:txBody>
      </p:sp>
      <p:sp>
        <p:nvSpPr>
          <p:cNvPr id="80" name="Rectangle 8"/>
          <p:cNvSpPr/>
          <p:nvPr/>
        </p:nvSpPr>
        <p:spPr>
          <a:xfrm>
            <a:off x="2819160" y="2377440"/>
            <a:ext cx="2028240" cy="1508400"/>
          </a:xfrm>
          <a:prstGeom prst="rect">
            <a:avLst/>
          </a:prstGeom>
          <a:solidFill>
            <a:srgbClr val="374151"/>
          </a:solidFill>
          <a:ln>
            <a:solidFill>
              <a:srgbClr val="6B728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81" name="TextBox 9"/>
          <p:cNvSpPr/>
          <p:nvPr/>
        </p:nvSpPr>
        <p:spPr>
          <a:xfrm>
            <a:off x="2915640" y="2503080"/>
            <a:ext cx="183492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400" b="1" strike="noStrike" spc="-1">
                <a:solidFill>
                  <a:srgbClr val="FFFFFF"/>
                </a:solidFill>
                <a:latin typeface="Arial"/>
              </a:rPr>
              <a:t>PERCEPTION</a:t>
            </a:r>
            <a:endParaRPr lang="en-US" sz="1400" b="0" strike="noStrike" spc="-1">
              <a:solidFill>
                <a:srgbClr val="FFFFFF"/>
              </a:solidFill>
              <a:latin typeface="Arial"/>
            </a:endParaRPr>
          </a:p>
        </p:txBody>
      </p:sp>
      <p:sp>
        <p:nvSpPr>
          <p:cNvPr id="82" name="TextBox 10"/>
          <p:cNvSpPr/>
          <p:nvPr/>
        </p:nvSpPr>
        <p:spPr>
          <a:xfrm>
            <a:off x="2915640" y="2943360"/>
            <a:ext cx="1834920" cy="592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100" b="0" strike="noStrike" spc="-1">
                <a:solidFill>
                  <a:srgbClr val="D1D5DB"/>
                </a:solidFill>
                <a:latin typeface="Arial"/>
              </a:rPr>
              <a:t>YOLOv8 detection</a:t>
            </a:r>
            <a:br>
              <a:rPr sz="1100"/>
            </a:br>
            <a:r>
              <a:rPr lang="en-US" sz="1100" b="0" strike="noStrike" spc="-1">
                <a:solidFill>
                  <a:srgbClr val="D1D5DB"/>
                </a:solidFill>
                <a:latin typeface="Arial"/>
              </a:rPr>
              <a:t>frame2world</a:t>
            </a:r>
            <a:br>
              <a:rPr sz="1100"/>
            </a:br>
            <a:r>
              <a:rPr lang="en-US" sz="1100" b="0" strike="noStrike" spc="-1">
                <a:solidFill>
                  <a:srgbClr val="D1D5DB"/>
                </a:solidFill>
                <a:latin typeface="Arial"/>
              </a:rPr>
              <a:t>2D → 3D coords</a:t>
            </a:r>
            <a:endParaRPr lang="en-US" sz="1100" b="0" strike="noStrike" spc="-1">
              <a:solidFill>
                <a:srgbClr val="FFFFFF"/>
              </a:solidFill>
              <a:latin typeface="Arial"/>
            </a:endParaRPr>
          </a:p>
        </p:txBody>
      </p:sp>
      <p:sp>
        <p:nvSpPr>
          <p:cNvPr id="83" name="TextBox 11"/>
          <p:cNvSpPr/>
          <p:nvPr/>
        </p:nvSpPr>
        <p:spPr>
          <a:xfrm>
            <a:off x="4654800" y="2880720"/>
            <a:ext cx="5788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2800" b="0" strike="noStrike" spc="-1">
                <a:solidFill>
                  <a:srgbClr val="6B7280"/>
                </a:solidFill>
                <a:latin typeface="Arial"/>
              </a:rPr>
              <a:t>→</a:t>
            </a:r>
            <a:endParaRPr lang="en-US" sz="2800" b="0" strike="noStrike" spc="-1">
              <a:solidFill>
                <a:srgbClr val="FFFFFF"/>
              </a:solidFill>
              <a:latin typeface="Arial"/>
            </a:endParaRPr>
          </a:p>
        </p:txBody>
      </p:sp>
      <p:sp>
        <p:nvSpPr>
          <p:cNvPr id="84" name="Rectangle 12"/>
          <p:cNvSpPr/>
          <p:nvPr/>
        </p:nvSpPr>
        <p:spPr>
          <a:xfrm>
            <a:off x="5089680" y="2377440"/>
            <a:ext cx="2027520" cy="1508400"/>
          </a:xfrm>
          <a:prstGeom prst="rect">
            <a:avLst/>
          </a:prstGeom>
          <a:solidFill>
            <a:srgbClr val="374151"/>
          </a:solidFill>
          <a:ln>
            <a:solidFill>
              <a:srgbClr val="6B728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85" name="TextBox 13"/>
          <p:cNvSpPr/>
          <p:nvPr/>
        </p:nvSpPr>
        <p:spPr>
          <a:xfrm>
            <a:off x="5186160" y="2503080"/>
            <a:ext cx="183456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400" b="1" strike="noStrike" spc="-1">
                <a:solidFill>
                  <a:srgbClr val="FFFFFF"/>
                </a:solidFill>
                <a:latin typeface="Arial"/>
              </a:rPr>
              <a:t>LLM</a:t>
            </a:r>
            <a:endParaRPr lang="en-US" sz="1400" b="0" strike="noStrike" spc="-1">
              <a:solidFill>
                <a:srgbClr val="FFFFFF"/>
              </a:solidFill>
              <a:latin typeface="Arial"/>
            </a:endParaRPr>
          </a:p>
        </p:txBody>
      </p:sp>
      <p:sp>
        <p:nvSpPr>
          <p:cNvPr id="86" name="TextBox 14"/>
          <p:cNvSpPr/>
          <p:nvPr/>
        </p:nvSpPr>
        <p:spPr>
          <a:xfrm>
            <a:off x="5186160" y="2943360"/>
            <a:ext cx="1834560" cy="592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100" b="0" strike="noStrike" spc="-1">
                <a:solidFill>
                  <a:srgbClr val="D1D5DB"/>
                </a:solidFill>
                <a:latin typeface="Arial"/>
              </a:rPr>
              <a:t>System prompt</a:t>
            </a:r>
            <a:br>
              <a:rPr sz="1100"/>
            </a:br>
            <a:r>
              <a:rPr lang="en-US" sz="1100" b="0" strike="noStrike" spc="-1">
                <a:solidFill>
                  <a:srgbClr val="D1D5DB"/>
                </a:solidFill>
                <a:latin typeface="Arial"/>
              </a:rPr>
              <a:t>Qwen2.5-Coder</a:t>
            </a:r>
            <a:br>
              <a:rPr sz="1100"/>
            </a:br>
            <a:r>
              <a:rPr lang="en-US" sz="1100" b="0" strike="noStrike" spc="-1">
                <a:solidFill>
                  <a:srgbClr val="D1D5DB"/>
                </a:solidFill>
                <a:latin typeface="Arial"/>
              </a:rPr>
              <a:t>Code generation</a:t>
            </a:r>
            <a:endParaRPr lang="en-US" sz="1100" b="0" strike="noStrike" spc="-1">
              <a:solidFill>
                <a:srgbClr val="FFFFFF"/>
              </a:solidFill>
              <a:latin typeface="Arial"/>
            </a:endParaRPr>
          </a:p>
        </p:txBody>
      </p:sp>
      <p:sp>
        <p:nvSpPr>
          <p:cNvPr id="87" name="TextBox 15"/>
          <p:cNvSpPr/>
          <p:nvPr/>
        </p:nvSpPr>
        <p:spPr>
          <a:xfrm>
            <a:off x="6924960" y="2880720"/>
            <a:ext cx="579240" cy="516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endParaRPr lang="en-US" sz="1800" b="0" strike="noStrike" spc="-1">
              <a:solidFill>
                <a:srgbClr val="FFFFFF"/>
              </a:solidFill>
              <a:latin typeface="Arial"/>
            </a:endParaRPr>
          </a:p>
        </p:txBody>
      </p:sp>
      <p:sp>
        <p:nvSpPr>
          <p:cNvPr id="88" name="Rectangle 16"/>
          <p:cNvSpPr/>
          <p:nvPr/>
        </p:nvSpPr>
        <p:spPr>
          <a:xfrm>
            <a:off x="2787480" y="4434840"/>
            <a:ext cx="2028240" cy="1508400"/>
          </a:xfrm>
          <a:prstGeom prst="rect">
            <a:avLst/>
          </a:prstGeom>
          <a:solidFill>
            <a:srgbClr val="374151"/>
          </a:solidFill>
          <a:ln>
            <a:solidFill>
              <a:srgbClr val="6B728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89" name="TextBox 17"/>
          <p:cNvSpPr/>
          <p:nvPr/>
        </p:nvSpPr>
        <p:spPr>
          <a:xfrm>
            <a:off x="2884320" y="4560480"/>
            <a:ext cx="183492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400" b="1" strike="noStrike" spc="-1">
                <a:solidFill>
                  <a:srgbClr val="FFFFFF"/>
                </a:solidFill>
                <a:latin typeface="Arial"/>
              </a:rPr>
              <a:t>MOTION</a:t>
            </a:r>
            <a:endParaRPr lang="en-US" sz="1400" b="0" strike="noStrike" spc="-1">
              <a:solidFill>
                <a:srgbClr val="FFFFFF"/>
              </a:solidFill>
              <a:latin typeface="Arial"/>
            </a:endParaRPr>
          </a:p>
        </p:txBody>
      </p:sp>
      <p:sp>
        <p:nvSpPr>
          <p:cNvPr id="90" name="TextBox 18"/>
          <p:cNvSpPr/>
          <p:nvPr/>
        </p:nvSpPr>
        <p:spPr>
          <a:xfrm>
            <a:off x="2884320" y="5000760"/>
            <a:ext cx="1834920" cy="592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100" b="0" strike="noStrike" spc="-1">
                <a:solidFill>
                  <a:srgbClr val="D1D5DB"/>
                </a:solidFill>
                <a:latin typeface="Arial"/>
              </a:rPr>
              <a:t>TRAC-IK solver</a:t>
            </a:r>
            <a:br>
              <a:rPr sz="1100"/>
            </a:br>
            <a:r>
              <a:rPr lang="en-US" sz="1100" b="0" strike="noStrike" spc="-1">
                <a:solidFill>
                  <a:srgbClr val="D1D5DB"/>
                </a:solidFill>
                <a:latin typeface="Arial"/>
              </a:rPr>
              <a:t>Waypoint execution</a:t>
            </a:r>
            <a:br>
              <a:rPr sz="1100"/>
            </a:br>
            <a:r>
              <a:rPr lang="en-US" sz="1100" b="0" strike="noStrike" spc="-1">
                <a:solidFill>
                  <a:srgbClr val="D1D5DB"/>
                </a:solidFill>
                <a:latin typeface="Arial"/>
              </a:rPr>
              <a:t>Gripper control</a:t>
            </a:r>
            <a:endParaRPr lang="en-US" sz="1100" b="0" strike="noStrike" spc="-1">
              <a:solidFill>
                <a:srgbClr val="FFFFFF"/>
              </a:solidFill>
              <a:latin typeface="Arial"/>
            </a:endParaRPr>
          </a:p>
        </p:txBody>
      </p:sp>
      <p:sp>
        <p:nvSpPr>
          <p:cNvPr id="91" name="TextBox 19"/>
          <p:cNvSpPr/>
          <p:nvPr/>
        </p:nvSpPr>
        <p:spPr>
          <a:xfrm>
            <a:off x="4623480" y="4938120"/>
            <a:ext cx="57888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2800" b="0" strike="noStrike" spc="-1">
                <a:solidFill>
                  <a:srgbClr val="6B7280"/>
                </a:solidFill>
                <a:latin typeface="Arial"/>
              </a:rPr>
              <a:t>→</a:t>
            </a:r>
            <a:endParaRPr lang="en-US" sz="2800" b="0" strike="noStrike" spc="-1">
              <a:solidFill>
                <a:srgbClr val="FFFFFF"/>
              </a:solidFill>
              <a:latin typeface="Arial"/>
            </a:endParaRPr>
          </a:p>
        </p:txBody>
      </p:sp>
      <p:sp>
        <p:nvSpPr>
          <p:cNvPr id="92" name="Rectangle 20"/>
          <p:cNvSpPr/>
          <p:nvPr/>
        </p:nvSpPr>
        <p:spPr>
          <a:xfrm>
            <a:off x="5058000" y="4434840"/>
            <a:ext cx="2028240" cy="1508400"/>
          </a:xfrm>
          <a:prstGeom prst="rect">
            <a:avLst/>
          </a:prstGeom>
          <a:solidFill>
            <a:srgbClr val="374151"/>
          </a:solidFill>
          <a:ln>
            <a:solidFill>
              <a:srgbClr val="6B728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93" name="TextBox 21"/>
          <p:cNvSpPr/>
          <p:nvPr/>
        </p:nvSpPr>
        <p:spPr>
          <a:xfrm>
            <a:off x="5154840" y="4560480"/>
            <a:ext cx="183456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400" b="1" strike="noStrike" spc="-1">
                <a:solidFill>
                  <a:srgbClr val="FFFFFF"/>
                </a:solidFill>
                <a:latin typeface="Arial"/>
              </a:rPr>
              <a:t>ROBOT</a:t>
            </a:r>
            <a:endParaRPr lang="en-US" sz="1400" b="0" strike="noStrike" spc="-1">
              <a:solidFill>
                <a:srgbClr val="FFFFFF"/>
              </a:solidFill>
              <a:latin typeface="Arial"/>
            </a:endParaRPr>
          </a:p>
        </p:txBody>
      </p:sp>
      <p:sp>
        <p:nvSpPr>
          <p:cNvPr id="94" name="TextBox 22"/>
          <p:cNvSpPr/>
          <p:nvPr/>
        </p:nvSpPr>
        <p:spPr>
          <a:xfrm>
            <a:off x="5154840" y="5000760"/>
            <a:ext cx="1834560" cy="592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100" b="0" strike="noStrike" spc="-1">
                <a:solidFill>
                  <a:srgbClr val="D1D5DB"/>
                </a:solidFill>
                <a:latin typeface="Arial"/>
              </a:rPr>
              <a:t>intera_interface</a:t>
            </a:r>
            <a:br>
              <a:rPr sz="1100"/>
            </a:br>
            <a:r>
              <a:rPr lang="en-US" sz="1100" b="0" strike="noStrike" spc="-1">
                <a:solidFill>
                  <a:srgbClr val="D1D5DB"/>
                </a:solidFill>
                <a:latin typeface="Arial"/>
              </a:rPr>
              <a:t>Joint publishers</a:t>
            </a:r>
            <a:br>
              <a:rPr sz="1100"/>
            </a:br>
            <a:r>
              <a:rPr lang="en-US" sz="1100" b="0" strike="noStrike" spc="-1">
                <a:solidFill>
                  <a:srgbClr val="D1D5DB"/>
                </a:solidFill>
                <a:latin typeface="Arial"/>
              </a:rPr>
              <a:t>ROS topics</a:t>
            </a:r>
            <a:endParaRPr lang="en-US" sz="1100" b="0" strike="noStrike" spc="-1">
              <a:solidFill>
                <a:srgbClr val="FFFFFF"/>
              </a:solidFill>
              <a:latin typeface="Arial"/>
            </a:endParaRPr>
          </a:p>
        </p:txBody>
      </p:sp>
      <p:pic>
        <p:nvPicPr>
          <p:cNvPr id="95" name="Imagen 94"/>
          <p:cNvPicPr/>
          <p:nvPr/>
        </p:nvPicPr>
        <p:blipFill>
          <a:blip r:embed="rId2"/>
          <a:stretch/>
        </p:blipFill>
        <p:spPr>
          <a:xfrm>
            <a:off x="8001000" y="1690560"/>
            <a:ext cx="3885840" cy="4938480"/>
          </a:xfrm>
          <a:prstGeom prst="rect">
            <a:avLst/>
          </a:prstGeom>
          <a:ln w="0">
            <a:noFill/>
          </a:ln>
        </p:spPr>
      </p:pic>
      <p:cxnSp>
        <p:nvCxnSpPr>
          <p:cNvPr id="96" name="Conector: angular 95"/>
          <p:cNvCxnSpPr>
            <a:stCxn id="84" idx="3"/>
            <a:endCxn id="88" idx="1"/>
          </p:cNvCxnSpPr>
          <p:nvPr/>
        </p:nvCxnSpPr>
        <p:spPr>
          <a:xfrm flipH="1">
            <a:off x="2787480" y="3131640"/>
            <a:ext cx="4330080" cy="2057760"/>
          </a:xfrm>
          <a:prstGeom prst="bentConnector5">
            <a:avLst>
              <a:gd name="adj1" fmla="val -4165"/>
              <a:gd name="adj2" fmla="val 50026"/>
              <a:gd name="adj3" fmla="val 106294"/>
            </a:avLst>
          </a:prstGeom>
          <a:ln w="0">
            <a:solidFill>
              <a:srgbClr val="6B7280"/>
            </a:solidFill>
          </a:ln>
        </p:spPr>
      </p:cxnSp>
      <p:sp>
        <p:nvSpPr>
          <p:cNvPr id="97" name="Conector recto 96"/>
          <p:cNvSpPr/>
          <p:nvPr/>
        </p:nvSpPr>
        <p:spPr>
          <a:xfrm>
            <a:off x="2514600" y="5189040"/>
            <a:ext cx="276840" cy="360"/>
          </a:xfrm>
          <a:prstGeom prst="line">
            <a:avLst/>
          </a:prstGeom>
          <a:ln w="0">
            <a:solidFill>
              <a:srgbClr val="6B7280"/>
            </a:solidFill>
            <a:tail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strike="noStrike" spc="-1">
              <a:solidFill>
                <a:srgbClr val="FFFFFF"/>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98" name="Rounded Rectangle 1"/>
          <p:cNvSpPr/>
          <p:nvPr/>
        </p:nvSpPr>
        <p:spPr>
          <a:xfrm>
            <a:off x="2780640" y="1148040"/>
            <a:ext cx="6725880" cy="4983120"/>
          </a:xfrm>
          <a:prstGeom prst="roundRect">
            <a:avLst>
              <a:gd name="adj" fmla="val 16667"/>
            </a:avLst>
          </a:prstGeom>
          <a:solidFill>
            <a:schemeClr val="accent4">
              <a:lumMod val="50000"/>
            </a:schemeClr>
          </a:solidFill>
          <a:ln w="12700">
            <a:solidFill>
              <a:srgbClr val="634AA7"/>
            </a:solidFill>
            <a:prstDash val="dash"/>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99" name="Rounded Rectangle 9"/>
          <p:cNvSpPr/>
          <p:nvPr/>
        </p:nvSpPr>
        <p:spPr>
          <a:xfrm>
            <a:off x="105480" y="1212120"/>
            <a:ext cx="2531880" cy="4919040"/>
          </a:xfrm>
          <a:prstGeom prst="roundRect">
            <a:avLst>
              <a:gd name="adj" fmla="val 16667"/>
            </a:avLst>
          </a:prstGeom>
          <a:solidFill>
            <a:schemeClr val="tx2">
              <a:lumMod val="75000"/>
            </a:schemeClr>
          </a:solidFill>
          <a:ln w="12700">
            <a:solidFill>
              <a:srgbClr val="1F497D">
                <a:lumMod val="40000"/>
                <a:lumOff val="60000"/>
              </a:srgbClr>
            </a:solidFill>
            <a:prstDash val="dash"/>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00" name="Rounded Rectangle 17"/>
          <p:cNvSpPr/>
          <p:nvPr/>
        </p:nvSpPr>
        <p:spPr>
          <a:xfrm>
            <a:off x="1391760" y="4087440"/>
            <a:ext cx="1096920" cy="246600"/>
          </a:xfrm>
          <a:prstGeom prst="roundRect">
            <a:avLst>
              <a:gd name="adj" fmla="val 16667"/>
            </a:avLst>
          </a:prstGeom>
          <a:solidFill>
            <a:schemeClr val="tx1"/>
          </a:solidFill>
          <a:ln w="10160">
            <a:solidFill>
              <a:srgbClr val="1C63B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01" name="TextBox 12"/>
          <p:cNvSpPr/>
          <p:nvPr/>
        </p:nvSpPr>
        <p:spPr>
          <a:xfrm>
            <a:off x="435240" y="145080"/>
            <a:ext cx="1005804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Simulation Environment  —  Jun</a:t>
            </a:r>
            <a:endParaRPr lang="en-US" sz="3000" b="0" strike="noStrike" spc="-1">
              <a:solidFill>
                <a:srgbClr val="FFFFFF"/>
              </a:solidFill>
              <a:latin typeface="Arial"/>
            </a:endParaRPr>
          </a:p>
        </p:txBody>
      </p:sp>
      <p:sp>
        <p:nvSpPr>
          <p:cNvPr id="102" name="Rectangle 5"/>
          <p:cNvSpPr/>
          <p:nvPr/>
        </p:nvSpPr>
        <p:spPr>
          <a:xfrm>
            <a:off x="731520" y="914400"/>
            <a:ext cx="2285640" cy="3780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endParaRPr lang="en-US" sz="1800" b="0" strike="noStrike" spc="-1">
              <a:solidFill>
                <a:schemeClr val="lt1"/>
              </a:solidFill>
              <a:latin typeface="Calibri"/>
            </a:endParaRPr>
          </a:p>
        </p:txBody>
      </p:sp>
      <p:sp>
        <p:nvSpPr>
          <p:cNvPr id="103" name="Rounded Rectangle 18"/>
          <p:cNvSpPr/>
          <p:nvPr/>
        </p:nvSpPr>
        <p:spPr>
          <a:xfrm>
            <a:off x="350640" y="1037520"/>
            <a:ext cx="2040120" cy="415800"/>
          </a:xfrm>
          <a:prstGeom prst="roundRect">
            <a:avLst>
              <a:gd name="adj" fmla="val 16667"/>
            </a:avLst>
          </a:prstGeom>
          <a:solidFill>
            <a:schemeClr val="accent1">
              <a:lumMod val="75000"/>
            </a:schemeClr>
          </a:solidFill>
          <a:ln w="1270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27360" rIns="54720" bIns="27360" anchor="ctr">
            <a:noAutofit/>
          </a:bodyPr>
          <a:lstStyle/>
          <a:p>
            <a:pPr algn="ctr" defTabSz="457200">
              <a:lnSpc>
                <a:spcPct val="100000"/>
              </a:lnSpc>
            </a:pPr>
            <a:r>
              <a:rPr lang="en-US" sz="1200" b="1" strike="noStrike" spc="-1">
                <a:solidFill>
                  <a:schemeClr val="lt1"/>
                </a:solidFill>
                <a:latin typeface="Arial"/>
              </a:rPr>
              <a:t>Simulation Platform Overview</a:t>
            </a:r>
            <a:endParaRPr lang="en-US" sz="1200" b="0" strike="noStrike" spc="-1">
              <a:solidFill>
                <a:srgbClr val="FFFFFF"/>
              </a:solidFill>
              <a:latin typeface="Arial"/>
            </a:endParaRPr>
          </a:p>
        </p:txBody>
      </p:sp>
      <p:sp>
        <p:nvSpPr>
          <p:cNvPr id="104" name="TextBox 38"/>
          <p:cNvSpPr/>
          <p:nvPr/>
        </p:nvSpPr>
        <p:spPr>
          <a:xfrm>
            <a:off x="388440" y="4450320"/>
            <a:ext cx="959760" cy="4248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850" b="0" strike="noStrike" spc="-1">
                <a:solidFill>
                  <a:schemeClr val="lt1"/>
                </a:solidFill>
                <a:latin typeface="Arial"/>
              </a:rPr>
              <a:t>Physics simulation</a:t>
            </a:r>
            <a:endParaRPr lang="en-US" sz="850" b="0" strike="noStrike" spc="-1">
              <a:solidFill>
                <a:srgbClr val="FFFFFF"/>
              </a:solidFill>
              <a:latin typeface="Arial"/>
            </a:endParaRPr>
          </a:p>
          <a:p>
            <a:pPr defTabSz="457200">
              <a:lnSpc>
                <a:spcPct val="100000"/>
              </a:lnSpc>
            </a:pPr>
            <a:r>
              <a:rPr lang="en-US" sz="850" b="0" strike="noStrike" spc="-1">
                <a:solidFill>
                  <a:schemeClr val="lt1"/>
                </a:solidFill>
                <a:latin typeface="Arial"/>
              </a:rPr>
              <a:t>and rendering</a:t>
            </a:r>
            <a:endParaRPr lang="en-US" sz="850" b="0" strike="noStrike" spc="-1">
              <a:solidFill>
                <a:srgbClr val="FFFFFF"/>
              </a:solidFill>
              <a:latin typeface="Arial"/>
            </a:endParaRPr>
          </a:p>
        </p:txBody>
      </p:sp>
      <p:sp>
        <p:nvSpPr>
          <p:cNvPr id="105" name="TextBox 39"/>
          <p:cNvSpPr/>
          <p:nvPr/>
        </p:nvSpPr>
        <p:spPr>
          <a:xfrm>
            <a:off x="1490760" y="4450320"/>
            <a:ext cx="1176840" cy="4248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850" b="0" strike="noStrike" spc="-1">
                <a:solidFill>
                  <a:schemeClr val="lt1"/>
                </a:solidFill>
                <a:latin typeface="Arial"/>
              </a:rPr>
              <a:t>7-DOF arm</a:t>
            </a:r>
            <a:endParaRPr lang="en-US" sz="850" b="0" strike="noStrike" spc="-1">
              <a:solidFill>
                <a:srgbClr val="FFFFFF"/>
              </a:solidFill>
              <a:latin typeface="Arial"/>
            </a:endParaRPr>
          </a:p>
          <a:p>
            <a:pPr defTabSz="457200">
              <a:lnSpc>
                <a:spcPct val="100000"/>
              </a:lnSpc>
            </a:pPr>
            <a:r>
              <a:rPr lang="en-US" sz="850" b="0" strike="noStrike" spc="-1">
                <a:solidFill>
                  <a:schemeClr val="lt1"/>
                </a:solidFill>
                <a:latin typeface="Arial"/>
              </a:rPr>
              <a:t>Top-down view</a:t>
            </a:r>
            <a:endParaRPr lang="en-US" sz="850" b="0" strike="noStrike" spc="-1">
              <a:solidFill>
                <a:srgbClr val="FFFFFF"/>
              </a:solidFill>
              <a:latin typeface="Arial"/>
            </a:endParaRPr>
          </a:p>
          <a:p>
            <a:pPr defTabSz="457200">
              <a:lnSpc>
                <a:spcPct val="100000"/>
              </a:lnSpc>
            </a:pPr>
            <a:endParaRPr lang="en-US" sz="850" b="0" strike="noStrike" spc="-1">
              <a:solidFill>
                <a:srgbClr val="FFFFFF"/>
              </a:solidFill>
              <a:latin typeface="Arial"/>
            </a:endParaRPr>
          </a:p>
        </p:txBody>
      </p:sp>
      <p:sp>
        <p:nvSpPr>
          <p:cNvPr id="106" name="TextBox 40"/>
          <p:cNvSpPr/>
          <p:nvPr/>
        </p:nvSpPr>
        <p:spPr>
          <a:xfrm>
            <a:off x="1549800" y="5472360"/>
            <a:ext cx="959760" cy="1656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850" b="0" strike="noStrike" spc="-1">
                <a:solidFill>
                  <a:schemeClr val="lt1"/>
                </a:solidFill>
                <a:latin typeface="Arial"/>
              </a:rPr>
              <a:t>Electric gripper</a:t>
            </a:r>
            <a:endParaRPr lang="en-US" sz="850" b="0" strike="noStrike" spc="-1">
              <a:solidFill>
                <a:srgbClr val="FFFFFF"/>
              </a:solidFill>
              <a:latin typeface="Arial"/>
            </a:endParaRPr>
          </a:p>
        </p:txBody>
      </p:sp>
      <p:sp>
        <p:nvSpPr>
          <p:cNvPr id="107" name="TextBox 41"/>
          <p:cNvSpPr/>
          <p:nvPr/>
        </p:nvSpPr>
        <p:spPr>
          <a:xfrm>
            <a:off x="388440" y="5433840"/>
            <a:ext cx="959760" cy="2952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850" b="0" strike="noStrike" spc="-1">
                <a:solidFill>
                  <a:schemeClr val="lt1"/>
                </a:solidFill>
                <a:latin typeface="Arial"/>
              </a:rPr>
              <a:t>Communication</a:t>
            </a:r>
            <a:endParaRPr lang="en-US" sz="850" b="0" strike="noStrike" spc="-1">
              <a:solidFill>
                <a:srgbClr val="FFFFFF"/>
              </a:solidFill>
              <a:latin typeface="Arial"/>
            </a:endParaRPr>
          </a:p>
          <a:p>
            <a:pPr defTabSz="457200">
              <a:lnSpc>
                <a:spcPct val="100000"/>
              </a:lnSpc>
            </a:pPr>
            <a:r>
              <a:rPr lang="en-US" sz="850" b="0" strike="noStrike" spc="-1">
                <a:solidFill>
                  <a:schemeClr val="lt1"/>
                </a:solidFill>
                <a:latin typeface="Arial"/>
              </a:rPr>
              <a:t>and integration</a:t>
            </a:r>
            <a:endParaRPr lang="en-US" sz="850" b="0" strike="noStrike" spc="-1">
              <a:solidFill>
                <a:srgbClr val="FFFFFF"/>
              </a:solidFill>
              <a:latin typeface="Arial"/>
            </a:endParaRPr>
          </a:p>
        </p:txBody>
      </p:sp>
      <p:sp>
        <p:nvSpPr>
          <p:cNvPr id="108" name="Rounded Rectangle 19"/>
          <p:cNvSpPr/>
          <p:nvPr/>
        </p:nvSpPr>
        <p:spPr>
          <a:xfrm>
            <a:off x="189360" y="4084560"/>
            <a:ext cx="1096920" cy="246600"/>
          </a:xfrm>
          <a:prstGeom prst="roundRect">
            <a:avLst>
              <a:gd name="adj" fmla="val 16667"/>
            </a:avLst>
          </a:prstGeom>
          <a:solidFill>
            <a:schemeClr val="tx1"/>
          </a:solidFill>
          <a:ln w="10160">
            <a:solidFill>
              <a:srgbClr val="1C63B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09" name="TextBox 42"/>
          <p:cNvSpPr/>
          <p:nvPr/>
        </p:nvSpPr>
        <p:spPr>
          <a:xfrm>
            <a:off x="505080" y="4114800"/>
            <a:ext cx="461160" cy="151560"/>
          </a:xfrm>
          <a:prstGeom prst="rect">
            <a:avLst/>
          </a:prstGeom>
          <a:noFill/>
          <a:ln w="0">
            <a:noFill/>
          </a:ln>
        </p:spPr>
        <p:style>
          <a:lnRef idx="0">
            <a:scrgbClr r="0" g="0" b="0"/>
          </a:lnRef>
          <a:fillRef idx="0">
            <a:scrgbClr r="0" g="0" b="0"/>
          </a:fillRef>
          <a:effectRef idx="0">
            <a:scrgbClr r="0" g="0" b="0"/>
          </a:effectRef>
          <a:fontRef idx="minor"/>
        </p:style>
        <p:txBody>
          <a:bodyPr wrap="none" lIns="27360" tIns="9000" rIns="27360" bIns="9000" anchor="t">
            <a:spAutoFit/>
          </a:bodyPr>
          <a:lstStyle/>
          <a:p>
            <a:pPr algn="ctr" defTabSz="457200">
              <a:lnSpc>
                <a:spcPct val="100000"/>
              </a:lnSpc>
            </a:pPr>
            <a:r>
              <a:rPr lang="en-US" sz="880" b="1" strike="noStrike" spc="-1">
                <a:solidFill>
                  <a:schemeClr val="lt1"/>
                </a:solidFill>
                <a:latin typeface="Calibri"/>
              </a:rPr>
              <a:t>Gazebo</a:t>
            </a:r>
            <a:endParaRPr lang="en-US" sz="880" b="0" strike="noStrike" spc="-1">
              <a:solidFill>
                <a:srgbClr val="FFFFFF"/>
              </a:solidFill>
              <a:latin typeface="Arial"/>
            </a:endParaRPr>
          </a:p>
        </p:txBody>
      </p:sp>
      <p:sp>
        <p:nvSpPr>
          <p:cNvPr id="110" name="TextBox 43"/>
          <p:cNvSpPr/>
          <p:nvPr/>
        </p:nvSpPr>
        <p:spPr>
          <a:xfrm>
            <a:off x="1276920" y="4112280"/>
            <a:ext cx="1326960" cy="151560"/>
          </a:xfrm>
          <a:prstGeom prst="rect">
            <a:avLst/>
          </a:prstGeom>
          <a:noFill/>
          <a:ln w="0">
            <a:noFill/>
          </a:ln>
        </p:spPr>
        <p:style>
          <a:lnRef idx="0">
            <a:scrgbClr r="0" g="0" b="0"/>
          </a:lnRef>
          <a:fillRef idx="0">
            <a:scrgbClr r="0" g="0" b="0"/>
          </a:fillRef>
          <a:effectRef idx="0">
            <a:scrgbClr r="0" g="0" b="0"/>
          </a:effectRef>
          <a:fontRef idx="minor"/>
        </p:style>
        <p:txBody>
          <a:bodyPr wrap="none" lIns="27360" tIns="9000" rIns="27360" bIns="9000" anchor="t">
            <a:spAutoFit/>
          </a:bodyPr>
          <a:lstStyle/>
          <a:p>
            <a:pPr algn="ctr" defTabSz="457200">
              <a:lnSpc>
                <a:spcPct val="100000"/>
              </a:lnSpc>
            </a:pPr>
            <a:r>
              <a:rPr lang="en-US" sz="880" b="1" strike="noStrike" spc="-1">
                <a:solidFill>
                  <a:schemeClr val="lt1"/>
                </a:solidFill>
                <a:latin typeface="Calibri"/>
              </a:rPr>
              <a:t>Sawyer &amp; hand camara</a:t>
            </a:r>
            <a:endParaRPr lang="en-US" sz="880" b="0" strike="noStrike" spc="-1">
              <a:solidFill>
                <a:srgbClr val="FFFFFF"/>
              </a:solidFill>
              <a:latin typeface="Arial"/>
            </a:endParaRPr>
          </a:p>
        </p:txBody>
      </p:sp>
      <p:sp>
        <p:nvSpPr>
          <p:cNvPr id="111" name="Rounded Rectangle 23"/>
          <p:cNvSpPr/>
          <p:nvPr/>
        </p:nvSpPr>
        <p:spPr>
          <a:xfrm>
            <a:off x="1391760" y="5078880"/>
            <a:ext cx="1096920" cy="246600"/>
          </a:xfrm>
          <a:prstGeom prst="roundRect">
            <a:avLst>
              <a:gd name="adj" fmla="val 16667"/>
            </a:avLst>
          </a:prstGeom>
          <a:solidFill>
            <a:schemeClr val="tx1"/>
          </a:solidFill>
          <a:ln w="10160">
            <a:solidFill>
              <a:srgbClr val="1C63B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12" name="TextBox 44"/>
          <p:cNvSpPr/>
          <p:nvPr/>
        </p:nvSpPr>
        <p:spPr>
          <a:xfrm>
            <a:off x="1403280" y="5101200"/>
            <a:ext cx="1146960" cy="151560"/>
          </a:xfrm>
          <a:prstGeom prst="rect">
            <a:avLst/>
          </a:prstGeom>
          <a:noFill/>
          <a:ln w="0">
            <a:noFill/>
          </a:ln>
        </p:spPr>
        <p:style>
          <a:lnRef idx="0">
            <a:scrgbClr r="0" g="0" b="0"/>
          </a:lnRef>
          <a:fillRef idx="0">
            <a:scrgbClr r="0" g="0" b="0"/>
          </a:fillRef>
          <a:effectRef idx="0">
            <a:scrgbClr r="0" g="0" b="0"/>
          </a:effectRef>
          <a:fontRef idx="minor"/>
        </p:style>
        <p:txBody>
          <a:bodyPr wrap="none" lIns="27360" tIns="9000" rIns="27360" bIns="9000" anchor="t">
            <a:spAutoFit/>
          </a:bodyPr>
          <a:lstStyle/>
          <a:p>
            <a:pPr algn="ctr" defTabSz="457200">
              <a:lnSpc>
                <a:spcPct val="100000"/>
              </a:lnSpc>
            </a:pPr>
            <a:r>
              <a:rPr lang="en-US" sz="880" b="1" strike="noStrike" spc="-1">
                <a:solidFill>
                  <a:schemeClr val="lt1"/>
                </a:solidFill>
                <a:latin typeface="Calibri"/>
              </a:rPr>
              <a:t>Parallel-jaw gripper</a:t>
            </a:r>
            <a:endParaRPr lang="en-US" sz="880" b="0" strike="noStrike" spc="-1">
              <a:solidFill>
                <a:srgbClr val="FFFFFF"/>
              </a:solidFill>
              <a:latin typeface="Arial"/>
            </a:endParaRPr>
          </a:p>
        </p:txBody>
      </p:sp>
      <p:sp>
        <p:nvSpPr>
          <p:cNvPr id="113" name="Rounded Rectangle 24"/>
          <p:cNvSpPr/>
          <p:nvPr/>
        </p:nvSpPr>
        <p:spPr>
          <a:xfrm>
            <a:off x="189360" y="5078880"/>
            <a:ext cx="1096920" cy="246600"/>
          </a:xfrm>
          <a:prstGeom prst="roundRect">
            <a:avLst>
              <a:gd name="adj" fmla="val 16667"/>
            </a:avLst>
          </a:prstGeom>
          <a:solidFill>
            <a:schemeClr val="tx1"/>
          </a:solidFill>
          <a:ln w="10160">
            <a:solidFill>
              <a:srgbClr val="1C63B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14" name="TextBox 45"/>
          <p:cNvSpPr/>
          <p:nvPr/>
        </p:nvSpPr>
        <p:spPr>
          <a:xfrm>
            <a:off x="582120" y="5102280"/>
            <a:ext cx="276840" cy="151560"/>
          </a:xfrm>
          <a:prstGeom prst="rect">
            <a:avLst/>
          </a:prstGeom>
          <a:noFill/>
          <a:ln w="0">
            <a:noFill/>
          </a:ln>
        </p:spPr>
        <p:style>
          <a:lnRef idx="0">
            <a:scrgbClr r="0" g="0" b="0"/>
          </a:lnRef>
          <a:fillRef idx="0">
            <a:scrgbClr r="0" g="0" b="0"/>
          </a:fillRef>
          <a:effectRef idx="0">
            <a:scrgbClr r="0" g="0" b="0"/>
          </a:effectRef>
          <a:fontRef idx="minor"/>
        </p:style>
        <p:txBody>
          <a:bodyPr wrap="none" lIns="27360" tIns="9000" rIns="27360" bIns="9000" anchor="t">
            <a:spAutoFit/>
          </a:bodyPr>
          <a:lstStyle/>
          <a:p>
            <a:pPr algn="ctr" defTabSz="457200">
              <a:lnSpc>
                <a:spcPct val="100000"/>
              </a:lnSpc>
            </a:pPr>
            <a:r>
              <a:rPr lang="en-US" sz="880" b="1" strike="noStrike" spc="-1">
                <a:solidFill>
                  <a:schemeClr val="lt1"/>
                </a:solidFill>
                <a:latin typeface="Calibri"/>
              </a:rPr>
              <a:t>ROS</a:t>
            </a:r>
            <a:endParaRPr lang="en-US" sz="880" b="0" strike="noStrike" spc="-1">
              <a:solidFill>
                <a:srgbClr val="FFFFFF"/>
              </a:solidFill>
              <a:latin typeface="Arial"/>
            </a:endParaRPr>
          </a:p>
        </p:txBody>
      </p:sp>
      <p:pic>
        <p:nvPicPr>
          <p:cNvPr id="115" name="图片 9"/>
          <p:cNvPicPr/>
          <p:nvPr/>
        </p:nvPicPr>
        <p:blipFill>
          <a:blip r:embed="rId3"/>
          <a:stretch/>
        </p:blipFill>
        <p:spPr>
          <a:xfrm>
            <a:off x="350640" y="1902600"/>
            <a:ext cx="1980360" cy="1980360"/>
          </a:xfrm>
          <a:prstGeom prst="rect">
            <a:avLst/>
          </a:prstGeom>
          <a:ln w="0">
            <a:noFill/>
          </a:ln>
        </p:spPr>
      </p:pic>
      <p:sp>
        <p:nvSpPr>
          <p:cNvPr id="116" name="Rounded Rectangle 25"/>
          <p:cNvSpPr/>
          <p:nvPr/>
        </p:nvSpPr>
        <p:spPr>
          <a:xfrm>
            <a:off x="4097520" y="1037520"/>
            <a:ext cx="4419360" cy="383760"/>
          </a:xfrm>
          <a:prstGeom prst="roundRect">
            <a:avLst>
              <a:gd name="adj" fmla="val 16667"/>
            </a:avLst>
          </a:prstGeom>
          <a:solidFill>
            <a:schemeClr val="accent4">
              <a:lumMod val="60000"/>
              <a:lumOff val="40000"/>
            </a:schemeClr>
          </a:solidFill>
          <a:ln w="12700">
            <a:solidFill>
              <a:srgbClr val="634AA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27360" rIns="54720" bIns="27360" anchor="ctr">
            <a:noAutofit/>
          </a:bodyPr>
          <a:lstStyle/>
          <a:p>
            <a:pPr algn="ctr" defTabSz="457200">
              <a:lnSpc>
                <a:spcPct val="100000"/>
              </a:lnSpc>
            </a:pPr>
            <a:r>
              <a:rPr lang="en-US" sz="1500" b="1" strike="noStrike" spc="-1">
                <a:solidFill>
                  <a:srgbClr val="634AA7"/>
                </a:solidFill>
                <a:latin typeface="Arial"/>
              </a:rPr>
              <a:t>Startup Sequence (Orchestrated Launch)</a:t>
            </a:r>
            <a:endParaRPr lang="en-US" sz="1500" b="0" strike="noStrike" spc="-1">
              <a:solidFill>
                <a:srgbClr val="000000"/>
              </a:solidFill>
              <a:latin typeface="Arial"/>
            </a:endParaRPr>
          </a:p>
        </p:txBody>
      </p:sp>
      <p:sp>
        <p:nvSpPr>
          <p:cNvPr id="117" name="Rounded Rectangle 26"/>
          <p:cNvSpPr/>
          <p:nvPr/>
        </p:nvSpPr>
        <p:spPr>
          <a:xfrm>
            <a:off x="4025160" y="1755360"/>
            <a:ext cx="4617360" cy="502560"/>
          </a:xfrm>
          <a:prstGeom prst="roundRect">
            <a:avLst>
              <a:gd name="adj" fmla="val 16667"/>
            </a:avLst>
          </a:prstGeom>
          <a:solidFill>
            <a:schemeClr val="accent4">
              <a:lumMod val="20000"/>
              <a:lumOff val="80000"/>
            </a:schemeClr>
          </a:solidFill>
          <a:ln w="12700">
            <a:solidFill>
              <a:srgbClr val="634AA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18" name="TextBox 46"/>
          <p:cNvSpPr/>
          <p:nvPr/>
        </p:nvSpPr>
        <p:spPr>
          <a:xfrm>
            <a:off x="4204800" y="1796760"/>
            <a:ext cx="4205880" cy="21132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1150" b="1" strike="noStrike" spc="-1">
                <a:solidFill>
                  <a:srgbClr val="634AA7"/>
                </a:solidFill>
                <a:latin typeface="Arial"/>
              </a:rPr>
              <a:t>Custom launch file: sawyer_david.launch</a:t>
            </a:r>
            <a:endParaRPr lang="en-US" sz="1150" b="0" strike="noStrike" spc="-1">
              <a:solidFill>
                <a:srgbClr val="FFFFFF"/>
              </a:solidFill>
              <a:latin typeface="Arial"/>
            </a:endParaRPr>
          </a:p>
        </p:txBody>
      </p:sp>
      <p:sp>
        <p:nvSpPr>
          <p:cNvPr id="119" name="TextBox 47"/>
          <p:cNvSpPr/>
          <p:nvPr/>
        </p:nvSpPr>
        <p:spPr>
          <a:xfrm>
            <a:off x="4311000" y="1992240"/>
            <a:ext cx="4205880" cy="18072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950" b="0" strike="noStrike" spc="-1">
                <a:solidFill>
                  <a:srgbClr val="505050"/>
                </a:solidFill>
                <a:latin typeface="Arial"/>
              </a:rPr>
              <a:t>Orchestrates the startup sequence</a:t>
            </a:r>
            <a:endParaRPr lang="en-US" sz="950" b="0" strike="noStrike" spc="-1">
              <a:solidFill>
                <a:srgbClr val="FFFFFF"/>
              </a:solidFill>
              <a:latin typeface="Arial"/>
            </a:endParaRPr>
          </a:p>
        </p:txBody>
      </p:sp>
      <p:sp>
        <p:nvSpPr>
          <p:cNvPr id="120" name="Rounded Rectangle 27"/>
          <p:cNvSpPr/>
          <p:nvPr/>
        </p:nvSpPr>
        <p:spPr>
          <a:xfrm>
            <a:off x="3076560" y="2765880"/>
            <a:ext cx="1205640" cy="2907360"/>
          </a:xfrm>
          <a:prstGeom prst="roundRect">
            <a:avLst>
              <a:gd name="adj" fmla="val 16667"/>
            </a:avLst>
          </a:prstGeom>
          <a:solidFill>
            <a:schemeClr val="tx2">
              <a:lumMod val="75000"/>
            </a:schemeClr>
          </a:solidFill>
          <a:ln w="1397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21" name="Oval 11"/>
          <p:cNvSpPr/>
          <p:nvPr/>
        </p:nvSpPr>
        <p:spPr>
          <a:xfrm>
            <a:off x="3515400" y="2564640"/>
            <a:ext cx="347040" cy="347040"/>
          </a:xfrm>
          <a:prstGeom prst="ellipse">
            <a:avLst/>
          </a:prstGeom>
          <a:solidFill>
            <a:srgbClr val="2563A5"/>
          </a:solidFill>
          <a:ln w="1524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500" b="1" strike="noStrike" spc="-1">
                <a:solidFill>
                  <a:srgbClr val="FFFFFF"/>
                </a:solidFill>
                <a:latin typeface="Arial"/>
              </a:rPr>
              <a:t>1</a:t>
            </a:r>
            <a:endParaRPr lang="en-US" sz="1500" b="0" strike="noStrike" spc="-1">
              <a:solidFill>
                <a:srgbClr val="FFFFFF"/>
              </a:solidFill>
              <a:latin typeface="Arial"/>
            </a:endParaRPr>
          </a:p>
        </p:txBody>
      </p:sp>
      <p:sp>
        <p:nvSpPr>
          <p:cNvPr id="122" name="TextBox 48"/>
          <p:cNvSpPr/>
          <p:nvPr/>
        </p:nvSpPr>
        <p:spPr>
          <a:xfrm>
            <a:off x="3115440" y="2924640"/>
            <a:ext cx="1133640" cy="2952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algn="ctr" defTabSz="457200">
              <a:lnSpc>
                <a:spcPct val="100000"/>
              </a:lnSpc>
            </a:pPr>
            <a:r>
              <a:rPr lang="en-US" sz="1700" b="1" strike="noStrike" spc="-1">
                <a:solidFill>
                  <a:schemeClr val="accent1">
                    <a:lumMod val="40000"/>
                    <a:lumOff val="60000"/>
                  </a:schemeClr>
                </a:solidFill>
                <a:latin typeface="Arial"/>
              </a:rPr>
              <a:t>0 s:</a:t>
            </a:r>
            <a:endParaRPr lang="en-US" sz="1700" b="0" strike="noStrike" spc="-1">
              <a:solidFill>
                <a:srgbClr val="FFFFFF"/>
              </a:solidFill>
              <a:latin typeface="Arial"/>
            </a:endParaRPr>
          </a:p>
        </p:txBody>
      </p:sp>
      <p:sp>
        <p:nvSpPr>
          <p:cNvPr id="123" name="TextBox 49"/>
          <p:cNvSpPr/>
          <p:nvPr/>
        </p:nvSpPr>
        <p:spPr>
          <a:xfrm>
            <a:off x="3115440" y="3218400"/>
            <a:ext cx="1151640" cy="38088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130" b="1" strike="noStrike" spc="-1">
                <a:solidFill>
                  <a:schemeClr val="lt1"/>
                </a:solidFill>
                <a:latin typeface="Arial"/>
              </a:rPr>
              <a:t>Launch</a:t>
            </a:r>
            <a:endParaRPr lang="en-US" sz="1130" b="0" strike="noStrike" spc="-1">
              <a:solidFill>
                <a:srgbClr val="FFFFFF"/>
              </a:solidFill>
              <a:latin typeface="Arial"/>
            </a:endParaRPr>
          </a:p>
          <a:p>
            <a:pPr algn="ctr" defTabSz="457200">
              <a:lnSpc>
                <a:spcPct val="100000"/>
              </a:lnSpc>
            </a:pPr>
            <a:r>
              <a:rPr lang="en-US" sz="1130" b="1" strike="noStrike" spc="-1">
                <a:solidFill>
                  <a:schemeClr val="lt1"/>
                </a:solidFill>
                <a:latin typeface="Arial"/>
              </a:rPr>
              <a:t>simulation</a:t>
            </a:r>
            <a:endParaRPr lang="en-US" sz="1130" b="0" strike="noStrike" spc="-1">
              <a:solidFill>
                <a:srgbClr val="FFFFFF"/>
              </a:solidFill>
              <a:latin typeface="Arial"/>
            </a:endParaRPr>
          </a:p>
        </p:txBody>
      </p:sp>
      <p:cxnSp>
        <p:nvCxnSpPr>
          <p:cNvPr id="124" name="Connector 14"/>
          <p:cNvCxnSpPr/>
          <p:nvPr/>
        </p:nvCxnSpPr>
        <p:spPr>
          <a:xfrm flipV="1">
            <a:off x="3230640" y="3811680"/>
            <a:ext cx="843840" cy="10800"/>
          </a:xfrm>
          <a:prstGeom prst="straightConnector1">
            <a:avLst/>
          </a:prstGeom>
          <a:ln w="12700">
            <a:solidFill>
              <a:srgbClr val="2563A5"/>
            </a:solidFill>
            <a:round/>
          </a:ln>
        </p:spPr>
      </p:cxnSp>
      <p:sp>
        <p:nvSpPr>
          <p:cNvPr id="125" name="Rounded Rectangle 28"/>
          <p:cNvSpPr/>
          <p:nvPr/>
        </p:nvSpPr>
        <p:spPr>
          <a:xfrm>
            <a:off x="4624920" y="2777760"/>
            <a:ext cx="1206720" cy="2907360"/>
          </a:xfrm>
          <a:prstGeom prst="roundRect">
            <a:avLst>
              <a:gd name="adj" fmla="val 16667"/>
            </a:avLst>
          </a:prstGeom>
          <a:solidFill>
            <a:schemeClr val="accent3">
              <a:lumMod val="50000"/>
            </a:schemeClr>
          </a:solidFill>
          <a:ln w="1397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26" name="Oval 12"/>
          <p:cNvSpPr/>
          <p:nvPr/>
        </p:nvSpPr>
        <p:spPr>
          <a:xfrm>
            <a:off x="5033160" y="2564640"/>
            <a:ext cx="347040" cy="347040"/>
          </a:xfrm>
          <a:prstGeom prst="ellipse">
            <a:avLst/>
          </a:prstGeom>
          <a:solidFill>
            <a:srgbClr val="498B40"/>
          </a:solidFill>
          <a:ln w="1524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500" b="1" strike="noStrike" spc="-1">
                <a:solidFill>
                  <a:srgbClr val="FFFFFF"/>
                </a:solidFill>
                <a:latin typeface="Arial"/>
              </a:rPr>
              <a:t>2</a:t>
            </a:r>
            <a:endParaRPr lang="en-US" sz="1500" b="0" strike="noStrike" spc="-1">
              <a:solidFill>
                <a:srgbClr val="FFFFFF"/>
              </a:solidFill>
              <a:latin typeface="Arial"/>
            </a:endParaRPr>
          </a:p>
        </p:txBody>
      </p:sp>
      <p:sp>
        <p:nvSpPr>
          <p:cNvPr id="127" name="TextBox 50"/>
          <p:cNvSpPr/>
          <p:nvPr/>
        </p:nvSpPr>
        <p:spPr>
          <a:xfrm>
            <a:off x="4679640" y="2945520"/>
            <a:ext cx="1133640" cy="2952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algn="ctr" defTabSz="457200">
              <a:lnSpc>
                <a:spcPct val="100000"/>
              </a:lnSpc>
            </a:pPr>
            <a:r>
              <a:rPr lang="en-US" sz="1700" b="1" strike="noStrike" spc="-1">
                <a:solidFill>
                  <a:schemeClr val="accent3">
                    <a:lumMod val="40000"/>
                    <a:lumOff val="60000"/>
                  </a:schemeClr>
                </a:solidFill>
                <a:latin typeface="Arial"/>
              </a:rPr>
              <a:t>18 s:</a:t>
            </a:r>
            <a:endParaRPr lang="en-US" sz="1700" b="0" strike="noStrike" spc="-1">
              <a:solidFill>
                <a:srgbClr val="FFFFFF"/>
              </a:solidFill>
              <a:latin typeface="Arial"/>
            </a:endParaRPr>
          </a:p>
        </p:txBody>
      </p:sp>
      <p:sp>
        <p:nvSpPr>
          <p:cNvPr id="128" name="TextBox 51"/>
          <p:cNvSpPr/>
          <p:nvPr/>
        </p:nvSpPr>
        <p:spPr>
          <a:xfrm>
            <a:off x="4679640" y="3229920"/>
            <a:ext cx="1151640" cy="38088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130" b="1" strike="noStrike" spc="-1">
                <a:solidFill>
                  <a:schemeClr val="accent3">
                    <a:lumMod val="40000"/>
                    <a:lumOff val="60000"/>
                  </a:schemeClr>
                </a:solidFill>
                <a:latin typeface="Arial"/>
              </a:rPr>
              <a:t>spawn_pick_</a:t>
            </a:r>
            <a:endParaRPr lang="en-US" sz="1130" b="0" strike="noStrike" spc="-1">
              <a:solidFill>
                <a:srgbClr val="FFFFFF"/>
              </a:solidFill>
              <a:latin typeface="Arial"/>
            </a:endParaRPr>
          </a:p>
          <a:p>
            <a:pPr algn="ctr" defTabSz="457200">
              <a:lnSpc>
                <a:spcPct val="100000"/>
              </a:lnSpc>
            </a:pPr>
            <a:r>
              <a:rPr lang="en-US" sz="1130" b="1" strike="noStrike" spc="-1">
                <a:solidFill>
                  <a:schemeClr val="accent3">
                    <a:lumMod val="40000"/>
                    <a:lumOff val="60000"/>
                  </a:schemeClr>
                </a:solidFill>
                <a:latin typeface="Arial"/>
              </a:rPr>
              <a:t>place_scene.py</a:t>
            </a:r>
            <a:endParaRPr lang="en-US" sz="1130" b="0" strike="noStrike" spc="-1">
              <a:solidFill>
                <a:srgbClr val="FFFFFF"/>
              </a:solidFill>
              <a:latin typeface="Arial"/>
            </a:endParaRPr>
          </a:p>
        </p:txBody>
      </p:sp>
      <p:cxnSp>
        <p:nvCxnSpPr>
          <p:cNvPr id="129" name="Connector 15"/>
          <p:cNvCxnSpPr/>
          <p:nvPr/>
        </p:nvCxnSpPr>
        <p:spPr>
          <a:xfrm>
            <a:off x="4697640" y="3830400"/>
            <a:ext cx="1073160" cy="360"/>
          </a:xfrm>
          <a:prstGeom prst="straightConnector1">
            <a:avLst/>
          </a:prstGeom>
          <a:ln w="12700">
            <a:solidFill>
              <a:srgbClr val="498B40"/>
            </a:solidFill>
            <a:round/>
          </a:ln>
        </p:spPr>
      </p:cxnSp>
      <p:sp>
        <p:nvSpPr>
          <p:cNvPr id="130" name="TextBox 52"/>
          <p:cNvSpPr/>
          <p:nvPr/>
        </p:nvSpPr>
        <p:spPr>
          <a:xfrm>
            <a:off x="4624920" y="3899160"/>
            <a:ext cx="1151640" cy="87876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t">
            <a:spAutoFit/>
          </a:bodyPr>
          <a:lstStyle/>
          <a:p>
            <a:r>
              <a:rPr lang="en-US" sz="920" b="0" strike="noStrike" spc="-1">
                <a:solidFill>
                  <a:schemeClr val="accent3">
                    <a:lumMod val="40000"/>
                    <a:lumOff val="60000"/>
                  </a:schemeClr>
                </a:solidFill>
                <a:latin typeface="Arial"/>
              </a:rPr>
              <a:t>Populate the table</a:t>
            </a:r>
            <a:endParaRPr lang="en-US" sz="920" b="0" strike="noStrike" spc="-1">
              <a:solidFill>
                <a:srgbClr val="FFFFFF"/>
              </a:solidFill>
              <a:latin typeface="Arial"/>
            </a:endParaRPr>
          </a:p>
          <a:p>
            <a:r>
              <a:rPr lang="en-US" sz="920" b="0" strike="noStrike" spc="-1">
                <a:solidFill>
                  <a:schemeClr val="accent3">
                    <a:lumMod val="40000"/>
                    <a:lumOff val="60000"/>
                  </a:schemeClr>
                </a:solidFill>
                <a:latin typeface="Arial"/>
              </a:rPr>
              <a:t>with 9 objects</a:t>
            </a:r>
            <a:endParaRPr lang="en-US" sz="920" b="0" strike="noStrike" spc="-1">
              <a:solidFill>
                <a:srgbClr val="FFFFFF"/>
              </a:solidFill>
              <a:latin typeface="Arial"/>
            </a:endParaRPr>
          </a:p>
          <a:p>
            <a:r>
              <a:rPr lang="en-US" sz="920" b="0" strike="noStrike" spc="-1">
                <a:solidFill>
                  <a:schemeClr val="accent3">
                    <a:lumMod val="40000"/>
                    <a:lumOff val="60000"/>
                  </a:schemeClr>
                </a:solidFill>
                <a:latin typeface="Arial"/>
              </a:rPr>
              <a:t>(blocks, cans, boxes</a:t>
            </a:r>
            <a:endParaRPr lang="en-US" sz="920" b="0" strike="noStrike" spc="-1">
              <a:solidFill>
                <a:srgbClr val="FFFFFF"/>
              </a:solidFill>
              <a:latin typeface="Arial"/>
            </a:endParaRPr>
          </a:p>
          <a:p>
            <a:r>
              <a:rPr lang="en-US" sz="920" b="0" strike="noStrike" spc="-1">
                <a:solidFill>
                  <a:schemeClr val="accent3">
                    <a:lumMod val="40000"/>
                    <a:lumOff val="60000"/>
                  </a:schemeClr>
                </a:solidFill>
                <a:latin typeface="Arial"/>
              </a:rPr>
              <a:t>of different sizes</a:t>
            </a:r>
            <a:endParaRPr lang="en-US" sz="920" b="0" strike="noStrike" spc="-1">
              <a:solidFill>
                <a:srgbClr val="FFFFFF"/>
              </a:solidFill>
              <a:latin typeface="Arial"/>
            </a:endParaRPr>
          </a:p>
          <a:p>
            <a:pPr algn="ctr" defTabSz="457200">
              <a:lnSpc>
                <a:spcPct val="100000"/>
              </a:lnSpc>
            </a:pPr>
            <a:r>
              <a:rPr lang="en-US" sz="920" b="0" strike="noStrike" spc="-1">
                <a:solidFill>
                  <a:schemeClr val="accent3">
                    <a:lumMod val="40000"/>
                    <a:lumOff val="60000"/>
                  </a:schemeClr>
                </a:solidFill>
                <a:latin typeface="Arial"/>
              </a:rPr>
              <a:t>and colors)</a:t>
            </a:r>
            <a:endParaRPr lang="en-US" sz="920" b="0" strike="noStrike" spc="-1">
              <a:solidFill>
                <a:srgbClr val="FFFFFF"/>
              </a:solidFill>
              <a:latin typeface="Arial"/>
            </a:endParaRPr>
          </a:p>
        </p:txBody>
      </p:sp>
      <p:sp>
        <p:nvSpPr>
          <p:cNvPr id="131" name="Rounded Rectangle 29"/>
          <p:cNvSpPr/>
          <p:nvPr/>
        </p:nvSpPr>
        <p:spPr>
          <a:xfrm>
            <a:off x="6266520" y="2777760"/>
            <a:ext cx="1261440" cy="2952720"/>
          </a:xfrm>
          <a:prstGeom prst="roundRect">
            <a:avLst>
              <a:gd name="adj" fmla="val 16667"/>
            </a:avLst>
          </a:prstGeom>
          <a:solidFill>
            <a:schemeClr val="accent6">
              <a:lumMod val="75000"/>
            </a:schemeClr>
          </a:solidFill>
          <a:ln w="13970">
            <a:solidFill>
              <a:srgbClr val="E8941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32" name="Oval 13"/>
          <p:cNvSpPr/>
          <p:nvPr/>
        </p:nvSpPr>
        <p:spPr>
          <a:xfrm>
            <a:off x="6705360" y="2576520"/>
            <a:ext cx="347040" cy="352440"/>
          </a:xfrm>
          <a:prstGeom prst="ellipse">
            <a:avLst/>
          </a:prstGeom>
          <a:solidFill>
            <a:srgbClr val="E89417"/>
          </a:solidFill>
          <a:ln w="15240">
            <a:solidFill>
              <a:srgbClr val="E8941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500" b="1" strike="noStrike" spc="-1">
                <a:solidFill>
                  <a:srgbClr val="FFFFFF"/>
                </a:solidFill>
                <a:latin typeface="Arial"/>
              </a:rPr>
              <a:t>3</a:t>
            </a:r>
            <a:endParaRPr lang="en-US" sz="1500" b="0" strike="noStrike" spc="-1">
              <a:solidFill>
                <a:srgbClr val="000000"/>
              </a:solidFill>
              <a:latin typeface="Arial"/>
            </a:endParaRPr>
          </a:p>
        </p:txBody>
      </p:sp>
      <p:sp>
        <p:nvSpPr>
          <p:cNvPr id="133" name="TextBox 53"/>
          <p:cNvSpPr/>
          <p:nvPr/>
        </p:nvSpPr>
        <p:spPr>
          <a:xfrm>
            <a:off x="6352560" y="2962080"/>
            <a:ext cx="1133640" cy="2952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algn="ctr" defTabSz="457200">
              <a:lnSpc>
                <a:spcPct val="100000"/>
              </a:lnSpc>
            </a:pPr>
            <a:r>
              <a:rPr lang="en-US" sz="1700" b="1" strike="noStrike" spc="-1">
                <a:solidFill>
                  <a:schemeClr val="accent6">
                    <a:lumMod val="60000"/>
                    <a:lumOff val="40000"/>
                  </a:schemeClr>
                </a:solidFill>
                <a:latin typeface="Arial"/>
              </a:rPr>
              <a:t>35 s:</a:t>
            </a:r>
            <a:endParaRPr lang="en-US" sz="1700" b="0" strike="noStrike" spc="-1">
              <a:solidFill>
                <a:srgbClr val="FFFFFF"/>
              </a:solidFill>
              <a:latin typeface="Arial"/>
            </a:endParaRPr>
          </a:p>
        </p:txBody>
      </p:sp>
      <p:sp>
        <p:nvSpPr>
          <p:cNvPr id="134" name="TextBox 54"/>
          <p:cNvSpPr/>
          <p:nvPr/>
        </p:nvSpPr>
        <p:spPr>
          <a:xfrm>
            <a:off x="6321240" y="3229920"/>
            <a:ext cx="1151640" cy="38088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130" b="1" strike="noStrike" spc="-1">
                <a:solidFill>
                  <a:schemeClr val="accent6">
                    <a:lumMod val="20000"/>
                    <a:lumOff val="80000"/>
                  </a:schemeClr>
                </a:solidFill>
                <a:latin typeface="Arial"/>
              </a:rPr>
              <a:t>send_safe_</a:t>
            </a:r>
            <a:endParaRPr lang="en-US" sz="1130" b="0" strike="noStrike" spc="-1">
              <a:solidFill>
                <a:srgbClr val="FFFFFF"/>
              </a:solidFill>
              <a:latin typeface="Arial"/>
            </a:endParaRPr>
          </a:p>
          <a:p>
            <a:pPr algn="ctr" defTabSz="457200">
              <a:lnSpc>
                <a:spcPct val="100000"/>
              </a:lnSpc>
            </a:pPr>
            <a:r>
              <a:rPr lang="en-US" sz="1130" b="1" strike="noStrike" spc="-1">
                <a:solidFill>
                  <a:schemeClr val="accent6">
                    <a:lumMod val="20000"/>
                    <a:lumOff val="80000"/>
                  </a:schemeClr>
                </a:solidFill>
                <a:latin typeface="Arial"/>
              </a:rPr>
              <a:t>pose.py</a:t>
            </a:r>
            <a:endParaRPr lang="en-US" sz="1130" b="0" strike="noStrike" spc="-1">
              <a:solidFill>
                <a:srgbClr val="FFFFFF"/>
              </a:solidFill>
              <a:latin typeface="Arial"/>
            </a:endParaRPr>
          </a:p>
        </p:txBody>
      </p:sp>
      <p:cxnSp>
        <p:nvCxnSpPr>
          <p:cNvPr id="135" name="Connector 16"/>
          <p:cNvCxnSpPr/>
          <p:nvPr/>
        </p:nvCxnSpPr>
        <p:spPr>
          <a:xfrm>
            <a:off x="6410520" y="3822120"/>
            <a:ext cx="1042920" cy="360"/>
          </a:xfrm>
          <a:prstGeom prst="straightConnector1">
            <a:avLst/>
          </a:prstGeom>
          <a:ln w="12700">
            <a:solidFill>
              <a:srgbClr val="E89417"/>
            </a:solidFill>
            <a:round/>
          </a:ln>
        </p:spPr>
      </p:cxnSp>
      <p:sp>
        <p:nvSpPr>
          <p:cNvPr id="136" name="TextBox 55"/>
          <p:cNvSpPr/>
          <p:nvPr/>
        </p:nvSpPr>
        <p:spPr>
          <a:xfrm>
            <a:off x="6284520" y="3894840"/>
            <a:ext cx="1151640" cy="45756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t">
            <a:spAutoFit/>
          </a:bodyPr>
          <a:lstStyle/>
          <a:p>
            <a:r>
              <a:rPr lang="en-US" sz="920" b="0" strike="noStrike" spc="-1">
                <a:solidFill>
                  <a:schemeClr val="accent6">
                    <a:lumMod val="20000"/>
                    <a:lumOff val="80000"/>
                  </a:schemeClr>
                </a:solidFill>
                <a:latin typeface="Arial"/>
              </a:rPr>
              <a:t>Move the arm to</a:t>
            </a:r>
            <a:endParaRPr lang="en-US" sz="920" b="0" strike="noStrike" spc="-1">
              <a:solidFill>
                <a:srgbClr val="FFFFFF"/>
              </a:solidFill>
              <a:latin typeface="Arial"/>
            </a:endParaRPr>
          </a:p>
          <a:p>
            <a:r>
              <a:rPr lang="en-US" sz="920" b="0" strike="noStrike" spc="-1">
                <a:solidFill>
                  <a:schemeClr val="accent6">
                    <a:lumMod val="20000"/>
                    <a:lumOff val="80000"/>
                  </a:schemeClr>
                </a:solidFill>
                <a:latin typeface="Arial"/>
              </a:rPr>
              <a:t>a neutral / safe</a:t>
            </a:r>
            <a:endParaRPr lang="en-US" sz="920" b="0" strike="noStrike" spc="-1">
              <a:solidFill>
                <a:srgbClr val="FFFFFF"/>
              </a:solidFill>
              <a:latin typeface="Arial"/>
            </a:endParaRPr>
          </a:p>
          <a:p>
            <a:pPr algn="ctr" defTabSz="457200">
              <a:lnSpc>
                <a:spcPct val="100000"/>
              </a:lnSpc>
            </a:pPr>
            <a:r>
              <a:rPr lang="en-US" sz="920" b="0" strike="noStrike" spc="-1">
                <a:solidFill>
                  <a:schemeClr val="accent6">
                    <a:lumMod val="20000"/>
                    <a:lumOff val="80000"/>
                  </a:schemeClr>
                </a:solidFill>
                <a:latin typeface="Arial"/>
              </a:rPr>
              <a:t>posture</a:t>
            </a:r>
            <a:endParaRPr lang="en-US" sz="920" b="0" strike="noStrike" spc="-1">
              <a:solidFill>
                <a:srgbClr val="FFFFFF"/>
              </a:solidFill>
              <a:latin typeface="Arial"/>
            </a:endParaRPr>
          </a:p>
        </p:txBody>
      </p:sp>
      <p:sp>
        <p:nvSpPr>
          <p:cNvPr id="137" name="Rounded Rectangle 30"/>
          <p:cNvSpPr/>
          <p:nvPr/>
        </p:nvSpPr>
        <p:spPr>
          <a:xfrm>
            <a:off x="7938360" y="2786400"/>
            <a:ext cx="1398600" cy="2964600"/>
          </a:xfrm>
          <a:prstGeom prst="roundRect">
            <a:avLst>
              <a:gd name="adj" fmla="val 16667"/>
            </a:avLst>
          </a:prstGeom>
          <a:solidFill>
            <a:srgbClr val="A50021"/>
          </a:solidFill>
          <a:ln w="1397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38" name="Oval 14"/>
          <p:cNvSpPr/>
          <p:nvPr/>
        </p:nvSpPr>
        <p:spPr>
          <a:xfrm>
            <a:off x="8377560" y="2564640"/>
            <a:ext cx="321840" cy="353880"/>
          </a:xfrm>
          <a:prstGeom prst="ellipse">
            <a:avLst/>
          </a:prstGeom>
          <a:solidFill>
            <a:srgbClr val="C00000"/>
          </a:solidFill>
          <a:ln w="1524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500" b="1" strike="noStrike" spc="-1">
                <a:solidFill>
                  <a:srgbClr val="FFFFFF"/>
                </a:solidFill>
                <a:latin typeface="Arial"/>
              </a:rPr>
              <a:t>4</a:t>
            </a:r>
            <a:endParaRPr lang="en-US" sz="1500" b="0" strike="noStrike" spc="-1">
              <a:solidFill>
                <a:srgbClr val="FFFFFF"/>
              </a:solidFill>
              <a:latin typeface="Arial"/>
            </a:endParaRPr>
          </a:p>
        </p:txBody>
      </p:sp>
      <p:sp>
        <p:nvSpPr>
          <p:cNvPr id="139" name="TextBox 56"/>
          <p:cNvSpPr/>
          <p:nvPr/>
        </p:nvSpPr>
        <p:spPr>
          <a:xfrm>
            <a:off x="8065080" y="2944080"/>
            <a:ext cx="1178280" cy="29520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algn="ctr" defTabSz="457200">
              <a:lnSpc>
                <a:spcPct val="100000"/>
              </a:lnSpc>
            </a:pPr>
            <a:r>
              <a:rPr lang="en-US" sz="1700" b="1" strike="noStrike" spc="-1">
                <a:solidFill>
                  <a:schemeClr val="accent2">
                    <a:lumMod val="40000"/>
                    <a:lumOff val="60000"/>
                  </a:schemeClr>
                </a:solidFill>
                <a:latin typeface="Arial"/>
              </a:rPr>
              <a:t>70 s:</a:t>
            </a:r>
            <a:endParaRPr lang="en-US" sz="1700" b="0" strike="noStrike" spc="-1">
              <a:solidFill>
                <a:srgbClr val="FFFFFF"/>
              </a:solidFill>
              <a:latin typeface="Arial"/>
            </a:endParaRPr>
          </a:p>
        </p:txBody>
      </p:sp>
      <p:sp>
        <p:nvSpPr>
          <p:cNvPr id="140" name="TextBox 57"/>
          <p:cNvSpPr/>
          <p:nvPr/>
        </p:nvSpPr>
        <p:spPr>
          <a:xfrm>
            <a:off x="8048160" y="3204000"/>
            <a:ext cx="1195200" cy="55332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130" b="1" strike="noStrike" spc="-1">
                <a:solidFill>
                  <a:schemeClr val="accent2">
                    <a:lumMod val="40000"/>
                    <a:lumOff val="60000"/>
                  </a:schemeClr>
                </a:solidFill>
                <a:latin typeface="Arial"/>
              </a:rPr>
              <a:t>go_to_top_</a:t>
            </a:r>
            <a:endParaRPr lang="en-US" sz="1130" b="0" strike="noStrike" spc="-1">
              <a:solidFill>
                <a:srgbClr val="FFFFFF"/>
              </a:solidFill>
              <a:latin typeface="Arial"/>
            </a:endParaRPr>
          </a:p>
          <a:p>
            <a:r>
              <a:rPr lang="en-US" sz="1130" b="1" strike="noStrike" spc="-1">
                <a:solidFill>
                  <a:schemeClr val="accent2">
                    <a:lumMod val="40000"/>
                    <a:lumOff val="60000"/>
                  </a:schemeClr>
                </a:solidFill>
                <a:latin typeface="Arial"/>
              </a:rPr>
              <a:t>hand_camera_</a:t>
            </a:r>
            <a:endParaRPr lang="en-US" sz="1130" b="0" strike="noStrike" spc="-1">
              <a:solidFill>
                <a:srgbClr val="FFFFFF"/>
              </a:solidFill>
              <a:latin typeface="Arial"/>
            </a:endParaRPr>
          </a:p>
          <a:p>
            <a:pPr algn="ctr" defTabSz="457200">
              <a:lnSpc>
                <a:spcPct val="100000"/>
              </a:lnSpc>
            </a:pPr>
            <a:r>
              <a:rPr lang="en-US" sz="1130" b="1" strike="noStrike" spc="-1">
                <a:solidFill>
                  <a:schemeClr val="accent2">
                    <a:lumMod val="40000"/>
                    <a:lumOff val="60000"/>
                  </a:schemeClr>
                </a:solidFill>
                <a:latin typeface="Arial"/>
              </a:rPr>
              <a:t>pos.py</a:t>
            </a:r>
            <a:endParaRPr lang="en-US" sz="1130" b="0" strike="noStrike" spc="-1">
              <a:solidFill>
                <a:srgbClr val="FFFFFF"/>
              </a:solidFill>
              <a:latin typeface="Arial"/>
            </a:endParaRPr>
          </a:p>
        </p:txBody>
      </p:sp>
      <p:cxnSp>
        <p:nvCxnSpPr>
          <p:cNvPr id="141" name="Connector 17"/>
          <p:cNvCxnSpPr/>
          <p:nvPr/>
        </p:nvCxnSpPr>
        <p:spPr>
          <a:xfrm>
            <a:off x="8102880" y="3825720"/>
            <a:ext cx="1094040" cy="360"/>
          </a:xfrm>
          <a:prstGeom prst="straightConnector1">
            <a:avLst/>
          </a:prstGeom>
          <a:ln>
            <a:solidFill>
              <a:srgbClr val="BE4B48"/>
            </a:solidFill>
            <a:round/>
          </a:ln>
        </p:spPr>
      </p:cxnSp>
      <p:sp>
        <p:nvSpPr>
          <p:cNvPr id="142" name="TextBox 58"/>
          <p:cNvSpPr/>
          <p:nvPr/>
        </p:nvSpPr>
        <p:spPr>
          <a:xfrm>
            <a:off x="7967880" y="3834000"/>
            <a:ext cx="1288800" cy="59796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t">
            <a:spAutoFit/>
          </a:bodyPr>
          <a:lstStyle/>
          <a:p>
            <a:r>
              <a:rPr lang="en-US" sz="920" b="0" strike="noStrike" spc="-1">
                <a:solidFill>
                  <a:schemeClr val="accent2">
                    <a:lumMod val="40000"/>
                    <a:lumOff val="60000"/>
                  </a:schemeClr>
                </a:solidFill>
                <a:latin typeface="Arial"/>
              </a:rPr>
              <a:t>Move the hand</a:t>
            </a:r>
            <a:endParaRPr lang="en-US" sz="920" b="0" strike="noStrike" spc="-1">
              <a:solidFill>
                <a:srgbClr val="FFFFFF"/>
              </a:solidFill>
              <a:latin typeface="Arial"/>
            </a:endParaRPr>
          </a:p>
          <a:p>
            <a:r>
              <a:rPr lang="en-US" sz="920" b="0" strike="noStrike" spc="-1">
                <a:solidFill>
                  <a:schemeClr val="accent2">
                    <a:lumMod val="40000"/>
                    <a:lumOff val="60000"/>
                  </a:schemeClr>
                </a:solidFill>
                <a:latin typeface="Arial"/>
              </a:rPr>
              <a:t>camera above the</a:t>
            </a:r>
            <a:endParaRPr lang="en-US" sz="920" b="0" strike="noStrike" spc="-1">
              <a:solidFill>
                <a:srgbClr val="FFFFFF"/>
              </a:solidFill>
              <a:latin typeface="Arial"/>
            </a:endParaRPr>
          </a:p>
          <a:p>
            <a:r>
              <a:rPr lang="en-US" sz="920" b="0" strike="noStrike" spc="-1">
                <a:solidFill>
                  <a:schemeClr val="accent2">
                    <a:lumMod val="40000"/>
                    <a:lumOff val="60000"/>
                  </a:schemeClr>
                </a:solidFill>
                <a:latin typeface="Arial"/>
              </a:rPr>
              <a:t>workspace for</a:t>
            </a:r>
            <a:endParaRPr lang="en-US" sz="920" b="0" strike="noStrike" spc="-1">
              <a:solidFill>
                <a:srgbClr val="FFFFFF"/>
              </a:solidFill>
              <a:latin typeface="Arial"/>
            </a:endParaRPr>
          </a:p>
          <a:p>
            <a:pPr algn="ctr" defTabSz="457200">
              <a:lnSpc>
                <a:spcPct val="100000"/>
              </a:lnSpc>
            </a:pPr>
            <a:r>
              <a:rPr lang="en-US" sz="920" b="0" strike="noStrike" spc="-1">
                <a:solidFill>
                  <a:schemeClr val="accent2">
                    <a:lumMod val="40000"/>
                    <a:lumOff val="60000"/>
                  </a:schemeClr>
                </a:solidFill>
                <a:latin typeface="Arial"/>
              </a:rPr>
              <a:t>top-down perception</a:t>
            </a:r>
            <a:endParaRPr lang="en-US" sz="920" b="0" strike="noStrike" spc="-1">
              <a:solidFill>
                <a:srgbClr val="FFFFFF"/>
              </a:solidFill>
              <a:latin typeface="Arial"/>
            </a:endParaRPr>
          </a:p>
        </p:txBody>
      </p:sp>
      <p:cxnSp>
        <p:nvCxnSpPr>
          <p:cNvPr id="143" name="Connector 18"/>
          <p:cNvCxnSpPr/>
          <p:nvPr/>
        </p:nvCxnSpPr>
        <p:spPr>
          <a:xfrm>
            <a:off x="4329000" y="4064040"/>
            <a:ext cx="201600" cy="360"/>
          </a:xfrm>
          <a:prstGeom prst="straightConnector1">
            <a:avLst/>
          </a:prstGeom>
          <a:ln w="30480">
            <a:solidFill>
              <a:srgbClr val="1F497D">
                <a:lumMod val="60000"/>
                <a:lumOff val="40000"/>
              </a:srgbClr>
            </a:solidFill>
            <a:round/>
          </a:ln>
        </p:spPr>
      </p:cxnSp>
      <p:sp>
        <p:nvSpPr>
          <p:cNvPr id="144" name="AutoShape 2"/>
          <p:cNvSpPr/>
          <p:nvPr/>
        </p:nvSpPr>
        <p:spPr>
          <a:xfrm>
            <a:off x="6040800" y="3585600"/>
            <a:ext cx="309240" cy="30924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endParaRPr lang="en-US" sz="1800" b="0" strike="noStrike" spc="-1">
              <a:solidFill>
                <a:schemeClr val="dk1"/>
              </a:solidFill>
              <a:latin typeface="Calibri"/>
            </a:endParaRPr>
          </a:p>
        </p:txBody>
      </p:sp>
      <p:pic>
        <p:nvPicPr>
          <p:cNvPr id="145" name="图片 10"/>
          <p:cNvPicPr/>
          <p:nvPr/>
        </p:nvPicPr>
        <p:blipFill>
          <a:blip r:embed="rId4"/>
          <a:stretch/>
        </p:blipFill>
        <p:spPr>
          <a:xfrm>
            <a:off x="6431040" y="4520880"/>
            <a:ext cx="1016640" cy="1116000"/>
          </a:xfrm>
          <a:prstGeom prst="rect">
            <a:avLst/>
          </a:prstGeom>
          <a:ln w="0">
            <a:noFill/>
          </a:ln>
        </p:spPr>
      </p:pic>
      <p:cxnSp>
        <p:nvCxnSpPr>
          <p:cNvPr id="146" name="Connector 19"/>
          <p:cNvCxnSpPr/>
          <p:nvPr/>
        </p:nvCxnSpPr>
        <p:spPr>
          <a:xfrm>
            <a:off x="5942520" y="4064040"/>
            <a:ext cx="201600" cy="360"/>
          </a:xfrm>
          <a:prstGeom prst="straightConnector1">
            <a:avLst/>
          </a:prstGeom>
          <a:ln w="30480">
            <a:solidFill>
              <a:srgbClr val="1F497D">
                <a:lumMod val="60000"/>
                <a:lumOff val="40000"/>
              </a:srgbClr>
            </a:solidFill>
            <a:round/>
          </a:ln>
        </p:spPr>
      </p:cxnSp>
      <p:cxnSp>
        <p:nvCxnSpPr>
          <p:cNvPr id="147" name="Connector 20"/>
          <p:cNvCxnSpPr/>
          <p:nvPr/>
        </p:nvCxnSpPr>
        <p:spPr>
          <a:xfrm>
            <a:off x="7649280" y="4053960"/>
            <a:ext cx="201600" cy="360"/>
          </a:xfrm>
          <a:prstGeom prst="straightConnector1">
            <a:avLst/>
          </a:prstGeom>
          <a:ln w="30480">
            <a:solidFill>
              <a:srgbClr val="1F497D">
                <a:lumMod val="60000"/>
                <a:lumOff val="40000"/>
              </a:srgbClr>
            </a:solidFill>
            <a:round/>
          </a:ln>
        </p:spPr>
      </p:cxnSp>
      <p:sp>
        <p:nvSpPr>
          <p:cNvPr id="148" name="Rounded Rectangle 31"/>
          <p:cNvSpPr/>
          <p:nvPr/>
        </p:nvSpPr>
        <p:spPr>
          <a:xfrm>
            <a:off x="9648000" y="1148040"/>
            <a:ext cx="2415600" cy="4983120"/>
          </a:xfrm>
          <a:prstGeom prst="roundRect">
            <a:avLst>
              <a:gd name="adj" fmla="val 16667"/>
            </a:avLst>
          </a:prstGeom>
          <a:solidFill>
            <a:srgbClr val="003300"/>
          </a:solidFill>
          <a:ln w="13970">
            <a:solidFill>
              <a:srgbClr val="498B40"/>
            </a:solidFill>
            <a:prstDash val="dash"/>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49" name="Rounded Rectangle 32"/>
          <p:cNvSpPr/>
          <p:nvPr/>
        </p:nvSpPr>
        <p:spPr>
          <a:xfrm>
            <a:off x="10059480" y="913320"/>
            <a:ext cx="1657080" cy="325440"/>
          </a:xfrm>
          <a:prstGeom prst="roundRect">
            <a:avLst>
              <a:gd name="adj" fmla="val 16667"/>
            </a:avLst>
          </a:prstGeom>
          <a:solidFill>
            <a:schemeClr val="accent3">
              <a:lumMod val="75000"/>
            </a:schemeClr>
          </a:solidFill>
          <a:ln w="1270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27360" rIns="54720" bIns="27360" anchor="ctr">
            <a:noAutofit/>
          </a:bodyPr>
          <a:lstStyle/>
          <a:p>
            <a:pPr algn="ctr" defTabSz="457200">
              <a:lnSpc>
                <a:spcPct val="100000"/>
              </a:lnSpc>
            </a:pPr>
            <a:r>
              <a:rPr lang="en-US" sz="1250" b="1" strike="noStrike" spc="-1">
                <a:solidFill>
                  <a:srgbClr val="1E642D"/>
                </a:solidFill>
                <a:latin typeface="Arial"/>
              </a:rPr>
              <a:t>Initialization Result</a:t>
            </a:r>
            <a:endParaRPr lang="en-US" sz="1250" b="0" strike="noStrike" spc="-1">
              <a:solidFill>
                <a:srgbClr val="FFFFFF"/>
              </a:solidFill>
              <a:latin typeface="Arial"/>
            </a:endParaRPr>
          </a:p>
        </p:txBody>
      </p:sp>
      <p:sp>
        <p:nvSpPr>
          <p:cNvPr id="150" name="TextBox 59"/>
          <p:cNvSpPr/>
          <p:nvPr/>
        </p:nvSpPr>
        <p:spPr>
          <a:xfrm>
            <a:off x="10141560" y="1389240"/>
            <a:ext cx="1850040" cy="60732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250" b="1" strike="noStrike" spc="-1">
                <a:solidFill>
                  <a:schemeClr val="accent3">
                    <a:lumMod val="40000"/>
                    <a:lumOff val="60000"/>
                  </a:schemeClr>
                </a:solidFill>
                <a:latin typeface="Arial"/>
              </a:rPr>
              <a:t>System Ready for Perception</a:t>
            </a:r>
            <a:endParaRPr lang="en-US" sz="1250" b="0" strike="noStrike" spc="-1">
              <a:solidFill>
                <a:srgbClr val="FFFFFF"/>
              </a:solidFill>
              <a:latin typeface="Arial"/>
            </a:endParaRPr>
          </a:p>
          <a:p>
            <a:pPr defTabSz="457200">
              <a:lnSpc>
                <a:spcPct val="100000"/>
              </a:lnSpc>
            </a:pPr>
            <a:r>
              <a:rPr lang="en-US" sz="1250" b="1" strike="noStrike" spc="-1">
                <a:solidFill>
                  <a:schemeClr val="accent3">
                    <a:lumMod val="40000"/>
                    <a:lumOff val="60000"/>
                  </a:schemeClr>
                </a:solidFill>
                <a:latin typeface="Arial"/>
              </a:rPr>
              <a:t>and Task Execution</a:t>
            </a:r>
            <a:endParaRPr lang="en-US" sz="1250" b="0" strike="noStrike" spc="-1">
              <a:solidFill>
                <a:srgbClr val="FFFFFF"/>
              </a:solidFill>
              <a:latin typeface="Arial"/>
            </a:endParaRPr>
          </a:p>
        </p:txBody>
      </p:sp>
      <p:sp>
        <p:nvSpPr>
          <p:cNvPr id="151" name="TextBox 60"/>
          <p:cNvSpPr/>
          <p:nvPr/>
        </p:nvSpPr>
        <p:spPr>
          <a:xfrm>
            <a:off x="9784440" y="2059560"/>
            <a:ext cx="2113920" cy="84456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t">
            <a:spAutoFit/>
          </a:bodyPr>
          <a:lstStyle/>
          <a:p>
            <a:pPr defTabSz="457200">
              <a:lnSpc>
                <a:spcPct val="100000"/>
              </a:lnSpc>
            </a:pPr>
            <a:r>
              <a:rPr lang="en-US" sz="1060" b="0" strike="noStrike" spc="-1">
                <a:solidFill>
                  <a:schemeClr val="accent3">
                    <a:lumMod val="20000"/>
                    <a:lumOff val="80000"/>
                  </a:schemeClr>
                </a:solidFill>
                <a:latin typeface="Arial"/>
              </a:rPr>
              <a:t>This staged initialization ensures the scene is ready, the arm is initialized, and the camera has a clear top-down view before LLM-generated code runs.</a:t>
            </a:r>
            <a:endParaRPr lang="en-US" sz="1060" b="0" strike="noStrike" spc="-1">
              <a:solidFill>
                <a:srgbClr val="FFFFFF"/>
              </a:solidFill>
              <a:latin typeface="Arial"/>
            </a:endParaRPr>
          </a:p>
        </p:txBody>
      </p:sp>
      <p:sp>
        <p:nvSpPr>
          <p:cNvPr id="152" name="Rounded Rectangle 33"/>
          <p:cNvSpPr/>
          <p:nvPr/>
        </p:nvSpPr>
        <p:spPr>
          <a:xfrm>
            <a:off x="9866520" y="3088440"/>
            <a:ext cx="2018880" cy="1899000"/>
          </a:xfrm>
          <a:prstGeom prst="roundRect">
            <a:avLst>
              <a:gd name="adj" fmla="val 16667"/>
            </a:avLst>
          </a:prstGeom>
          <a:solidFill>
            <a:schemeClr val="accent3">
              <a:lumMod val="60000"/>
              <a:lumOff val="40000"/>
            </a:schemeClr>
          </a:solidFill>
          <a:ln w="1016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53" name="Rounded Rectangle 34"/>
          <p:cNvSpPr/>
          <p:nvPr/>
        </p:nvSpPr>
        <p:spPr>
          <a:xfrm>
            <a:off x="10202040" y="2926080"/>
            <a:ext cx="1279800" cy="314640"/>
          </a:xfrm>
          <a:prstGeom prst="roundRect">
            <a:avLst>
              <a:gd name="adj" fmla="val 16667"/>
            </a:avLst>
          </a:prstGeom>
          <a:solidFill>
            <a:srgbClr val="F7FFF5"/>
          </a:solidFill>
          <a:ln w="1016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27360" rIns="54720" bIns="27360" anchor="ctr">
            <a:noAutofit/>
          </a:bodyPr>
          <a:lstStyle/>
          <a:p>
            <a:pPr algn="ctr" defTabSz="457200">
              <a:lnSpc>
                <a:spcPct val="100000"/>
              </a:lnSpc>
            </a:pPr>
            <a:r>
              <a:rPr lang="en-US" sz="850" b="0" strike="noStrike" spc="-1">
                <a:solidFill>
                  <a:srgbClr val="000000"/>
                </a:solidFill>
                <a:latin typeface="Arial"/>
              </a:rPr>
              <a:t>Top-down camera view</a:t>
            </a:r>
          </a:p>
        </p:txBody>
      </p:sp>
      <p:cxnSp>
        <p:nvCxnSpPr>
          <p:cNvPr id="154" name="Connector 21"/>
          <p:cNvCxnSpPr/>
          <p:nvPr/>
        </p:nvCxnSpPr>
        <p:spPr>
          <a:xfrm>
            <a:off x="10702080" y="5537160"/>
            <a:ext cx="422280" cy="360"/>
          </a:xfrm>
          <a:prstGeom prst="straightConnector1">
            <a:avLst/>
          </a:prstGeom>
          <a:ln w="22860">
            <a:solidFill>
              <a:srgbClr val="498B40"/>
            </a:solidFill>
            <a:round/>
          </a:ln>
        </p:spPr>
      </p:cxnSp>
      <p:sp>
        <p:nvSpPr>
          <p:cNvPr id="155" name="TextBox 61"/>
          <p:cNvSpPr/>
          <p:nvPr/>
        </p:nvSpPr>
        <p:spPr>
          <a:xfrm>
            <a:off x="9876600" y="5749920"/>
            <a:ext cx="813240" cy="28944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830" b="0" strike="noStrike" spc="-1">
                <a:solidFill>
                  <a:schemeClr val="accent3">
                    <a:lumMod val="20000"/>
                    <a:lumOff val="80000"/>
                  </a:schemeClr>
                </a:solidFill>
                <a:latin typeface="Arial"/>
              </a:rPr>
              <a:t>LLM-generated</a:t>
            </a:r>
            <a:endParaRPr lang="en-US" sz="830" b="0" strike="noStrike" spc="-1">
              <a:solidFill>
                <a:srgbClr val="FFFFFF"/>
              </a:solidFill>
              <a:latin typeface="Arial"/>
            </a:endParaRPr>
          </a:p>
          <a:p>
            <a:pPr algn="ctr" defTabSz="457200">
              <a:lnSpc>
                <a:spcPct val="100000"/>
              </a:lnSpc>
            </a:pPr>
            <a:r>
              <a:rPr lang="en-US" sz="830" b="0" strike="noStrike" spc="-1">
                <a:solidFill>
                  <a:schemeClr val="accent3">
                    <a:lumMod val="20000"/>
                    <a:lumOff val="80000"/>
                  </a:schemeClr>
                </a:solidFill>
                <a:latin typeface="Arial"/>
              </a:rPr>
              <a:t>code execution</a:t>
            </a:r>
            <a:endParaRPr lang="en-US" sz="830" b="0" strike="noStrike" spc="-1">
              <a:solidFill>
                <a:srgbClr val="FFFFFF"/>
              </a:solidFill>
              <a:latin typeface="Arial"/>
            </a:endParaRPr>
          </a:p>
        </p:txBody>
      </p:sp>
      <p:sp>
        <p:nvSpPr>
          <p:cNvPr id="156" name="TextBox 62"/>
          <p:cNvSpPr/>
          <p:nvPr/>
        </p:nvSpPr>
        <p:spPr>
          <a:xfrm>
            <a:off x="11359440" y="5731920"/>
            <a:ext cx="632520" cy="28944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830" b="0" strike="noStrike" spc="-1">
                <a:solidFill>
                  <a:schemeClr val="accent3">
                    <a:lumMod val="20000"/>
                    <a:lumOff val="80000"/>
                  </a:schemeClr>
                </a:solidFill>
                <a:latin typeface="Arial"/>
              </a:rPr>
              <a:t>Task</a:t>
            </a:r>
            <a:endParaRPr lang="en-US" sz="830" b="0" strike="noStrike" spc="-1">
              <a:solidFill>
                <a:srgbClr val="FFFFFF"/>
              </a:solidFill>
              <a:latin typeface="Arial"/>
            </a:endParaRPr>
          </a:p>
          <a:p>
            <a:pPr algn="ctr" defTabSz="457200">
              <a:lnSpc>
                <a:spcPct val="100000"/>
              </a:lnSpc>
            </a:pPr>
            <a:r>
              <a:rPr lang="en-US" sz="830" b="0" strike="noStrike" spc="-1">
                <a:solidFill>
                  <a:schemeClr val="accent3">
                    <a:lumMod val="20000"/>
                    <a:lumOff val="80000"/>
                  </a:schemeClr>
                </a:solidFill>
                <a:latin typeface="Arial"/>
              </a:rPr>
              <a:t>execution</a:t>
            </a:r>
            <a:endParaRPr lang="en-US" sz="830" b="0" strike="noStrike" spc="-1">
              <a:solidFill>
                <a:srgbClr val="FFFFFF"/>
              </a:solidFill>
              <a:latin typeface="Arial"/>
            </a:endParaRPr>
          </a:p>
        </p:txBody>
      </p:sp>
      <p:pic>
        <p:nvPicPr>
          <p:cNvPr id="157" name="图片 11"/>
          <p:cNvPicPr/>
          <p:nvPr/>
        </p:nvPicPr>
        <p:blipFill>
          <a:blip r:embed="rId5"/>
          <a:srcRect l="20233" t="12630" r="13251" b="13550"/>
          <a:stretch/>
        </p:blipFill>
        <p:spPr>
          <a:xfrm>
            <a:off x="11400480" y="5209920"/>
            <a:ext cx="487440" cy="541080"/>
          </a:xfrm>
          <a:prstGeom prst="rect">
            <a:avLst/>
          </a:prstGeom>
          <a:ln w="0">
            <a:noFill/>
          </a:ln>
        </p:spPr>
      </p:pic>
      <p:pic>
        <p:nvPicPr>
          <p:cNvPr id="158" name="图片 12"/>
          <p:cNvPicPr/>
          <p:nvPr/>
        </p:nvPicPr>
        <p:blipFill>
          <a:blip r:embed="rId6"/>
          <a:srcRect l="18026" t="12983" r="13613" b="15747"/>
          <a:stretch/>
        </p:blipFill>
        <p:spPr>
          <a:xfrm>
            <a:off x="9960840" y="5209920"/>
            <a:ext cx="528480" cy="551160"/>
          </a:xfrm>
          <a:prstGeom prst="rect">
            <a:avLst/>
          </a:prstGeom>
          <a:ln w="0">
            <a:noFill/>
          </a:ln>
        </p:spPr>
      </p:pic>
      <p:cxnSp>
        <p:nvCxnSpPr>
          <p:cNvPr id="159" name="Connector 22"/>
          <p:cNvCxnSpPr/>
          <p:nvPr/>
        </p:nvCxnSpPr>
        <p:spPr>
          <a:xfrm>
            <a:off x="10409040" y="5078880"/>
            <a:ext cx="1073160" cy="360"/>
          </a:xfrm>
          <a:prstGeom prst="straightConnector1">
            <a:avLst/>
          </a:prstGeom>
          <a:ln w="12700">
            <a:solidFill>
              <a:srgbClr val="498B40"/>
            </a:solidFill>
            <a:round/>
          </a:ln>
        </p:spPr>
      </p:cxnSp>
      <p:cxnSp>
        <p:nvCxnSpPr>
          <p:cNvPr id="160" name="直接箭头连接符 2"/>
          <p:cNvCxnSpPr/>
          <p:nvPr/>
        </p:nvCxnSpPr>
        <p:spPr>
          <a:xfrm>
            <a:off x="10931760" y="5078880"/>
            <a:ext cx="360" cy="176400"/>
          </a:xfrm>
          <a:prstGeom prst="straightConnector1">
            <a:avLst/>
          </a:prstGeom>
          <a:ln>
            <a:solidFill>
              <a:srgbClr val="9BBB59"/>
            </a:solidFill>
            <a:round/>
            <a:tailEnd type="triangle" w="med" len="med"/>
          </a:ln>
        </p:spPr>
      </p:cxnSp>
      <p:sp>
        <p:nvSpPr>
          <p:cNvPr id="161" name="Rounded Rectangle 35"/>
          <p:cNvSpPr/>
          <p:nvPr/>
        </p:nvSpPr>
        <p:spPr>
          <a:xfrm>
            <a:off x="189360" y="6168240"/>
            <a:ext cx="11841120" cy="597600"/>
          </a:xfrm>
          <a:prstGeom prst="roundRect">
            <a:avLst>
              <a:gd name="adj" fmla="val 16667"/>
            </a:avLst>
          </a:prstGeom>
          <a:solidFill>
            <a:schemeClr val="bg1">
              <a:lumMod val="50000"/>
            </a:schemeClr>
          </a:solidFill>
          <a:ln w="1270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strike="noStrike" spc="-1">
              <a:solidFill>
                <a:schemeClr val="lt1"/>
              </a:solidFill>
              <a:latin typeface="Calibri"/>
            </a:endParaRPr>
          </a:p>
        </p:txBody>
      </p:sp>
      <p:sp>
        <p:nvSpPr>
          <p:cNvPr id="162" name="Oval 15"/>
          <p:cNvSpPr/>
          <p:nvPr/>
        </p:nvSpPr>
        <p:spPr>
          <a:xfrm>
            <a:off x="483120" y="6309360"/>
            <a:ext cx="383760" cy="338760"/>
          </a:xfrm>
          <a:prstGeom prst="ellipse">
            <a:avLst/>
          </a:prstGeom>
          <a:solidFill>
            <a:srgbClr val="FFFFFF"/>
          </a:solidFill>
          <a:ln w="1524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600" b="0" strike="noStrike" spc="-1">
                <a:solidFill>
                  <a:srgbClr val="2563A5"/>
                </a:solidFill>
                <a:latin typeface="Arial"/>
              </a:rPr>
              <a:t>⏱</a:t>
            </a:r>
            <a:endParaRPr lang="en-US" sz="1600" b="0" strike="noStrike" spc="-1">
              <a:solidFill>
                <a:srgbClr val="000000"/>
              </a:solidFill>
              <a:latin typeface="Arial"/>
            </a:endParaRPr>
          </a:p>
        </p:txBody>
      </p:sp>
      <p:sp>
        <p:nvSpPr>
          <p:cNvPr id="163" name="TextBox 63"/>
          <p:cNvSpPr/>
          <p:nvPr/>
        </p:nvSpPr>
        <p:spPr>
          <a:xfrm>
            <a:off x="952560" y="6373080"/>
            <a:ext cx="1378440" cy="20376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1100" b="1" strike="noStrike" spc="-1">
                <a:solidFill>
                  <a:srgbClr val="07315D"/>
                </a:solidFill>
                <a:latin typeface="Arial"/>
              </a:rPr>
              <a:t>Timing Summary</a:t>
            </a:r>
            <a:endParaRPr lang="en-US" sz="1100" b="0" strike="noStrike" spc="-1">
              <a:solidFill>
                <a:srgbClr val="FFFFFF"/>
              </a:solidFill>
              <a:latin typeface="Arial"/>
            </a:endParaRPr>
          </a:p>
        </p:txBody>
      </p:sp>
      <p:sp>
        <p:nvSpPr>
          <p:cNvPr id="164" name="Oval 16"/>
          <p:cNvSpPr/>
          <p:nvPr/>
        </p:nvSpPr>
        <p:spPr>
          <a:xfrm>
            <a:off x="3017520" y="6309360"/>
            <a:ext cx="370440" cy="353520"/>
          </a:xfrm>
          <a:prstGeom prst="ellipse">
            <a:avLst/>
          </a:prstGeom>
          <a:solidFill>
            <a:srgbClr val="FFFFFF"/>
          </a:solidFill>
          <a:ln w="1524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tIns="45000" rIns="90000" bIns="45000" anchor="ctr">
            <a:noAutofit/>
          </a:bodyPr>
          <a:lstStyle/>
          <a:p>
            <a:pPr defTabSz="457200">
              <a:lnSpc>
                <a:spcPct val="100000"/>
              </a:lnSpc>
            </a:pPr>
            <a:r>
              <a:rPr lang="en-US" sz="1100" b="1" strike="noStrike" spc="-1">
                <a:solidFill>
                  <a:srgbClr val="2563A5"/>
                </a:solidFill>
                <a:latin typeface="Times New Roman"/>
              </a:rPr>
              <a:t>0s</a:t>
            </a:r>
            <a:endParaRPr lang="en-US" sz="1100" b="0" strike="noStrike" spc="-1">
              <a:solidFill>
                <a:srgbClr val="000000"/>
              </a:solidFill>
              <a:latin typeface="Arial"/>
            </a:endParaRPr>
          </a:p>
        </p:txBody>
      </p:sp>
      <p:sp>
        <p:nvSpPr>
          <p:cNvPr id="165" name="TextBox 64"/>
          <p:cNvSpPr/>
          <p:nvPr/>
        </p:nvSpPr>
        <p:spPr>
          <a:xfrm>
            <a:off x="3507120" y="6408000"/>
            <a:ext cx="566640" cy="18072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pPr defTabSz="457200">
              <a:lnSpc>
                <a:spcPct val="100000"/>
              </a:lnSpc>
            </a:pPr>
            <a:r>
              <a:rPr lang="en-US" sz="950" b="1" strike="noStrike" spc="-1">
                <a:solidFill>
                  <a:srgbClr val="07315D"/>
                </a:solidFill>
                <a:latin typeface="Arial"/>
              </a:rPr>
              <a:t>launch</a:t>
            </a:r>
            <a:endParaRPr lang="en-US" sz="950" b="0" strike="noStrike" spc="-1">
              <a:solidFill>
                <a:srgbClr val="FFFFFF"/>
              </a:solidFill>
              <a:latin typeface="Arial"/>
            </a:endParaRPr>
          </a:p>
        </p:txBody>
      </p:sp>
      <p:cxnSp>
        <p:nvCxnSpPr>
          <p:cNvPr id="166" name="Connector 23"/>
          <p:cNvCxnSpPr/>
          <p:nvPr/>
        </p:nvCxnSpPr>
        <p:spPr>
          <a:xfrm>
            <a:off x="4097520" y="6466680"/>
            <a:ext cx="342000" cy="360"/>
          </a:xfrm>
          <a:prstGeom prst="straightConnector1">
            <a:avLst/>
          </a:prstGeom>
          <a:ln>
            <a:solidFill>
              <a:srgbClr val="634AA7"/>
            </a:solidFill>
            <a:round/>
          </a:ln>
        </p:spPr>
      </p:cxnSp>
      <p:sp>
        <p:nvSpPr>
          <p:cNvPr id="167" name="Oval 17"/>
          <p:cNvSpPr/>
          <p:nvPr/>
        </p:nvSpPr>
        <p:spPr>
          <a:xfrm>
            <a:off x="4677480" y="6309360"/>
            <a:ext cx="381240" cy="367560"/>
          </a:xfrm>
          <a:prstGeom prst="ellipse">
            <a:avLst/>
          </a:prstGeom>
          <a:solidFill>
            <a:srgbClr val="FFFFFF"/>
          </a:solidFill>
          <a:ln w="15240">
            <a:solidFill>
              <a:srgbClr val="498B4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tIns="45000" rIns="90000" bIns="45000" anchor="ctr">
            <a:noAutofit/>
          </a:bodyPr>
          <a:lstStyle/>
          <a:p>
            <a:pPr algn="ctr" defTabSz="457200">
              <a:lnSpc>
                <a:spcPct val="100000"/>
              </a:lnSpc>
            </a:pPr>
            <a:r>
              <a:rPr lang="en-US" sz="1050" b="1" strike="noStrike" spc="-1">
                <a:solidFill>
                  <a:srgbClr val="498B40"/>
                </a:solidFill>
                <a:latin typeface="Arial"/>
              </a:rPr>
              <a:t>18 s</a:t>
            </a:r>
            <a:endParaRPr lang="en-US" sz="1050" b="0" strike="noStrike" spc="-1">
              <a:solidFill>
                <a:srgbClr val="000000"/>
              </a:solidFill>
              <a:latin typeface="Arial"/>
            </a:endParaRPr>
          </a:p>
        </p:txBody>
      </p:sp>
      <p:sp>
        <p:nvSpPr>
          <p:cNvPr id="168" name="TextBox 65"/>
          <p:cNvSpPr/>
          <p:nvPr/>
        </p:nvSpPr>
        <p:spPr>
          <a:xfrm>
            <a:off x="5160600" y="6310440"/>
            <a:ext cx="934200" cy="31104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900" b="1" strike="noStrike" spc="-1">
                <a:solidFill>
                  <a:srgbClr val="07315D"/>
                </a:solidFill>
                <a:latin typeface="Arial"/>
              </a:rPr>
              <a:t>objects</a:t>
            </a:r>
            <a:endParaRPr lang="en-US" sz="900" b="0" strike="noStrike" spc="-1">
              <a:solidFill>
                <a:srgbClr val="FFFFFF"/>
              </a:solidFill>
              <a:latin typeface="Arial"/>
            </a:endParaRPr>
          </a:p>
          <a:p>
            <a:pPr defTabSz="457200">
              <a:lnSpc>
                <a:spcPct val="100000"/>
              </a:lnSpc>
            </a:pPr>
            <a:r>
              <a:rPr lang="en-US" sz="900" b="1" strike="noStrike" spc="-1">
                <a:solidFill>
                  <a:srgbClr val="07315D"/>
                </a:solidFill>
                <a:latin typeface="Arial"/>
              </a:rPr>
              <a:t>(populated)</a:t>
            </a:r>
            <a:endParaRPr lang="en-US" sz="900" b="0" strike="noStrike" spc="-1">
              <a:solidFill>
                <a:srgbClr val="FFFFFF"/>
              </a:solidFill>
              <a:latin typeface="Arial"/>
            </a:endParaRPr>
          </a:p>
        </p:txBody>
      </p:sp>
      <p:cxnSp>
        <p:nvCxnSpPr>
          <p:cNvPr id="169" name="Connector 24"/>
          <p:cNvCxnSpPr/>
          <p:nvPr/>
        </p:nvCxnSpPr>
        <p:spPr>
          <a:xfrm>
            <a:off x="5942520" y="6500520"/>
            <a:ext cx="342000" cy="360"/>
          </a:xfrm>
          <a:prstGeom prst="straightConnector1">
            <a:avLst/>
          </a:prstGeom>
          <a:ln>
            <a:solidFill>
              <a:srgbClr val="634AA7"/>
            </a:solidFill>
            <a:round/>
          </a:ln>
        </p:spPr>
      </p:cxnSp>
      <p:sp>
        <p:nvSpPr>
          <p:cNvPr id="170" name="Oval 18"/>
          <p:cNvSpPr/>
          <p:nvPr/>
        </p:nvSpPr>
        <p:spPr>
          <a:xfrm>
            <a:off x="6514560" y="6309360"/>
            <a:ext cx="381240" cy="367560"/>
          </a:xfrm>
          <a:prstGeom prst="ellipse">
            <a:avLst/>
          </a:prstGeom>
          <a:solidFill>
            <a:srgbClr val="FFFFFF"/>
          </a:solidFill>
          <a:ln w="15240">
            <a:solidFill>
              <a:srgbClr val="E8941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tIns="45000" rIns="90000" bIns="45000" anchor="ctr">
            <a:noAutofit/>
          </a:bodyPr>
          <a:lstStyle/>
          <a:p>
            <a:pPr algn="ctr" defTabSz="457200">
              <a:lnSpc>
                <a:spcPct val="100000"/>
              </a:lnSpc>
            </a:pPr>
            <a:r>
              <a:rPr lang="en-US" sz="1100" b="1" strike="noStrike" spc="-1">
                <a:solidFill>
                  <a:srgbClr val="E89417"/>
                </a:solidFill>
                <a:latin typeface="Arial"/>
              </a:rPr>
              <a:t>35 s</a:t>
            </a:r>
            <a:endParaRPr lang="en-US" sz="1100" b="0" strike="noStrike" spc="-1">
              <a:solidFill>
                <a:srgbClr val="000000"/>
              </a:solidFill>
              <a:latin typeface="Arial"/>
            </a:endParaRPr>
          </a:p>
        </p:txBody>
      </p:sp>
      <p:sp>
        <p:nvSpPr>
          <p:cNvPr id="171" name="TextBox 66"/>
          <p:cNvSpPr/>
          <p:nvPr/>
        </p:nvSpPr>
        <p:spPr>
          <a:xfrm>
            <a:off x="7019640" y="6310440"/>
            <a:ext cx="754560" cy="31104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900" b="1" strike="noStrike" spc="-1">
                <a:solidFill>
                  <a:srgbClr val="07315D"/>
                </a:solidFill>
                <a:latin typeface="Arial"/>
              </a:rPr>
              <a:t>safe pose</a:t>
            </a:r>
            <a:endParaRPr lang="en-US" sz="900" b="0" strike="noStrike" spc="-1">
              <a:solidFill>
                <a:srgbClr val="FFFFFF"/>
              </a:solidFill>
              <a:latin typeface="Arial"/>
            </a:endParaRPr>
          </a:p>
          <a:p>
            <a:pPr defTabSz="457200">
              <a:lnSpc>
                <a:spcPct val="100000"/>
              </a:lnSpc>
            </a:pPr>
            <a:r>
              <a:rPr lang="en-US" sz="900" b="1" strike="noStrike" spc="-1">
                <a:solidFill>
                  <a:srgbClr val="07315D"/>
                </a:solidFill>
                <a:latin typeface="Arial"/>
              </a:rPr>
              <a:t>(arm ready)</a:t>
            </a:r>
            <a:endParaRPr lang="en-US" sz="900" b="0" strike="noStrike" spc="-1">
              <a:solidFill>
                <a:srgbClr val="FFFFFF"/>
              </a:solidFill>
              <a:latin typeface="Arial"/>
            </a:endParaRPr>
          </a:p>
        </p:txBody>
      </p:sp>
      <p:cxnSp>
        <p:nvCxnSpPr>
          <p:cNvPr id="172" name="Connector 25"/>
          <p:cNvCxnSpPr/>
          <p:nvPr/>
        </p:nvCxnSpPr>
        <p:spPr>
          <a:xfrm>
            <a:off x="7774560" y="6466680"/>
            <a:ext cx="358200" cy="360"/>
          </a:xfrm>
          <a:prstGeom prst="straightConnector1">
            <a:avLst/>
          </a:prstGeom>
          <a:ln>
            <a:solidFill>
              <a:srgbClr val="634AA7"/>
            </a:solidFill>
            <a:round/>
          </a:ln>
        </p:spPr>
      </p:cxnSp>
      <p:sp>
        <p:nvSpPr>
          <p:cNvPr id="173" name="Oval 19"/>
          <p:cNvSpPr/>
          <p:nvPr/>
        </p:nvSpPr>
        <p:spPr>
          <a:xfrm>
            <a:off x="8261640" y="6309360"/>
            <a:ext cx="381240" cy="367560"/>
          </a:xfrm>
          <a:prstGeom prst="ellipse">
            <a:avLst/>
          </a:prstGeom>
          <a:solidFill>
            <a:srgbClr val="FFFFFF"/>
          </a:solidFill>
          <a:ln w="15240">
            <a:solidFill>
              <a:srgbClr val="A5002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tIns="45000" rIns="90000" bIns="45000" anchor="ctr">
            <a:noAutofit/>
          </a:bodyPr>
          <a:lstStyle/>
          <a:p>
            <a:pPr algn="ctr" defTabSz="457200">
              <a:lnSpc>
                <a:spcPct val="100000"/>
              </a:lnSpc>
            </a:pPr>
            <a:r>
              <a:rPr lang="en-US" sz="1050" b="1" strike="noStrike" spc="-1">
                <a:solidFill>
                  <a:srgbClr val="C00000"/>
                </a:solidFill>
                <a:latin typeface="Arial"/>
              </a:rPr>
              <a:t>70 s</a:t>
            </a:r>
            <a:endParaRPr lang="en-US" sz="1050" b="0" strike="noStrike" spc="-1">
              <a:solidFill>
                <a:srgbClr val="000000"/>
              </a:solidFill>
              <a:latin typeface="Arial"/>
            </a:endParaRPr>
          </a:p>
        </p:txBody>
      </p:sp>
      <p:sp>
        <p:nvSpPr>
          <p:cNvPr id="174" name="TextBox 67"/>
          <p:cNvSpPr/>
          <p:nvPr/>
        </p:nvSpPr>
        <p:spPr>
          <a:xfrm>
            <a:off x="8700480" y="6326640"/>
            <a:ext cx="873720" cy="31104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900" b="1" strike="noStrike" spc="-1">
                <a:solidFill>
                  <a:srgbClr val="07315D"/>
                </a:solidFill>
                <a:latin typeface="Arial"/>
              </a:rPr>
              <a:t>camera scan</a:t>
            </a:r>
            <a:endParaRPr lang="en-US" sz="900" b="0" strike="noStrike" spc="-1">
              <a:solidFill>
                <a:srgbClr val="FFFFFF"/>
              </a:solidFill>
              <a:latin typeface="Arial"/>
            </a:endParaRPr>
          </a:p>
          <a:p>
            <a:pPr defTabSz="457200">
              <a:lnSpc>
                <a:spcPct val="100000"/>
              </a:lnSpc>
            </a:pPr>
            <a:r>
              <a:rPr lang="en-US" sz="900" b="1" strike="noStrike" spc="-1">
                <a:solidFill>
                  <a:srgbClr val="07315D"/>
                </a:solidFill>
                <a:latin typeface="Arial"/>
              </a:rPr>
              <a:t>ready</a:t>
            </a:r>
            <a:endParaRPr lang="en-US" sz="900" b="0" strike="noStrike" spc="-1">
              <a:solidFill>
                <a:srgbClr val="FFFFFF"/>
              </a:solidFill>
              <a:latin typeface="Arial"/>
            </a:endParaRPr>
          </a:p>
        </p:txBody>
      </p:sp>
      <p:cxnSp>
        <p:nvCxnSpPr>
          <p:cNvPr id="175" name="Connector 26"/>
          <p:cNvCxnSpPr/>
          <p:nvPr/>
        </p:nvCxnSpPr>
        <p:spPr>
          <a:xfrm>
            <a:off x="9589320" y="6271560"/>
            <a:ext cx="360" cy="345240"/>
          </a:xfrm>
          <a:prstGeom prst="straightConnector1">
            <a:avLst/>
          </a:prstGeom>
          <a:ln w="12700">
            <a:solidFill>
              <a:srgbClr val="2563A5"/>
            </a:solidFill>
            <a:round/>
          </a:ln>
        </p:spPr>
      </p:cxnSp>
      <p:sp>
        <p:nvSpPr>
          <p:cNvPr id="176" name="Oval 20"/>
          <p:cNvSpPr/>
          <p:nvPr/>
        </p:nvSpPr>
        <p:spPr>
          <a:xfrm>
            <a:off x="9900360" y="6313320"/>
            <a:ext cx="317520" cy="306360"/>
          </a:xfrm>
          <a:prstGeom prst="ellipse">
            <a:avLst/>
          </a:prstGeom>
          <a:solidFill>
            <a:srgbClr val="FFFFFF"/>
          </a:solidFill>
          <a:ln w="15240">
            <a:solidFill>
              <a:srgbClr val="2563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457200">
              <a:lnSpc>
                <a:spcPct val="100000"/>
              </a:lnSpc>
            </a:pPr>
            <a:r>
              <a:rPr lang="en-US" sz="1800" b="0" strike="noStrike" spc="-1">
                <a:solidFill>
                  <a:srgbClr val="2563A5"/>
                </a:solidFill>
                <a:latin typeface="Arial"/>
              </a:rPr>
              <a:t>◎</a:t>
            </a:r>
            <a:endParaRPr lang="en-US" sz="1800" b="0" strike="noStrike" spc="-1">
              <a:solidFill>
                <a:srgbClr val="000000"/>
              </a:solidFill>
              <a:latin typeface="Arial"/>
            </a:endParaRPr>
          </a:p>
        </p:txBody>
      </p:sp>
      <p:sp>
        <p:nvSpPr>
          <p:cNvPr id="177" name="TextBox 68"/>
          <p:cNvSpPr/>
          <p:nvPr/>
        </p:nvSpPr>
        <p:spPr>
          <a:xfrm>
            <a:off x="10375920" y="6320160"/>
            <a:ext cx="1509480" cy="341280"/>
          </a:xfrm>
          <a:prstGeom prst="rect">
            <a:avLst/>
          </a:prstGeom>
          <a:noFill/>
          <a:ln w="0">
            <a:noFill/>
          </a:ln>
        </p:spPr>
        <p:style>
          <a:lnRef idx="0">
            <a:scrgbClr r="0" g="0" b="0"/>
          </a:lnRef>
          <a:fillRef idx="0">
            <a:scrgbClr r="0" g="0" b="0"/>
          </a:fillRef>
          <a:effectRef idx="0">
            <a:scrgbClr r="0" g="0" b="0"/>
          </a:effectRef>
          <a:fontRef idx="minor"/>
        </p:style>
        <p:txBody>
          <a:bodyPr lIns="45720" tIns="18360" rIns="45720" bIns="18360" anchor="ctr">
            <a:spAutoFit/>
          </a:bodyPr>
          <a:lstStyle/>
          <a:p>
            <a:r>
              <a:rPr lang="en-US" sz="1000" b="1" strike="noStrike" spc="-1">
                <a:solidFill>
                  <a:srgbClr val="07315D"/>
                </a:solidFill>
                <a:latin typeface="Arial"/>
              </a:rPr>
              <a:t>Ready for perception</a:t>
            </a:r>
            <a:endParaRPr lang="en-US" sz="1000" b="0" strike="noStrike" spc="-1">
              <a:solidFill>
                <a:srgbClr val="FFFFFF"/>
              </a:solidFill>
              <a:latin typeface="Arial"/>
            </a:endParaRPr>
          </a:p>
          <a:p>
            <a:pPr defTabSz="457200">
              <a:lnSpc>
                <a:spcPct val="100000"/>
              </a:lnSpc>
            </a:pPr>
            <a:r>
              <a:rPr lang="en-US" sz="1000" b="1" strike="noStrike" spc="-1">
                <a:solidFill>
                  <a:srgbClr val="07315D"/>
                </a:solidFill>
                <a:latin typeface="Arial"/>
              </a:rPr>
              <a:t>and task execution</a:t>
            </a:r>
            <a:endParaRPr lang="en-US" sz="1000" b="0" strike="noStrike" spc="-1">
              <a:solidFill>
                <a:srgbClr val="FFFFFF"/>
              </a:solidFill>
              <a:latin typeface="Arial"/>
            </a:endParaRPr>
          </a:p>
        </p:txBody>
      </p:sp>
      <p:pic>
        <p:nvPicPr>
          <p:cNvPr id="178" name="图片 13"/>
          <p:cNvPicPr/>
          <p:nvPr/>
        </p:nvPicPr>
        <p:blipFill>
          <a:blip r:embed="rId7"/>
          <a:stretch/>
        </p:blipFill>
        <p:spPr>
          <a:xfrm>
            <a:off x="4677480" y="4623840"/>
            <a:ext cx="1114560" cy="888480"/>
          </a:xfrm>
          <a:prstGeom prst="rect">
            <a:avLst/>
          </a:prstGeom>
          <a:ln w="0">
            <a:noFill/>
          </a:ln>
        </p:spPr>
      </p:pic>
      <p:pic>
        <p:nvPicPr>
          <p:cNvPr id="179" name="图片 14"/>
          <p:cNvPicPr/>
          <p:nvPr/>
        </p:nvPicPr>
        <p:blipFill>
          <a:blip r:embed="rId8"/>
          <a:stretch/>
        </p:blipFill>
        <p:spPr>
          <a:xfrm>
            <a:off x="3217320" y="3943440"/>
            <a:ext cx="909000" cy="1637640"/>
          </a:xfrm>
          <a:prstGeom prst="rect">
            <a:avLst/>
          </a:prstGeom>
          <a:ln w="0">
            <a:noFill/>
          </a:ln>
        </p:spPr>
      </p:pic>
      <p:pic>
        <p:nvPicPr>
          <p:cNvPr id="180" name="图片 15"/>
          <p:cNvPicPr/>
          <p:nvPr/>
        </p:nvPicPr>
        <p:blipFill>
          <a:blip r:embed="rId9"/>
          <a:srcRect l="5424" t="4836" r="12847" b="16570"/>
          <a:stretch/>
        </p:blipFill>
        <p:spPr>
          <a:xfrm>
            <a:off x="10093320" y="3310200"/>
            <a:ext cx="1623240" cy="1566720"/>
          </a:xfrm>
          <a:prstGeom prst="rect">
            <a:avLst/>
          </a:prstGeom>
          <a:ln w="0">
            <a:noFill/>
          </a:ln>
        </p:spPr>
      </p:pic>
      <p:pic>
        <p:nvPicPr>
          <p:cNvPr id="181" name="图片 16"/>
          <p:cNvPicPr/>
          <p:nvPr/>
        </p:nvPicPr>
        <p:blipFill>
          <a:blip r:embed="rId10"/>
          <a:srcRect b="13834"/>
          <a:stretch/>
        </p:blipFill>
        <p:spPr>
          <a:xfrm>
            <a:off x="8078040" y="4459680"/>
            <a:ext cx="1118520" cy="1179360"/>
          </a:xfrm>
          <a:prstGeom prst="rect">
            <a:avLst/>
          </a:prstGeom>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182" name="TextBox 1"/>
          <p:cNvSpPr/>
          <p:nvPr/>
        </p:nvSpPr>
        <p:spPr>
          <a:xfrm>
            <a:off x="731520" y="320040"/>
            <a:ext cx="10057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Scene Perception  —  Sergio</a:t>
            </a:r>
            <a:endParaRPr lang="en-US" sz="3000" b="0" strike="noStrike" spc="-1">
              <a:solidFill>
                <a:srgbClr val="FFFFFF"/>
              </a:solidFill>
              <a:latin typeface="Arial"/>
            </a:endParaRPr>
          </a:p>
        </p:txBody>
      </p:sp>
      <p:sp>
        <p:nvSpPr>
          <p:cNvPr id="183" name="Rectangle 2"/>
          <p:cNvSpPr/>
          <p:nvPr/>
        </p:nvSpPr>
        <p:spPr>
          <a:xfrm>
            <a:off x="731520" y="914400"/>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sp>
        <p:nvSpPr>
          <p:cNvPr id="184" name="TextBox 3"/>
          <p:cNvSpPr/>
          <p:nvPr/>
        </p:nvSpPr>
        <p:spPr>
          <a:xfrm>
            <a:off x="914400" y="128016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Before the robot can manipulate objects, it needs to know where they are. The perception pipeline starts with make_scene(), which captures an RGB image and a synchronized depth frame from the hand-mounted camera.</a:t>
            </a:r>
            <a:endParaRPr lang="en-US" sz="1500" b="0" strike="noStrike" spc="-1">
              <a:solidFill>
                <a:srgbClr val="FFFFFF"/>
              </a:solidFill>
              <a:latin typeface="Arial"/>
            </a:endParaRPr>
          </a:p>
        </p:txBody>
      </p:sp>
      <p:sp>
        <p:nvSpPr>
          <p:cNvPr id="185" name="TextBox 4"/>
          <p:cNvSpPr/>
          <p:nvPr/>
        </p:nvSpPr>
        <p:spPr>
          <a:xfrm>
            <a:off x="914400" y="178308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A YOLOv8 model (trained on the object set) detects each visible object and returns 2D bounding boxes with class labels. The detector runs in real time and can handle partial occlusions and varying lighting conditions in simulation.</a:t>
            </a:r>
            <a:endParaRPr lang="en-US" sz="1500" b="0" strike="noStrike" spc="-1">
              <a:solidFill>
                <a:srgbClr val="FFFFFF"/>
              </a:solidFill>
              <a:latin typeface="Arial"/>
            </a:endParaRPr>
          </a:p>
        </p:txBody>
      </p:sp>
      <p:sp>
        <p:nvSpPr>
          <p:cNvPr id="186" name="TextBox 5"/>
          <p:cNvSpPr/>
          <p:nvPr/>
        </p:nvSpPr>
        <p:spPr>
          <a:xfrm>
            <a:off x="914400" y="228600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lang="en-US" sz="1500" b="0" strike="noStrike" spc="-1">
              <a:solidFill>
                <a:srgbClr val="FFFFFF"/>
              </a:solidFill>
              <a:latin typeface="Arial"/>
            </a:endParaRPr>
          </a:p>
        </p:txBody>
      </p:sp>
      <p:sp>
        <p:nvSpPr>
          <p:cNvPr id="187" name="TextBox 6"/>
          <p:cNvSpPr/>
          <p:nvPr/>
        </p:nvSpPr>
        <p:spPr>
          <a:xfrm>
            <a:off x="914400" y="278892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The output is a Python dictionary mapping object names to their pose: {object_name: (x, y, z, yaw)}. This dictionary is passed to the LLM-generated code, which uses it to plan approach vectors and grasp targets.</a:t>
            </a:r>
            <a:endParaRPr lang="en-US" sz="1500" b="0" strike="noStrike" spc="-1">
              <a:solidFill>
                <a:srgbClr val="FFFFFF"/>
              </a:solidFill>
              <a:latin typeface="Arial"/>
            </a:endParaRPr>
          </a:p>
        </p:txBody>
      </p:sp>
      <p:sp>
        <p:nvSpPr>
          <p:cNvPr id="188" name="TextBox 7"/>
          <p:cNvSpPr/>
          <p:nvPr/>
        </p:nvSpPr>
        <p:spPr>
          <a:xfrm>
            <a:off x="731520" y="6035040"/>
            <a:ext cx="10057680" cy="27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200" b="0" strike="noStrike" spc="-1">
                <a:solidFill>
                  <a:srgbClr val="9CA3AF"/>
                </a:solidFill>
                <a:latin typeface="Arial"/>
              </a:rPr>
              <a:t>Output: {object_name: (x, y, z, yaw)} — used directly by the motion planner.</a:t>
            </a:r>
            <a:endParaRPr lang="en-US" sz="1200" b="0" strike="noStrike" spc="-1">
              <a:solidFill>
                <a:srgbClr val="FFFFFF"/>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189" name="TextBox 8"/>
          <p:cNvSpPr/>
          <p:nvPr/>
        </p:nvSpPr>
        <p:spPr>
          <a:xfrm>
            <a:off x="7525080" y="320040"/>
            <a:ext cx="4342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LLM Code Generation</a:t>
            </a:r>
            <a:endParaRPr lang="en-US" sz="3000" b="0" strike="noStrike" spc="-1">
              <a:solidFill>
                <a:srgbClr val="FFFFFF"/>
              </a:solidFill>
              <a:latin typeface="Arial"/>
            </a:endParaRPr>
          </a:p>
        </p:txBody>
      </p:sp>
      <p:sp>
        <p:nvSpPr>
          <p:cNvPr id="190" name="Rectangle 3"/>
          <p:cNvSpPr/>
          <p:nvPr/>
        </p:nvSpPr>
        <p:spPr>
          <a:xfrm>
            <a:off x="6931080" y="899280"/>
            <a:ext cx="2879640" cy="5256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8280" rIns="90000" bIns="8280" anchor="ctr">
            <a:noAutofit/>
          </a:bodyPr>
          <a:lstStyle/>
          <a:p>
            <a:pPr>
              <a:lnSpc>
                <a:spcPct val="100000"/>
              </a:lnSpc>
            </a:pPr>
            <a:endParaRPr lang="en-US" sz="1800" b="0" strike="noStrike" spc="-1">
              <a:solidFill>
                <a:schemeClr val="lt1"/>
              </a:solidFill>
              <a:latin typeface="Calibri"/>
            </a:endParaRPr>
          </a:p>
        </p:txBody>
      </p:sp>
      <p:sp>
        <p:nvSpPr>
          <p:cNvPr id="191" name="Shape 3"/>
          <p:cNvSpPr/>
          <p:nvPr/>
        </p:nvSpPr>
        <p:spPr>
          <a:xfrm>
            <a:off x="5862600" y="1230480"/>
            <a:ext cx="2887920" cy="1701000"/>
          </a:xfrm>
          <a:prstGeom prst="roundRect">
            <a:avLst>
              <a:gd name="adj" fmla="val 4370"/>
            </a:avLst>
          </a:prstGeom>
          <a:solidFill>
            <a:srgbClr val="101620"/>
          </a:solidFill>
          <a:ln w="14288">
            <a:solidFill>
              <a:srgbClr val="002A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chemeClr val="dk1"/>
              </a:solidFill>
              <a:latin typeface="Calibri"/>
            </a:endParaRPr>
          </a:p>
        </p:txBody>
      </p:sp>
      <p:sp>
        <p:nvSpPr>
          <p:cNvPr id="192" name="Text 4"/>
          <p:cNvSpPr/>
          <p:nvPr/>
        </p:nvSpPr>
        <p:spPr>
          <a:xfrm>
            <a:off x="6056640" y="1398960"/>
            <a:ext cx="2197080" cy="2869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defTabSz="457200">
              <a:lnSpc>
                <a:spcPct val="108000"/>
              </a:lnSpc>
              <a:tabLst>
                <a:tab pos="0" algn="l"/>
              </a:tabLst>
            </a:pPr>
            <a:r>
              <a:rPr lang="en-US" sz="1800" b="1" strike="noStrike" spc="-1">
                <a:solidFill>
                  <a:srgbClr val="EBEDF0"/>
                </a:solidFill>
                <a:latin typeface="Geist Bold"/>
                <a:ea typeface="Geist Bold"/>
              </a:rPr>
              <a:t>Model</a:t>
            </a:r>
            <a:endParaRPr lang="en-US" sz="1800" b="0" strike="noStrike" spc="-1">
              <a:solidFill>
                <a:srgbClr val="FFFFFF"/>
              </a:solidFill>
              <a:latin typeface="Arial"/>
            </a:endParaRPr>
          </a:p>
        </p:txBody>
      </p:sp>
      <p:sp>
        <p:nvSpPr>
          <p:cNvPr id="193" name="Text 5"/>
          <p:cNvSpPr/>
          <p:nvPr/>
        </p:nvSpPr>
        <p:spPr>
          <a:xfrm>
            <a:off x="6056640" y="1813320"/>
            <a:ext cx="2500200" cy="91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107000"/>
              </a:lnSpc>
              <a:tabLst>
                <a:tab pos="0" algn="l"/>
              </a:tabLst>
            </a:pPr>
            <a:r>
              <a:rPr lang="en-US" sz="1200" b="0" strike="noStrike" spc="-1">
                <a:solidFill>
                  <a:srgbClr val="EBEDF0"/>
                </a:solidFill>
                <a:latin typeface="Geist"/>
                <a:ea typeface="Geist"/>
              </a:rPr>
              <a:t>Qwen2.5-Coder 3B — code-specialized LLM running locally via Ollama at </a:t>
            </a:r>
            <a:r>
              <a:rPr lang="en-US" sz="1200" b="0" strike="noStrike" spc="-1">
                <a:solidFill>
                  <a:srgbClr val="EBEDF0"/>
                </a:solidFill>
                <a:highlight>
                  <a:srgbClr val="1D232D"/>
                </a:highlight>
                <a:latin typeface="Consolas"/>
                <a:ea typeface="Consolas"/>
              </a:rPr>
              <a:t>localhost:11434</a:t>
            </a:r>
            <a:endParaRPr lang="en-US" sz="1200" b="0" strike="noStrike" spc="-1">
              <a:solidFill>
                <a:srgbClr val="FFFFFF"/>
              </a:solidFill>
              <a:latin typeface="Arial"/>
            </a:endParaRPr>
          </a:p>
        </p:txBody>
      </p:sp>
      <p:sp>
        <p:nvSpPr>
          <p:cNvPr id="194" name="Shape 6"/>
          <p:cNvSpPr/>
          <p:nvPr/>
        </p:nvSpPr>
        <p:spPr>
          <a:xfrm>
            <a:off x="8979840" y="1226520"/>
            <a:ext cx="2887920" cy="1701000"/>
          </a:xfrm>
          <a:prstGeom prst="roundRect">
            <a:avLst>
              <a:gd name="adj" fmla="val 4370"/>
            </a:avLst>
          </a:prstGeom>
          <a:solidFill>
            <a:srgbClr val="101620"/>
          </a:solidFill>
          <a:ln w="14288">
            <a:solidFill>
              <a:srgbClr val="002A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chemeClr val="dk1"/>
              </a:solidFill>
              <a:latin typeface="Calibri"/>
            </a:endParaRPr>
          </a:p>
        </p:txBody>
      </p:sp>
      <p:sp>
        <p:nvSpPr>
          <p:cNvPr id="195" name="Text 7"/>
          <p:cNvSpPr/>
          <p:nvPr/>
        </p:nvSpPr>
        <p:spPr>
          <a:xfrm>
            <a:off x="9173520" y="1399320"/>
            <a:ext cx="2197080" cy="2869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defTabSz="457200">
              <a:lnSpc>
                <a:spcPct val="108000"/>
              </a:lnSpc>
              <a:tabLst>
                <a:tab pos="0" algn="l"/>
              </a:tabLst>
            </a:pPr>
            <a:r>
              <a:rPr lang="en-US" sz="1800" b="1" strike="noStrike" spc="-1">
                <a:solidFill>
                  <a:srgbClr val="EBEDF0"/>
                </a:solidFill>
                <a:latin typeface="Geist Bold"/>
                <a:ea typeface="Geist Bold"/>
              </a:rPr>
              <a:t>Why Local</a:t>
            </a:r>
            <a:endParaRPr lang="en-US" sz="1800" b="0" strike="noStrike" spc="-1">
              <a:solidFill>
                <a:srgbClr val="FFFFFF"/>
              </a:solidFill>
              <a:latin typeface="Arial"/>
            </a:endParaRPr>
          </a:p>
        </p:txBody>
      </p:sp>
      <p:sp>
        <p:nvSpPr>
          <p:cNvPr id="196" name="Text 8"/>
          <p:cNvSpPr/>
          <p:nvPr/>
        </p:nvSpPr>
        <p:spPr>
          <a:xfrm>
            <a:off x="9173520" y="1801800"/>
            <a:ext cx="2500200" cy="91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107000"/>
              </a:lnSpc>
              <a:tabLst>
                <a:tab pos="0" algn="l"/>
              </a:tabLst>
            </a:pPr>
            <a:r>
              <a:rPr lang="en-US" sz="1200" b="0" strike="noStrike" spc="-1" dirty="0">
                <a:solidFill>
                  <a:srgbClr val="EBEDF0"/>
                </a:solidFill>
                <a:latin typeface="Geist"/>
                <a:ea typeface="Geist"/>
              </a:rPr>
              <a:t>Eliminates API latency, privacy risks, and inference costs — critical for iterative robotics research</a:t>
            </a:r>
            <a:endParaRPr lang="en-US" sz="1200" b="0" strike="noStrike" spc="-1" dirty="0">
              <a:solidFill>
                <a:srgbClr val="FFFFFF"/>
              </a:solidFill>
              <a:latin typeface="Arial"/>
            </a:endParaRPr>
          </a:p>
        </p:txBody>
      </p:sp>
      <p:sp>
        <p:nvSpPr>
          <p:cNvPr id="197" name="Shape 8"/>
          <p:cNvSpPr/>
          <p:nvPr/>
        </p:nvSpPr>
        <p:spPr>
          <a:xfrm>
            <a:off x="5918040" y="5292720"/>
            <a:ext cx="5949720" cy="1244520"/>
          </a:xfrm>
          <a:prstGeom prst="roundRect">
            <a:avLst>
              <a:gd name="adj" fmla="val 5972"/>
            </a:avLst>
          </a:prstGeom>
          <a:solidFill>
            <a:srgbClr val="101620"/>
          </a:solidFill>
          <a:ln w="14288">
            <a:solidFill>
              <a:srgbClr val="002A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chemeClr val="dk1"/>
              </a:solidFill>
              <a:latin typeface="Calibri"/>
            </a:endParaRPr>
          </a:p>
        </p:txBody>
      </p:sp>
      <p:sp>
        <p:nvSpPr>
          <p:cNvPr id="198" name="Text 10"/>
          <p:cNvSpPr/>
          <p:nvPr/>
        </p:nvSpPr>
        <p:spPr>
          <a:xfrm>
            <a:off x="6208200" y="5461560"/>
            <a:ext cx="2197080" cy="2869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defTabSz="457200">
              <a:lnSpc>
                <a:spcPct val="108000"/>
              </a:lnSpc>
              <a:tabLst>
                <a:tab pos="0" algn="l"/>
              </a:tabLst>
            </a:pPr>
            <a:r>
              <a:rPr lang="en-US" sz="1800" b="1" strike="noStrike" spc="-1">
                <a:solidFill>
                  <a:srgbClr val="EBEDF0"/>
                </a:solidFill>
                <a:latin typeface="Geist Bold"/>
                <a:ea typeface="Geist Bold"/>
              </a:rPr>
              <a:t>Output</a:t>
            </a:r>
            <a:endParaRPr lang="en-US" sz="1800" b="0" strike="noStrike" spc="-1">
              <a:solidFill>
                <a:srgbClr val="FFFFFF"/>
              </a:solidFill>
              <a:latin typeface="Arial"/>
            </a:endParaRPr>
          </a:p>
        </p:txBody>
      </p:sp>
      <p:sp>
        <p:nvSpPr>
          <p:cNvPr id="199" name="Text 11"/>
          <p:cNvSpPr/>
          <p:nvPr/>
        </p:nvSpPr>
        <p:spPr>
          <a:xfrm>
            <a:off x="6152040" y="5921640"/>
            <a:ext cx="5562000" cy="46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107000"/>
              </a:lnSpc>
              <a:tabLst>
                <a:tab pos="0" algn="l"/>
              </a:tabLst>
            </a:pPr>
            <a:r>
              <a:rPr lang="en-US" sz="1200" b="0" strike="noStrike" spc="-1">
                <a:solidFill>
                  <a:srgbClr val="EBEDF0"/>
                </a:solidFill>
                <a:latin typeface="Geist"/>
                <a:ea typeface="Geist"/>
              </a:rPr>
              <a:t>Generates a complete, executable Python script (</a:t>
            </a:r>
            <a:r>
              <a:rPr lang="en-US" sz="1200" b="0" strike="noStrike" spc="-1">
                <a:solidFill>
                  <a:srgbClr val="EBEDF0"/>
                </a:solidFill>
                <a:highlight>
                  <a:srgbClr val="1D232D"/>
                </a:highlight>
                <a:latin typeface="Consolas"/>
                <a:ea typeface="Consolas"/>
              </a:rPr>
              <a:t>generated_task.py</a:t>
            </a:r>
            <a:r>
              <a:rPr lang="en-US" sz="1200" b="0" strike="noStrike" spc="-1">
                <a:solidFill>
                  <a:srgbClr val="EBEDF0"/>
                </a:solidFill>
                <a:latin typeface="Geist"/>
                <a:ea typeface="Geist"/>
              </a:rPr>
              <a:t>) from raw natural language.</a:t>
            </a:r>
            <a:endParaRPr lang="en-US" sz="1200" b="0" strike="noStrike" spc="-1">
              <a:solidFill>
                <a:srgbClr val="FFFFFF"/>
              </a:solidFill>
              <a:latin typeface="Arial"/>
            </a:endParaRPr>
          </a:p>
        </p:txBody>
      </p:sp>
      <p:sp>
        <p:nvSpPr>
          <p:cNvPr id="200" name="Shape 9"/>
          <p:cNvSpPr/>
          <p:nvPr/>
        </p:nvSpPr>
        <p:spPr>
          <a:xfrm>
            <a:off x="5862600" y="3284640"/>
            <a:ext cx="2887920" cy="1701000"/>
          </a:xfrm>
          <a:prstGeom prst="roundRect">
            <a:avLst>
              <a:gd name="adj" fmla="val 4370"/>
            </a:avLst>
          </a:prstGeom>
          <a:solidFill>
            <a:srgbClr val="101620"/>
          </a:solidFill>
          <a:ln w="14288">
            <a:solidFill>
              <a:srgbClr val="002A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chemeClr val="dk1"/>
              </a:solidFill>
              <a:latin typeface="Calibri"/>
            </a:endParaRPr>
          </a:p>
        </p:txBody>
      </p:sp>
      <p:sp>
        <p:nvSpPr>
          <p:cNvPr id="201" name="Text 17"/>
          <p:cNvSpPr/>
          <p:nvPr/>
        </p:nvSpPr>
        <p:spPr>
          <a:xfrm>
            <a:off x="6056640" y="3470400"/>
            <a:ext cx="2197080" cy="2869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defTabSz="457200">
              <a:lnSpc>
                <a:spcPct val="108000"/>
              </a:lnSpc>
              <a:tabLst>
                <a:tab pos="0" algn="l"/>
              </a:tabLst>
            </a:pPr>
            <a:r>
              <a:rPr lang="en-US" sz="1800" b="1" strike="noStrike" spc="-1">
                <a:solidFill>
                  <a:srgbClr val="EBEDF0"/>
                </a:solidFill>
                <a:latin typeface="Geist Bold"/>
                <a:ea typeface="Geist Bold"/>
              </a:rPr>
              <a:t>The System Prompt</a:t>
            </a:r>
            <a:endParaRPr lang="en-US" sz="1800" b="0" strike="noStrike" spc="-1">
              <a:solidFill>
                <a:srgbClr val="FFFFFF"/>
              </a:solidFill>
              <a:latin typeface="Arial"/>
            </a:endParaRPr>
          </a:p>
        </p:txBody>
      </p:sp>
      <p:sp>
        <p:nvSpPr>
          <p:cNvPr id="202" name="Text 18"/>
          <p:cNvSpPr/>
          <p:nvPr/>
        </p:nvSpPr>
        <p:spPr>
          <a:xfrm>
            <a:off x="6096600" y="3913560"/>
            <a:ext cx="2500200" cy="91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100000"/>
              </a:lnSpc>
            </a:pPr>
            <a:r>
              <a:rPr lang="en-US" sz="1200" b="0" strike="noStrike" spc="-1">
                <a:solidFill>
                  <a:schemeClr val="lt1"/>
                </a:solidFill>
                <a:latin typeface="Calibri"/>
              </a:rPr>
              <a:t>A </a:t>
            </a:r>
            <a:r>
              <a:rPr lang="en-US" sz="1200" b="0" strike="noStrike" spc="-1">
                <a:solidFill>
                  <a:srgbClr val="EBEDF0"/>
                </a:solidFill>
                <a:highlight>
                  <a:srgbClr val="1D232D"/>
                </a:highlight>
                <a:latin typeface="Consolas"/>
                <a:ea typeface="Consolas"/>
              </a:rPr>
              <a:t>system_prompt.md</a:t>
            </a:r>
            <a:r>
              <a:rPr lang="en-US" sz="1200" b="0" strike="noStrike" spc="-1">
                <a:solidFill>
                  <a:srgbClr val="EBEDF0"/>
                </a:solidFill>
                <a:latin typeface="Geist"/>
                <a:ea typeface="Geist"/>
              </a:rPr>
              <a:t> defines the full robot API, acting as the LLM's instruction manual.</a:t>
            </a:r>
            <a:endParaRPr lang="en-US" sz="1200" b="0" strike="noStrike" spc="-1">
              <a:solidFill>
                <a:srgbClr val="FFFFFF"/>
              </a:solidFill>
              <a:latin typeface="Arial"/>
            </a:endParaRPr>
          </a:p>
        </p:txBody>
      </p:sp>
      <p:sp>
        <p:nvSpPr>
          <p:cNvPr id="203" name="Shape 10"/>
          <p:cNvSpPr/>
          <p:nvPr/>
        </p:nvSpPr>
        <p:spPr>
          <a:xfrm>
            <a:off x="8979840" y="3260880"/>
            <a:ext cx="2887920" cy="1701000"/>
          </a:xfrm>
          <a:prstGeom prst="roundRect">
            <a:avLst>
              <a:gd name="adj" fmla="val 4370"/>
            </a:avLst>
          </a:prstGeom>
          <a:solidFill>
            <a:srgbClr val="101620"/>
          </a:solidFill>
          <a:ln w="14288">
            <a:solidFill>
              <a:srgbClr val="002A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chemeClr val="dk1"/>
              </a:solidFill>
              <a:latin typeface="Calibri"/>
            </a:endParaRPr>
          </a:p>
        </p:txBody>
      </p:sp>
      <p:sp>
        <p:nvSpPr>
          <p:cNvPr id="204" name="Text 19"/>
          <p:cNvSpPr/>
          <p:nvPr/>
        </p:nvSpPr>
        <p:spPr>
          <a:xfrm>
            <a:off x="9173520" y="3451680"/>
            <a:ext cx="2197080" cy="305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defTabSz="457200">
              <a:lnSpc>
                <a:spcPct val="108000"/>
              </a:lnSpc>
            </a:pPr>
            <a:r>
              <a:rPr lang="en-US" sz="1800" b="1" strike="noStrike" spc="-1">
                <a:solidFill>
                  <a:srgbClr val="EBEDF0"/>
                </a:solidFill>
                <a:latin typeface="Geist Bold"/>
                <a:ea typeface="Geist Bold"/>
              </a:rPr>
              <a:t>Orchestration</a:t>
            </a:r>
            <a:endParaRPr lang="en-US" sz="1800" b="0" strike="noStrike" spc="-1">
              <a:solidFill>
                <a:srgbClr val="FFFFFF"/>
              </a:solidFill>
              <a:latin typeface="Arial"/>
            </a:endParaRPr>
          </a:p>
        </p:txBody>
      </p:sp>
      <p:sp>
        <p:nvSpPr>
          <p:cNvPr id="205" name="Text 20"/>
          <p:cNvSpPr/>
          <p:nvPr/>
        </p:nvSpPr>
        <p:spPr>
          <a:xfrm>
            <a:off x="9213840" y="3890880"/>
            <a:ext cx="2500200" cy="91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94000"/>
              </a:lnSpc>
            </a:pPr>
            <a:r>
              <a:rPr lang="en-US" sz="1200" b="0" strike="noStrike" spc="-1">
                <a:solidFill>
                  <a:srgbClr val="EBEDF0"/>
                </a:solidFill>
                <a:latin typeface="Geist"/>
                <a:ea typeface="Geist"/>
              </a:rPr>
              <a:t>Captures user input, queries Ollama, writes generated code, reloads the module, and executes </a:t>
            </a:r>
            <a:r>
              <a:rPr lang="en-US" sz="1200" b="0" strike="noStrike" spc="-1">
                <a:solidFill>
                  <a:srgbClr val="EBEDF0"/>
                </a:solidFill>
                <a:highlight>
                  <a:srgbClr val="1D232D"/>
                </a:highlight>
                <a:latin typeface="Consolas"/>
                <a:ea typeface="Consolas"/>
              </a:rPr>
              <a:t>execute_task()</a:t>
            </a:r>
            <a:r>
              <a:rPr lang="en-US" sz="1200" b="0" strike="noStrike" spc="-1">
                <a:solidFill>
                  <a:srgbClr val="EBEDF0"/>
                </a:solidFill>
                <a:latin typeface="Geist"/>
                <a:ea typeface="Geist"/>
              </a:rPr>
              <a:t>. Built-in retry logic ensures robustness.</a:t>
            </a:r>
            <a:endParaRPr lang="en-US" sz="1200" b="0" strike="noStrike" spc="-1">
              <a:solidFill>
                <a:srgbClr val="FFFFFF"/>
              </a:solidFill>
              <a:latin typeface="Arial"/>
            </a:endParaRPr>
          </a:p>
        </p:txBody>
      </p:sp>
      <p:pic>
        <p:nvPicPr>
          <p:cNvPr id="206" name="Picture 2"/>
          <p:cNvPicPr/>
          <p:nvPr/>
        </p:nvPicPr>
        <p:blipFill>
          <a:blip r:embed="rId3"/>
          <a:stretch/>
        </p:blipFill>
        <p:spPr>
          <a:xfrm>
            <a:off x="0" y="1979280"/>
            <a:ext cx="5762880" cy="3250800"/>
          </a:xfrm>
          <a:prstGeom prst="rect">
            <a:avLst/>
          </a:prstGeom>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07" name="TextBox 1"/>
          <p:cNvSpPr/>
          <p:nvPr/>
        </p:nvSpPr>
        <p:spPr>
          <a:xfrm>
            <a:off x="667725" y="-9990"/>
            <a:ext cx="10057680" cy="55254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dirty="0">
                <a:solidFill>
                  <a:srgbClr val="FFFFFF"/>
                </a:solidFill>
                <a:latin typeface="Arial"/>
              </a:rPr>
              <a:t>Motion Control </a:t>
            </a:r>
            <a:endParaRPr lang="en-US" sz="3000" b="0" strike="noStrike" spc="-1" dirty="0">
              <a:solidFill>
                <a:srgbClr val="FFFFFF"/>
              </a:solidFill>
              <a:latin typeface="Arial"/>
            </a:endParaRPr>
          </a:p>
        </p:txBody>
      </p:sp>
      <p:sp>
        <p:nvSpPr>
          <p:cNvPr id="208" name="Rectangle 2"/>
          <p:cNvSpPr/>
          <p:nvPr/>
        </p:nvSpPr>
        <p:spPr>
          <a:xfrm>
            <a:off x="731520" y="478883"/>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pic>
        <p:nvPicPr>
          <p:cNvPr id="8" name="Imagen 7">
            <a:extLst>
              <a:ext uri="{FF2B5EF4-FFF2-40B4-BE49-F238E27FC236}">
                <a16:creationId xmlns:a16="http://schemas.microsoft.com/office/drawing/2014/main" id="{E4767493-9762-759D-A018-86EC12880B31}"/>
              </a:ext>
            </a:extLst>
          </p:cNvPr>
          <p:cNvPicPr>
            <a:picLocks noChangeAspect="1"/>
          </p:cNvPicPr>
          <p:nvPr/>
        </p:nvPicPr>
        <p:blipFill>
          <a:blip r:embed="rId3"/>
          <a:stretch>
            <a:fillRect/>
          </a:stretch>
        </p:blipFill>
        <p:spPr>
          <a:xfrm>
            <a:off x="2425810" y="628949"/>
            <a:ext cx="6541510" cy="1836655"/>
          </a:xfrm>
          <a:prstGeom prst="rect">
            <a:avLst/>
          </a:prstGeom>
        </p:spPr>
      </p:pic>
      <p:sp>
        <p:nvSpPr>
          <p:cNvPr id="9" name="Text 8">
            <a:extLst>
              <a:ext uri="{FF2B5EF4-FFF2-40B4-BE49-F238E27FC236}">
                <a16:creationId xmlns:a16="http://schemas.microsoft.com/office/drawing/2014/main" id="{4047938E-497C-1F79-8928-0E6C531611FB}"/>
              </a:ext>
            </a:extLst>
          </p:cNvPr>
          <p:cNvSpPr/>
          <p:nvPr/>
        </p:nvSpPr>
        <p:spPr>
          <a:xfrm>
            <a:off x="2048410" y="2442745"/>
            <a:ext cx="8095180" cy="43815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457200">
              <a:lnSpc>
                <a:spcPct val="107000"/>
              </a:lnSpc>
              <a:tabLst>
                <a:tab pos="0" algn="l"/>
              </a:tabLst>
            </a:pPr>
            <a:r>
              <a:rPr lang="en-US" sz="1200" b="0" strike="noStrike" spc="-1" dirty="0">
                <a:solidFill>
                  <a:srgbClr val="EBEDF0"/>
                </a:solidFill>
                <a:latin typeface="Geist"/>
                <a:ea typeface="Geist"/>
              </a:rPr>
              <a:t>The motion layer transforms LLM-generated waypoints into executable robot actions. The system is organized into four modules: motion execution, scene and camera helpers, hardware control utilities, and robot state monitoring.</a:t>
            </a:r>
            <a:endParaRPr lang="en-US" sz="1200" b="0" strike="noStrike" spc="-1" dirty="0">
              <a:solidFill>
                <a:srgbClr val="FFFFFF"/>
              </a:solidFill>
              <a:latin typeface="Arial"/>
            </a:endParaRPr>
          </a:p>
        </p:txBody>
      </p:sp>
      <p:sp>
        <p:nvSpPr>
          <p:cNvPr id="10" name="Rectangle 2">
            <a:extLst>
              <a:ext uri="{FF2B5EF4-FFF2-40B4-BE49-F238E27FC236}">
                <a16:creationId xmlns:a16="http://schemas.microsoft.com/office/drawing/2014/main" id="{4CD3CCF4-39C0-E76B-94F9-927B18A87A37}"/>
              </a:ext>
            </a:extLst>
          </p:cNvPr>
          <p:cNvSpPr/>
          <p:nvPr/>
        </p:nvSpPr>
        <p:spPr>
          <a:xfrm>
            <a:off x="731520" y="2800671"/>
            <a:ext cx="10660380" cy="45719"/>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pic>
        <p:nvPicPr>
          <p:cNvPr id="14" name="Imagen 13">
            <a:extLst>
              <a:ext uri="{FF2B5EF4-FFF2-40B4-BE49-F238E27FC236}">
                <a16:creationId xmlns:a16="http://schemas.microsoft.com/office/drawing/2014/main" id="{488F02F5-E8B2-60D7-C282-591523BA9ACB}"/>
              </a:ext>
            </a:extLst>
          </p:cNvPr>
          <p:cNvPicPr>
            <a:picLocks noChangeAspect="1"/>
          </p:cNvPicPr>
          <p:nvPr/>
        </p:nvPicPr>
        <p:blipFill>
          <a:blip r:embed="rId4"/>
          <a:srcRect l="4927" t="2826" r="2234"/>
          <a:stretch>
            <a:fillRect/>
          </a:stretch>
        </p:blipFill>
        <p:spPr>
          <a:xfrm>
            <a:off x="731520" y="2846390"/>
            <a:ext cx="1868428" cy="2627548"/>
          </a:xfrm>
          <a:prstGeom prst="rect">
            <a:avLst/>
          </a:prstGeom>
        </p:spPr>
      </p:pic>
      <p:pic>
        <p:nvPicPr>
          <p:cNvPr id="24" name="Imagen 23">
            <a:extLst>
              <a:ext uri="{FF2B5EF4-FFF2-40B4-BE49-F238E27FC236}">
                <a16:creationId xmlns:a16="http://schemas.microsoft.com/office/drawing/2014/main" id="{09BA8C3B-464F-AF62-2008-3D571911E1FB}"/>
              </a:ext>
            </a:extLst>
          </p:cNvPr>
          <p:cNvPicPr>
            <a:picLocks noChangeAspect="1"/>
          </p:cNvPicPr>
          <p:nvPr/>
        </p:nvPicPr>
        <p:blipFill>
          <a:blip r:embed="rId5"/>
          <a:srcRect l="4109" t="981" r="5828" b="2324"/>
          <a:stretch>
            <a:fillRect/>
          </a:stretch>
        </p:blipFill>
        <p:spPr>
          <a:xfrm>
            <a:off x="3494886" y="2846390"/>
            <a:ext cx="1327791" cy="2627548"/>
          </a:xfrm>
          <a:prstGeom prst="rect">
            <a:avLst/>
          </a:prstGeom>
        </p:spPr>
      </p:pic>
      <p:pic>
        <p:nvPicPr>
          <p:cNvPr id="28" name="Imagen 27">
            <a:extLst>
              <a:ext uri="{FF2B5EF4-FFF2-40B4-BE49-F238E27FC236}">
                <a16:creationId xmlns:a16="http://schemas.microsoft.com/office/drawing/2014/main" id="{624F9E79-D6A4-F5B5-38BA-D4930F27BD1A}"/>
              </a:ext>
            </a:extLst>
          </p:cNvPr>
          <p:cNvPicPr>
            <a:picLocks noChangeAspect="1"/>
          </p:cNvPicPr>
          <p:nvPr/>
        </p:nvPicPr>
        <p:blipFill>
          <a:blip r:embed="rId6"/>
          <a:srcRect t="6490" r="1468"/>
          <a:stretch>
            <a:fillRect/>
          </a:stretch>
        </p:blipFill>
        <p:spPr>
          <a:xfrm>
            <a:off x="5683037" y="2863643"/>
            <a:ext cx="2643133" cy="2627548"/>
          </a:xfrm>
          <a:prstGeom prst="rect">
            <a:avLst/>
          </a:prstGeom>
        </p:spPr>
      </p:pic>
      <p:pic>
        <p:nvPicPr>
          <p:cNvPr id="30" name="Imagen 29">
            <a:extLst>
              <a:ext uri="{FF2B5EF4-FFF2-40B4-BE49-F238E27FC236}">
                <a16:creationId xmlns:a16="http://schemas.microsoft.com/office/drawing/2014/main" id="{ECC366B9-B18F-3994-185D-926B78096FE6}"/>
              </a:ext>
            </a:extLst>
          </p:cNvPr>
          <p:cNvPicPr>
            <a:picLocks noChangeAspect="1"/>
          </p:cNvPicPr>
          <p:nvPr/>
        </p:nvPicPr>
        <p:blipFill>
          <a:blip r:embed="rId7"/>
          <a:srcRect l="4954" t="4647" r="7064" b="3497"/>
          <a:stretch>
            <a:fillRect/>
          </a:stretch>
        </p:blipFill>
        <p:spPr>
          <a:xfrm>
            <a:off x="9186530" y="2845100"/>
            <a:ext cx="2205370" cy="2630128"/>
          </a:xfrm>
          <a:prstGeom prst="rect">
            <a:avLst/>
          </a:prstGeom>
        </p:spPr>
      </p:pic>
      <p:sp>
        <p:nvSpPr>
          <p:cNvPr id="33" name="Text 8">
            <a:extLst>
              <a:ext uri="{FF2B5EF4-FFF2-40B4-BE49-F238E27FC236}">
                <a16:creationId xmlns:a16="http://schemas.microsoft.com/office/drawing/2014/main" id="{05765D46-43F3-E961-73EB-8B1F8D9FD07D}"/>
              </a:ext>
            </a:extLst>
          </p:cNvPr>
          <p:cNvSpPr/>
          <p:nvPr/>
        </p:nvSpPr>
        <p:spPr>
          <a:xfrm>
            <a:off x="731520" y="5561628"/>
            <a:ext cx="1868428" cy="129637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77500" lnSpcReduction="20000"/>
          </a:bodyPr>
          <a:lstStyle/>
          <a:p>
            <a:pPr defTabSz="457200">
              <a:lnSpc>
                <a:spcPct val="107000"/>
              </a:lnSpc>
              <a:tabLst>
                <a:tab pos="0" algn="l"/>
              </a:tabLst>
            </a:pPr>
            <a:r>
              <a:rPr lang="en-US" sz="1200" b="1" strike="noStrike" spc="-1" dirty="0">
                <a:solidFill>
                  <a:srgbClr val="FFFFFF"/>
                </a:solidFill>
                <a:latin typeface="Arial"/>
              </a:rPr>
              <a:t>Motion Execution Pipeline</a:t>
            </a:r>
          </a:p>
          <a:p>
            <a:pPr defTabSz="457200">
              <a:lnSpc>
                <a:spcPct val="107000"/>
              </a:lnSpc>
              <a:tabLst>
                <a:tab pos="0" algn="l"/>
              </a:tabLst>
            </a:pPr>
            <a:endParaRPr lang="en-US" sz="1200" b="0" strike="noStrike" spc="-1" dirty="0">
              <a:solidFill>
                <a:srgbClr val="FFFFFF"/>
              </a:solidFill>
              <a:latin typeface="Arial"/>
            </a:endParaRPr>
          </a:p>
          <a:p>
            <a:pPr defTabSz="457200">
              <a:lnSpc>
                <a:spcPct val="107000"/>
              </a:lnSpc>
              <a:tabLst>
                <a:tab pos="0" algn="l"/>
              </a:tabLst>
            </a:pPr>
            <a:r>
              <a:rPr lang="en-US" sz="1200" b="0" strike="noStrike" spc="-1" dirty="0">
                <a:solidFill>
                  <a:srgbClr val="FFFFFF"/>
                </a:solidFill>
                <a:latin typeface="Arial"/>
              </a:rPr>
              <a:t>• Executes LLM-generated waypoints</a:t>
            </a:r>
          </a:p>
          <a:p>
            <a:pPr defTabSz="457200">
              <a:lnSpc>
                <a:spcPct val="107000"/>
              </a:lnSpc>
              <a:tabLst>
                <a:tab pos="0" algn="l"/>
              </a:tabLst>
            </a:pPr>
            <a:r>
              <a:rPr lang="en-US" sz="1200" b="0" strike="noStrike" spc="-1" dirty="0">
                <a:solidFill>
                  <a:srgbClr val="FFFFFF"/>
                </a:solidFill>
                <a:latin typeface="Arial"/>
              </a:rPr>
              <a:t>• Computes inverse kinematics with TRAC-IK</a:t>
            </a:r>
          </a:p>
          <a:p>
            <a:pPr defTabSz="457200">
              <a:lnSpc>
                <a:spcPct val="107000"/>
              </a:lnSpc>
              <a:tabLst>
                <a:tab pos="0" algn="l"/>
              </a:tabLst>
            </a:pPr>
            <a:r>
              <a:rPr lang="en-US" sz="1200" b="0" strike="noStrike" spc="-1" dirty="0">
                <a:solidFill>
                  <a:srgbClr val="FFFFFF"/>
                </a:solidFill>
                <a:latin typeface="Arial"/>
              </a:rPr>
              <a:t>• Performs vertical approach and retreat motions</a:t>
            </a:r>
          </a:p>
          <a:p>
            <a:pPr defTabSz="457200">
              <a:lnSpc>
                <a:spcPct val="107000"/>
              </a:lnSpc>
              <a:tabLst>
                <a:tab pos="0" algn="l"/>
              </a:tabLst>
            </a:pPr>
            <a:r>
              <a:rPr lang="en-US" sz="1200" b="0" strike="noStrike" spc="-1" dirty="0">
                <a:solidFill>
                  <a:srgbClr val="FFFFFF"/>
                </a:solidFill>
                <a:latin typeface="Arial"/>
              </a:rPr>
              <a:t>• Validates grasp success before continuing</a:t>
            </a:r>
          </a:p>
        </p:txBody>
      </p:sp>
      <p:sp>
        <p:nvSpPr>
          <p:cNvPr id="34" name="Text 8">
            <a:extLst>
              <a:ext uri="{FF2B5EF4-FFF2-40B4-BE49-F238E27FC236}">
                <a16:creationId xmlns:a16="http://schemas.microsoft.com/office/drawing/2014/main" id="{2F61A18A-2B5C-1FA8-BDB8-627E40C2BBC5}"/>
              </a:ext>
            </a:extLst>
          </p:cNvPr>
          <p:cNvSpPr/>
          <p:nvPr/>
        </p:nvSpPr>
        <p:spPr>
          <a:xfrm>
            <a:off x="3224567" y="5561627"/>
            <a:ext cx="1868428" cy="129637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10000"/>
          </a:bodyPr>
          <a:lstStyle/>
          <a:p>
            <a:pPr defTabSz="457200">
              <a:lnSpc>
                <a:spcPct val="107000"/>
              </a:lnSpc>
              <a:tabLst>
                <a:tab pos="0" algn="l"/>
              </a:tabLst>
            </a:pPr>
            <a:r>
              <a:rPr lang="en-US" sz="1200" b="1" strike="noStrike" spc="-1" dirty="0">
                <a:solidFill>
                  <a:srgbClr val="FFFFFF"/>
                </a:solidFill>
                <a:latin typeface="Arial"/>
              </a:rPr>
              <a:t>Receiver / Robot State</a:t>
            </a:r>
          </a:p>
          <a:p>
            <a:pPr defTabSz="457200">
              <a:lnSpc>
                <a:spcPct val="107000"/>
              </a:lnSpc>
              <a:tabLst>
                <a:tab pos="0" algn="l"/>
              </a:tabLst>
            </a:pPr>
            <a:endParaRPr lang="en-US" sz="1200" b="1" strike="noStrike" spc="-1" dirty="0">
              <a:solidFill>
                <a:srgbClr val="FFFFFF"/>
              </a:solidFill>
              <a:latin typeface="Arial"/>
            </a:endParaRPr>
          </a:p>
          <a:p>
            <a:pPr defTabSz="457200">
              <a:lnSpc>
                <a:spcPct val="107000"/>
              </a:lnSpc>
              <a:tabLst>
                <a:tab pos="0" algn="l"/>
              </a:tabLst>
            </a:pPr>
            <a:r>
              <a:rPr lang="en-US" sz="1200" strike="noStrike" spc="-1" dirty="0">
                <a:solidFill>
                  <a:srgbClr val="FFFFFF"/>
                </a:solidFill>
                <a:latin typeface="Arial"/>
              </a:rPr>
              <a:t>• Tracks joint states continuously</a:t>
            </a:r>
          </a:p>
          <a:p>
            <a:pPr defTabSz="457200">
              <a:lnSpc>
                <a:spcPct val="107000"/>
              </a:lnSpc>
              <a:tabLst>
                <a:tab pos="0" algn="l"/>
              </a:tabLst>
            </a:pPr>
            <a:r>
              <a:rPr lang="en-US" sz="1200" strike="noStrike" spc="-1" dirty="0">
                <a:solidFill>
                  <a:srgbClr val="FFFFFF"/>
                </a:solidFill>
                <a:latin typeface="Arial"/>
              </a:rPr>
              <a:t>• Estimates end-effector pose</a:t>
            </a:r>
          </a:p>
          <a:p>
            <a:pPr defTabSz="457200">
              <a:lnSpc>
                <a:spcPct val="107000"/>
              </a:lnSpc>
              <a:tabLst>
                <a:tab pos="0" algn="l"/>
              </a:tabLst>
            </a:pPr>
            <a:r>
              <a:rPr lang="en-US" sz="1200" strike="noStrike" spc="-1" dirty="0">
                <a:solidFill>
                  <a:srgbClr val="FFFFFF"/>
                </a:solidFill>
                <a:latin typeface="Arial"/>
              </a:rPr>
              <a:t>• Maintains robot state snapshots</a:t>
            </a:r>
          </a:p>
          <a:p>
            <a:pPr defTabSz="457200">
              <a:lnSpc>
                <a:spcPct val="107000"/>
              </a:lnSpc>
              <a:tabLst>
                <a:tab pos="0" algn="l"/>
              </a:tabLst>
            </a:pPr>
            <a:r>
              <a:rPr lang="en-US" sz="1200" strike="noStrike" spc="-1" dirty="0">
                <a:solidFill>
                  <a:srgbClr val="FFFFFF"/>
                </a:solidFill>
                <a:latin typeface="Arial"/>
              </a:rPr>
              <a:t>• Synchronizes planning and execution</a:t>
            </a:r>
          </a:p>
        </p:txBody>
      </p:sp>
      <p:sp>
        <p:nvSpPr>
          <p:cNvPr id="35" name="Text 8">
            <a:extLst>
              <a:ext uri="{FF2B5EF4-FFF2-40B4-BE49-F238E27FC236}">
                <a16:creationId xmlns:a16="http://schemas.microsoft.com/office/drawing/2014/main" id="{5B03512E-9304-9A36-8060-0D60E28032F0}"/>
              </a:ext>
            </a:extLst>
          </p:cNvPr>
          <p:cNvSpPr/>
          <p:nvPr/>
        </p:nvSpPr>
        <p:spPr>
          <a:xfrm>
            <a:off x="6164793" y="5519657"/>
            <a:ext cx="1868428" cy="129637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10000"/>
          </a:bodyPr>
          <a:lstStyle/>
          <a:p>
            <a:pPr defTabSz="457200">
              <a:lnSpc>
                <a:spcPct val="107000"/>
              </a:lnSpc>
              <a:tabLst>
                <a:tab pos="0" algn="l"/>
              </a:tabLst>
            </a:pPr>
            <a:r>
              <a:rPr lang="en-US" sz="1200" b="1" strike="noStrike" spc="-1" dirty="0">
                <a:solidFill>
                  <a:srgbClr val="FFFFFF"/>
                </a:solidFill>
                <a:latin typeface="Arial"/>
              </a:rPr>
              <a:t>Scene &amp; Camera Helpers</a:t>
            </a:r>
          </a:p>
          <a:p>
            <a:pPr defTabSz="457200">
              <a:lnSpc>
                <a:spcPct val="107000"/>
              </a:lnSpc>
              <a:tabLst>
                <a:tab pos="0" algn="l"/>
              </a:tabLst>
            </a:pPr>
            <a:endParaRPr lang="en-US" sz="1200" b="1" strike="noStrike" spc="-1" dirty="0">
              <a:solidFill>
                <a:srgbClr val="FFFFFF"/>
              </a:solidFill>
              <a:latin typeface="Arial"/>
            </a:endParaRPr>
          </a:p>
          <a:p>
            <a:pPr defTabSz="457200">
              <a:lnSpc>
                <a:spcPct val="107000"/>
              </a:lnSpc>
              <a:tabLst>
                <a:tab pos="0" algn="l"/>
              </a:tabLst>
            </a:pPr>
            <a:r>
              <a:rPr lang="en-US" sz="1200" strike="noStrike" spc="-1" dirty="0">
                <a:solidFill>
                  <a:srgbClr val="FFFFFF"/>
                </a:solidFill>
                <a:latin typeface="Arial"/>
              </a:rPr>
              <a:t>• Builds the scene representation</a:t>
            </a:r>
          </a:p>
          <a:p>
            <a:pPr defTabSz="457200">
              <a:lnSpc>
                <a:spcPct val="107000"/>
              </a:lnSpc>
              <a:tabLst>
                <a:tab pos="0" algn="l"/>
              </a:tabLst>
            </a:pPr>
            <a:r>
              <a:rPr lang="en-US" sz="1200" strike="noStrike" spc="-1" dirty="0">
                <a:solidFill>
                  <a:srgbClr val="FFFFFF"/>
                </a:solidFill>
                <a:latin typeface="Arial"/>
              </a:rPr>
              <a:t>• Stores object positions and orientations</a:t>
            </a:r>
          </a:p>
          <a:p>
            <a:pPr defTabSz="457200">
              <a:lnSpc>
                <a:spcPct val="107000"/>
              </a:lnSpc>
              <a:tabLst>
                <a:tab pos="0" algn="l"/>
              </a:tabLst>
            </a:pPr>
            <a:r>
              <a:rPr lang="en-US" sz="1200" strike="noStrike" spc="-1" dirty="0">
                <a:solidFill>
                  <a:srgbClr val="FFFFFF"/>
                </a:solidFill>
                <a:latin typeface="Arial"/>
              </a:rPr>
              <a:t>• Refines grasp targets</a:t>
            </a:r>
          </a:p>
          <a:p>
            <a:pPr defTabSz="457200">
              <a:lnSpc>
                <a:spcPct val="107000"/>
              </a:lnSpc>
              <a:tabLst>
                <a:tab pos="0" algn="l"/>
              </a:tabLst>
            </a:pPr>
            <a:r>
              <a:rPr lang="en-US" sz="1200" strike="noStrike" spc="-1" dirty="0">
                <a:solidFill>
                  <a:srgbClr val="FFFFFF"/>
                </a:solidFill>
                <a:latin typeface="Arial"/>
              </a:rPr>
              <a:t>• Aligns grasp poses with detected objects</a:t>
            </a:r>
          </a:p>
        </p:txBody>
      </p:sp>
      <p:sp>
        <p:nvSpPr>
          <p:cNvPr id="36" name="Text 8">
            <a:extLst>
              <a:ext uri="{FF2B5EF4-FFF2-40B4-BE49-F238E27FC236}">
                <a16:creationId xmlns:a16="http://schemas.microsoft.com/office/drawing/2014/main" id="{8AC594A1-C6F6-52B6-C781-4899B64331FB}"/>
              </a:ext>
            </a:extLst>
          </p:cNvPr>
          <p:cNvSpPr/>
          <p:nvPr/>
        </p:nvSpPr>
        <p:spPr>
          <a:xfrm>
            <a:off x="9355001" y="5519657"/>
            <a:ext cx="1868428" cy="129637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20000"/>
          </a:bodyPr>
          <a:lstStyle/>
          <a:p>
            <a:pPr defTabSz="457200">
              <a:lnSpc>
                <a:spcPct val="107000"/>
              </a:lnSpc>
              <a:tabLst>
                <a:tab pos="0" algn="l"/>
              </a:tabLst>
            </a:pPr>
            <a:r>
              <a:rPr lang="en-US" sz="1200" b="1" strike="noStrike" spc="-1" dirty="0">
                <a:solidFill>
                  <a:srgbClr val="FFFFFF"/>
                </a:solidFill>
                <a:latin typeface="Arial"/>
              </a:rPr>
              <a:t>Hardware &amp; Pose Utilities</a:t>
            </a:r>
          </a:p>
          <a:p>
            <a:pPr defTabSz="457200">
              <a:lnSpc>
                <a:spcPct val="107000"/>
              </a:lnSpc>
              <a:tabLst>
                <a:tab pos="0" algn="l"/>
              </a:tabLst>
            </a:pPr>
            <a:endParaRPr lang="en-US" sz="1200" b="1" strike="noStrike" spc="-1" dirty="0">
              <a:solidFill>
                <a:srgbClr val="FFFFFF"/>
              </a:solidFill>
              <a:latin typeface="Arial"/>
            </a:endParaRPr>
          </a:p>
          <a:p>
            <a:pPr defTabSz="457200">
              <a:lnSpc>
                <a:spcPct val="107000"/>
              </a:lnSpc>
              <a:tabLst>
                <a:tab pos="0" algn="l"/>
              </a:tabLst>
            </a:pPr>
            <a:r>
              <a:rPr lang="en-US" sz="1200" strike="noStrike" spc="-1" dirty="0">
                <a:solidFill>
                  <a:srgbClr val="FFFFFF"/>
                </a:solidFill>
                <a:latin typeface="Arial"/>
              </a:rPr>
              <a:t>• Controls Sawyer joints and gripper</a:t>
            </a:r>
          </a:p>
          <a:p>
            <a:pPr defTabSz="457200">
              <a:lnSpc>
                <a:spcPct val="107000"/>
              </a:lnSpc>
              <a:tabLst>
                <a:tab pos="0" algn="l"/>
              </a:tabLst>
            </a:pPr>
            <a:r>
              <a:rPr lang="en-US" sz="1200" strike="noStrike" spc="-1" dirty="0">
                <a:solidFill>
                  <a:srgbClr val="FFFFFF"/>
                </a:solidFill>
                <a:latin typeface="Arial"/>
              </a:rPr>
              <a:t>• Provides neutral and safe poses</a:t>
            </a:r>
          </a:p>
          <a:p>
            <a:pPr defTabSz="457200">
              <a:lnSpc>
                <a:spcPct val="107000"/>
              </a:lnSpc>
              <a:tabLst>
                <a:tab pos="0" algn="l"/>
              </a:tabLst>
            </a:pPr>
            <a:r>
              <a:rPr lang="en-US" sz="1200" strike="noStrike" spc="-1" dirty="0">
                <a:solidFill>
                  <a:srgbClr val="FFFFFF"/>
                </a:solidFill>
                <a:latin typeface="Arial"/>
              </a:rPr>
              <a:t>• Handles motion execution parameters</a:t>
            </a:r>
          </a:p>
          <a:p>
            <a:pPr defTabSz="457200">
              <a:lnSpc>
                <a:spcPct val="107000"/>
              </a:lnSpc>
              <a:tabLst>
                <a:tab pos="0" algn="l"/>
              </a:tabLst>
            </a:pPr>
            <a:r>
              <a:rPr lang="en-US" sz="1200" strike="noStrike" spc="-1" dirty="0">
                <a:solidFill>
                  <a:srgbClr val="FFFFFF"/>
                </a:solidFill>
                <a:latin typeface="Arial"/>
              </a:rPr>
              <a:t>• Enforces safety constraints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14" name="TextBox 1"/>
          <p:cNvSpPr/>
          <p:nvPr/>
        </p:nvSpPr>
        <p:spPr>
          <a:xfrm>
            <a:off x="731520" y="320040"/>
            <a:ext cx="10057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Integration &amp; Results  —  Jossua</a:t>
            </a:r>
            <a:endParaRPr lang="en-US" sz="3000" b="0" strike="noStrike" spc="-1">
              <a:solidFill>
                <a:srgbClr val="FFFFFF"/>
              </a:solidFill>
              <a:latin typeface="Arial"/>
            </a:endParaRPr>
          </a:p>
        </p:txBody>
      </p:sp>
      <p:sp>
        <p:nvSpPr>
          <p:cNvPr id="215" name="Rectangle 2"/>
          <p:cNvSpPr/>
          <p:nvPr/>
        </p:nvSpPr>
        <p:spPr>
          <a:xfrm>
            <a:off x="731520" y="914400"/>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sp>
        <p:nvSpPr>
          <p:cNvPr id="216" name="TextBox 3"/>
          <p:cNvSpPr/>
          <p:nvPr/>
        </p:nvSpPr>
        <p:spPr>
          <a:xfrm>
            <a:off x="914400" y="128016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lang="en-US" sz="1500" b="0" strike="noStrike" spc="-1">
              <a:solidFill>
                <a:srgbClr val="FFFFFF"/>
              </a:solidFill>
              <a:latin typeface="Arial"/>
            </a:endParaRPr>
          </a:p>
        </p:txBody>
      </p:sp>
      <p:sp>
        <p:nvSpPr>
          <p:cNvPr id="217" name="TextBox 4"/>
          <p:cNvSpPr/>
          <p:nvPr/>
        </p:nvSpPr>
        <p:spPr>
          <a:xfrm>
            <a:off x="914400" y="178308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The system successfully handles variations in object positions, different object types, and multi-step instructions. Because the LLM generates code rather than raw motor commands, the output is interpretable: a human can read, verify, and modify the generated script if needed.</a:t>
            </a:r>
            <a:endParaRPr lang="en-US" sz="1500" b="0" strike="noStrike" spc="-1">
              <a:solidFill>
                <a:srgbClr val="FFFFFF"/>
              </a:solidFill>
              <a:latin typeface="Arial"/>
            </a:endParaRPr>
          </a:p>
        </p:txBody>
      </p:sp>
      <p:sp>
        <p:nvSpPr>
          <p:cNvPr id="218" name="TextBox 5"/>
          <p:cNvSpPr/>
          <p:nvPr/>
        </p:nvSpPr>
        <p:spPr>
          <a:xfrm>
            <a:off x="914400" y="228600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Key differences from the reference papers (Kwon et al., Liang et al.): we use Sawyer instead of Franka, Gazebo simulation instead of a real robot, and Qwen2.5-Coder 3B (locally hosted) instead of GPT-4 (cloud API). These choices make the system fully self-contained and reproducible.</a:t>
            </a:r>
            <a:endParaRPr lang="en-US" sz="1500" b="0" strike="noStrike" spc="-1">
              <a:solidFill>
                <a:srgbClr val="FFFFFF"/>
              </a:solidFill>
              <a:latin typeface="Arial"/>
            </a:endParaRPr>
          </a:p>
        </p:txBody>
      </p:sp>
      <p:sp>
        <p:nvSpPr>
          <p:cNvPr id="219" name="TextBox 6"/>
          <p:cNvSpPr/>
          <p:nvPr/>
        </p:nvSpPr>
        <p:spPr>
          <a:xfrm>
            <a:off x="914400" y="278892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Limitations: the current system assumes static scenes (objects don't move between perception and grasping), limited to pick-and-place primitives, and the LLM occasionally generates syntactically incorrect code that requires retries. Future work includes dynamic scene handling, error recovery, and more complex task primitives.</a:t>
            </a:r>
            <a:endParaRPr lang="en-US" sz="1500" b="0" strike="noStrike" spc="-1">
              <a:solidFill>
                <a:srgbClr val="FFFFFF"/>
              </a:solidFill>
              <a:latin typeface="Arial"/>
            </a:endParaRPr>
          </a:p>
        </p:txBody>
      </p:sp>
      <p:sp>
        <p:nvSpPr>
          <p:cNvPr id="220" name="TextBox 7"/>
          <p:cNvSpPr/>
          <p:nvPr/>
        </p:nvSpPr>
        <p:spPr>
          <a:xfrm>
            <a:off x="731520" y="6035040"/>
            <a:ext cx="10057680" cy="27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200" b="0" strike="noStrike" spc="-1">
                <a:solidFill>
                  <a:srgbClr val="9CA3AF"/>
                </a:solidFill>
                <a:latin typeface="Arial"/>
              </a:rPr>
              <a:t>Demo video available — see the project submission.</a:t>
            </a:r>
            <a:endParaRPr lang="en-US" sz="1200" b="0" strike="noStrike" spc="-1">
              <a:solidFill>
                <a:srgbClr val="FFFFFF"/>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21" name="TextBox 1"/>
          <p:cNvSpPr/>
          <p:nvPr/>
        </p:nvSpPr>
        <p:spPr>
          <a:xfrm>
            <a:off x="731520" y="320040"/>
            <a:ext cx="100576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3000" b="1" strike="noStrike" spc="-1">
                <a:solidFill>
                  <a:srgbClr val="FFFFFF"/>
                </a:solidFill>
                <a:latin typeface="Arial"/>
              </a:rPr>
              <a:t>References &amp; Related Work</a:t>
            </a:r>
            <a:endParaRPr lang="en-US" sz="3000" b="0" strike="noStrike" spc="-1">
              <a:solidFill>
                <a:srgbClr val="FFFFFF"/>
              </a:solidFill>
              <a:latin typeface="Arial"/>
            </a:endParaRPr>
          </a:p>
        </p:txBody>
      </p:sp>
      <p:sp>
        <p:nvSpPr>
          <p:cNvPr id="222" name="Rectangle 2"/>
          <p:cNvSpPr/>
          <p:nvPr/>
        </p:nvSpPr>
        <p:spPr>
          <a:xfrm>
            <a:off x="731520" y="914400"/>
            <a:ext cx="2285280" cy="374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6840" rIns="90000" bIns="-6840" anchor="ctr">
            <a:noAutofit/>
          </a:bodyPr>
          <a:lstStyle/>
          <a:p>
            <a:pPr algn="ctr" defTabSz="457200">
              <a:lnSpc>
                <a:spcPct val="100000"/>
              </a:lnSpc>
            </a:pPr>
            <a:endParaRPr lang="en-US" sz="1800" b="0" strike="noStrike" spc="-1">
              <a:solidFill>
                <a:schemeClr val="lt1"/>
              </a:solidFill>
              <a:latin typeface="Calibri"/>
            </a:endParaRPr>
          </a:p>
        </p:txBody>
      </p:sp>
      <p:sp>
        <p:nvSpPr>
          <p:cNvPr id="223" name="TextBox 3"/>
          <p:cNvSpPr/>
          <p:nvPr/>
        </p:nvSpPr>
        <p:spPr>
          <a:xfrm>
            <a:off x="914400" y="128016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lang="en-US" sz="1500" b="0" strike="noStrike" spc="-1">
              <a:solidFill>
                <a:srgbClr val="FFFFFF"/>
              </a:solidFill>
              <a:latin typeface="Arial"/>
            </a:endParaRPr>
          </a:p>
        </p:txBody>
      </p:sp>
      <p:sp>
        <p:nvSpPr>
          <p:cNvPr id="224" name="TextBox 4"/>
          <p:cNvSpPr/>
          <p:nvPr/>
        </p:nvSpPr>
        <p:spPr>
          <a:xfrm>
            <a:off x="914400" y="178308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lang="en-US" sz="1500" b="0" strike="noStrike" spc="-1">
              <a:solidFill>
                <a:srgbClr val="FFFFFF"/>
              </a:solidFill>
              <a:latin typeface="Arial"/>
            </a:endParaRPr>
          </a:p>
        </p:txBody>
      </p:sp>
      <p:sp>
        <p:nvSpPr>
          <p:cNvPr id="225" name="TextBox 5"/>
          <p:cNvSpPr/>
          <p:nvPr/>
        </p:nvSpPr>
        <p:spPr>
          <a:xfrm>
            <a:off x="914400" y="2286000"/>
            <a:ext cx="10514880" cy="775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lang="en-US" sz="1500" b="0" strike="noStrike" spc="-1">
              <a:solidFill>
                <a:srgbClr val="FFFFFF"/>
              </a:solidFill>
              <a:latin typeface="Arial"/>
            </a:endParaRPr>
          </a:p>
        </p:txBody>
      </p:sp>
      <p:sp>
        <p:nvSpPr>
          <p:cNvPr id="226" name="TextBox 6"/>
          <p:cNvSpPr/>
          <p:nvPr/>
        </p:nvSpPr>
        <p:spPr>
          <a:xfrm>
            <a:off x="914400" y="278892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TRAC-IK: Beeson, P. and Ames, B. "TRAC-IK: An Open-Source Library for Improved Inverse Kinematics of Humanoid Robots." IEEE-RAS 2015. — Fast IK solver used for real-time motion generation.</a:t>
            </a:r>
            <a:endParaRPr lang="en-US" sz="1500" b="0" strike="noStrike" spc="-1">
              <a:solidFill>
                <a:srgbClr val="FFFFFF"/>
              </a:solidFill>
              <a:latin typeface="Arial"/>
            </a:endParaRPr>
          </a:p>
        </p:txBody>
      </p:sp>
      <p:sp>
        <p:nvSpPr>
          <p:cNvPr id="227" name="TextBox 7"/>
          <p:cNvSpPr/>
          <p:nvPr/>
        </p:nvSpPr>
        <p:spPr>
          <a:xfrm>
            <a:off x="914400" y="3291840"/>
            <a:ext cx="10514880" cy="54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spcAft>
                <a:spcPts val="799"/>
              </a:spcAft>
            </a:pPr>
            <a:r>
              <a:rPr lang="en-US" sz="1500" b="0" strike="noStrike" spc="-1">
                <a:solidFill>
                  <a:srgbClr val="D1D5DB"/>
                </a:solidFill>
                <a:latin typeface="Arial"/>
              </a:rPr>
              <a:t>Ultralytics YOLOv8: Jocher, G. et al. "Ultralytics YOLOv8." 2023. — Real-time object detection model used for scene perception.</a:t>
            </a:r>
            <a:endParaRPr lang="en-US" sz="1500" b="0" strike="noStrike" spc="-1">
              <a:solidFill>
                <a:srgbClr val="FFFFFF"/>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28" name="Rectangle 1"/>
          <p:cNvSpPr/>
          <p:nvPr/>
        </p:nvSpPr>
        <p:spPr>
          <a:xfrm>
            <a:off x="0" y="2926080"/>
            <a:ext cx="12191040" cy="50040"/>
          </a:xfrm>
          <a:prstGeom prst="rect">
            <a:avLst/>
          </a:prstGeom>
          <a:solidFill>
            <a:srgbClr val="6B7280"/>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760" rIns="90000" bIns="5760" anchor="ctr">
            <a:noAutofit/>
          </a:bodyPr>
          <a:lstStyle/>
          <a:p>
            <a:pPr algn="ctr" defTabSz="457200">
              <a:lnSpc>
                <a:spcPct val="100000"/>
              </a:lnSpc>
            </a:pPr>
            <a:endParaRPr lang="en-US" sz="1800" b="0" strike="noStrike" spc="-1">
              <a:solidFill>
                <a:schemeClr val="lt1"/>
              </a:solidFill>
              <a:latin typeface="Calibri"/>
            </a:endParaRPr>
          </a:p>
        </p:txBody>
      </p:sp>
      <p:sp>
        <p:nvSpPr>
          <p:cNvPr id="229" name="TextBox 2"/>
          <p:cNvSpPr/>
          <p:nvPr/>
        </p:nvSpPr>
        <p:spPr>
          <a:xfrm>
            <a:off x="914400" y="1645920"/>
            <a:ext cx="10332000" cy="759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4400" b="1" strike="noStrike" spc="-1">
                <a:solidFill>
                  <a:srgbClr val="FFFFFF"/>
                </a:solidFill>
                <a:latin typeface="Arial"/>
              </a:rPr>
              <a:t>Thank You</a:t>
            </a:r>
            <a:endParaRPr lang="en-US" sz="4400" b="0" strike="noStrike" spc="-1">
              <a:solidFill>
                <a:srgbClr val="FFFFFF"/>
              </a:solidFill>
              <a:latin typeface="Arial"/>
            </a:endParaRPr>
          </a:p>
        </p:txBody>
      </p:sp>
      <p:sp>
        <p:nvSpPr>
          <p:cNvPr id="230" name="TextBox 3"/>
          <p:cNvSpPr/>
          <p:nvPr/>
        </p:nvSpPr>
        <p:spPr>
          <a:xfrm>
            <a:off x="914400" y="3291840"/>
            <a:ext cx="10332000" cy="485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2600" b="0" strike="noStrike" spc="-1">
                <a:solidFill>
                  <a:srgbClr val="D1D5DB"/>
                </a:solidFill>
                <a:latin typeface="Arial"/>
              </a:rPr>
              <a:t>Questions?</a:t>
            </a:r>
            <a:endParaRPr lang="en-US" sz="2600" b="0" strike="noStrike" spc="-1">
              <a:solidFill>
                <a:srgbClr val="FFFFFF"/>
              </a:solidFill>
              <a:latin typeface="Arial"/>
            </a:endParaRPr>
          </a:p>
        </p:txBody>
      </p:sp>
      <p:sp>
        <p:nvSpPr>
          <p:cNvPr id="231" name="TextBox 4"/>
          <p:cNvSpPr/>
          <p:nvPr/>
        </p:nvSpPr>
        <p:spPr>
          <a:xfrm>
            <a:off x="914400" y="4572000"/>
            <a:ext cx="103320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800" b="0" strike="noStrike" spc="-1">
                <a:solidFill>
                  <a:srgbClr val="9CA3AF"/>
                </a:solidFill>
                <a:latin typeface="Arial"/>
              </a:rPr>
              <a:t>Jun  ·  Sergio  ·  David  ·  Cadavid  ·  Jossua</a:t>
            </a:r>
            <a:endParaRPr lang="en-US" sz="1800" b="0" strike="noStrike" spc="-1">
              <a:solidFill>
                <a:srgbClr val="FFFFFF"/>
              </a:solidFill>
              <a:latin typeface="Arial"/>
            </a:endParaRPr>
          </a:p>
        </p:txBody>
      </p:sp>
      <p:sp>
        <p:nvSpPr>
          <p:cNvPr id="232" name="TextBox 5"/>
          <p:cNvSpPr/>
          <p:nvPr/>
        </p:nvSpPr>
        <p:spPr>
          <a:xfrm>
            <a:off x="914400" y="5029200"/>
            <a:ext cx="10332000" cy="333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457200">
              <a:lnSpc>
                <a:spcPct val="100000"/>
              </a:lnSpc>
            </a:pPr>
            <a:r>
              <a:rPr lang="en-US" sz="1600" b="0" strike="noStrike" spc="-1">
                <a:solidFill>
                  <a:srgbClr val="9CA3AF"/>
                </a:solidFill>
                <a:latin typeface="Arial"/>
              </a:rPr>
              <a:t>Robotics — Politecnico di Torino</a:t>
            </a:r>
            <a:endParaRPr lang="en-US" sz="16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43</TotalTime>
  <Words>1707</Words>
  <Application>Microsoft Office PowerPoint</Application>
  <PresentationFormat>Panorámica</PresentationFormat>
  <Paragraphs>163</Paragraphs>
  <Slides>10</Slides>
  <Notes>3</Notes>
  <HiddenSlides>0</HiddenSlides>
  <MMClips>0</MMClips>
  <ScaleCrop>false</ScaleCrop>
  <HeadingPairs>
    <vt:vector size="6" baseType="variant">
      <vt:variant>
        <vt:lpstr>Fuentes usadas</vt:lpstr>
      </vt:variant>
      <vt:variant>
        <vt:i4>8</vt:i4>
      </vt:variant>
      <vt:variant>
        <vt:lpstr>Tema</vt:lpstr>
      </vt:variant>
      <vt:variant>
        <vt:i4>12</vt:i4>
      </vt:variant>
      <vt:variant>
        <vt:lpstr>Títulos de diapositiva</vt:lpstr>
      </vt:variant>
      <vt:variant>
        <vt:i4>10</vt:i4>
      </vt:variant>
    </vt:vector>
  </HeadingPairs>
  <TitlesOfParts>
    <vt:vector size="30" baseType="lpstr">
      <vt:lpstr>Arial</vt:lpstr>
      <vt:lpstr>Calibri</vt:lpstr>
      <vt:lpstr>Consolas</vt:lpstr>
      <vt:lpstr>Geist</vt:lpstr>
      <vt:lpstr>Geist Bold</vt:lpstr>
      <vt:lpstr>Symbol</vt:lpstr>
      <vt:lpstr>Times New Roman</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generated using python-pptx</dc:description>
  <cp:lastModifiedBy>Daniel Felipe Cadavid Osorio</cp:lastModifiedBy>
  <cp:revision>4</cp:revision>
  <dcterms:created xsi:type="dcterms:W3CDTF">2013-01-27T09:14:16Z</dcterms:created>
  <dcterms:modified xsi:type="dcterms:W3CDTF">2026-06-22T14:27:39Z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