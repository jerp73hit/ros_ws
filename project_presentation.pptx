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5.xml"/>
  <Override ContentType="application/vnd.openxmlformats-officedocument.presentationml.slideLayout+xml" PartName="/ppt/slideLayouts/slideLayout1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7.xml"/>
  <Override ContentType="application/vnd.openxmlformats-officedocument.presentationml.slideLayout+xml" PartName="/ppt/slideLayouts/slideLayout9.xml"/>
  <Override ContentType="application/vnd.openxmlformats-officedocument.presentationml.slideLayout+xml" PartName="/ppt/slideLayouts/slideLayout4.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10.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1" r:id="rId5"/>
    <p:sldMasterId id="2147483662" r:id="rId6"/>
    <p:sldMasterId id="2147483663"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Lst>
  <p:sldSz cy="5143500" cx="9144000"/>
  <p:notesSz cx="6858000" cy="9144000"/>
  <p:embeddedFontLst>
    <p:embeddedFont>
      <p:font typeface="Geist"/>
      <p:regular r:id="rId25"/>
      <p:bold r:id="rId26"/>
      <p:italic r:id="rId27"/>
      <p:boldItalic r:id="rId2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4A36876E-1719-4065-81DF-F3432BCE14B1}">
  <a:tblStyle styleId="{4A36876E-1719-4065-81DF-F3432BCE14B1}" styleName="Table_0">
    <a:wholeTbl>
      <a:tcTxStyle b="off" i="off">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1" Type="http://schemas.openxmlformats.org/officeDocument/2006/relationships/theme" Target="theme/theme4.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1.xml"/><Relationship Id="rId26" Type="http://schemas.openxmlformats.org/officeDocument/2006/relationships/font" Target="fonts/Geist-bold.fntdata"/><Relationship Id="rId25" Type="http://schemas.openxmlformats.org/officeDocument/2006/relationships/font" Target="fonts/Geist-regular.fntdata"/><Relationship Id="rId28" Type="http://schemas.openxmlformats.org/officeDocument/2006/relationships/font" Target="fonts/Geist-boldItalic.fntdata"/><Relationship Id="rId27" Type="http://schemas.openxmlformats.org/officeDocument/2006/relationships/font" Target="fonts/Geist-italic.fntdata"/><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slideMaster" Target="slideMasters/slideMaster3.xml"/><Relationship Id="rId8" Type="http://schemas.openxmlformats.org/officeDocument/2006/relationships/notesMaster" Target="notesMasters/notesMaster1.xml"/><Relationship Id="rId11"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 name="Shape 70"/>
        <p:cNvGrpSpPr/>
        <p:nvPr/>
      </p:nvGrpSpPr>
      <p:grpSpPr>
        <a:xfrm>
          <a:off x="0" y="0"/>
          <a:ext cx="0" cy="0"/>
          <a:chOff x="0" y="0"/>
          <a:chExt cx="0" cy="0"/>
        </a:xfrm>
      </p:grpSpPr>
      <p:sp>
        <p:nvSpPr>
          <p:cNvPr id="71" name="Google Shape;71;g3ee4ee41374_2_10:notes"/>
          <p:cNvSpPr txBox="1"/>
          <p:nvPr>
            <p:ph idx="1" type="body"/>
          </p:nvPr>
        </p:nvSpPr>
        <p:spPr>
          <a:xfrm>
            <a:off x="685829" y="4343327"/>
            <a:ext cx="5486309" cy="4114569"/>
          </a:xfrm>
          <a:prstGeom prst="rect">
            <a:avLst/>
          </a:prstGeom>
          <a:noFill/>
          <a:ln>
            <a:noFill/>
          </a:ln>
        </p:spPr>
        <p:txBody>
          <a:bodyPr anchorCtr="0" anchor="t" bIns="81350" lIns="81350" spcFirstLastPara="1" rIns="81350" wrap="square" tIns="81350">
            <a:noAutofit/>
          </a:bodyPr>
          <a:lstStyle/>
          <a:p>
            <a:pPr indent="0" lvl="0" marL="0" rtl="0" algn="l">
              <a:lnSpc>
                <a:spcPct val="100000"/>
              </a:lnSpc>
              <a:spcBef>
                <a:spcPts val="0"/>
              </a:spcBef>
              <a:spcAft>
                <a:spcPts val="0"/>
              </a:spcAft>
              <a:buSzPts val="1100"/>
              <a:buNone/>
            </a:pPr>
            <a:r>
              <a:t/>
            </a:r>
            <a:endParaRPr/>
          </a:p>
        </p:txBody>
      </p:sp>
      <p:sp>
        <p:nvSpPr>
          <p:cNvPr id="72" name="Google Shape;72;g3ee4ee41374_2_10:notes"/>
          <p:cNvSpPr/>
          <p:nvPr>
            <p:ph idx="2" type="sldImg"/>
          </p:nvPr>
        </p:nvSpPr>
        <p:spPr>
          <a:xfrm>
            <a:off x="0" y="694895"/>
            <a:ext cx="0" cy="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 name="Shape 79"/>
        <p:cNvGrpSpPr/>
        <p:nvPr/>
      </p:nvGrpSpPr>
      <p:grpSpPr>
        <a:xfrm>
          <a:off x="0" y="0"/>
          <a:ext cx="0" cy="0"/>
          <a:chOff x="0" y="0"/>
          <a:chExt cx="0" cy="0"/>
        </a:xfrm>
      </p:grpSpPr>
      <p:sp>
        <p:nvSpPr>
          <p:cNvPr id="80" name="Google Shape;80;g3ee4ee41374_2_19:notes"/>
          <p:cNvSpPr txBox="1"/>
          <p:nvPr>
            <p:ph idx="1" type="body"/>
          </p:nvPr>
        </p:nvSpPr>
        <p:spPr>
          <a:xfrm>
            <a:off x="685829" y="4343327"/>
            <a:ext cx="5486309" cy="4114569"/>
          </a:xfrm>
          <a:prstGeom prst="rect">
            <a:avLst/>
          </a:prstGeom>
          <a:noFill/>
          <a:ln>
            <a:noFill/>
          </a:ln>
        </p:spPr>
        <p:txBody>
          <a:bodyPr anchorCtr="0" anchor="t" bIns="81350" lIns="81350" spcFirstLastPara="1" rIns="81350" wrap="square" tIns="81350">
            <a:noAutofit/>
          </a:bodyPr>
          <a:lstStyle/>
          <a:p>
            <a:pPr indent="0" lvl="0" marL="0" rtl="0" algn="l">
              <a:lnSpc>
                <a:spcPct val="100000"/>
              </a:lnSpc>
              <a:spcBef>
                <a:spcPts val="0"/>
              </a:spcBef>
              <a:spcAft>
                <a:spcPts val="0"/>
              </a:spcAft>
              <a:buSzPts val="1100"/>
              <a:buNone/>
            </a:pPr>
            <a:r>
              <a:t/>
            </a:r>
            <a:endParaRPr/>
          </a:p>
        </p:txBody>
      </p:sp>
      <p:sp>
        <p:nvSpPr>
          <p:cNvPr id="81" name="Google Shape;81;g3ee4ee41374_2_19:notes"/>
          <p:cNvSpPr/>
          <p:nvPr>
            <p:ph idx="2" type="sldImg"/>
          </p:nvPr>
        </p:nvSpPr>
        <p:spPr>
          <a:xfrm>
            <a:off x="0" y="694895"/>
            <a:ext cx="0" cy="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 name="Shape 90"/>
        <p:cNvGrpSpPr/>
        <p:nvPr/>
      </p:nvGrpSpPr>
      <p:grpSpPr>
        <a:xfrm>
          <a:off x="0" y="0"/>
          <a:ext cx="0" cy="0"/>
          <a:chOff x="0" y="0"/>
          <a:chExt cx="0" cy="0"/>
        </a:xfrm>
      </p:grpSpPr>
      <p:sp>
        <p:nvSpPr>
          <p:cNvPr id="91" name="Google Shape;91;g3ee4ee41374_2_29:notes"/>
          <p:cNvSpPr txBox="1"/>
          <p:nvPr>
            <p:ph idx="1" type="body"/>
          </p:nvPr>
        </p:nvSpPr>
        <p:spPr>
          <a:xfrm>
            <a:off x="685829" y="4343327"/>
            <a:ext cx="5486309" cy="4114569"/>
          </a:xfrm>
          <a:prstGeom prst="rect">
            <a:avLst/>
          </a:prstGeom>
          <a:noFill/>
          <a:ln>
            <a:noFill/>
          </a:ln>
        </p:spPr>
        <p:txBody>
          <a:bodyPr anchorCtr="0" anchor="t" bIns="81350" lIns="81350" spcFirstLastPara="1" rIns="81350" wrap="square" tIns="81350">
            <a:noAutofit/>
          </a:bodyPr>
          <a:lstStyle/>
          <a:p>
            <a:pPr indent="0" lvl="0" marL="0" rtl="0" algn="l">
              <a:lnSpc>
                <a:spcPct val="100000"/>
              </a:lnSpc>
              <a:spcBef>
                <a:spcPts val="0"/>
              </a:spcBef>
              <a:spcAft>
                <a:spcPts val="0"/>
              </a:spcAft>
              <a:buSzPts val="1100"/>
              <a:buNone/>
            </a:pPr>
            <a:r>
              <a:t/>
            </a:r>
            <a:endParaRPr/>
          </a:p>
        </p:txBody>
      </p:sp>
      <p:sp>
        <p:nvSpPr>
          <p:cNvPr id="92" name="Google Shape;92;g3ee4ee41374_2_29:notes"/>
          <p:cNvSpPr/>
          <p:nvPr>
            <p:ph idx="2" type="sldImg"/>
          </p:nvPr>
        </p:nvSpPr>
        <p:spPr>
          <a:xfrm>
            <a:off x="0" y="694895"/>
            <a:ext cx="0" cy="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g3ee4ee41374_2_67:notes"/>
          <p:cNvSpPr/>
          <p:nvPr>
            <p:ph idx="2" type="sldImg"/>
          </p:nvPr>
        </p:nvSpPr>
        <p:spPr>
          <a:xfrm>
            <a:off x="622145" y="977533"/>
            <a:ext cx="4976836" cy="2639186"/>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1" name="Google Shape;121;g3ee4ee41374_2_67:notes"/>
          <p:cNvSpPr txBox="1"/>
          <p:nvPr>
            <p:ph idx="1" type="body"/>
          </p:nvPr>
        </p:nvSpPr>
        <p:spPr>
          <a:xfrm>
            <a:off x="622145" y="3763581"/>
            <a:ext cx="4976836" cy="3078845"/>
          </a:xfrm>
          <a:prstGeom prst="rect">
            <a:avLst/>
          </a:prstGeom>
          <a:noFill/>
          <a:ln>
            <a:noFill/>
          </a:ln>
        </p:spPr>
        <p:txBody>
          <a:bodyPr anchorCtr="0" anchor="t" bIns="40675" lIns="81350" spcFirstLastPara="1" rIns="81350" wrap="square" tIns="40675">
            <a:noAutofit/>
          </a:bodyPr>
          <a:lstStyle/>
          <a:p>
            <a:pPr indent="-190500" lvl="0" marL="190500" rtl="0" algn="l">
              <a:lnSpc>
                <a:spcPct val="100000"/>
              </a:lnSpc>
              <a:spcBef>
                <a:spcPts val="0"/>
              </a:spcBef>
              <a:spcAft>
                <a:spcPts val="0"/>
              </a:spcAft>
              <a:buSzPts val="1600"/>
              <a:buNone/>
            </a:pPr>
            <a:r>
              <a:t/>
            </a:r>
            <a:endParaRPr b="0" sz="1600" strike="noStrike">
              <a:solidFill>
                <a:srgbClr val="000000"/>
              </a:solidFill>
              <a:latin typeface="Arial"/>
              <a:ea typeface="Arial"/>
              <a:cs typeface="Arial"/>
              <a:sym typeface="Arial"/>
            </a:endParaRPr>
          </a:p>
        </p:txBody>
      </p:sp>
      <p:sp>
        <p:nvSpPr>
          <p:cNvPr id="122" name="Google Shape;122;g3ee4ee41374_2_67:notes"/>
          <p:cNvSpPr txBox="1"/>
          <p:nvPr>
            <p:ph idx="12" type="sldNum"/>
          </p:nvPr>
        </p:nvSpPr>
        <p:spPr>
          <a:xfrm>
            <a:off x="3524184" y="7428023"/>
            <a:ext cx="2695636" cy="391937"/>
          </a:xfrm>
          <a:prstGeom prst="rect">
            <a:avLst/>
          </a:prstGeom>
          <a:noFill/>
          <a:ln>
            <a:noFill/>
          </a:ln>
        </p:spPr>
        <p:txBody>
          <a:bodyPr anchorCtr="0" anchor="b" bIns="40675" lIns="81350" spcFirstLastPara="1" rIns="81350" wrap="square" tIns="40675">
            <a:noAutofit/>
          </a:bodyPr>
          <a:lstStyle/>
          <a:p>
            <a:pPr indent="0" lvl="0" marL="0" marR="0" rtl="0" algn="r">
              <a:lnSpc>
                <a:spcPct val="100000"/>
              </a:lnSpc>
              <a:spcBef>
                <a:spcPts val="0"/>
              </a:spcBef>
              <a:spcAft>
                <a:spcPts val="0"/>
              </a:spcAft>
              <a:buClr>
                <a:srgbClr val="000000"/>
              </a:buClr>
              <a:buSzPts val="1100"/>
              <a:buFont typeface="Times New Roman"/>
              <a:buNone/>
            </a:pPr>
            <a:fld id="{00000000-1234-1234-1234-123412341234}" type="slidenum">
              <a:rPr b="0" i="0" lang="en-GB" sz="1100" u="none" cap="none" strike="noStrike">
                <a:solidFill>
                  <a:srgbClr val="000000"/>
                </a:solidFill>
                <a:latin typeface="Times New Roman"/>
                <a:ea typeface="Times New Roman"/>
                <a:cs typeface="Times New Roman"/>
                <a:sym typeface="Times New Roman"/>
              </a:rPr>
              <a:t>‹#›</a:t>
            </a:fld>
            <a:endParaRPr b="0" i="0" sz="1100" u="none" cap="none" strike="noStrike">
              <a:solidFill>
                <a:srgbClr val="000000"/>
              </a:solidFill>
              <a:latin typeface="Times New Roman"/>
              <a:ea typeface="Times New Roman"/>
              <a:cs typeface="Times New Roman"/>
              <a:sym typeface="Times New Roman"/>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 name="Shape 208"/>
        <p:cNvGrpSpPr/>
        <p:nvPr/>
      </p:nvGrpSpPr>
      <p:grpSpPr>
        <a:xfrm>
          <a:off x="0" y="0"/>
          <a:ext cx="0" cy="0"/>
          <a:chOff x="0" y="0"/>
          <a:chExt cx="0" cy="0"/>
        </a:xfrm>
      </p:grpSpPr>
      <p:sp>
        <p:nvSpPr>
          <p:cNvPr id="209" name="Google Shape;209;g3ee4ee41374_2_155:notes"/>
          <p:cNvSpPr txBox="1"/>
          <p:nvPr>
            <p:ph idx="1" type="body"/>
          </p:nvPr>
        </p:nvSpPr>
        <p:spPr>
          <a:xfrm>
            <a:off x="685829" y="4343327"/>
            <a:ext cx="5486309" cy="4114569"/>
          </a:xfrm>
          <a:prstGeom prst="rect">
            <a:avLst/>
          </a:prstGeom>
          <a:noFill/>
          <a:ln>
            <a:noFill/>
          </a:ln>
        </p:spPr>
        <p:txBody>
          <a:bodyPr anchorCtr="0" anchor="t" bIns="81350" lIns="81350" spcFirstLastPara="1" rIns="81350" wrap="square" tIns="81350">
            <a:noAutofit/>
          </a:bodyPr>
          <a:lstStyle/>
          <a:p>
            <a:pPr indent="0" lvl="0" marL="0" rtl="0" algn="l">
              <a:lnSpc>
                <a:spcPct val="100000"/>
              </a:lnSpc>
              <a:spcBef>
                <a:spcPts val="0"/>
              </a:spcBef>
              <a:spcAft>
                <a:spcPts val="0"/>
              </a:spcAft>
              <a:buSzPts val="1100"/>
              <a:buNone/>
            </a:pPr>
            <a:r>
              <a:t/>
            </a:r>
            <a:endParaRPr/>
          </a:p>
        </p:txBody>
      </p:sp>
      <p:sp>
        <p:nvSpPr>
          <p:cNvPr id="210" name="Google Shape;210;g3ee4ee41374_2_155:notes"/>
          <p:cNvSpPr/>
          <p:nvPr>
            <p:ph idx="2" type="sldImg"/>
          </p:nvPr>
        </p:nvSpPr>
        <p:spPr>
          <a:xfrm>
            <a:off x="0" y="694895"/>
            <a:ext cx="0" cy="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 name="Shape 217"/>
        <p:cNvGrpSpPr/>
        <p:nvPr/>
      </p:nvGrpSpPr>
      <p:grpSpPr>
        <a:xfrm>
          <a:off x="0" y="0"/>
          <a:ext cx="0" cy="0"/>
          <a:chOff x="0" y="0"/>
          <a:chExt cx="0" cy="0"/>
        </a:xfrm>
      </p:grpSpPr>
      <p:sp>
        <p:nvSpPr>
          <p:cNvPr id="218" name="Google Shape;218;g3ee4ee41374_0_41:notes"/>
          <p:cNvSpPr txBox="1"/>
          <p:nvPr>
            <p:ph idx="1" type="body"/>
          </p:nvPr>
        </p:nvSpPr>
        <p:spPr>
          <a:xfrm>
            <a:off x="685829" y="4343327"/>
            <a:ext cx="5486400" cy="4114500"/>
          </a:xfrm>
          <a:prstGeom prst="rect">
            <a:avLst/>
          </a:prstGeom>
          <a:noFill/>
          <a:ln>
            <a:noFill/>
          </a:ln>
        </p:spPr>
        <p:txBody>
          <a:bodyPr anchorCtr="0" anchor="t" bIns="81350" lIns="81350" spcFirstLastPara="1" rIns="81350" wrap="square" tIns="81350">
            <a:noAutofit/>
          </a:bodyPr>
          <a:lstStyle/>
          <a:p>
            <a:pPr indent="0" lvl="0" marL="0" rtl="0" algn="l">
              <a:lnSpc>
                <a:spcPct val="100000"/>
              </a:lnSpc>
              <a:spcBef>
                <a:spcPts val="0"/>
              </a:spcBef>
              <a:spcAft>
                <a:spcPts val="0"/>
              </a:spcAft>
              <a:buSzPts val="1100"/>
              <a:buNone/>
            </a:pPr>
            <a:r>
              <a:t/>
            </a:r>
            <a:endParaRPr/>
          </a:p>
        </p:txBody>
      </p:sp>
      <p:sp>
        <p:nvSpPr>
          <p:cNvPr id="219" name="Google Shape;219;g3ee4ee41374_0_41:notes"/>
          <p:cNvSpPr/>
          <p:nvPr>
            <p:ph idx="2" type="sldImg"/>
          </p:nvPr>
        </p:nvSpPr>
        <p:spPr>
          <a:xfrm>
            <a:off x="0" y="694895"/>
            <a:ext cx="0" cy="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 name="Shape 224"/>
        <p:cNvGrpSpPr/>
        <p:nvPr/>
      </p:nvGrpSpPr>
      <p:grpSpPr>
        <a:xfrm>
          <a:off x="0" y="0"/>
          <a:ext cx="0" cy="0"/>
          <a:chOff x="0" y="0"/>
          <a:chExt cx="0" cy="0"/>
        </a:xfrm>
      </p:grpSpPr>
      <p:sp>
        <p:nvSpPr>
          <p:cNvPr id="225" name="Google Shape;225;g3ee4ee41374_0_5:notes"/>
          <p:cNvSpPr txBox="1"/>
          <p:nvPr>
            <p:ph idx="1" type="body"/>
          </p:nvPr>
        </p:nvSpPr>
        <p:spPr>
          <a:xfrm>
            <a:off x="685829" y="4343327"/>
            <a:ext cx="5486400" cy="4114500"/>
          </a:xfrm>
          <a:prstGeom prst="rect">
            <a:avLst/>
          </a:prstGeom>
          <a:noFill/>
          <a:ln>
            <a:noFill/>
          </a:ln>
        </p:spPr>
        <p:txBody>
          <a:bodyPr anchorCtr="0" anchor="t" bIns="81350" lIns="81350" spcFirstLastPara="1" rIns="81350" wrap="square" tIns="81350">
            <a:noAutofit/>
          </a:bodyPr>
          <a:lstStyle/>
          <a:p>
            <a:pPr indent="0" lvl="0" marL="0" rtl="0" algn="l">
              <a:lnSpc>
                <a:spcPct val="100000"/>
              </a:lnSpc>
              <a:spcBef>
                <a:spcPts val="0"/>
              </a:spcBef>
              <a:spcAft>
                <a:spcPts val="0"/>
              </a:spcAft>
              <a:buSzPts val="1100"/>
              <a:buNone/>
            </a:pPr>
            <a:r>
              <a:t/>
            </a:r>
            <a:endParaRPr/>
          </a:p>
        </p:txBody>
      </p:sp>
      <p:sp>
        <p:nvSpPr>
          <p:cNvPr id="226" name="Google Shape;226;g3ee4ee41374_0_5:notes"/>
          <p:cNvSpPr/>
          <p:nvPr>
            <p:ph idx="2" type="sldImg"/>
          </p:nvPr>
        </p:nvSpPr>
        <p:spPr>
          <a:xfrm>
            <a:off x="0" y="694895"/>
            <a:ext cx="0" cy="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 name="Shape 234"/>
        <p:cNvGrpSpPr/>
        <p:nvPr/>
      </p:nvGrpSpPr>
      <p:grpSpPr>
        <a:xfrm>
          <a:off x="0" y="0"/>
          <a:ext cx="0" cy="0"/>
          <a:chOff x="0" y="0"/>
          <a:chExt cx="0" cy="0"/>
        </a:xfrm>
      </p:grpSpPr>
      <p:sp>
        <p:nvSpPr>
          <p:cNvPr id="235" name="Google Shape;235;g3ee4ee41374_2_165:notes"/>
          <p:cNvSpPr/>
          <p:nvPr>
            <p:ph idx="2" type="sldImg"/>
          </p:nvPr>
        </p:nvSpPr>
        <p:spPr>
          <a:xfrm>
            <a:off x="685829" y="1142867"/>
            <a:ext cx="5485983" cy="3085619"/>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6" name="Google Shape;236;g3ee4ee41374_2_165:notes"/>
          <p:cNvSpPr txBox="1"/>
          <p:nvPr>
            <p:ph idx="1" type="body"/>
          </p:nvPr>
        </p:nvSpPr>
        <p:spPr>
          <a:xfrm>
            <a:off x="685829" y="4400594"/>
            <a:ext cx="5485983" cy="3599786"/>
          </a:xfrm>
          <a:prstGeom prst="rect">
            <a:avLst/>
          </a:prstGeom>
          <a:noFill/>
          <a:ln>
            <a:noFill/>
          </a:ln>
        </p:spPr>
        <p:txBody>
          <a:bodyPr anchorCtr="0" anchor="t" bIns="40675" lIns="81350" spcFirstLastPara="1" rIns="81350" wrap="square" tIns="40675">
            <a:noAutofit/>
          </a:bodyPr>
          <a:lstStyle/>
          <a:p>
            <a:pPr indent="0" lvl="0" marL="190500" rtl="0" algn="l">
              <a:lnSpc>
                <a:spcPct val="100000"/>
              </a:lnSpc>
              <a:spcBef>
                <a:spcPts val="0"/>
              </a:spcBef>
              <a:spcAft>
                <a:spcPts val="0"/>
              </a:spcAft>
              <a:buClr>
                <a:srgbClr val="000000"/>
              </a:buClr>
              <a:buSzPts val="1800"/>
              <a:buFont typeface="Arial"/>
              <a:buNone/>
            </a:pPr>
            <a:r>
              <a:rPr b="0" lang="en-GB" sz="1800" strike="noStrike">
                <a:solidFill>
                  <a:srgbClr val="000000"/>
                </a:solidFill>
                <a:latin typeface="Arial"/>
                <a:ea typeface="Arial"/>
                <a:cs typeface="Arial"/>
                <a:sym typeface="Arial"/>
              </a:rPr>
              <a:t>At the heart of the system is the LLM code generator. We use Qwen2.5-Coder 3B, a 3-billion-parameter code-specialized language model, running locally via Ollama on localhost:11434. Running locally eliminates latency, privacy concerns, and API costs.</a:t>
            </a:r>
            <a:endParaRPr b="0" sz="1800" strike="noStrike">
              <a:solidFill>
                <a:srgbClr val="000000"/>
              </a:solidFill>
              <a:latin typeface="Arial"/>
              <a:ea typeface="Arial"/>
              <a:cs typeface="Arial"/>
              <a:sym typeface="Arial"/>
            </a:endParaRPr>
          </a:p>
          <a:p>
            <a:pPr indent="0" lvl="0" marL="190500" rtl="0" algn="l">
              <a:lnSpc>
                <a:spcPct val="100000"/>
              </a:lnSpc>
              <a:spcBef>
                <a:spcPts val="0"/>
              </a:spcBef>
              <a:spcAft>
                <a:spcPts val="0"/>
              </a:spcAft>
              <a:buClr>
                <a:srgbClr val="000000"/>
              </a:buClr>
              <a:buSzPts val="1800"/>
              <a:buFont typeface="Arial"/>
              <a:buNone/>
            </a:pPr>
            <a:r>
              <a:rPr b="0" lang="en-GB" sz="1800" strike="noStrike">
                <a:solidFill>
                  <a:srgbClr val="000000"/>
                </a:solidFill>
                <a:latin typeface="Arial"/>
                <a:ea typeface="Arial"/>
                <a:cs typeface="Arial"/>
                <a:sym typeface="Arial"/>
              </a:rPr>
              <a:t>The LLM receives a carefully crafted system prompt (system_prompt.md, 117 lines) that defines the robot's API: available functions (make_scene, execute_waypoints, adjust_grasp_waypoints), their signatures, return types, and usage patterns. This prompt acts as the "instruction manual" for the LLM.</a:t>
            </a:r>
            <a:endParaRPr b="0" sz="1800" strike="noStrike">
              <a:solidFill>
                <a:srgbClr val="000000"/>
              </a:solidFill>
              <a:latin typeface="Arial"/>
              <a:ea typeface="Arial"/>
              <a:cs typeface="Arial"/>
              <a:sym typeface="Arial"/>
            </a:endParaRPr>
          </a:p>
          <a:p>
            <a:pPr indent="0" lvl="0" marL="190500" rtl="0" algn="l">
              <a:lnSpc>
                <a:spcPct val="100000"/>
              </a:lnSpc>
              <a:spcBef>
                <a:spcPts val="0"/>
              </a:spcBef>
              <a:spcAft>
                <a:spcPts val="0"/>
              </a:spcAft>
              <a:buClr>
                <a:srgbClr val="000000"/>
              </a:buClr>
              <a:buSzPts val="1800"/>
              <a:buFont typeface="Arial"/>
              <a:buNone/>
            </a:pPr>
            <a:r>
              <a:rPr b="0" lang="en-GB" sz="1800" strike="noStrike">
                <a:solidFill>
                  <a:srgbClr val="000000"/>
                </a:solidFill>
                <a:latin typeface="Arial"/>
                <a:ea typeface="Arial"/>
                <a:cs typeface="Arial"/>
                <a:sym typeface="Arial"/>
              </a:rPr>
              <a:t>The user provides a natural language task description (e.g., "pick the red block and place it on the blue box"). The LLM generates a complete Python script (generated_task.py) that calls the API functions in the correct order to accomplish the task.</a:t>
            </a:r>
            <a:endParaRPr b="0" sz="1800" strike="noStrike">
              <a:solidFill>
                <a:srgbClr val="000000"/>
              </a:solidFill>
              <a:latin typeface="Arial"/>
              <a:ea typeface="Arial"/>
              <a:cs typeface="Arial"/>
              <a:sym typeface="Arial"/>
            </a:endParaRPr>
          </a:p>
          <a:p>
            <a:pPr indent="0" lvl="0" marL="190500" rtl="0" algn="l">
              <a:lnSpc>
                <a:spcPct val="100000"/>
              </a:lnSpc>
              <a:spcBef>
                <a:spcPts val="0"/>
              </a:spcBef>
              <a:spcAft>
                <a:spcPts val="0"/>
              </a:spcAft>
              <a:buClr>
                <a:srgbClr val="000000"/>
              </a:buClr>
              <a:buSzPts val="1800"/>
              <a:buFont typeface="Arial"/>
              <a:buNone/>
            </a:pPr>
            <a:r>
              <a:rPr b="0" lang="en-GB" sz="1800" strike="noStrike">
                <a:solidFill>
                  <a:srgbClr val="000000"/>
                </a:solidFill>
                <a:latin typeface="Arial"/>
                <a:ea typeface="Arial"/>
                <a:cs typeface="Arial"/>
                <a:sym typeface="Arial"/>
              </a:rPr>
              <a:t>The user provides a natural language task description (e.g., "pick the red block and place it on the blue box"). The LLM generates a complete Python script (generated_task.py) that calls the API functions in the correct order to accomplish the task.</a:t>
            </a:r>
            <a:endParaRPr b="0" sz="1800" strike="noStrike">
              <a:solidFill>
                <a:srgbClr val="000000"/>
              </a:solidFill>
              <a:latin typeface="Arial"/>
              <a:ea typeface="Arial"/>
              <a:cs typeface="Arial"/>
              <a:sym typeface="Arial"/>
            </a:endParaRPr>
          </a:p>
          <a:p>
            <a:pPr indent="0" lvl="0" marL="190500" rtl="0" algn="l">
              <a:lnSpc>
                <a:spcPct val="100000"/>
              </a:lnSpc>
              <a:spcBef>
                <a:spcPts val="0"/>
              </a:spcBef>
              <a:spcAft>
                <a:spcPts val="0"/>
              </a:spcAft>
              <a:buClr>
                <a:srgbClr val="000000"/>
              </a:buClr>
              <a:buSzPts val="1800"/>
              <a:buFont typeface="Arial"/>
              <a:buNone/>
            </a:pPr>
            <a:r>
              <a:rPr b="0" lang="en-GB" sz="1800" strike="noStrike">
                <a:solidFill>
                  <a:srgbClr val="000000"/>
                </a:solidFill>
                <a:latin typeface="Arial"/>
                <a:ea typeface="Arial"/>
                <a:cs typeface="Arial"/>
                <a:sym typeface="Arial"/>
              </a:rPr>
              <a:t>run_task.py orchestrates the process: it captures the user input, sends it to the LLM with the system prompt, writes the generated code to disk, reloads the module dynamically, and executes execute_task(). Error handling and retry logic ensure robustness.</a:t>
            </a:r>
            <a:endParaRPr b="0" sz="1800" strike="noStrike">
              <a:solidFill>
                <a:srgbClr val="000000"/>
              </a:solidFill>
              <a:latin typeface="Arial"/>
              <a:ea typeface="Arial"/>
              <a:cs typeface="Arial"/>
              <a:sym typeface="Arial"/>
            </a:endParaRPr>
          </a:p>
          <a:p>
            <a:pPr indent="0" lvl="0" marL="190500" rtl="0" algn="l">
              <a:lnSpc>
                <a:spcPct val="100000"/>
              </a:lnSpc>
              <a:spcBef>
                <a:spcPts val="0"/>
              </a:spcBef>
              <a:spcAft>
                <a:spcPts val="0"/>
              </a:spcAft>
              <a:buClr>
                <a:srgbClr val="000000"/>
              </a:buClr>
              <a:buSzPts val="1800"/>
              <a:buFont typeface="Arial"/>
              <a:buNone/>
            </a:pPr>
            <a:r>
              <a:rPr b="0" lang="en-GB" sz="1800" strike="noStrike">
                <a:solidFill>
                  <a:srgbClr val="000000"/>
                </a:solidFill>
                <a:latin typeface="Arial"/>
                <a:ea typeface="Arial"/>
                <a:cs typeface="Arial"/>
                <a:sym typeface="Arial"/>
              </a:rPr>
              <a:t>Model: Qwen2.5-Coder 3B (Ollama, temp=0.7) — locally hosted, no cloud dependency.</a:t>
            </a:r>
            <a:endParaRPr b="0" sz="1800" strike="noStrike">
              <a:solidFill>
                <a:srgbClr val="000000"/>
              </a:solidFill>
              <a:latin typeface="Arial"/>
              <a:ea typeface="Arial"/>
              <a:cs typeface="Arial"/>
              <a:sym typeface="Arial"/>
            </a:endParaRPr>
          </a:p>
        </p:txBody>
      </p:sp>
      <p:sp>
        <p:nvSpPr>
          <p:cNvPr id="237" name="Google Shape;237;g3ee4ee41374_2_165:notes"/>
          <p:cNvSpPr txBox="1"/>
          <p:nvPr>
            <p:ph idx="12" type="sldNum"/>
          </p:nvPr>
        </p:nvSpPr>
        <p:spPr>
          <a:xfrm>
            <a:off x="3884734" y="8685423"/>
            <a:ext cx="2971275" cy="458132"/>
          </a:xfrm>
          <a:prstGeom prst="rect">
            <a:avLst/>
          </a:prstGeom>
          <a:noFill/>
          <a:ln>
            <a:noFill/>
          </a:ln>
        </p:spPr>
        <p:txBody>
          <a:bodyPr anchorCtr="0" anchor="b" bIns="40675" lIns="81350" spcFirstLastPara="1" rIns="81350" wrap="square" tIns="40675">
            <a:noAutofit/>
          </a:bodyPr>
          <a:lstStyle/>
          <a:p>
            <a:pPr indent="0" lvl="0" marL="0" marR="0" rtl="0" algn="r">
              <a:lnSpc>
                <a:spcPct val="100000"/>
              </a:lnSpc>
              <a:spcBef>
                <a:spcPts val="0"/>
              </a:spcBef>
              <a:spcAft>
                <a:spcPts val="0"/>
              </a:spcAft>
              <a:buClr>
                <a:srgbClr val="000000"/>
              </a:buClr>
              <a:buSzPts val="1100"/>
              <a:buFont typeface="Times New Roman"/>
              <a:buNone/>
            </a:pPr>
            <a:fld id="{00000000-1234-1234-1234-123412341234}" type="slidenum">
              <a:rPr b="0" i="0" lang="en-GB" sz="1100" u="none" cap="none" strike="noStrike">
                <a:solidFill>
                  <a:srgbClr val="000000"/>
                </a:solidFill>
                <a:latin typeface="Times New Roman"/>
                <a:ea typeface="Times New Roman"/>
                <a:cs typeface="Times New Roman"/>
                <a:sym typeface="Times New Roman"/>
              </a:rPr>
              <a:t>‹#›</a:t>
            </a:fld>
            <a:endParaRPr b="0" i="0" sz="1100" u="none" cap="none" strike="noStrike">
              <a:solidFill>
                <a:srgbClr val="000000"/>
              </a:solidFill>
              <a:latin typeface="Times New Roman"/>
              <a:ea typeface="Times New Roman"/>
              <a:cs typeface="Times New Roman"/>
              <a:sym typeface="Times New Roman"/>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7" name="Shape 257"/>
        <p:cNvGrpSpPr/>
        <p:nvPr/>
      </p:nvGrpSpPr>
      <p:grpSpPr>
        <a:xfrm>
          <a:off x="0" y="0"/>
          <a:ext cx="0" cy="0"/>
          <a:chOff x="0" y="0"/>
          <a:chExt cx="0" cy="0"/>
        </a:xfrm>
      </p:grpSpPr>
      <p:sp>
        <p:nvSpPr>
          <p:cNvPr id="258" name="Google Shape;258;g3ee4ee41374_2_187:notes"/>
          <p:cNvSpPr txBox="1"/>
          <p:nvPr>
            <p:ph idx="1" type="body"/>
          </p:nvPr>
        </p:nvSpPr>
        <p:spPr>
          <a:xfrm>
            <a:off x="685829" y="4343327"/>
            <a:ext cx="5486309" cy="4114569"/>
          </a:xfrm>
          <a:prstGeom prst="rect">
            <a:avLst/>
          </a:prstGeom>
          <a:noFill/>
          <a:ln>
            <a:noFill/>
          </a:ln>
        </p:spPr>
        <p:txBody>
          <a:bodyPr anchorCtr="0" anchor="t" bIns="81350" lIns="81350" spcFirstLastPara="1" rIns="81350" wrap="square" tIns="81350">
            <a:noAutofit/>
          </a:bodyPr>
          <a:lstStyle/>
          <a:p>
            <a:pPr indent="0" lvl="0" marL="0" rtl="0" algn="l">
              <a:lnSpc>
                <a:spcPct val="100000"/>
              </a:lnSpc>
              <a:spcBef>
                <a:spcPts val="0"/>
              </a:spcBef>
              <a:spcAft>
                <a:spcPts val="0"/>
              </a:spcAft>
              <a:buSzPts val="1100"/>
              <a:buNone/>
            </a:pPr>
            <a:r>
              <a:t/>
            </a:r>
            <a:endParaRPr/>
          </a:p>
        </p:txBody>
      </p:sp>
      <p:sp>
        <p:nvSpPr>
          <p:cNvPr id="259" name="Google Shape;259;g3ee4ee41374_2_187:notes"/>
          <p:cNvSpPr/>
          <p:nvPr>
            <p:ph idx="2" type="sldImg"/>
          </p:nvPr>
        </p:nvSpPr>
        <p:spPr>
          <a:xfrm>
            <a:off x="0" y="694895"/>
            <a:ext cx="0" cy="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3ee4ee41374_2_197:notes"/>
          <p:cNvSpPr txBox="1"/>
          <p:nvPr>
            <p:ph idx="1" type="body"/>
          </p:nvPr>
        </p:nvSpPr>
        <p:spPr>
          <a:xfrm>
            <a:off x="685829" y="4343327"/>
            <a:ext cx="5486309" cy="4114569"/>
          </a:xfrm>
          <a:prstGeom prst="rect">
            <a:avLst/>
          </a:prstGeom>
          <a:noFill/>
          <a:ln>
            <a:noFill/>
          </a:ln>
        </p:spPr>
        <p:txBody>
          <a:bodyPr anchorCtr="0" anchor="t" bIns="81350" lIns="81350" spcFirstLastPara="1" rIns="81350" wrap="square" tIns="81350">
            <a:noAutofit/>
          </a:bodyPr>
          <a:lstStyle/>
          <a:p>
            <a:pPr indent="0" lvl="0" marL="0" rtl="0" algn="l">
              <a:lnSpc>
                <a:spcPct val="100000"/>
              </a:lnSpc>
              <a:spcBef>
                <a:spcPts val="0"/>
              </a:spcBef>
              <a:spcAft>
                <a:spcPts val="0"/>
              </a:spcAft>
              <a:buSzPts val="1100"/>
              <a:buNone/>
            </a:pPr>
            <a:r>
              <a:t/>
            </a:r>
            <a:endParaRPr/>
          </a:p>
        </p:txBody>
      </p:sp>
      <p:sp>
        <p:nvSpPr>
          <p:cNvPr id="270" name="Google Shape;270;g3ee4ee41374_2_197:notes"/>
          <p:cNvSpPr/>
          <p:nvPr>
            <p:ph idx="2" type="sldImg"/>
          </p:nvPr>
        </p:nvSpPr>
        <p:spPr>
          <a:xfrm>
            <a:off x="0" y="694895"/>
            <a:ext cx="0" cy="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7" name="Shape 277"/>
        <p:cNvGrpSpPr/>
        <p:nvPr/>
      </p:nvGrpSpPr>
      <p:grpSpPr>
        <a:xfrm>
          <a:off x="0" y="0"/>
          <a:ext cx="0" cy="0"/>
          <a:chOff x="0" y="0"/>
          <a:chExt cx="0" cy="0"/>
        </a:xfrm>
      </p:grpSpPr>
      <p:sp>
        <p:nvSpPr>
          <p:cNvPr id="278" name="Google Shape;278;g3ee4ee41374_2_205:notes"/>
          <p:cNvSpPr txBox="1"/>
          <p:nvPr>
            <p:ph idx="1" type="body"/>
          </p:nvPr>
        </p:nvSpPr>
        <p:spPr>
          <a:xfrm>
            <a:off x="685829" y="4343327"/>
            <a:ext cx="5486400" cy="4114500"/>
          </a:xfrm>
          <a:prstGeom prst="rect">
            <a:avLst/>
          </a:prstGeom>
          <a:noFill/>
          <a:ln>
            <a:noFill/>
          </a:ln>
        </p:spPr>
        <p:txBody>
          <a:bodyPr anchorCtr="0" anchor="t" bIns="81350" lIns="81350" spcFirstLastPara="1" rIns="81350" wrap="square" tIns="81350">
            <a:noAutofit/>
          </a:bodyPr>
          <a:lstStyle/>
          <a:p>
            <a:pPr indent="0" lvl="0" marL="0" rtl="0" algn="l">
              <a:lnSpc>
                <a:spcPct val="100000"/>
              </a:lnSpc>
              <a:spcBef>
                <a:spcPts val="0"/>
              </a:spcBef>
              <a:spcAft>
                <a:spcPts val="0"/>
              </a:spcAft>
              <a:buSzPts val="1100"/>
              <a:buNone/>
            </a:pPr>
            <a:r>
              <a:t/>
            </a:r>
            <a:endParaRPr/>
          </a:p>
        </p:txBody>
      </p:sp>
      <p:sp>
        <p:nvSpPr>
          <p:cNvPr id="279" name="Google Shape;279;g3ee4ee41374_2_205:notes"/>
          <p:cNvSpPr/>
          <p:nvPr>
            <p:ph idx="2" type="sldImg"/>
          </p:nvPr>
        </p:nvSpPr>
        <p:spPr>
          <a:xfrm>
            <a:off x="0" y="694895"/>
            <a:ext cx="0" cy="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5" name="Shape 285"/>
        <p:cNvGrpSpPr/>
        <p:nvPr/>
      </p:nvGrpSpPr>
      <p:grpSpPr>
        <a:xfrm>
          <a:off x="0" y="0"/>
          <a:ext cx="0" cy="0"/>
          <a:chOff x="0" y="0"/>
          <a:chExt cx="0" cy="0"/>
        </a:xfrm>
      </p:grpSpPr>
      <p:sp>
        <p:nvSpPr>
          <p:cNvPr id="286" name="Google Shape;286;g3ee4ee41374_2_212:notes"/>
          <p:cNvSpPr txBox="1"/>
          <p:nvPr>
            <p:ph idx="1" type="body"/>
          </p:nvPr>
        </p:nvSpPr>
        <p:spPr>
          <a:xfrm>
            <a:off x="685829" y="4343327"/>
            <a:ext cx="5486400" cy="4114500"/>
          </a:xfrm>
          <a:prstGeom prst="rect">
            <a:avLst/>
          </a:prstGeom>
          <a:noFill/>
          <a:ln>
            <a:noFill/>
          </a:ln>
        </p:spPr>
        <p:txBody>
          <a:bodyPr anchorCtr="0" anchor="t" bIns="81350" lIns="81350" spcFirstLastPara="1" rIns="81350" wrap="square" tIns="81350">
            <a:noAutofit/>
          </a:bodyPr>
          <a:lstStyle/>
          <a:p>
            <a:pPr indent="0" lvl="0" marL="0" rtl="0" algn="l">
              <a:lnSpc>
                <a:spcPct val="100000"/>
              </a:lnSpc>
              <a:spcBef>
                <a:spcPts val="0"/>
              </a:spcBef>
              <a:spcAft>
                <a:spcPts val="0"/>
              </a:spcAft>
              <a:buSzPts val="1100"/>
              <a:buNone/>
            </a:pPr>
            <a:r>
              <a:t/>
            </a:r>
            <a:endParaRPr/>
          </a:p>
        </p:txBody>
      </p:sp>
      <p:sp>
        <p:nvSpPr>
          <p:cNvPr id="287" name="Google Shape;287;g3ee4ee41374_2_212:notes"/>
          <p:cNvSpPr/>
          <p:nvPr>
            <p:ph idx="2" type="sldImg"/>
          </p:nvPr>
        </p:nvSpPr>
        <p:spPr>
          <a:xfrm>
            <a:off x="0" y="694895"/>
            <a:ext cx="0" cy="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3" name="Shape 293"/>
        <p:cNvGrpSpPr/>
        <p:nvPr/>
      </p:nvGrpSpPr>
      <p:grpSpPr>
        <a:xfrm>
          <a:off x="0" y="0"/>
          <a:ext cx="0" cy="0"/>
          <a:chOff x="0" y="0"/>
          <a:chExt cx="0" cy="0"/>
        </a:xfrm>
      </p:grpSpPr>
      <p:sp>
        <p:nvSpPr>
          <p:cNvPr id="294" name="Google Shape;294;g3ee4ee41374_2_219:notes"/>
          <p:cNvSpPr txBox="1"/>
          <p:nvPr>
            <p:ph idx="1" type="body"/>
          </p:nvPr>
        </p:nvSpPr>
        <p:spPr>
          <a:xfrm>
            <a:off x="685829" y="4343327"/>
            <a:ext cx="5486400" cy="4114500"/>
          </a:xfrm>
          <a:prstGeom prst="rect">
            <a:avLst/>
          </a:prstGeom>
          <a:noFill/>
          <a:ln>
            <a:noFill/>
          </a:ln>
        </p:spPr>
        <p:txBody>
          <a:bodyPr anchorCtr="0" anchor="t" bIns="81350" lIns="81350" spcFirstLastPara="1" rIns="81350" wrap="square" tIns="81350">
            <a:noAutofit/>
          </a:bodyPr>
          <a:lstStyle/>
          <a:p>
            <a:pPr indent="0" lvl="0" marL="0" rtl="0" algn="l">
              <a:lnSpc>
                <a:spcPct val="100000"/>
              </a:lnSpc>
              <a:spcBef>
                <a:spcPts val="0"/>
              </a:spcBef>
              <a:spcAft>
                <a:spcPts val="0"/>
              </a:spcAft>
              <a:buSzPts val="1100"/>
              <a:buNone/>
            </a:pPr>
            <a:r>
              <a:t/>
            </a:r>
            <a:endParaRPr/>
          </a:p>
        </p:txBody>
      </p:sp>
      <p:sp>
        <p:nvSpPr>
          <p:cNvPr id="295" name="Google Shape;295;g3ee4ee41374_2_219:notes"/>
          <p:cNvSpPr/>
          <p:nvPr>
            <p:ph idx="2" type="sldImg"/>
          </p:nvPr>
        </p:nvSpPr>
        <p:spPr>
          <a:xfrm>
            <a:off x="0" y="694895"/>
            <a:ext cx="0" cy="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0" name="Shape 300"/>
        <p:cNvGrpSpPr/>
        <p:nvPr/>
      </p:nvGrpSpPr>
      <p:grpSpPr>
        <a:xfrm>
          <a:off x="0" y="0"/>
          <a:ext cx="0" cy="0"/>
          <a:chOff x="0" y="0"/>
          <a:chExt cx="0" cy="0"/>
        </a:xfrm>
      </p:grpSpPr>
      <p:sp>
        <p:nvSpPr>
          <p:cNvPr id="301" name="Google Shape;301;g3ee4ee41374_2_225:notes"/>
          <p:cNvSpPr txBox="1"/>
          <p:nvPr>
            <p:ph idx="1" type="body"/>
          </p:nvPr>
        </p:nvSpPr>
        <p:spPr>
          <a:xfrm>
            <a:off x="685829" y="4343327"/>
            <a:ext cx="5486400" cy="4114500"/>
          </a:xfrm>
          <a:prstGeom prst="rect">
            <a:avLst/>
          </a:prstGeom>
          <a:noFill/>
          <a:ln>
            <a:noFill/>
          </a:ln>
        </p:spPr>
        <p:txBody>
          <a:bodyPr anchorCtr="0" anchor="t" bIns="81350" lIns="81350" spcFirstLastPara="1" rIns="81350" wrap="square" tIns="81350">
            <a:noAutofit/>
          </a:bodyPr>
          <a:lstStyle/>
          <a:p>
            <a:pPr indent="0" lvl="0" marL="0" rtl="0" algn="l">
              <a:lnSpc>
                <a:spcPct val="100000"/>
              </a:lnSpc>
              <a:spcBef>
                <a:spcPts val="0"/>
              </a:spcBef>
              <a:spcAft>
                <a:spcPts val="0"/>
              </a:spcAft>
              <a:buSzPts val="1100"/>
              <a:buNone/>
            </a:pPr>
            <a:r>
              <a:t/>
            </a:r>
            <a:endParaRPr/>
          </a:p>
        </p:txBody>
      </p:sp>
      <p:sp>
        <p:nvSpPr>
          <p:cNvPr id="302" name="Google Shape;302;g3ee4ee41374_2_225:notes"/>
          <p:cNvSpPr/>
          <p:nvPr>
            <p:ph idx="2" type="sldImg"/>
          </p:nvPr>
        </p:nvSpPr>
        <p:spPr>
          <a:xfrm>
            <a:off x="0" y="694895"/>
            <a:ext cx="0" cy="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9" name="Shape 309"/>
        <p:cNvGrpSpPr/>
        <p:nvPr/>
      </p:nvGrpSpPr>
      <p:grpSpPr>
        <a:xfrm>
          <a:off x="0" y="0"/>
          <a:ext cx="0" cy="0"/>
          <a:chOff x="0" y="0"/>
          <a:chExt cx="0" cy="0"/>
        </a:xfrm>
      </p:grpSpPr>
      <p:sp>
        <p:nvSpPr>
          <p:cNvPr id="310" name="Google Shape;310;g3ee4ee41374_2_233:notes"/>
          <p:cNvSpPr txBox="1"/>
          <p:nvPr>
            <p:ph idx="1" type="body"/>
          </p:nvPr>
        </p:nvSpPr>
        <p:spPr>
          <a:xfrm>
            <a:off x="685829" y="4343327"/>
            <a:ext cx="5486309" cy="4114569"/>
          </a:xfrm>
          <a:prstGeom prst="rect">
            <a:avLst/>
          </a:prstGeom>
          <a:noFill/>
          <a:ln>
            <a:noFill/>
          </a:ln>
        </p:spPr>
        <p:txBody>
          <a:bodyPr anchorCtr="0" anchor="t" bIns="81350" lIns="81350" spcFirstLastPara="1" rIns="81350" wrap="square" tIns="81350">
            <a:noAutofit/>
          </a:bodyPr>
          <a:lstStyle/>
          <a:p>
            <a:pPr indent="0" lvl="0" marL="0" rtl="0" algn="l">
              <a:lnSpc>
                <a:spcPct val="100000"/>
              </a:lnSpc>
              <a:spcBef>
                <a:spcPts val="0"/>
              </a:spcBef>
              <a:spcAft>
                <a:spcPts val="0"/>
              </a:spcAft>
              <a:buSzPts val="1100"/>
              <a:buNone/>
            </a:pPr>
            <a:r>
              <a:t/>
            </a:r>
            <a:endParaRPr/>
          </a:p>
        </p:txBody>
      </p:sp>
      <p:sp>
        <p:nvSpPr>
          <p:cNvPr id="311" name="Google Shape;311;g3ee4ee41374_2_233:notes"/>
          <p:cNvSpPr/>
          <p:nvPr>
            <p:ph idx="2" type="sldImg"/>
          </p:nvPr>
        </p:nvSpPr>
        <p:spPr>
          <a:xfrm>
            <a:off x="0" y="694895"/>
            <a:ext cx="0" cy="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0" name="Shape 320"/>
        <p:cNvGrpSpPr/>
        <p:nvPr/>
      </p:nvGrpSpPr>
      <p:grpSpPr>
        <a:xfrm>
          <a:off x="0" y="0"/>
          <a:ext cx="0" cy="0"/>
          <a:chOff x="0" y="0"/>
          <a:chExt cx="0" cy="0"/>
        </a:xfrm>
      </p:grpSpPr>
      <p:sp>
        <p:nvSpPr>
          <p:cNvPr id="321" name="Google Shape;321;g3ee4ee41374_2_243:notes"/>
          <p:cNvSpPr txBox="1"/>
          <p:nvPr>
            <p:ph idx="1" type="body"/>
          </p:nvPr>
        </p:nvSpPr>
        <p:spPr>
          <a:xfrm>
            <a:off x="685829" y="4343327"/>
            <a:ext cx="5486309" cy="4114569"/>
          </a:xfrm>
          <a:prstGeom prst="rect">
            <a:avLst/>
          </a:prstGeom>
          <a:noFill/>
          <a:ln>
            <a:noFill/>
          </a:ln>
        </p:spPr>
        <p:txBody>
          <a:bodyPr anchorCtr="0" anchor="t" bIns="81350" lIns="81350" spcFirstLastPara="1" rIns="81350" wrap="square" tIns="81350">
            <a:noAutofit/>
          </a:bodyPr>
          <a:lstStyle/>
          <a:p>
            <a:pPr indent="0" lvl="0" marL="0" rtl="0" algn="l">
              <a:lnSpc>
                <a:spcPct val="100000"/>
              </a:lnSpc>
              <a:spcBef>
                <a:spcPts val="0"/>
              </a:spcBef>
              <a:spcAft>
                <a:spcPts val="0"/>
              </a:spcAft>
              <a:buSzPts val="1100"/>
              <a:buNone/>
            </a:pPr>
            <a:r>
              <a:t/>
            </a:r>
            <a:endParaRPr/>
          </a:p>
        </p:txBody>
      </p:sp>
      <p:sp>
        <p:nvSpPr>
          <p:cNvPr id="322" name="Google Shape;322;g3ee4ee41374_2_243:notes"/>
          <p:cNvSpPr/>
          <p:nvPr>
            <p:ph idx="2" type="sldImg"/>
          </p:nvPr>
        </p:nvSpPr>
        <p:spPr>
          <a:xfrm>
            <a:off x="0" y="694895"/>
            <a:ext cx="0" cy="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6" name="Shape 56"/>
        <p:cNvGrpSpPr/>
        <p:nvPr/>
      </p:nvGrpSpPr>
      <p:grpSpPr>
        <a:xfrm>
          <a:off x="0" y="0"/>
          <a:ext cx="0" cy="0"/>
          <a:chOff x="0" y="0"/>
          <a:chExt cx="0" cy="0"/>
        </a:xfrm>
      </p:grpSpPr>
      <p:sp>
        <p:nvSpPr>
          <p:cNvPr id="57" name="Google Shape;57;p14"/>
          <p:cNvSpPr txBox="1"/>
          <p:nvPr>
            <p:ph idx="11" type="ftr"/>
          </p:nvPr>
        </p:nvSpPr>
        <p:spPr>
          <a:xfrm>
            <a:off x="2343060" y="4767390"/>
            <a:ext cx="2171070" cy="27324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Clr>
                <a:srgbClr val="000000"/>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58" name="Google Shape;58;p14"/>
          <p:cNvSpPr txBox="1"/>
          <p:nvPr>
            <p:ph idx="12" type="sldNum"/>
          </p:nvPr>
        </p:nvSpPr>
        <p:spPr>
          <a:xfrm>
            <a:off x="4914810" y="4767390"/>
            <a:ext cx="1599750" cy="27324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888888"/>
              </a:buClr>
              <a:buSzPts val="900"/>
              <a:buFont typeface="Calibri"/>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888888"/>
              </a:buClr>
              <a:buSzPts val="900"/>
              <a:buFont typeface="Calibri"/>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888888"/>
              </a:buClr>
              <a:buSzPts val="900"/>
              <a:buFont typeface="Calibri"/>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888888"/>
              </a:buClr>
              <a:buSzPts val="900"/>
              <a:buFont typeface="Calibri"/>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888888"/>
              </a:buClr>
              <a:buSzPts val="900"/>
              <a:buFont typeface="Calibri"/>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888888"/>
              </a:buClr>
              <a:buSzPts val="900"/>
              <a:buFont typeface="Calibri"/>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888888"/>
              </a:buClr>
              <a:buSzPts val="900"/>
              <a:buFont typeface="Calibri"/>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888888"/>
              </a:buClr>
              <a:buSzPts val="900"/>
              <a:buFont typeface="Calibri"/>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888888"/>
              </a:buClr>
              <a:buSzPts val="900"/>
              <a:buFont typeface="Calibri"/>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GB"/>
              <a:t>‹#›</a:t>
            </a:fld>
            <a:endParaRPr/>
          </a:p>
        </p:txBody>
      </p:sp>
      <p:sp>
        <p:nvSpPr>
          <p:cNvPr id="59" name="Google Shape;59;p14"/>
          <p:cNvSpPr txBox="1"/>
          <p:nvPr>
            <p:ph idx="10" type="dt"/>
          </p:nvPr>
        </p:nvSpPr>
        <p:spPr>
          <a:xfrm>
            <a:off x="342900" y="4767390"/>
            <a:ext cx="1599750" cy="27324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Clr>
                <a:srgbClr val="000000"/>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_" type="blank">
  <p:cSld name="BLANK">
    <p:spTree>
      <p:nvGrpSpPr>
        <p:cNvPr id="66" name="Shape 66"/>
        <p:cNvGrpSpPr/>
        <p:nvPr/>
      </p:nvGrpSpPr>
      <p:grpSpPr>
        <a:xfrm>
          <a:off x="0" y="0"/>
          <a:ext cx="0" cy="0"/>
          <a:chOff x="0" y="0"/>
          <a:chExt cx="0" cy="0"/>
        </a:xfrm>
      </p:grpSpPr>
      <p:sp>
        <p:nvSpPr>
          <p:cNvPr id="67" name="Google Shape;67;p16"/>
          <p:cNvSpPr txBox="1"/>
          <p:nvPr>
            <p:ph idx="11" type="ftr"/>
          </p:nvPr>
        </p:nvSpPr>
        <p:spPr>
          <a:xfrm>
            <a:off x="2343060" y="4767390"/>
            <a:ext cx="2171340" cy="27351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Clr>
                <a:srgbClr val="000000"/>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68" name="Google Shape;68;p16"/>
          <p:cNvSpPr txBox="1"/>
          <p:nvPr>
            <p:ph idx="12" type="sldNum"/>
          </p:nvPr>
        </p:nvSpPr>
        <p:spPr>
          <a:xfrm>
            <a:off x="4914810" y="4767390"/>
            <a:ext cx="1600020" cy="27351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888888"/>
              </a:buClr>
              <a:buSzPts val="900"/>
              <a:buFont typeface="Calibri"/>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888888"/>
              </a:buClr>
              <a:buSzPts val="900"/>
              <a:buFont typeface="Calibri"/>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888888"/>
              </a:buClr>
              <a:buSzPts val="900"/>
              <a:buFont typeface="Calibri"/>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888888"/>
              </a:buClr>
              <a:buSzPts val="900"/>
              <a:buFont typeface="Calibri"/>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888888"/>
              </a:buClr>
              <a:buSzPts val="900"/>
              <a:buFont typeface="Calibri"/>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888888"/>
              </a:buClr>
              <a:buSzPts val="900"/>
              <a:buFont typeface="Calibri"/>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888888"/>
              </a:buClr>
              <a:buSzPts val="900"/>
              <a:buFont typeface="Calibri"/>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888888"/>
              </a:buClr>
              <a:buSzPts val="900"/>
              <a:buFont typeface="Calibri"/>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888888"/>
              </a:buClr>
              <a:buSzPts val="900"/>
              <a:buFont typeface="Calibri"/>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GB"/>
              <a:t>‹#›</a:t>
            </a:fld>
            <a:endParaRPr/>
          </a:p>
        </p:txBody>
      </p:sp>
      <p:sp>
        <p:nvSpPr>
          <p:cNvPr id="69" name="Google Shape;69;p16"/>
          <p:cNvSpPr txBox="1"/>
          <p:nvPr>
            <p:ph idx="10" type="dt"/>
          </p:nvPr>
        </p:nvSpPr>
        <p:spPr>
          <a:xfrm>
            <a:off x="342900" y="4767390"/>
            <a:ext cx="1600020" cy="27351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Clr>
                <a:srgbClr val="888888"/>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4.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theme" Target="../theme/theme3.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 name="Shape 50"/>
        <p:cNvGrpSpPr/>
        <p:nvPr/>
      </p:nvGrpSpPr>
      <p:grpSpPr>
        <a:xfrm>
          <a:off x="0" y="0"/>
          <a:ext cx="0" cy="0"/>
          <a:chOff x="0" y="0"/>
          <a:chExt cx="0" cy="0"/>
        </a:xfrm>
      </p:grpSpPr>
      <p:sp>
        <p:nvSpPr>
          <p:cNvPr id="51" name="Google Shape;51;p13"/>
          <p:cNvSpPr txBox="1"/>
          <p:nvPr>
            <p:ph idx="11" type="ftr"/>
          </p:nvPr>
        </p:nvSpPr>
        <p:spPr>
          <a:xfrm>
            <a:off x="2343060" y="4767390"/>
            <a:ext cx="2171070" cy="273240"/>
          </a:xfrm>
          <a:prstGeom prst="rect">
            <a:avLst/>
          </a:prstGeom>
          <a:noFill/>
          <a:ln>
            <a:noFill/>
          </a:ln>
        </p:spPr>
        <p:txBody>
          <a:bodyPr anchorCtr="0" anchor="ctr" bIns="34275" lIns="68575" spcFirstLastPara="1" rIns="68575" wrap="square" tIns="34275">
            <a:noAutofit/>
          </a:bodyPr>
          <a:lstStyle>
            <a:lvl1pPr lvl="0" marR="0" rtl="0" algn="ctr">
              <a:lnSpc>
                <a:spcPct val="100000"/>
              </a:lnSpc>
              <a:spcBef>
                <a:spcPts val="0"/>
              </a:spcBef>
              <a:spcAft>
                <a:spcPts val="0"/>
              </a:spcAft>
              <a:buClr>
                <a:srgbClr val="000000"/>
              </a:buClr>
              <a:buSzPts val="1100"/>
              <a:buFont typeface="Times New Roman"/>
              <a:buNone/>
              <a:defRPr b="0" i="0" sz="1100" u="none" cap="none" strike="noStrike">
                <a:solidFill>
                  <a:srgbClr val="000000"/>
                </a:solidFill>
                <a:latin typeface="Times New Roman"/>
                <a:ea typeface="Times New Roman"/>
                <a:cs typeface="Times New Roman"/>
                <a:sym typeface="Times New Roman"/>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2" name="Google Shape;52;p13"/>
          <p:cNvSpPr txBox="1"/>
          <p:nvPr>
            <p:ph idx="12" type="sldNum"/>
          </p:nvPr>
        </p:nvSpPr>
        <p:spPr>
          <a:xfrm>
            <a:off x="4914810" y="4767390"/>
            <a:ext cx="1599750" cy="27324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888888"/>
              </a:buClr>
              <a:buSzPts val="900"/>
              <a:buFont typeface="Calibri"/>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888888"/>
              </a:buClr>
              <a:buSzPts val="900"/>
              <a:buFont typeface="Calibri"/>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888888"/>
              </a:buClr>
              <a:buSzPts val="900"/>
              <a:buFont typeface="Calibri"/>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888888"/>
              </a:buClr>
              <a:buSzPts val="900"/>
              <a:buFont typeface="Calibri"/>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888888"/>
              </a:buClr>
              <a:buSzPts val="900"/>
              <a:buFont typeface="Calibri"/>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888888"/>
              </a:buClr>
              <a:buSzPts val="900"/>
              <a:buFont typeface="Calibri"/>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888888"/>
              </a:buClr>
              <a:buSzPts val="900"/>
              <a:buFont typeface="Calibri"/>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888888"/>
              </a:buClr>
              <a:buSzPts val="900"/>
              <a:buFont typeface="Calibri"/>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888888"/>
              </a:buClr>
              <a:buSzPts val="900"/>
              <a:buFont typeface="Calibri"/>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GB"/>
              <a:t>‹#›</a:t>
            </a:fld>
            <a:endParaRPr>
              <a:solidFill>
                <a:srgbClr val="000000"/>
              </a:solidFill>
              <a:latin typeface="Times New Roman"/>
              <a:ea typeface="Times New Roman"/>
              <a:cs typeface="Times New Roman"/>
              <a:sym typeface="Times New Roman"/>
            </a:endParaRPr>
          </a:p>
        </p:txBody>
      </p:sp>
      <p:sp>
        <p:nvSpPr>
          <p:cNvPr id="53" name="Google Shape;53;p13"/>
          <p:cNvSpPr txBox="1"/>
          <p:nvPr>
            <p:ph idx="10" type="dt"/>
          </p:nvPr>
        </p:nvSpPr>
        <p:spPr>
          <a:xfrm>
            <a:off x="342900" y="4767390"/>
            <a:ext cx="1599750" cy="273240"/>
          </a:xfrm>
          <a:prstGeom prst="rect">
            <a:avLst/>
          </a:prstGeom>
          <a:noFill/>
          <a:ln>
            <a:noFill/>
          </a:ln>
        </p:spPr>
        <p:txBody>
          <a:bodyPr anchorCtr="0" anchor="ctr" bIns="34275" lIns="68575" spcFirstLastPara="1" rIns="68575" wrap="square" tIns="34275">
            <a:noAutofit/>
          </a:bodyPr>
          <a:lstStyle>
            <a:lvl1pPr lvl="0" marR="0" rtl="0" algn="l">
              <a:lnSpc>
                <a:spcPct val="100000"/>
              </a:lnSpc>
              <a:spcBef>
                <a:spcPts val="0"/>
              </a:spcBef>
              <a:spcAft>
                <a:spcPts val="0"/>
              </a:spcAft>
              <a:buClr>
                <a:srgbClr val="000000"/>
              </a:buClr>
              <a:buSzPts val="1100"/>
              <a:buFont typeface="Times New Roman"/>
              <a:buNone/>
              <a:defRPr b="0" i="0" sz="1100" u="none" cap="none" strike="noStrike">
                <a:solidFill>
                  <a:srgbClr val="000000"/>
                </a:solidFill>
                <a:latin typeface="Times New Roman"/>
                <a:ea typeface="Times New Roman"/>
                <a:cs typeface="Times New Roman"/>
                <a:sym typeface="Times New Roman"/>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4" name="Google Shape;54;p13"/>
          <p:cNvSpPr txBox="1"/>
          <p:nvPr>
            <p:ph type="title"/>
          </p:nvPr>
        </p:nvSpPr>
        <p:spPr>
          <a:xfrm>
            <a:off x="457110" y="205200"/>
            <a:ext cx="8229330" cy="858600"/>
          </a:xfrm>
          <a:prstGeom prst="rect">
            <a:avLst/>
          </a:prstGeom>
          <a:noFill/>
          <a:ln>
            <a:noFill/>
          </a:ln>
        </p:spPr>
        <p:txBody>
          <a:bodyPr anchorCtr="0" anchor="ctr" bIns="0" lIns="0" spcFirstLastPara="1" rIns="0" wrap="square" tIns="0">
            <a:noAutofit/>
          </a:bodyPr>
          <a:lstStyle>
            <a:lvl1pPr lvl="0"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5" name="Google Shape;55;p13"/>
          <p:cNvSpPr txBox="1"/>
          <p:nvPr>
            <p:ph idx="1" type="body"/>
          </p:nvPr>
        </p:nvSpPr>
        <p:spPr>
          <a:xfrm>
            <a:off x="457110" y="1203390"/>
            <a:ext cx="8229330" cy="2982960"/>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1pPr>
            <a:lvl2pPr indent="-228600" lvl="1" marL="914400"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indent="-228600" lvl="2" marL="1371600"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indent="-228600" lvl="3" marL="1828800"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indent="-228600" lvl="4" marL="2286000"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indent="-228600" lvl="5" marL="2743200"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indent="-228600" lvl="6" marL="3200400"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indent="-228600" lvl="7" marL="3657600"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indent="-228600" lvl="8" marL="4114800"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sldLayoutIdLst>
    <p:sldLayoutId id="214748365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0" name="Shape 60"/>
        <p:cNvGrpSpPr/>
        <p:nvPr/>
      </p:nvGrpSpPr>
      <p:grpSpPr>
        <a:xfrm>
          <a:off x="0" y="0"/>
          <a:ext cx="0" cy="0"/>
          <a:chOff x="0" y="0"/>
          <a:chExt cx="0" cy="0"/>
        </a:xfrm>
      </p:grpSpPr>
      <p:sp>
        <p:nvSpPr>
          <p:cNvPr id="61" name="Google Shape;61;p15"/>
          <p:cNvSpPr txBox="1"/>
          <p:nvPr>
            <p:ph idx="10" type="dt"/>
          </p:nvPr>
        </p:nvSpPr>
        <p:spPr>
          <a:xfrm>
            <a:off x="342900" y="4767390"/>
            <a:ext cx="1600020" cy="273510"/>
          </a:xfrm>
          <a:prstGeom prst="rect">
            <a:avLst/>
          </a:prstGeom>
          <a:noFill/>
          <a:ln>
            <a:noFill/>
          </a:ln>
        </p:spPr>
        <p:txBody>
          <a:bodyPr anchorCtr="0" anchor="ctr" bIns="34275" lIns="68575" spcFirstLastPara="1" rIns="68575" wrap="square" tIns="34275">
            <a:noAutofit/>
          </a:bodyPr>
          <a:lstStyle>
            <a:lvl1pPr lvl="0" marR="0" rtl="0" algn="l">
              <a:lnSpc>
                <a:spcPct val="100000"/>
              </a:lnSpc>
              <a:spcBef>
                <a:spcPts val="0"/>
              </a:spcBef>
              <a:spcAft>
                <a:spcPts val="0"/>
              </a:spcAft>
              <a:buClr>
                <a:srgbClr val="888888"/>
              </a:buClr>
              <a:buSzPts val="900"/>
              <a:buFont typeface="Calibri"/>
              <a:buNone/>
              <a:defRPr b="0" i="0" sz="9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2" name="Google Shape;62;p15"/>
          <p:cNvSpPr txBox="1"/>
          <p:nvPr>
            <p:ph idx="11" type="ftr"/>
          </p:nvPr>
        </p:nvSpPr>
        <p:spPr>
          <a:xfrm>
            <a:off x="2343060" y="4767390"/>
            <a:ext cx="2171340" cy="273510"/>
          </a:xfrm>
          <a:prstGeom prst="rect">
            <a:avLst/>
          </a:prstGeom>
          <a:noFill/>
          <a:ln>
            <a:noFill/>
          </a:ln>
        </p:spPr>
        <p:txBody>
          <a:bodyPr anchorCtr="0" anchor="ctr" bIns="34275" lIns="68575" spcFirstLastPara="1" rIns="68575" wrap="square" tIns="34275">
            <a:noAutofit/>
          </a:bodyPr>
          <a:lstStyle>
            <a:lvl1pPr lvl="0" marR="0" rtl="0" algn="ctr">
              <a:lnSpc>
                <a:spcPct val="100000"/>
              </a:lnSpc>
              <a:spcBef>
                <a:spcPts val="0"/>
              </a:spcBef>
              <a:spcAft>
                <a:spcPts val="0"/>
              </a:spcAft>
              <a:buClr>
                <a:srgbClr val="000000"/>
              </a:buClr>
              <a:buSzPts val="1100"/>
              <a:buFont typeface="Times New Roman"/>
              <a:buNone/>
              <a:defRPr b="0" i="0" sz="1100" u="none" cap="none" strike="noStrike">
                <a:solidFill>
                  <a:srgbClr val="000000"/>
                </a:solidFill>
                <a:latin typeface="Times New Roman"/>
                <a:ea typeface="Times New Roman"/>
                <a:cs typeface="Times New Roman"/>
                <a:sym typeface="Times New Roman"/>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3" name="Google Shape;63;p15"/>
          <p:cNvSpPr txBox="1"/>
          <p:nvPr>
            <p:ph idx="12" type="sldNum"/>
          </p:nvPr>
        </p:nvSpPr>
        <p:spPr>
          <a:xfrm>
            <a:off x="4914810" y="4767390"/>
            <a:ext cx="1600020" cy="27351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888888"/>
              </a:buClr>
              <a:buSzPts val="900"/>
              <a:buFont typeface="Calibri"/>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888888"/>
              </a:buClr>
              <a:buSzPts val="900"/>
              <a:buFont typeface="Calibri"/>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888888"/>
              </a:buClr>
              <a:buSzPts val="900"/>
              <a:buFont typeface="Calibri"/>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888888"/>
              </a:buClr>
              <a:buSzPts val="900"/>
              <a:buFont typeface="Calibri"/>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888888"/>
              </a:buClr>
              <a:buSzPts val="900"/>
              <a:buFont typeface="Calibri"/>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888888"/>
              </a:buClr>
              <a:buSzPts val="900"/>
              <a:buFont typeface="Calibri"/>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888888"/>
              </a:buClr>
              <a:buSzPts val="900"/>
              <a:buFont typeface="Calibri"/>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888888"/>
              </a:buClr>
              <a:buSzPts val="900"/>
              <a:buFont typeface="Calibri"/>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888888"/>
              </a:buClr>
              <a:buSzPts val="900"/>
              <a:buFont typeface="Calibri"/>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GB"/>
              <a:t>‹#›</a:t>
            </a:fld>
            <a:endParaRPr>
              <a:solidFill>
                <a:srgbClr val="000000"/>
              </a:solidFill>
              <a:latin typeface="Times New Roman"/>
              <a:ea typeface="Times New Roman"/>
              <a:cs typeface="Times New Roman"/>
              <a:sym typeface="Times New Roman"/>
            </a:endParaRPr>
          </a:p>
        </p:txBody>
      </p:sp>
      <p:sp>
        <p:nvSpPr>
          <p:cNvPr id="64" name="Google Shape;64;p15"/>
          <p:cNvSpPr txBox="1"/>
          <p:nvPr>
            <p:ph type="title"/>
          </p:nvPr>
        </p:nvSpPr>
        <p:spPr>
          <a:xfrm>
            <a:off x="457110" y="205200"/>
            <a:ext cx="8229330" cy="858600"/>
          </a:xfrm>
          <a:prstGeom prst="rect">
            <a:avLst/>
          </a:prstGeom>
          <a:noFill/>
          <a:ln>
            <a:noFill/>
          </a:ln>
        </p:spPr>
        <p:txBody>
          <a:bodyPr anchorCtr="0" anchor="ctr" bIns="0" lIns="0" spcFirstLastPara="1" rIns="0" wrap="square" tIns="0">
            <a:noAutofit/>
          </a:bodyPr>
          <a:lstStyle>
            <a:lvl1pPr lvl="0"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457110" y="1203390"/>
            <a:ext cx="8229330" cy="2982960"/>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1pPr>
            <a:lvl2pPr indent="-228600" lvl="1" marL="914400"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indent="-228600" lvl="2" marL="1371600"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indent="-228600" lvl="3" marL="1828800"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indent="-228600" lvl="4" marL="2286000"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indent="-228600" lvl="5" marL="2743200"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indent="-228600" lvl="6" marL="3200400"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indent="-228600" lvl="7" marL="3657600"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indent="-228600" lvl="8" marL="4114800"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sldLayoutIdLst>
    <p:sldLayoutId id="2147483660"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image" Target="../media/image1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4.xml"/><Relationship Id="rId3" Type="http://schemas.openxmlformats.org/officeDocument/2006/relationships/image" Target="../media/image12.png"/><Relationship Id="rId4" Type="http://schemas.openxmlformats.org/officeDocument/2006/relationships/image" Target="../media/image8.png"/><Relationship Id="rId10" Type="http://schemas.openxmlformats.org/officeDocument/2006/relationships/image" Target="../media/image6.jpg"/><Relationship Id="rId9" Type="http://schemas.openxmlformats.org/officeDocument/2006/relationships/image" Target="../media/image14.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jpg"/><Relationship Id="rId8" Type="http://schemas.openxmlformats.org/officeDocument/2006/relationships/image" Target="../media/image5.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 Id="rId3"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 Id="rId3"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 Id="rId3"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 Id="rId3"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 Id="rId3" Type="http://schemas.openxmlformats.org/officeDocument/2006/relationships/image" Target="../media/image4.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 Id="rId3"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F2937"/>
        </a:solidFill>
      </p:bgPr>
    </p:bg>
    <p:spTree>
      <p:nvGrpSpPr>
        <p:cNvPr id="73" name="Shape 73"/>
        <p:cNvGrpSpPr/>
        <p:nvPr/>
      </p:nvGrpSpPr>
      <p:grpSpPr>
        <a:xfrm>
          <a:off x="0" y="0"/>
          <a:ext cx="0" cy="0"/>
          <a:chOff x="0" y="0"/>
          <a:chExt cx="0" cy="0"/>
        </a:xfrm>
      </p:grpSpPr>
      <p:sp>
        <p:nvSpPr>
          <p:cNvPr id="74" name="Google Shape;74;p17"/>
          <p:cNvSpPr/>
          <p:nvPr/>
        </p:nvSpPr>
        <p:spPr>
          <a:xfrm>
            <a:off x="0" y="1920240"/>
            <a:ext cx="9143280" cy="37530"/>
          </a:xfrm>
          <a:prstGeom prst="rect">
            <a:avLst/>
          </a:prstGeom>
          <a:solidFill>
            <a:srgbClr val="6B7280"/>
          </a:solidFill>
          <a:ln>
            <a:noFill/>
          </a:ln>
          <a:effectLst>
            <a:outerShdw blurRad="39960" rotWithShape="0" dir="5400000" dist="23040">
              <a:srgbClr val="000000">
                <a:alpha val="34901"/>
              </a:srgbClr>
            </a:outerShdw>
          </a:effectLst>
        </p:spPr>
        <p:txBody>
          <a:bodyPr anchorCtr="0" anchor="ctr" bIns="4325" lIns="67500" spcFirstLastPara="1" rIns="67500" wrap="square" tIns="43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sp>
        <p:nvSpPr>
          <p:cNvPr id="75" name="Google Shape;75;p17"/>
          <p:cNvSpPr/>
          <p:nvPr/>
        </p:nvSpPr>
        <p:spPr>
          <a:xfrm>
            <a:off x="685800" y="685800"/>
            <a:ext cx="7749000" cy="1370520"/>
          </a:xfrm>
          <a:prstGeom prst="rect">
            <a:avLst/>
          </a:prstGeom>
          <a:noFill/>
          <a:ln>
            <a:noFill/>
          </a:ln>
        </p:spPr>
        <p:txBody>
          <a:bodyPr anchorCtr="0" anchor="t" bIns="33750" lIns="67500" spcFirstLastPara="1" rIns="67500" wrap="square" tIns="33750">
            <a:noAutofit/>
          </a:bodyPr>
          <a:lstStyle/>
          <a:p>
            <a:pPr indent="0" lvl="0" marL="0" marR="0" rtl="0" algn="l">
              <a:lnSpc>
                <a:spcPct val="100000"/>
              </a:lnSpc>
              <a:spcBef>
                <a:spcPts val="0"/>
              </a:spcBef>
              <a:spcAft>
                <a:spcPts val="0"/>
              </a:spcAft>
              <a:buClr>
                <a:srgbClr val="000000"/>
              </a:buClr>
              <a:buSzPts val="2900"/>
              <a:buFont typeface="Arial"/>
              <a:buNone/>
            </a:pPr>
            <a:r>
              <a:rPr b="1" i="0" lang="en-GB" sz="2900" u="none" cap="none" strike="noStrike">
                <a:solidFill>
                  <a:srgbClr val="FFFFFF"/>
                </a:solidFill>
                <a:latin typeface="Arial"/>
                <a:ea typeface="Arial"/>
                <a:cs typeface="Arial"/>
                <a:sym typeface="Arial"/>
              </a:rPr>
              <a:t>Exploring Large Language Models</a:t>
            </a:r>
            <a:br>
              <a:rPr b="0" i="0" lang="en-GB" sz="2900" u="none" cap="none" strike="noStrike">
                <a:solidFill>
                  <a:srgbClr val="000000"/>
                </a:solidFill>
                <a:latin typeface="Calibri"/>
                <a:ea typeface="Calibri"/>
                <a:cs typeface="Calibri"/>
                <a:sym typeface="Calibri"/>
              </a:rPr>
            </a:br>
            <a:r>
              <a:rPr b="1" i="0" lang="en-GB" sz="2900" u="none" cap="none" strike="noStrike">
                <a:solidFill>
                  <a:srgbClr val="FFFFFF"/>
                </a:solidFill>
                <a:latin typeface="Arial"/>
                <a:ea typeface="Arial"/>
                <a:cs typeface="Arial"/>
                <a:sym typeface="Arial"/>
              </a:rPr>
              <a:t>for Direct Trajectory Generation</a:t>
            </a:r>
            <a:br>
              <a:rPr b="0" i="0" lang="en-GB" sz="2900" u="none" cap="none" strike="noStrike">
                <a:solidFill>
                  <a:srgbClr val="000000"/>
                </a:solidFill>
                <a:latin typeface="Calibri"/>
                <a:ea typeface="Calibri"/>
                <a:cs typeface="Calibri"/>
                <a:sym typeface="Calibri"/>
              </a:rPr>
            </a:br>
            <a:r>
              <a:rPr b="1" i="0" lang="en-GB" sz="2900" u="none" cap="none" strike="noStrike">
                <a:solidFill>
                  <a:srgbClr val="FFFFFF"/>
                </a:solidFill>
                <a:latin typeface="Arial"/>
                <a:ea typeface="Arial"/>
                <a:cs typeface="Arial"/>
                <a:sym typeface="Arial"/>
              </a:rPr>
              <a:t>in Robotic Manipulation</a:t>
            </a:r>
            <a:endParaRPr b="0" i="0" sz="2900" u="none" cap="none" strike="noStrike">
              <a:solidFill>
                <a:srgbClr val="FFFFFF"/>
              </a:solidFill>
              <a:latin typeface="Arial"/>
              <a:ea typeface="Arial"/>
              <a:cs typeface="Arial"/>
              <a:sym typeface="Arial"/>
            </a:endParaRPr>
          </a:p>
        </p:txBody>
      </p:sp>
      <p:sp>
        <p:nvSpPr>
          <p:cNvPr id="76" name="Google Shape;76;p17"/>
          <p:cNvSpPr/>
          <p:nvPr/>
        </p:nvSpPr>
        <p:spPr>
          <a:xfrm>
            <a:off x="685800" y="2263140"/>
            <a:ext cx="7749000" cy="318600"/>
          </a:xfrm>
          <a:prstGeom prst="rect">
            <a:avLst/>
          </a:prstGeom>
          <a:noFill/>
          <a:ln>
            <a:noFill/>
          </a:ln>
        </p:spPr>
        <p:txBody>
          <a:bodyPr anchorCtr="0" anchor="t" bIns="33750" lIns="67500" spcFirstLastPara="1" rIns="67500" wrap="square" tIns="33750">
            <a:noAutofit/>
          </a:bodyPr>
          <a:lstStyle/>
          <a:p>
            <a:pPr indent="0" lvl="0" marL="0" marR="0" rtl="0" algn="l">
              <a:lnSpc>
                <a:spcPct val="100000"/>
              </a:lnSpc>
              <a:spcBef>
                <a:spcPts val="0"/>
              </a:spcBef>
              <a:spcAft>
                <a:spcPts val="0"/>
              </a:spcAft>
              <a:buClr>
                <a:srgbClr val="000000"/>
              </a:buClr>
              <a:buSzPts val="1700"/>
              <a:buFont typeface="Arial"/>
              <a:buNone/>
            </a:pPr>
            <a:r>
              <a:rPr b="0" i="0" lang="en-GB" sz="1700" u="none" cap="none" strike="noStrike">
                <a:solidFill>
                  <a:srgbClr val="D1D5DB"/>
                </a:solidFill>
                <a:latin typeface="Arial"/>
                <a:ea typeface="Arial"/>
                <a:cs typeface="Arial"/>
                <a:sym typeface="Arial"/>
              </a:rPr>
              <a:t>LLM-Driven Zero-Shot Pick-and-Place with the Sawyer Robot</a:t>
            </a:r>
            <a:endParaRPr b="0" i="0" sz="1700" u="none" cap="none" strike="noStrike">
              <a:solidFill>
                <a:srgbClr val="FFFFFF"/>
              </a:solidFill>
              <a:latin typeface="Arial"/>
              <a:ea typeface="Arial"/>
              <a:cs typeface="Arial"/>
              <a:sym typeface="Arial"/>
            </a:endParaRPr>
          </a:p>
        </p:txBody>
      </p:sp>
      <p:sp>
        <p:nvSpPr>
          <p:cNvPr id="77" name="Google Shape;77;p17"/>
          <p:cNvSpPr/>
          <p:nvPr/>
        </p:nvSpPr>
        <p:spPr>
          <a:xfrm>
            <a:off x="685800" y="3291840"/>
            <a:ext cx="7749000" cy="272970"/>
          </a:xfrm>
          <a:prstGeom prst="rect">
            <a:avLst/>
          </a:prstGeom>
          <a:noFill/>
          <a:ln>
            <a:noFill/>
          </a:ln>
        </p:spPr>
        <p:txBody>
          <a:bodyPr anchorCtr="0" anchor="t" bIns="33750" lIns="67500" spcFirstLastPara="1" rIns="67500" wrap="square" tIns="33750">
            <a:noAutofit/>
          </a:bodyPr>
          <a:lstStyle/>
          <a:p>
            <a:pPr indent="0" lvl="0" marL="0" marR="0" rtl="0" algn="l">
              <a:lnSpc>
                <a:spcPct val="100000"/>
              </a:lnSpc>
              <a:spcBef>
                <a:spcPts val="0"/>
              </a:spcBef>
              <a:spcAft>
                <a:spcPts val="0"/>
              </a:spcAft>
              <a:buClr>
                <a:srgbClr val="000000"/>
              </a:buClr>
              <a:buSzPts val="1400"/>
              <a:buFont typeface="Arial"/>
              <a:buNone/>
            </a:pPr>
            <a:r>
              <a:rPr b="0" i="0" lang="en-GB" sz="1400" u="none" cap="none" strike="noStrike">
                <a:solidFill>
                  <a:srgbClr val="9CA3AF"/>
                </a:solidFill>
                <a:latin typeface="Arial"/>
                <a:ea typeface="Arial"/>
                <a:cs typeface="Arial"/>
                <a:sym typeface="Arial"/>
              </a:rPr>
              <a:t>Jun  ·  Sergio  ·  David  ·  Cadavid  ·  Jossua Ruiz</a:t>
            </a:r>
            <a:endParaRPr b="0" i="0" sz="1400" u="none" cap="none" strike="noStrike">
              <a:solidFill>
                <a:srgbClr val="FFFFFF"/>
              </a:solidFill>
              <a:latin typeface="Arial"/>
              <a:ea typeface="Arial"/>
              <a:cs typeface="Arial"/>
              <a:sym typeface="Arial"/>
            </a:endParaRPr>
          </a:p>
        </p:txBody>
      </p:sp>
      <p:sp>
        <p:nvSpPr>
          <p:cNvPr id="78" name="Google Shape;78;p17"/>
          <p:cNvSpPr/>
          <p:nvPr/>
        </p:nvSpPr>
        <p:spPr>
          <a:xfrm>
            <a:off x="685800" y="3703320"/>
            <a:ext cx="7749000" cy="250020"/>
          </a:xfrm>
          <a:prstGeom prst="rect">
            <a:avLst/>
          </a:prstGeom>
          <a:noFill/>
          <a:ln>
            <a:noFill/>
          </a:ln>
        </p:spPr>
        <p:txBody>
          <a:bodyPr anchorCtr="0" anchor="t" bIns="33750" lIns="67500" spcFirstLastPara="1" rIns="67500" wrap="square" tIns="33750">
            <a:noAutofit/>
          </a:bodyPr>
          <a:lstStyle/>
          <a:p>
            <a:pPr indent="0" lvl="0" marL="0" marR="0" rtl="0" algn="l">
              <a:lnSpc>
                <a:spcPct val="100000"/>
              </a:lnSpc>
              <a:spcBef>
                <a:spcPts val="0"/>
              </a:spcBef>
              <a:spcAft>
                <a:spcPts val="0"/>
              </a:spcAft>
              <a:buClr>
                <a:srgbClr val="000000"/>
              </a:buClr>
              <a:buSzPts val="1200"/>
              <a:buFont typeface="Arial"/>
              <a:buNone/>
            </a:pPr>
            <a:r>
              <a:rPr b="0" i="0" lang="en-GB" sz="1200" u="none" cap="none" strike="noStrike">
                <a:solidFill>
                  <a:srgbClr val="9CA3AF"/>
                </a:solidFill>
                <a:latin typeface="Arial"/>
                <a:ea typeface="Arial"/>
                <a:cs typeface="Arial"/>
                <a:sym typeface="Arial"/>
              </a:rPr>
              <a:t>Robotics — Politecnico di Torino</a:t>
            </a:r>
            <a:endParaRPr b="0" i="0" sz="1200" u="none" cap="none" strike="noStrike">
              <a:solidFill>
                <a:srgbClr val="FFFFFF"/>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F2937"/>
        </a:solidFill>
      </p:bgPr>
    </p:bg>
    <p:spTree>
      <p:nvGrpSpPr>
        <p:cNvPr id="82" name="Shape 82"/>
        <p:cNvGrpSpPr/>
        <p:nvPr/>
      </p:nvGrpSpPr>
      <p:grpSpPr>
        <a:xfrm>
          <a:off x="0" y="0"/>
          <a:ext cx="0" cy="0"/>
          <a:chOff x="0" y="0"/>
          <a:chExt cx="0" cy="0"/>
        </a:xfrm>
      </p:grpSpPr>
      <p:sp>
        <p:nvSpPr>
          <p:cNvPr id="83" name="Google Shape;83;p18"/>
          <p:cNvSpPr/>
          <p:nvPr/>
        </p:nvSpPr>
        <p:spPr>
          <a:xfrm>
            <a:off x="548640" y="240030"/>
            <a:ext cx="7543260" cy="410130"/>
          </a:xfrm>
          <a:prstGeom prst="rect">
            <a:avLst/>
          </a:prstGeom>
          <a:noFill/>
          <a:ln>
            <a:noFill/>
          </a:ln>
        </p:spPr>
        <p:txBody>
          <a:bodyPr anchorCtr="0" anchor="t" bIns="33750" lIns="67500" spcFirstLastPara="1" rIns="67500" wrap="square" tIns="33750">
            <a:noAutofit/>
          </a:bodyPr>
          <a:lstStyle/>
          <a:p>
            <a:pPr indent="0" lvl="0" marL="0" marR="0" rtl="0" algn="l">
              <a:lnSpc>
                <a:spcPct val="100000"/>
              </a:lnSpc>
              <a:spcBef>
                <a:spcPts val="0"/>
              </a:spcBef>
              <a:spcAft>
                <a:spcPts val="0"/>
              </a:spcAft>
              <a:buClr>
                <a:srgbClr val="000000"/>
              </a:buClr>
              <a:buSzPts val="2300"/>
              <a:buFont typeface="Arial"/>
              <a:buNone/>
            </a:pPr>
            <a:r>
              <a:rPr b="1" i="0" lang="en-GB" sz="2300" u="none" cap="none" strike="noStrike">
                <a:solidFill>
                  <a:srgbClr val="FFFFFF"/>
                </a:solidFill>
                <a:latin typeface="Arial"/>
                <a:ea typeface="Arial"/>
                <a:cs typeface="Arial"/>
                <a:sym typeface="Arial"/>
              </a:rPr>
              <a:t>Why Large Language Models for Robotics?</a:t>
            </a:r>
            <a:endParaRPr b="0" i="0" sz="2300" u="none" cap="none" strike="noStrike">
              <a:solidFill>
                <a:srgbClr val="FFFFFF"/>
              </a:solidFill>
              <a:latin typeface="Arial"/>
              <a:ea typeface="Arial"/>
              <a:cs typeface="Arial"/>
              <a:sym typeface="Arial"/>
            </a:endParaRPr>
          </a:p>
        </p:txBody>
      </p:sp>
      <p:sp>
        <p:nvSpPr>
          <p:cNvPr id="84" name="Google Shape;84;p18"/>
          <p:cNvSpPr/>
          <p:nvPr/>
        </p:nvSpPr>
        <p:spPr>
          <a:xfrm>
            <a:off x="548640" y="685800"/>
            <a:ext cx="1713960" cy="28080"/>
          </a:xfrm>
          <a:prstGeom prst="rect">
            <a:avLst/>
          </a:prstGeom>
          <a:solidFill>
            <a:srgbClr val="6B7280"/>
          </a:solidFill>
          <a:ln>
            <a:noFill/>
          </a:ln>
          <a:effectLst>
            <a:outerShdw blurRad="39960" rotWithShape="0" dir="5400000" dist="23040">
              <a:srgbClr val="000000">
                <a:alpha val="34901"/>
              </a:srgbClr>
            </a:outerShdw>
          </a:effectLst>
        </p:spPr>
        <p:txBody>
          <a:bodyPr anchorCtr="0" anchor="ctr" bIns="0" lIns="67500" spcFirstLastPara="1" rIns="6750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sp>
        <p:nvSpPr>
          <p:cNvPr id="85" name="Google Shape;85;p18"/>
          <p:cNvSpPr/>
          <p:nvPr/>
        </p:nvSpPr>
        <p:spPr>
          <a:xfrm>
            <a:off x="685800" y="960120"/>
            <a:ext cx="7886160" cy="581580"/>
          </a:xfrm>
          <a:prstGeom prst="rect">
            <a:avLst/>
          </a:prstGeom>
          <a:noFill/>
          <a:ln>
            <a:noFill/>
          </a:ln>
        </p:spPr>
        <p:txBody>
          <a:bodyPr anchorCtr="0" anchor="t" bIns="33750" lIns="67500" spcFirstLastPara="1" rIns="67500" wrap="square" tIns="33750">
            <a:noAutofit/>
          </a:bodyPr>
          <a:lstStyle/>
          <a:p>
            <a:pPr indent="0" lvl="0" marL="0" marR="0" rtl="0" algn="l">
              <a:lnSpc>
                <a:spcPct val="100000"/>
              </a:lnSpc>
              <a:spcBef>
                <a:spcPts val="0"/>
              </a:spcBef>
              <a:spcAft>
                <a:spcPts val="0"/>
              </a:spcAft>
              <a:buClr>
                <a:srgbClr val="000000"/>
              </a:buClr>
              <a:buSzPts val="1300"/>
              <a:buFont typeface="Arial"/>
              <a:buNone/>
            </a:pPr>
            <a:r>
              <a:rPr b="0" i="0" lang="en-GB" sz="1300" u="none" cap="none" strike="noStrike">
                <a:solidFill>
                  <a:srgbClr val="D1D5DB"/>
                </a:solidFill>
                <a:latin typeface="Arial"/>
                <a:ea typeface="Arial"/>
                <a:cs typeface="Arial"/>
                <a:sym typeface="Arial"/>
              </a:rPr>
              <a:t>Traditional robotic manipulation relies on hand-crafted trajectories: a programmer must explicitly define every waypoint, every gripper angle, every timing parameter. This process is slow, error-prone, and breaks whenever the environment changes.</a:t>
            </a:r>
            <a:endParaRPr b="0" i="0" sz="1300" u="none" cap="none" strike="noStrike">
              <a:solidFill>
                <a:srgbClr val="FFFFFF"/>
              </a:solidFill>
              <a:latin typeface="Arial"/>
              <a:ea typeface="Arial"/>
              <a:cs typeface="Arial"/>
              <a:sym typeface="Arial"/>
            </a:endParaRPr>
          </a:p>
        </p:txBody>
      </p:sp>
      <p:sp>
        <p:nvSpPr>
          <p:cNvPr id="86" name="Google Shape;86;p18"/>
          <p:cNvSpPr/>
          <p:nvPr/>
        </p:nvSpPr>
        <p:spPr>
          <a:xfrm>
            <a:off x="685825" y="1621710"/>
            <a:ext cx="7886100" cy="410100"/>
          </a:xfrm>
          <a:prstGeom prst="rect">
            <a:avLst/>
          </a:prstGeom>
          <a:noFill/>
          <a:ln>
            <a:noFill/>
          </a:ln>
        </p:spPr>
        <p:txBody>
          <a:bodyPr anchorCtr="0" anchor="t" bIns="33750" lIns="67500" spcFirstLastPara="1" rIns="67500" wrap="square" tIns="33750">
            <a:noAutofit/>
          </a:bodyPr>
          <a:lstStyle/>
          <a:p>
            <a:pPr indent="0" lvl="0" marL="0" marR="0" rtl="0" algn="l">
              <a:lnSpc>
                <a:spcPct val="100000"/>
              </a:lnSpc>
              <a:spcBef>
                <a:spcPts val="0"/>
              </a:spcBef>
              <a:spcAft>
                <a:spcPts val="0"/>
              </a:spcAft>
              <a:buClr>
                <a:srgbClr val="000000"/>
              </a:buClr>
              <a:buSzPts val="1300"/>
              <a:buFont typeface="Arial"/>
              <a:buNone/>
            </a:pPr>
            <a:r>
              <a:rPr b="0" i="0" lang="en-GB" sz="1300" u="none" cap="none" strike="noStrike">
                <a:solidFill>
                  <a:srgbClr val="D1D5DB"/>
                </a:solidFill>
                <a:latin typeface="Arial"/>
                <a:ea typeface="Arial"/>
                <a:cs typeface="Arial"/>
                <a:sym typeface="Arial"/>
              </a:rPr>
              <a:t>Recent work (Kwon et al., Liang et al., Vemprala et al.) has shown AI capable of generate robot code from natural language</a:t>
            </a:r>
            <a:endParaRPr b="0" i="0" sz="1300" u="none" cap="none" strike="noStrike">
              <a:solidFill>
                <a:srgbClr val="FFFFFF"/>
              </a:solidFill>
              <a:latin typeface="Arial"/>
              <a:ea typeface="Arial"/>
              <a:cs typeface="Arial"/>
              <a:sym typeface="Arial"/>
            </a:endParaRPr>
          </a:p>
        </p:txBody>
      </p:sp>
      <p:sp>
        <p:nvSpPr>
          <p:cNvPr id="87" name="Google Shape;87;p18"/>
          <p:cNvSpPr/>
          <p:nvPr/>
        </p:nvSpPr>
        <p:spPr>
          <a:xfrm>
            <a:off x="685825" y="2111788"/>
            <a:ext cx="7886100" cy="700800"/>
          </a:xfrm>
          <a:prstGeom prst="rect">
            <a:avLst/>
          </a:prstGeom>
          <a:noFill/>
          <a:ln>
            <a:noFill/>
          </a:ln>
        </p:spPr>
        <p:txBody>
          <a:bodyPr anchorCtr="0" anchor="t" bIns="33750" lIns="67500" spcFirstLastPara="1" rIns="67500" wrap="square" tIns="33750">
            <a:noAutofit/>
          </a:bodyPr>
          <a:lstStyle/>
          <a:p>
            <a:pPr indent="0" lvl="0" marL="0" marR="0" rtl="0" algn="l">
              <a:lnSpc>
                <a:spcPct val="100000"/>
              </a:lnSpc>
              <a:spcBef>
                <a:spcPts val="0"/>
              </a:spcBef>
              <a:spcAft>
                <a:spcPts val="0"/>
              </a:spcAft>
              <a:buClr>
                <a:srgbClr val="000000"/>
              </a:buClr>
              <a:buSzPts val="1300"/>
              <a:buFont typeface="Arial"/>
              <a:buNone/>
            </a:pPr>
            <a:r>
              <a:rPr b="0" i="0" lang="en-GB" sz="1300" u="none" cap="none" strike="noStrike">
                <a:solidFill>
                  <a:srgbClr val="D1D5DB"/>
                </a:solidFill>
                <a:latin typeface="Arial"/>
                <a:ea typeface="Arial"/>
                <a:cs typeface="Arial"/>
                <a:sym typeface="Arial"/>
              </a:rPr>
              <a:t>Instead of predicting joint angles or torques, these models generate Python code that calls robotics libraries (IK solvers, motion planners, perception pipelines). This makes the output interpretable, debuggable, and safe.</a:t>
            </a:r>
            <a:endParaRPr b="0" i="0" sz="1300" u="none" cap="none" strike="noStrike">
              <a:solidFill>
                <a:srgbClr val="FFFFFF"/>
              </a:solidFill>
              <a:latin typeface="Arial"/>
              <a:ea typeface="Arial"/>
              <a:cs typeface="Arial"/>
              <a:sym typeface="Arial"/>
            </a:endParaRPr>
          </a:p>
        </p:txBody>
      </p:sp>
      <p:sp>
        <p:nvSpPr>
          <p:cNvPr id="88" name="Google Shape;88;p18"/>
          <p:cNvSpPr/>
          <p:nvPr/>
        </p:nvSpPr>
        <p:spPr>
          <a:xfrm>
            <a:off x="685825" y="3073978"/>
            <a:ext cx="7886100" cy="410100"/>
          </a:xfrm>
          <a:prstGeom prst="rect">
            <a:avLst/>
          </a:prstGeom>
          <a:noFill/>
          <a:ln>
            <a:noFill/>
          </a:ln>
        </p:spPr>
        <p:txBody>
          <a:bodyPr anchorCtr="0" anchor="t" bIns="33750" lIns="67500" spcFirstLastPara="1" rIns="67500" wrap="square" tIns="33750">
            <a:noAutofit/>
          </a:bodyPr>
          <a:lstStyle/>
          <a:p>
            <a:pPr indent="0" lvl="0" marL="0" marR="0" rtl="0" algn="l">
              <a:lnSpc>
                <a:spcPct val="100000"/>
              </a:lnSpc>
              <a:spcBef>
                <a:spcPts val="0"/>
              </a:spcBef>
              <a:spcAft>
                <a:spcPts val="0"/>
              </a:spcAft>
              <a:buClr>
                <a:srgbClr val="000000"/>
              </a:buClr>
              <a:buSzPts val="1300"/>
              <a:buFont typeface="Arial"/>
              <a:buNone/>
            </a:pPr>
            <a:r>
              <a:rPr b="0" i="0" lang="en-GB" sz="1300" u="none" cap="none" strike="noStrike">
                <a:solidFill>
                  <a:srgbClr val="D1D5DB"/>
                </a:solidFill>
                <a:latin typeface="Arial"/>
                <a:ea typeface="Arial"/>
                <a:cs typeface="Arial"/>
                <a:sym typeface="Arial"/>
              </a:rPr>
              <a:t>Our goal: apply this paradigm to a Sawyer robot in simulation, using a locally-run LLM (Qwen2.5-Coder 3B) to generate pick-and-place trajectories from user-provided natural language instructions.</a:t>
            </a:r>
            <a:endParaRPr b="0" i="0" sz="1300" u="none" cap="none" strike="noStrike">
              <a:solidFill>
                <a:srgbClr val="FFFFFF"/>
              </a:solidFill>
              <a:latin typeface="Arial"/>
              <a:ea typeface="Arial"/>
              <a:cs typeface="Arial"/>
              <a:sym typeface="Arial"/>
            </a:endParaRPr>
          </a:p>
        </p:txBody>
      </p:sp>
      <p:sp>
        <p:nvSpPr>
          <p:cNvPr id="89" name="Google Shape;89;p18"/>
          <p:cNvSpPr/>
          <p:nvPr/>
        </p:nvSpPr>
        <p:spPr>
          <a:xfrm>
            <a:off x="548640" y="4526280"/>
            <a:ext cx="7543260" cy="204390"/>
          </a:xfrm>
          <a:prstGeom prst="rect">
            <a:avLst/>
          </a:prstGeom>
          <a:noFill/>
          <a:ln>
            <a:noFill/>
          </a:ln>
        </p:spPr>
        <p:txBody>
          <a:bodyPr anchorCtr="0" anchor="t" bIns="33750" lIns="67500" spcFirstLastPara="1" rIns="67500" wrap="square" tIns="33750">
            <a:noAutofit/>
          </a:bodyPr>
          <a:lstStyle/>
          <a:p>
            <a:pPr indent="0" lvl="0" marL="0" marR="0" rtl="0" algn="l">
              <a:lnSpc>
                <a:spcPct val="100000"/>
              </a:lnSpc>
              <a:spcBef>
                <a:spcPts val="0"/>
              </a:spcBef>
              <a:spcAft>
                <a:spcPts val="0"/>
              </a:spcAft>
              <a:buClr>
                <a:srgbClr val="000000"/>
              </a:buClr>
              <a:buSzPts val="900"/>
              <a:buFont typeface="Arial"/>
              <a:buNone/>
            </a:pPr>
            <a:r>
              <a:rPr b="0" i="0" lang="en-GB" sz="900" u="none" cap="none" strike="noStrike">
                <a:solidFill>
                  <a:srgbClr val="9CA3AF"/>
                </a:solidFill>
                <a:latin typeface="Arial"/>
                <a:ea typeface="Arial"/>
                <a:cs typeface="Arial"/>
                <a:sym typeface="Arial"/>
              </a:rPr>
              <a:t>Key insight: the LLM acts as a code generator, not a motion predictor — it writes programs, not trajectories.</a:t>
            </a:r>
            <a:endParaRPr b="0" i="0" sz="900" u="none" cap="none" strike="noStrike">
              <a:solidFill>
                <a:srgbClr val="FFFFFF"/>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F2937"/>
        </a:solidFill>
      </p:bgPr>
    </p:bg>
    <p:spTree>
      <p:nvGrpSpPr>
        <p:cNvPr id="93" name="Shape 93"/>
        <p:cNvGrpSpPr/>
        <p:nvPr/>
      </p:nvGrpSpPr>
      <p:grpSpPr>
        <a:xfrm>
          <a:off x="0" y="0"/>
          <a:ext cx="0" cy="0"/>
          <a:chOff x="0" y="0"/>
          <a:chExt cx="0" cy="0"/>
        </a:xfrm>
      </p:grpSpPr>
      <p:sp>
        <p:nvSpPr>
          <p:cNvPr id="94" name="Google Shape;94;p19"/>
          <p:cNvSpPr/>
          <p:nvPr/>
        </p:nvSpPr>
        <p:spPr>
          <a:xfrm>
            <a:off x="548640" y="240030"/>
            <a:ext cx="7543260" cy="410130"/>
          </a:xfrm>
          <a:prstGeom prst="rect">
            <a:avLst/>
          </a:prstGeom>
          <a:noFill/>
          <a:ln>
            <a:noFill/>
          </a:ln>
        </p:spPr>
        <p:txBody>
          <a:bodyPr anchorCtr="0" anchor="t" bIns="33750" lIns="67500" spcFirstLastPara="1" rIns="67500" wrap="square" tIns="33750">
            <a:noAutofit/>
          </a:bodyPr>
          <a:lstStyle/>
          <a:p>
            <a:pPr indent="0" lvl="0" marL="0" marR="0" rtl="0" algn="l">
              <a:lnSpc>
                <a:spcPct val="100000"/>
              </a:lnSpc>
              <a:spcBef>
                <a:spcPts val="0"/>
              </a:spcBef>
              <a:spcAft>
                <a:spcPts val="0"/>
              </a:spcAft>
              <a:buClr>
                <a:srgbClr val="000000"/>
              </a:buClr>
              <a:buSzPts val="2300"/>
              <a:buFont typeface="Arial"/>
              <a:buNone/>
            </a:pPr>
            <a:r>
              <a:rPr b="1" i="0" lang="en-GB" sz="2300" u="none" cap="none" strike="noStrike">
                <a:solidFill>
                  <a:srgbClr val="FFFFFF"/>
                </a:solidFill>
                <a:latin typeface="Arial"/>
                <a:ea typeface="Arial"/>
                <a:cs typeface="Arial"/>
                <a:sym typeface="Arial"/>
              </a:rPr>
              <a:t>System Architecture</a:t>
            </a:r>
            <a:endParaRPr b="0" i="0" sz="2300" u="none" cap="none" strike="noStrike">
              <a:solidFill>
                <a:srgbClr val="FFFFFF"/>
              </a:solidFill>
              <a:latin typeface="Arial"/>
              <a:ea typeface="Arial"/>
              <a:cs typeface="Arial"/>
              <a:sym typeface="Arial"/>
            </a:endParaRPr>
          </a:p>
        </p:txBody>
      </p:sp>
      <p:sp>
        <p:nvSpPr>
          <p:cNvPr id="95" name="Google Shape;95;p19"/>
          <p:cNvSpPr/>
          <p:nvPr/>
        </p:nvSpPr>
        <p:spPr>
          <a:xfrm>
            <a:off x="548640" y="685800"/>
            <a:ext cx="1713960" cy="28080"/>
          </a:xfrm>
          <a:prstGeom prst="rect">
            <a:avLst/>
          </a:prstGeom>
          <a:solidFill>
            <a:srgbClr val="6B7280"/>
          </a:solidFill>
          <a:ln>
            <a:noFill/>
          </a:ln>
          <a:effectLst>
            <a:outerShdw blurRad="39960" rotWithShape="0" dir="5400000" dist="23040">
              <a:srgbClr val="000000">
                <a:alpha val="34901"/>
              </a:srgbClr>
            </a:outerShdw>
          </a:effectLst>
        </p:spPr>
        <p:txBody>
          <a:bodyPr anchorCtr="0" anchor="ctr" bIns="0" lIns="67500" spcFirstLastPara="1" rIns="6750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sp>
        <p:nvSpPr>
          <p:cNvPr id="96" name="Google Shape;96;p19"/>
          <p:cNvSpPr/>
          <p:nvPr/>
        </p:nvSpPr>
        <p:spPr>
          <a:xfrm>
            <a:off x="685800" y="891540"/>
            <a:ext cx="7886160" cy="432810"/>
          </a:xfrm>
          <a:prstGeom prst="rect">
            <a:avLst/>
          </a:prstGeom>
          <a:noFill/>
          <a:ln>
            <a:noFill/>
          </a:ln>
        </p:spPr>
        <p:txBody>
          <a:bodyPr anchorCtr="0" anchor="t" bIns="33750" lIns="67500" spcFirstLastPara="1" rIns="67500" wrap="square" tIns="33750">
            <a:noAutofit/>
          </a:bodyPr>
          <a:lstStyle/>
          <a:p>
            <a:pPr indent="0" lvl="0" marL="0" marR="0" rtl="0" algn="l">
              <a:lnSpc>
                <a:spcPct val="100000"/>
              </a:lnSpc>
              <a:spcBef>
                <a:spcPts val="0"/>
              </a:spcBef>
              <a:spcAft>
                <a:spcPts val="0"/>
              </a:spcAft>
              <a:buClr>
                <a:srgbClr val="000000"/>
              </a:buClr>
              <a:buSzPts val="1200"/>
              <a:buFont typeface="Arial"/>
              <a:buNone/>
            </a:pPr>
            <a:r>
              <a:rPr b="0" i="0" lang="en-GB" sz="1200" u="none" cap="none" strike="noStrike">
                <a:solidFill>
                  <a:srgbClr val="D1D5DB"/>
                </a:solidFill>
                <a:latin typeface="Arial"/>
                <a:ea typeface="Arial"/>
                <a:cs typeface="Arial"/>
                <a:sym typeface="Arial"/>
              </a:rPr>
              <a:t>The system is divided into five sequential stages. Each stage produces the input for the next, forming a complete pipeline from user instruction to robotic action.</a:t>
            </a:r>
            <a:endParaRPr b="0" i="0" sz="1200" u="none" cap="none" strike="noStrike">
              <a:solidFill>
                <a:srgbClr val="FFFFFF"/>
              </a:solidFill>
              <a:latin typeface="Arial"/>
              <a:ea typeface="Arial"/>
              <a:cs typeface="Arial"/>
              <a:sym typeface="Arial"/>
            </a:endParaRPr>
          </a:p>
        </p:txBody>
      </p:sp>
      <p:sp>
        <p:nvSpPr>
          <p:cNvPr id="97" name="Google Shape;97;p19"/>
          <p:cNvSpPr/>
          <p:nvPr/>
        </p:nvSpPr>
        <p:spPr>
          <a:xfrm>
            <a:off x="411480" y="1783080"/>
            <a:ext cx="1521180" cy="1131300"/>
          </a:xfrm>
          <a:prstGeom prst="rect">
            <a:avLst/>
          </a:prstGeom>
          <a:solidFill>
            <a:srgbClr val="374151"/>
          </a:solidFill>
          <a:ln cap="flat" cmpd="sng" w="9525">
            <a:solidFill>
              <a:srgbClr val="6B7280"/>
            </a:solidFill>
            <a:prstDash val="solid"/>
            <a:round/>
            <a:headEnd len="sm" w="sm" type="none"/>
            <a:tailEnd len="sm" w="sm" type="none"/>
          </a:ln>
          <a:effectLst>
            <a:outerShdw blurRad="39960" rotWithShape="0" dir="5400000" dist="23040">
              <a:srgbClr val="000000">
                <a:alpha val="34901"/>
              </a:srgbClr>
            </a:outerShdw>
          </a:effectLst>
        </p:spPr>
        <p:txBody>
          <a:bodyPr anchorCtr="0" anchor="ctr" bIns="33750" lIns="67500" spcFirstLastPara="1" rIns="67500" wrap="square" tIns="3375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sp>
        <p:nvSpPr>
          <p:cNvPr id="98" name="Google Shape;98;p19"/>
          <p:cNvSpPr/>
          <p:nvPr/>
        </p:nvSpPr>
        <p:spPr>
          <a:xfrm>
            <a:off x="484110" y="1877310"/>
            <a:ext cx="1375920" cy="227340"/>
          </a:xfrm>
          <a:prstGeom prst="rect">
            <a:avLst/>
          </a:prstGeom>
          <a:noFill/>
          <a:ln>
            <a:noFill/>
          </a:ln>
        </p:spPr>
        <p:txBody>
          <a:bodyPr anchorCtr="0" anchor="t" bIns="33750" lIns="67500" spcFirstLastPara="1" rIns="67500" wrap="square" tIns="33750">
            <a:noAutofit/>
          </a:bodyPr>
          <a:lstStyle/>
          <a:p>
            <a:pPr indent="0" lvl="0" marL="0" marR="0" rtl="0" algn="ctr">
              <a:lnSpc>
                <a:spcPct val="100000"/>
              </a:lnSpc>
              <a:spcBef>
                <a:spcPts val="0"/>
              </a:spcBef>
              <a:spcAft>
                <a:spcPts val="0"/>
              </a:spcAft>
              <a:buClr>
                <a:srgbClr val="000000"/>
              </a:buClr>
              <a:buSzPts val="1100"/>
              <a:buFont typeface="Arial"/>
              <a:buNone/>
            </a:pPr>
            <a:r>
              <a:rPr b="1" i="0" lang="en-GB" sz="1100" u="none" cap="none" strike="noStrike">
                <a:solidFill>
                  <a:srgbClr val="FFFFFF"/>
                </a:solidFill>
                <a:latin typeface="Arial"/>
                <a:ea typeface="Arial"/>
                <a:cs typeface="Arial"/>
                <a:sym typeface="Arial"/>
              </a:rPr>
              <a:t>SIMULATION</a:t>
            </a:r>
            <a:endParaRPr b="0" i="0" sz="1100" u="none" cap="none" strike="noStrike">
              <a:solidFill>
                <a:srgbClr val="FFFFFF"/>
              </a:solidFill>
              <a:latin typeface="Arial"/>
              <a:ea typeface="Arial"/>
              <a:cs typeface="Arial"/>
              <a:sym typeface="Arial"/>
            </a:endParaRPr>
          </a:p>
        </p:txBody>
      </p:sp>
      <p:sp>
        <p:nvSpPr>
          <p:cNvPr id="99" name="Google Shape;99;p19"/>
          <p:cNvSpPr/>
          <p:nvPr/>
        </p:nvSpPr>
        <p:spPr>
          <a:xfrm>
            <a:off x="484110" y="2207520"/>
            <a:ext cx="1375920" cy="444690"/>
          </a:xfrm>
          <a:prstGeom prst="rect">
            <a:avLst/>
          </a:prstGeom>
          <a:noFill/>
          <a:ln>
            <a:noFill/>
          </a:ln>
        </p:spPr>
        <p:txBody>
          <a:bodyPr anchorCtr="0" anchor="t" bIns="33750" lIns="67500" spcFirstLastPara="1" rIns="67500" wrap="square" tIns="33750">
            <a:noAutofit/>
          </a:bodyPr>
          <a:lstStyle/>
          <a:p>
            <a:pPr indent="0" lvl="0" marL="0" marR="0" rtl="0" algn="ctr">
              <a:lnSpc>
                <a:spcPct val="100000"/>
              </a:lnSpc>
              <a:spcBef>
                <a:spcPts val="0"/>
              </a:spcBef>
              <a:spcAft>
                <a:spcPts val="0"/>
              </a:spcAft>
              <a:buClr>
                <a:srgbClr val="000000"/>
              </a:buClr>
              <a:buSzPts val="800"/>
              <a:buFont typeface="Arial"/>
              <a:buNone/>
            </a:pPr>
            <a:r>
              <a:rPr b="0" i="0" lang="en-GB" sz="800" u="none" cap="none" strike="noStrike">
                <a:solidFill>
                  <a:srgbClr val="D1D5DB"/>
                </a:solidFill>
                <a:latin typeface="Arial"/>
                <a:ea typeface="Arial"/>
                <a:cs typeface="Arial"/>
                <a:sym typeface="Arial"/>
              </a:rPr>
              <a:t>Gazebo + Sawyer</a:t>
            </a:r>
            <a:br>
              <a:rPr b="0" i="0" lang="en-GB" sz="800" u="none" cap="none" strike="noStrike">
                <a:solidFill>
                  <a:srgbClr val="000000"/>
                </a:solidFill>
                <a:latin typeface="Calibri"/>
                <a:ea typeface="Calibri"/>
                <a:cs typeface="Calibri"/>
                <a:sym typeface="Calibri"/>
              </a:rPr>
            </a:br>
            <a:r>
              <a:rPr b="0" i="0" lang="en-GB" sz="800" u="none" cap="none" strike="noStrike">
                <a:solidFill>
                  <a:srgbClr val="D1D5DB"/>
                </a:solidFill>
                <a:latin typeface="Arial"/>
                <a:ea typeface="Arial"/>
                <a:cs typeface="Arial"/>
                <a:sym typeface="Arial"/>
              </a:rPr>
              <a:t>Objects spawning</a:t>
            </a:r>
            <a:br>
              <a:rPr b="0" i="0" lang="en-GB" sz="800" u="none" cap="none" strike="noStrike">
                <a:solidFill>
                  <a:srgbClr val="000000"/>
                </a:solidFill>
                <a:latin typeface="Calibri"/>
                <a:ea typeface="Calibri"/>
                <a:cs typeface="Calibri"/>
                <a:sym typeface="Calibri"/>
              </a:rPr>
            </a:br>
            <a:r>
              <a:rPr b="0" i="0" lang="en-GB" sz="800" u="none" cap="none" strike="noStrike">
                <a:solidFill>
                  <a:srgbClr val="D1D5DB"/>
                </a:solidFill>
                <a:latin typeface="Arial"/>
                <a:ea typeface="Arial"/>
                <a:cs typeface="Arial"/>
                <a:sym typeface="Arial"/>
              </a:rPr>
              <a:t>Safe pose &amp; scan</a:t>
            </a:r>
            <a:endParaRPr b="0" i="0" sz="800" u="none" cap="none" strike="noStrike">
              <a:solidFill>
                <a:srgbClr val="FFFFFF"/>
              </a:solidFill>
              <a:latin typeface="Arial"/>
              <a:ea typeface="Arial"/>
              <a:cs typeface="Arial"/>
              <a:sym typeface="Arial"/>
            </a:endParaRPr>
          </a:p>
        </p:txBody>
      </p:sp>
      <p:sp>
        <p:nvSpPr>
          <p:cNvPr id="100" name="Google Shape;100;p19"/>
          <p:cNvSpPr/>
          <p:nvPr/>
        </p:nvSpPr>
        <p:spPr>
          <a:xfrm>
            <a:off x="1788210" y="2160540"/>
            <a:ext cx="434160" cy="387450"/>
          </a:xfrm>
          <a:prstGeom prst="rect">
            <a:avLst/>
          </a:prstGeom>
          <a:noFill/>
          <a:ln>
            <a:noFill/>
          </a:ln>
        </p:spPr>
        <p:txBody>
          <a:bodyPr anchorCtr="0" anchor="t" bIns="33750" lIns="67500" spcFirstLastPara="1" rIns="67500" wrap="square" tIns="33750">
            <a:noAutofit/>
          </a:bodyPr>
          <a:lstStyle/>
          <a:p>
            <a:pPr indent="0" lvl="0" marL="0" marR="0" rtl="0" algn="ctr">
              <a:lnSpc>
                <a:spcPct val="100000"/>
              </a:lnSpc>
              <a:spcBef>
                <a:spcPts val="0"/>
              </a:spcBef>
              <a:spcAft>
                <a:spcPts val="0"/>
              </a:spcAft>
              <a:buClr>
                <a:srgbClr val="000000"/>
              </a:buClr>
              <a:buSzPts val="2100"/>
              <a:buFont typeface="Arial"/>
              <a:buNone/>
            </a:pPr>
            <a:r>
              <a:rPr b="0" i="0" lang="en-GB" sz="2100" u="none" cap="none" strike="noStrike">
                <a:solidFill>
                  <a:srgbClr val="6B7280"/>
                </a:solidFill>
                <a:latin typeface="Arial"/>
                <a:ea typeface="Arial"/>
                <a:cs typeface="Arial"/>
                <a:sym typeface="Arial"/>
              </a:rPr>
              <a:t>→</a:t>
            </a:r>
            <a:endParaRPr b="0" i="0" sz="2100" u="none" cap="none" strike="noStrike">
              <a:solidFill>
                <a:srgbClr val="FFFFFF"/>
              </a:solidFill>
              <a:latin typeface="Arial"/>
              <a:ea typeface="Arial"/>
              <a:cs typeface="Arial"/>
              <a:sym typeface="Arial"/>
            </a:endParaRPr>
          </a:p>
        </p:txBody>
      </p:sp>
      <p:sp>
        <p:nvSpPr>
          <p:cNvPr id="101" name="Google Shape;101;p19"/>
          <p:cNvSpPr/>
          <p:nvPr/>
        </p:nvSpPr>
        <p:spPr>
          <a:xfrm>
            <a:off x="2114370" y="1783080"/>
            <a:ext cx="1521180" cy="1131300"/>
          </a:xfrm>
          <a:prstGeom prst="rect">
            <a:avLst/>
          </a:prstGeom>
          <a:solidFill>
            <a:srgbClr val="374151"/>
          </a:solidFill>
          <a:ln cap="flat" cmpd="sng" w="9525">
            <a:solidFill>
              <a:srgbClr val="6B7280"/>
            </a:solidFill>
            <a:prstDash val="solid"/>
            <a:round/>
            <a:headEnd len="sm" w="sm" type="none"/>
            <a:tailEnd len="sm" w="sm" type="none"/>
          </a:ln>
          <a:effectLst>
            <a:outerShdw blurRad="39960" rotWithShape="0" dir="5400000" dist="23040">
              <a:srgbClr val="000000">
                <a:alpha val="34901"/>
              </a:srgbClr>
            </a:outerShdw>
          </a:effectLst>
        </p:spPr>
        <p:txBody>
          <a:bodyPr anchorCtr="0" anchor="ctr" bIns="33750" lIns="67500" spcFirstLastPara="1" rIns="67500" wrap="square" tIns="3375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sp>
        <p:nvSpPr>
          <p:cNvPr id="102" name="Google Shape;102;p19"/>
          <p:cNvSpPr/>
          <p:nvPr/>
        </p:nvSpPr>
        <p:spPr>
          <a:xfrm>
            <a:off x="2186730" y="1877310"/>
            <a:ext cx="1376190" cy="227340"/>
          </a:xfrm>
          <a:prstGeom prst="rect">
            <a:avLst/>
          </a:prstGeom>
          <a:noFill/>
          <a:ln>
            <a:noFill/>
          </a:ln>
        </p:spPr>
        <p:txBody>
          <a:bodyPr anchorCtr="0" anchor="t" bIns="33750" lIns="67500" spcFirstLastPara="1" rIns="67500" wrap="square" tIns="33750">
            <a:noAutofit/>
          </a:bodyPr>
          <a:lstStyle/>
          <a:p>
            <a:pPr indent="0" lvl="0" marL="0" marR="0" rtl="0" algn="ctr">
              <a:lnSpc>
                <a:spcPct val="100000"/>
              </a:lnSpc>
              <a:spcBef>
                <a:spcPts val="0"/>
              </a:spcBef>
              <a:spcAft>
                <a:spcPts val="0"/>
              </a:spcAft>
              <a:buClr>
                <a:srgbClr val="000000"/>
              </a:buClr>
              <a:buSzPts val="1100"/>
              <a:buFont typeface="Arial"/>
              <a:buNone/>
            </a:pPr>
            <a:r>
              <a:rPr b="1" i="0" lang="en-GB" sz="1100" u="none" cap="none" strike="noStrike">
                <a:solidFill>
                  <a:srgbClr val="FFFFFF"/>
                </a:solidFill>
                <a:latin typeface="Arial"/>
                <a:ea typeface="Arial"/>
                <a:cs typeface="Arial"/>
                <a:sym typeface="Arial"/>
              </a:rPr>
              <a:t>PERCEPTION</a:t>
            </a:r>
            <a:endParaRPr b="0" i="0" sz="1100" u="none" cap="none" strike="noStrike">
              <a:solidFill>
                <a:srgbClr val="FFFFFF"/>
              </a:solidFill>
              <a:latin typeface="Arial"/>
              <a:ea typeface="Arial"/>
              <a:cs typeface="Arial"/>
              <a:sym typeface="Arial"/>
            </a:endParaRPr>
          </a:p>
        </p:txBody>
      </p:sp>
      <p:sp>
        <p:nvSpPr>
          <p:cNvPr id="103" name="Google Shape;103;p19"/>
          <p:cNvSpPr/>
          <p:nvPr/>
        </p:nvSpPr>
        <p:spPr>
          <a:xfrm>
            <a:off x="2186730" y="2207520"/>
            <a:ext cx="1376190" cy="444690"/>
          </a:xfrm>
          <a:prstGeom prst="rect">
            <a:avLst/>
          </a:prstGeom>
          <a:noFill/>
          <a:ln>
            <a:noFill/>
          </a:ln>
        </p:spPr>
        <p:txBody>
          <a:bodyPr anchorCtr="0" anchor="t" bIns="33750" lIns="67500" spcFirstLastPara="1" rIns="67500" wrap="square" tIns="33750">
            <a:noAutofit/>
          </a:bodyPr>
          <a:lstStyle/>
          <a:p>
            <a:pPr indent="0" lvl="0" marL="0" marR="0" rtl="0" algn="ctr">
              <a:lnSpc>
                <a:spcPct val="100000"/>
              </a:lnSpc>
              <a:spcBef>
                <a:spcPts val="0"/>
              </a:spcBef>
              <a:spcAft>
                <a:spcPts val="0"/>
              </a:spcAft>
              <a:buClr>
                <a:srgbClr val="000000"/>
              </a:buClr>
              <a:buSzPts val="800"/>
              <a:buFont typeface="Arial"/>
              <a:buNone/>
            </a:pPr>
            <a:r>
              <a:rPr b="0" i="0" lang="en-GB" sz="800" u="none" cap="none" strike="noStrike">
                <a:solidFill>
                  <a:srgbClr val="D1D5DB"/>
                </a:solidFill>
                <a:latin typeface="Arial"/>
                <a:ea typeface="Arial"/>
                <a:cs typeface="Arial"/>
                <a:sym typeface="Arial"/>
              </a:rPr>
              <a:t>YOLOv8 detection</a:t>
            </a:r>
            <a:br>
              <a:rPr b="0" i="0" lang="en-GB" sz="800" u="none" cap="none" strike="noStrike">
                <a:solidFill>
                  <a:srgbClr val="000000"/>
                </a:solidFill>
                <a:latin typeface="Calibri"/>
                <a:ea typeface="Calibri"/>
                <a:cs typeface="Calibri"/>
                <a:sym typeface="Calibri"/>
              </a:rPr>
            </a:br>
            <a:r>
              <a:rPr b="0" i="0" lang="en-GB" sz="800" u="none" cap="none" strike="noStrike">
                <a:solidFill>
                  <a:srgbClr val="D1D5DB"/>
                </a:solidFill>
                <a:latin typeface="Arial"/>
                <a:ea typeface="Arial"/>
                <a:cs typeface="Arial"/>
                <a:sym typeface="Arial"/>
              </a:rPr>
              <a:t>frame2world</a:t>
            </a:r>
            <a:br>
              <a:rPr b="0" i="0" lang="en-GB" sz="800" u="none" cap="none" strike="noStrike">
                <a:solidFill>
                  <a:srgbClr val="000000"/>
                </a:solidFill>
                <a:latin typeface="Calibri"/>
                <a:ea typeface="Calibri"/>
                <a:cs typeface="Calibri"/>
                <a:sym typeface="Calibri"/>
              </a:rPr>
            </a:br>
            <a:r>
              <a:rPr b="0" i="0" lang="en-GB" sz="800" u="none" cap="none" strike="noStrike">
                <a:solidFill>
                  <a:srgbClr val="D1D5DB"/>
                </a:solidFill>
                <a:latin typeface="Arial"/>
                <a:ea typeface="Arial"/>
                <a:cs typeface="Arial"/>
                <a:sym typeface="Arial"/>
              </a:rPr>
              <a:t>2D → 3D coords</a:t>
            </a:r>
            <a:endParaRPr b="0" i="0" sz="800" u="none" cap="none" strike="noStrike">
              <a:solidFill>
                <a:srgbClr val="FFFFFF"/>
              </a:solidFill>
              <a:latin typeface="Arial"/>
              <a:ea typeface="Arial"/>
              <a:cs typeface="Arial"/>
              <a:sym typeface="Arial"/>
            </a:endParaRPr>
          </a:p>
        </p:txBody>
      </p:sp>
      <p:sp>
        <p:nvSpPr>
          <p:cNvPr id="104" name="Google Shape;104;p19"/>
          <p:cNvSpPr/>
          <p:nvPr/>
        </p:nvSpPr>
        <p:spPr>
          <a:xfrm>
            <a:off x="3491100" y="2160540"/>
            <a:ext cx="434160" cy="387450"/>
          </a:xfrm>
          <a:prstGeom prst="rect">
            <a:avLst/>
          </a:prstGeom>
          <a:noFill/>
          <a:ln>
            <a:noFill/>
          </a:ln>
        </p:spPr>
        <p:txBody>
          <a:bodyPr anchorCtr="0" anchor="t" bIns="33750" lIns="67500" spcFirstLastPara="1" rIns="67500" wrap="square" tIns="33750">
            <a:noAutofit/>
          </a:bodyPr>
          <a:lstStyle/>
          <a:p>
            <a:pPr indent="0" lvl="0" marL="0" marR="0" rtl="0" algn="ctr">
              <a:lnSpc>
                <a:spcPct val="100000"/>
              </a:lnSpc>
              <a:spcBef>
                <a:spcPts val="0"/>
              </a:spcBef>
              <a:spcAft>
                <a:spcPts val="0"/>
              </a:spcAft>
              <a:buClr>
                <a:srgbClr val="000000"/>
              </a:buClr>
              <a:buSzPts val="2100"/>
              <a:buFont typeface="Arial"/>
              <a:buNone/>
            </a:pPr>
            <a:r>
              <a:rPr b="0" i="0" lang="en-GB" sz="2100" u="none" cap="none" strike="noStrike">
                <a:solidFill>
                  <a:srgbClr val="6B7280"/>
                </a:solidFill>
                <a:latin typeface="Arial"/>
                <a:ea typeface="Arial"/>
                <a:cs typeface="Arial"/>
                <a:sym typeface="Arial"/>
              </a:rPr>
              <a:t>→</a:t>
            </a:r>
            <a:endParaRPr b="0" i="0" sz="2100" u="none" cap="none" strike="noStrike">
              <a:solidFill>
                <a:srgbClr val="FFFFFF"/>
              </a:solidFill>
              <a:latin typeface="Arial"/>
              <a:ea typeface="Arial"/>
              <a:cs typeface="Arial"/>
              <a:sym typeface="Arial"/>
            </a:endParaRPr>
          </a:p>
        </p:txBody>
      </p:sp>
      <p:sp>
        <p:nvSpPr>
          <p:cNvPr id="105" name="Google Shape;105;p19"/>
          <p:cNvSpPr/>
          <p:nvPr/>
        </p:nvSpPr>
        <p:spPr>
          <a:xfrm>
            <a:off x="3817260" y="1783080"/>
            <a:ext cx="1520640" cy="1131300"/>
          </a:xfrm>
          <a:prstGeom prst="rect">
            <a:avLst/>
          </a:prstGeom>
          <a:solidFill>
            <a:srgbClr val="374151"/>
          </a:solidFill>
          <a:ln cap="flat" cmpd="sng" w="9525">
            <a:solidFill>
              <a:srgbClr val="6B7280"/>
            </a:solidFill>
            <a:prstDash val="solid"/>
            <a:round/>
            <a:headEnd len="sm" w="sm" type="none"/>
            <a:tailEnd len="sm" w="sm" type="none"/>
          </a:ln>
          <a:effectLst>
            <a:outerShdw blurRad="39960" rotWithShape="0" dir="5400000" dist="23040">
              <a:srgbClr val="000000">
                <a:alpha val="34901"/>
              </a:srgbClr>
            </a:outerShdw>
          </a:effectLst>
        </p:spPr>
        <p:txBody>
          <a:bodyPr anchorCtr="0" anchor="ctr" bIns="33750" lIns="67500" spcFirstLastPara="1" rIns="67500" wrap="square" tIns="3375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sp>
        <p:nvSpPr>
          <p:cNvPr id="106" name="Google Shape;106;p19"/>
          <p:cNvSpPr/>
          <p:nvPr/>
        </p:nvSpPr>
        <p:spPr>
          <a:xfrm>
            <a:off x="3889620" y="1877310"/>
            <a:ext cx="1375920" cy="227340"/>
          </a:xfrm>
          <a:prstGeom prst="rect">
            <a:avLst/>
          </a:prstGeom>
          <a:noFill/>
          <a:ln>
            <a:noFill/>
          </a:ln>
        </p:spPr>
        <p:txBody>
          <a:bodyPr anchorCtr="0" anchor="t" bIns="33750" lIns="67500" spcFirstLastPara="1" rIns="67500" wrap="square" tIns="33750">
            <a:noAutofit/>
          </a:bodyPr>
          <a:lstStyle/>
          <a:p>
            <a:pPr indent="0" lvl="0" marL="0" marR="0" rtl="0" algn="ctr">
              <a:lnSpc>
                <a:spcPct val="100000"/>
              </a:lnSpc>
              <a:spcBef>
                <a:spcPts val="0"/>
              </a:spcBef>
              <a:spcAft>
                <a:spcPts val="0"/>
              </a:spcAft>
              <a:buClr>
                <a:srgbClr val="000000"/>
              </a:buClr>
              <a:buSzPts val="1100"/>
              <a:buFont typeface="Arial"/>
              <a:buNone/>
            </a:pPr>
            <a:r>
              <a:rPr b="1" i="0" lang="en-GB" sz="1100" u="none" cap="none" strike="noStrike">
                <a:solidFill>
                  <a:srgbClr val="FFFFFF"/>
                </a:solidFill>
                <a:latin typeface="Arial"/>
                <a:ea typeface="Arial"/>
                <a:cs typeface="Arial"/>
                <a:sym typeface="Arial"/>
              </a:rPr>
              <a:t>LLM</a:t>
            </a:r>
            <a:endParaRPr b="0" i="0" sz="1100" u="none" cap="none" strike="noStrike">
              <a:solidFill>
                <a:srgbClr val="FFFFFF"/>
              </a:solidFill>
              <a:latin typeface="Arial"/>
              <a:ea typeface="Arial"/>
              <a:cs typeface="Arial"/>
              <a:sym typeface="Arial"/>
            </a:endParaRPr>
          </a:p>
        </p:txBody>
      </p:sp>
      <p:sp>
        <p:nvSpPr>
          <p:cNvPr id="107" name="Google Shape;107;p19"/>
          <p:cNvSpPr/>
          <p:nvPr/>
        </p:nvSpPr>
        <p:spPr>
          <a:xfrm>
            <a:off x="3889620" y="2207520"/>
            <a:ext cx="1375920" cy="444690"/>
          </a:xfrm>
          <a:prstGeom prst="rect">
            <a:avLst/>
          </a:prstGeom>
          <a:noFill/>
          <a:ln>
            <a:noFill/>
          </a:ln>
        </p:spPr>
        <p:txBody>
          <a:bodyPr anchorCtr="0" anchor="t" bIns="33750" lIns="67500" spcFirstLastPara="1" rIns="67500" wrap="square" tIns="33750">
            <a:noAutofit/>
          </a:bodyPr>
          <a:lstStyle/>
          <a:p>
            <a:pPr indent="0" lvl="0" marL="0" marR="0" rtl="0" algn="ctr">
              <a:lnSpc>
                <a:spcPct val="100000"/>
              </a:lnSpc>
              <a:spcBef>
                <a:spcPts val="0"/>
              </a:spcBef>
              <a:spcAft>
                <a:spcPts val="0"/>
              </a:spcAft>
              <a:buClr>
                <a:srgbClr val="000000"/>
              </a:buClr>
              <a:buSzPts val="800"/>
              <a:buFont typeface="Arial"/>
              <a:buNone/>
            </a:pPr>
            <a:r>
              <a:rPr b="0" i="0" lang="en-GB" sz="800" u="none" cap="none" strike="noStrike">
                <a:solidFill>
                  <a:srgbClr val="D1D5DB"/>
                </a:solidFill>
                <a:latin typeface="Arial"/>
                <a:ea typeface="Arial"/>
                <a:cs typeface="Arial"/>
                <a:sym typeface="Arial"/>
              </a:rPr>
              <a:t>System prompt</a:t>
            </a:r>
            <a:br>
              <a:rPr b="0" i="0" lang="en-GB" sz="800" u="none" cap="none" strike="noStrike">
                <a:solidFill>
                  <a:srgbClr val="000000"/>
                </a:solidFill>
                <a:latin typeface="Calibri"/>
                <a:ea typeface="Calibri"/>
                <a:cs typeface="Calibri"/>
                <a:sym typeface="Calibri"/>
              </a:rPr>
            </a:br>
            <a:r>
              <a:rPr b="0" i="0" lang="en-GB" sz="800" u="none" cap="none" strike="noStrike">
                <a:solidFill>
                  <a:srgbClr val="D1D5DB"/>
                </a:solidFill>
                <a:latin typeface="Arial"/>
                <a:ea typeface="Arial"/>
                <a:cs typeface="Arial"/>
                <a:sym typeface="Arial"/>
              </a:rPr>
              <a:t>Qwen2.5-Coder</a:t>
            </a:r>
            <a:br>
              <a:rPr b="0" i="0" lang="en-GB" sz="800" u="none" cap="none" strike="noStrike">
                <a:solidFill>
                  <a:srgbClr val="000000"/>
                </a:solidFill>
                <a:latin typeface="Calibri"/>
                <a:ea typeface="Calibri"/>
                <a:cs typeface="Calibri"/>
                <a:sym typeface="Calibri"/>
              </a:rPr>
            </a:br>
            <a:r>
              <a:rPr b="0" i="0" lang="en-GB" sz="800" u="none" cap="none" strike="noStrike">
                <a:solidFill>
                  <a:srgbClr val="D1D5DB"/>
                </a:solidFill>
                <a:latin typeface="Arial"/>
                <a:ea typeface="Arial"/>
                <a:cs typeface="Arial"/>
                <a:sym typeface="Arial"/>
              </a:rPr>
              <a:t>Code generation</a:t>
            </a:r>
            <a:endParaRPr b="0" i="0" sz="800" u="none" cap="none" strike="noStrike">
              <a:solidFill>
                <a:srgbClr val="FFFFFF"/>
              </a:solidFill>
              <a:latin typeface="Arial"/>
              <a:ea typeface="Arial"/>
              <a:cs typeface="Arial"/>
              <a:sym typeface="Arial"/>
            </a:endParaRPr>
          </a:p>
        </p:txBody>
      </p:sp>
      <p:sp>
        <p:nvSpPr>
          <p:cNvPr id="108" name="Google Shape;108;p19"/>
          <p:cNvSpPr/>
          <p:nvPr/>
        </p:nvSpPr>
        <p:spPr>
          <a:xfrm>
            <a:off x="5193720" y="2160540"/>
            <a:ext cx="434430" cy="387720"/>
          </a:xfrm>
          <a:prstGeom prst="rect">
            <a:avLst/>
          </a:prstGeom>
          <a:noFill/>
          <a:ln>
            <a:noFill/>
          </a:ln>
        </p:spPr>
        <p:txBody>
          <a:bodyPr anchorCtr="0" anchor="t" bIns="33750" lIns="67500" spcFirstLastPara="1" rIns="67500" wrap="square" tIns="3375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Arial"/>
              <a:ea typeface="Arial"/>
              <a:cs typeface="Arial"/>
              <a:sym typeface="Arial"/>
            </a:endParaRPr>
          </a:p>
        </p:txBody>
      </p:sp>
      <p:sp>
        <p:nvSpPr>
          <p:cNvPr id="109" name="Google Shape;109;p19"/>
          <p:cNvSpPr/>
          <p:nvPr/>
        </p:nvSpPr>
        <p:spPr>
          <a:xfrm>
            <a:off x="2090610" y="3326130"/>
            <a:ext cx="1521180" cy="1131300"/>
          </a:xfrm>
          <a:prstGeom prst="rect">
            <a:avLst/>
          </a:prstGeom>
          <a:solidFill>
            <a:srgbClr val="374151"/>
          </a:solidFill>
          <a:ln cap="flat" cmpd="sng" w="9525">
            <a:solidFill>
              <a:srgbClr val="6B7280"/>
            </a:solidFill>
            <a:prstDash val="solid"/>
            <a:round/>
            <a:headEnd len="sm" w="sm" type="none"/>
            <a:tailEnd len="sm" w="sm" type="none"/>
          </a:ln>
          <a:effectLst>
            <a:outerShdw blurRad="39960" rotWithShape="0" dir="5400000" dist="23040">
              <a:srgbClr val="000000">
                <a:alpha val="34901"/>
              </a:srgbClr>
            </a:outerShdw>
          </a:effectLst>
        </p:spPr>
        <p:txBody>
          <a:bodyPr anchorCtr="0" anchor="ctr" bIns="33750" lIns="67500" spcFirstLastPara="1" rIns="67500" wrap="square" tIns="3375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sp>
        <p:nvSpPr>
          <p:cNvPr id="110" name="Google Shape;110;p19"/>
          <p:cNvSpPr/>
          <p:nvPr/>
        </p:nvSpPr>
        <p:spPr>
          <a:xfrm>
            <a:off x="2163240" y="3420360"/>
            <a:ext cx="1376190" cy="227340"/>
          </a:xfrm>
          <a:prstGeom prst="rect">
            <a:avLst/>
          </a:prstGeom>
          <a:noFill/>
          <a:ln>
            <a:noFill/>
          </a:ln>
        </p:spPr>
        <p:txBody>
          <a:bodyPr anchorCtr="0" anchor="t" bIns="33750" lIns="67500" spcFirstLastPara="1" rIns="67500" wrap="square" tIns="33750">
            <a:noAutofit/>
          </a:bodyPr>
          <a:lstStyle/>
          <a:p>
            <a:pPr indent="0" lvl="0" marL="0" marR="0" rtl="0" algn="ctr">
              <a:lnSpc>
                <a:spcPct val="100000"/>
              </a:lnSpc>
              <a:spcBef>
                <a:spcPts val="0"/>
              </a:spcBef>
              <a:spcAft>
                <a:spcPts val="0"/>
              </a:spcAft>
              <a:buClr>
                <a:srgbClr val="000000"/>
              </a:buClr>
              <a:buSzPts val="1100"/>
              <a:buFont typeface="Arial"/>
              <a:buNone/>
            </a:pPr>
            <a:r>
              <a:rPr b="1" i="0" lang="en-GB" sz="1100" u="none" cap="none" strike="noStrike">
                <a:solidFill>
                  <a:srgbClr val="FFFFFF"/>
                </a:solidFill>
                <a:latin typeface="Arial"/>
                <a:ea typeface="Arial"/>
                <a:cs typeface="Arial"/>
                <a:sym typeface="Arial"/>
              </a:rPr>
              <a:t>MOTION</a:t>
            </a:r>
            <a:endParaRPr b="0" i="0" sz="1100" u="none" cap="none" strike="noStrike">
              <a:solidFill>
                <a:srgbClr val="FFFFFF"/>
              </a:solidFill>
              <a:latin typeface="Arial"/>
              <a:ea typeface="Arial"/>
              <a:cs typeface="Arial"/>
              <a:sym typeface="Arial"/>
            </a:endParaRPr>
          </a:p>
        </p:txBody>
      </p:sp>
      <p:sp>
        <p:nvSpPr>
          <p:cNvPr id="111" name="Google Shape;111;p19"/>
          <p:cNvSpPr/>
          <p:nvPr/>
        </p:nvSpPr>
        <p:spPr>
          <a:xfrm>
            <a:off x="2163240" y="3750570"/>
            <a:ext cx="1376190" cy="444690"/>
          </a:xfrm>
          <a:prstGeom prst="rect">
            <a:avLst/>
          </a:prstGeom>
          <a:noFill/>
          <a:ln>
            <a:noFill/>
          </a:ln>
        </p:spPr>
        <p:txBody>
          <a:bodyPr anchorCtr="0" anchor="t" bIns="33750" lIns="67500" spcFirstLastPara="1" rIns="67500" wrap="square" tIns="33750">
            <a:noAutofit/>
          </a:bodyPr>
          <a:lstStyle/>
          <a:p>
            <a:pPr indent="0" lvl="0" marL="0" marR="0" rtl="0" algn="ctr">
              <a:lnSpc>
                <a:spcPct val="100000"/>
              </a:lnSpc>
              <a:spcBef>
                <a:spcPts val="0"/>
              </a:spcBef>
              <a:spcAft>
                <a:spcPts val="0"/>
              </a:spcAft>
              <a:buClr>
                <a:srgbClr val="000000"/>
              </a:buClr>
              <a:buSzPts val="800"/>
              <a:buFont typeface="Arial"/>
              <a:buNone/>
            </a:pPr>
            <a:r>
              <a:rPr b="0" i="0" lang="en-GB" sz="800" u="none" cap="none" strike="noStrike">
                <a:solidFill>
                  <a:srgbClr val="D1D5DB"/>
                </a:solidFill>
                <a:latin typeface="Arial"/>
                <a:ea typeface="Arial"/>
                <a:cs typeface="Arial"/>
                <a:sym typeface="Arial"/>
              </a:rPr>
              <a:t>TRAC-IK solver</a:t>
            </a:r>
            <a:br>
              <a:rPr b="0" i="0" lang="en-GB" sz="800" u="none" cap="none" strike="noStrike">
                <a:solidFill>
                  <a:srgbClr val="000000"/>
                </a:solidFill>
                <a:latin typeface="Calibri"/>
                <a:ea typeface="Calibri"/>
                <a:cs typeface="Calibri"/>
                <a:sym typeface="Calibri"/>
              </a:rPr>
            </a:br>
            <a:r>
              <a:rPr b="0" i="0" lang="en-GB" sz="800" u="none" cap="none" strike="noStrike">
                <a:solidFill>
                  <a:srgbClr val="D1D5DB"/>
                </a:solidFill>
                <a:latin typeface="Arial"/>
                <a:ea typeface="Arial"/>
                <a:cs typeface="Arial"/>
                <a:sym typeface="Arial"/>
              </a:rPr>
              <a:t>Waypoint execution</a:t>
            </a:r>
            <a:br>
              <a:rPr b="0" i="0" lang="en-GB" sz="800" u="none" cap="none" strike="noStrike">
                <a:solidFill>
                  <a:srgbClr val="000000"/>
                </a:solidFill>
                <a:latin typeface="Calibri"/>
                <a:ea typeface="Calibri"/>
                <a:cs typeface="Calibri"/>
                <a:sym typeface="Calibri"/>
              </a:rPr>
            </a:br>
            <a:r>
              <a:rPr b="0" i="0" lang="en-GB" sz="800" u="none" cap="none" strike="noStrike">
                <a:solidFill>
                  <a:srgbClr val="D1D5DB"/>
                </a:solidFill>
                <a:latin typeface="Arial"/>
                <a:ea typeface="Arial"/>
                <a:cs typeface="Arial"/>
                <a:sym typeface="Arial"/>
              </a:rPr>
              <a:t>Gripper control</a:t>
            </a:r>
            <a:endParaRPr b="0" i="0" sz="800" u="none" cap="none" strike="noStrike">
              <a:solidFill>
                <a:srgbClr val="FFFFFF"/>
              </a:solidFill>
              <a:latin typeface="Arial"/>
              <a:ea typeface="Arial"/>
              <a:cs typeface="Arial"/>
              <a:sym typeface="Arial"/>
            </a:endParaRPr>
          </a:p>
        </p:txBody>
      </p:sp>
      <p:sp>
        <p:nvSpPr>
          <p:cNvPr id="112" name="Google Shape;112;p19"/>
          <p:cNvSpPr/>
          <p:nvPr/>
        </p:nvSpPr>
        <p:spPr>
          <a:xfrm>
            <a:off x="3467610" y="3703590"/>
            <a:ext cx="434160" cy="387450"/>
          </a:xfrm>
          <a:prstGeom prst="rect">
            <a:avLst/>
          </a:prstGeom>
          <a:noFill/>
          <a:ln>
            <a:noFill/>
          </a:ln>
        </p:spPr>
        <p:txBody>
          <a:bodyPr anchorCtr="0" anchor="t" bIns="33750" lIns="67500" spcFirstLastPara="1" rIns="67500" wrap="square" tIns="33750">
            <a:noAutofit/>
          </a:bodyPr>
          <a:lstStyle/>
          <a:p>
            <a:pPr indent="0" lvl="0" marL="0" marR="0" rtl="0" algn="ctr">
              <a:lnSpc>
                <a:spcPct val="100000"/>
              </a:lnSpc>
              <a:spcBef>
                <a:spcPts val="0"/>
              </a:spcBef>
              <a:spcAft>
                <a:spcPts val="0"/>
              </a:spcAft>
              <a:buClr>
                <a:srgbClr val="000000"/>
              </a:buClr>
              <a:buSzPts val="2100"/>
              <a:buFont typeface="Arial"/>
              <a:buNone/>
            </a:pPr>
            <a:r>
              <a:rPr b="0" i="0" lang="en-GB" sz="2100" u="none" cap="none" strike="noStrike">
                <a:solidFill>
                  <a:srgbClr val="6B7280"/>
                </a:solidFill>
                <a:latin typeface="Arial"/>
                <a:ea typeface="Arial"/>
                <a:cs typeface="Arial"/>
                <a:sym typeface="Arial"/>
              </a:rPr>
              <a:t>→</a:t>
            </a:r>
            <a:endParaRPr b="0" i="0" sz="2100" u="none" cap="none" strike="noStrike">
              <a:solidFill>
                <a:srgbClr val="FFFFFF"/>
              </a:solidFill>
              <a:latin typeface="Arial"/>
              <a:ea typeface="Arial"/>
              <a:cs typeface="Arial"/>
              <a:sym typeface="Arial"/>
            </a:endParaRPr>
          </a:p>
        </p:txBody>
      </p:sp>
      <p:sp>
        <p:nvSpPr>
          <p:cNvPr id="113" name="Google Shape;113;p19"/>
          <p:cNvSpPr/>
          <p:nvPr/>
        </p:nvSpPr>
        <p:spPr>
          <a:xfrm>
            <a:off x="3793500" y="3326130"/>
            <a:ext cx="1521180" cy="1131300"/>
          </a:xfrm>
          <a:prstGeom prst="rect">
            <a:avLst/>
          </a:prstGeom>
          <a:solidFill>
            <a:srgbClr val="374151"/>
          </a:solidFill>
          <a:ln cap="flat" cmpd="sng" w="9525">
            <a:solidFill>
              <a:srgbClr val="6B7280"/>
            </a:solidFill>
            <a:prstDash val="solid"/>
            <a:round/>
            <a:headEnd len="sm" w="sm" type="none"/>
            <a:tailEnd len="sm" w="sm" type="none"/>
          </a:ln>
          <a:effectLst>
            <a:outerShdw blurRad="39960" rotWithShape="0" dir="5400000" dist="23040">
              <a:srgbClr val="000000">
                <a:alpha val="34901"/>
              </a:srgbClr>
            </a:outerShdw>
          </a:effectLst>
        </p:spPr>
        <p:txBody>
          <a:bodyPr anchorCtr="0" anchor="ctr" bIns="33750" lIns="67500" spcFirstLastPara="1" rIns="67500" wrap="square" tIns="3375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sp>
        <p:nvSpPr>
          <p:cNvPr id="114" name="Google Shape;114;p19"/>
          <p:cNvSpPr/>
          <p:nvPr/>
        </p:nvSpPr>
        <p:spPr>
          <a:xfrm>
            <a:off x="3866130" y="3420360"/>
            <a:ext cx="1375920" cy="227340"/>
          </a:xfrm>
          <a:prstGeom prst="rect">
            <a:avLst/>
          </a:prstGeom>
          <a:noFill/>
          <a:ln>
            <a:noFill/>
          </a:ln>
        </p:spPr>
        <p:txBody>
          <a:bodyPr anchorCtr="0" anchor="t" bIns="33750" lIns="67500" spcFirstLastPara="1" rIns="67500" wrap="square" tIns="33750">
            <a:noAutofit/>
          </a:bodyPr>
          <a:lstStyle/>
          <a:p>
            <a:pPr indent="0" lvl="0" marL="0" marR="0" rtl="0" algn="ctr">
              <a:lnSpc>
                <a:spcPct val="100000"/>
              </a:lnSpc>
              <a:spcBef>
                <a:spcPts val="0"/>
              </a:spcBef>
              <a:spcAft>
                <a:spcPts val="0"/>
              </a:spcAft>
              <a:buClr>
                <a:srgbClr val="000000"/>
              </a:buClr>
              <a:buSzPts val="1100"/>
              <a:buFont typeface="Arial"/>
              <a:buNone/>
            </a:pPr>
            <a:r>
              <a:rPr b="1" i="0" lang="en-GB" sz="1100" u="none" cap="none" strike="noStrike">
                <a:solidFill>
                  <a:srgbClr val="FFFFFF"/>
                </a:solidFill>
                <a:latin typeface="Arial"/>
                <a:ea typeface="Arial"/>
                <a:cs typeface="Arial"/>
                <a:sym typeface="Arial"/>
              </a:rPr>
              <a:t>ROBOT</a:t>
            </a:r>
            <a:endParaRPr b="0" i="0" sz="1100" u="none" cap="none" strike="noStrike">
              <a:solidFill>
                <a:srgbClr val="FFFFFF"/>
              </a:solidFill>
              <a:latin typeface="Arial"/>
              <a:ea typeface="Arial"/>
              <a:cs typeface="Arial"/>
              <a:sym typeface="Arial"/>
            </a:endParaRPr>
          </a:p>
        </p:txBody>
      </p:sp>
      <p:sp>
        <p:nvSpPr>
          <p:cNvPr id="115" name="Google Shape;115;p19"/>
          <p:cNvSpPr/>
          <p:nvPr/>
        </p:nvSpPr>
        <p:spPr>
          <a:xfrm>
            <a:off x="3866130" y="3750570"/>
            <a:ext cx="1375920" cy="444690"/>
          </a:xfrm>
          <a:prstGeom prst="rect">
            <a:avLst/>
          </a:prstGeom>
          <a:noFill/>
          <a:ln>
            <a:noFill/>
          </a:ln>
        </p:spPr>
        <p:txBody>
          <a:bodyPr anchorCtr="0" anchor="t" bIns="33750" lIns="67500" spcFirstLastPara="1" rIns="67500" wrap="square" tIns="33750">
            <a:noAutofit/>
          </a:bodyPr>
          <a:lstStyle/>
          <a:p>
            <a:pPr indent="0" lvl="0" marL="0" marR="0" rtl="0" algn="ctr">
              <a:lnSpc>
                <a:spcPct val="100000"/>
              </a:lnSpc>
              <a:spcBef>
                <a:spcPts val="0"/>
              </a:spcBef>
              <a:spcAft>
                <a:spcPts val="0"/>
              </a:spcAft>
              <a:buClr>
                <a:srgbClr val="000000"/>
              </a:buClr>
              <a:buSzPts val="800"/>
              <a:buFont typeface="Arial"/>
              <a:buNone/>
            </a:pPr>
            <a:r>
              <a:rPr b="0" i="0" lang="en-GB" sz="800" u="none" cap="none" strike="noStrike">
                <a:solidFill>
                  <a:srgbClr val="D1D5DB"/>
                </a:solidFill>
                <a:latin typeface="Arial"/>
                <a:ea typeface="Arial"/>
                <a:cs typeface="Arial"/>
                <a:sym typeface="Arial"/>
              </a:rPr>
              <a:t>intera_interface</a:t>
            </a:r>
            <a:br>
              <a:rPr b="0" i="0" lang="en-GB" sz="800" u="none" cap="none" strike="noStrike">
                <a:solidFill>
                  <a:srgbClr val="000000"/>
                </a:solidFill>
                <a:latin typeface="Calibri"/>
                <a:ea typeface="Calibri"/>
                <a:cs typeface="Calibri"/>
                <a:sym typeface="Calibri"/>
              </a:rPr>
            </a:br>
            <a:r>
              <a:rPr b="0" i="0" lang="en-GB" sz="800" u="none" cap="none" strike="noStrike">
                <a:solidFill>
                  <a:srgbClr val="D1D5DB"/>
                </a:solidFill>
                <a:latin typeface="Arial"/>
                <a:ea typeface="Arial"/>
                <a:cs typeface="Arial"/>
                <a:sym typeface="Arial"/>
              </a:rPr>
              <a:t>Joint publishers</a:t>
            </a:r>
            <a:br>
              <a:rPr b="0" i="0" lang="en-GB" sz="800" u="none" cap="none" strike="noStrike">
                <a:solidFill>
                  <a:srgbClr val="000000"/>
                </a:solidFill>
                <a:latin typeface="Calibri"/>
                <a:ea typeface="Calibri"/>
                <a:cs typeface="Calibri"/>
                <a:sym typeface="Calibri"/>
              </a:rPr>
            </a:br>
            <a:r>
              <a:rPr b="0" i="0" lang="en-GB" sz="800" u="none" cap="none" strike="noStrike">
                <a:solidFill>
                  <a:srgbClr val="D1D5DB"/>
                </a:solidFill>
                <a:latin typeface="Arial"/>
                <a:ea typeface="Arial"/>
                <a:cs typeface="Arial"/>
                <a:sym typeface="Arial"/>
              </a:rPr>
              <a:t>ROS topics</a:t>
            </a:r>
            <a:endParaRPr b="0" i="0" sz="800" u="none" cap="none" strike="noStrike">
              <a:solidFill>
                <a:srgbClr val="FFFFFF"/>
              </a:solidFill>
              <a:latin typeface="Arial"/>
              <a:ea typeface="Arial"/>
              <a:cs typeface="Arial"/>
              <a:sym typeface="Arial"/>
            </a:endParaRPr>
          </a:p>
        </p:txBody>
      </p:sp>
      <p:pic>
        <p:nvPicPr>
          <p:cNvPr id="116" name="Google Shape;116;p19"/>
          <p:cNvPicPr preferRelativeResize="0"/>
          <p:nvPr/>
        </p:nvPicPr>
        <p:blipFill rotWithShape="1">
          <a:blip r:embed="rId3">
            <a:alphaModFix/>
          </a:blip>
          <a:srcRect b="0" l="0" r="0" t="0"/>
          <a:stretch/>
        </p:blipFill>
        <p:spPr>
          <a:xfrm>
            <a:off x="6000750" y="1267920"/>
            <a:ext cx="2914380" cy="3703860"/>
          </a:xfrm>
          <a:prstGeom prst="rect">
            <a:avLst/>
          </a:prstGeom>
          <a:noFill/>
          <a:ln>
            <a:noFill/>
          </a:ln>
        </p:spPr>
      </p:pic>
      <p:cxnSp>
        <p:nvCxnSpPr>
          <p:cNvPr id="117" name="Google Shape;117;p19"/>
          <p:cNvCxnSpPr>
            <a:stCxn id="105" idx="3"/>
            <a:endCxn id="109" idx="1"/>
          </p:cNvCxnSpPr>
          <p:nvPr/>
        </p:nvCxnSpPr>
        <p:spPr>
          <a:xfrm flipH="1">
            <a:off x="2090700" y="2348730"/>
            <a:ext cx="3247200" cy="1543200"/>
          </a:xfrm>
          <a:prstGeom prst="bentConnector5">
            <a:avLst>
              <a:gd fmla="val -4174" name="adj1"/>
              <a:gd fmla="val 50035" name="adj2"/>
              <a:gd fmla="val 106297" name="adj3"/>
            </a:avLst>
          </a:prstGeom>
          <a:noFill/>
          <a:ln cap="flat" cmpd="sng" w="9525">
            <a:solidFill>
              <a:srgbClr val="6B7280"/>
            </a:solidFill>
            <a:prstDash val="solid"/>
            <a:round/>
            <a:headEnd len="sm" w="sm" type="none"/>
            <a:tailEnd len="sm" w="sm" type="none"/>
          </a:ln>
        </p:spPr>
      </p:cxnSp>
      <p:cxnSp>
        <p:nvCxnSpPr>
          <p:cNvPr id="118" name="Google Shape;118;p19"/>
          <p:cNvCxnSpPr/>
          <p:nvPr/>
        </p:nvCxnSpPr>
        <p:spPr>
          <a:xfrm>
            <a:off x="1885950" y="3891780"/>
            <a:ext cx="207630" cy="270"/>
          </a:xfrm>
          <a:prstGeom prst="straightConnector1">
            <a:avLst/>
          </a:prstGeom>
          <a:noFill/>
          <a:ln cap="flat" cmpd="sng" w="9525">
            <a:solidFill>
              <a:srgbClr val="6B7280"/>
            </a:solidFill>
            <a:prstDash val="solid"/>
            <a:round/>
            <a:headEnd len="sm" w="sm" type="none"/>
            <a:tailEnd len="med" w="med" type="triangle"/>
          </a:ln>
        </p:spPr>
      </p:cxn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F2937"/>
        </a:solidFill>
      </p:bgPr>
    </p:bg>
    <p:spTree>
      <p:nvGrpSpPr>
        <p:cNvPr id="123" name="Shape 123"/>
        <p:cNvGrpSpPr/>
        <p:nvPr/>
      </p:nvGrpSpPr>
      <p:grpSpPr>
        <a:xfrm>
          <a:off x="0" y="0"/>
          <a:ext cx="0" cy="0"/>
          <a:chOff x="0" y="0"/>
          <a:chExt cx="0" cy="0"/>
        </a:xfrm>
      </p:grpSpPr>
      <p:sp>
        <p:nvSpPr>
          <p:cNvPr id="124" name="Google Shape;124;p20"/>
          <p:cNvSpPr/>
          <p:nvPr/>
        </p:nvSpPr>
        <p:spPr>
          <a:xfrm>
            <a:off x="2085480" y="861030"/>
            <a:ext cx="5044410" cy="3737340"/>
          </a:xfrm>
          <a:prstGeom prst="roundRect">
            <a:avLst>
              <a:gd fmla="val 16667" name="adj"/>
            </a:avLst>
          </a:prstGeom>
          <a:solidFill>
            <a:srgbClr val="3F3151"/>
          </a:solidFill>
          <a:ln cap="flat" cmpd="sng" w="12700">
            <a:solidFill>
              <a:srgbClr val="634AA7"/>
            </a:solidFill>
            <a:prstDash val="dash"/>
            <a:round/>
            <a:headEnd len="sm" w="sm" type="none"/>
            <a:tailEnd len="sm" w="sm" type="none"/>
          </a:ln>
          <a:effectLst>
            <a:outerShdw blurRad="39960" rotWithShape="0" dir="5400000" dist="23040">
              <a:srgbClr val="000000">
                <a:alpha val="34901"/>
              </a:srgbClr>
            </a:outerShdw>
          </a:effectLst>
        </p:spPr>
        <p:txBody>
          <a:bodyPr anchorCtr="0" anchor="ctr" bIns="33750" lIns="67500" spcFirstLastPara="1" rIns="67500" wrap="square" tIns="337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sp>
        <p:nvSpPr>
          <p:cNvPr id="125" name="Google Shape;125;p20"/>
          <p:cNvSpPr/>
          <p:nvPr/>
        </p:nvSpPr>
        <p:spPr>
          <a:xfrm>
            <a:off x="79110" y="909090"/>
            <a:ext cx="1898910" cy="3689280"/>
          </a:xfrm>
          <a:prstGeom prst="roundRect">
            <a:avLst>
              <a:gd fmla="val 16667" name="adj"/>
            </a:avLst>
          </a:prstGeom>
          <a:solidFill>
            <a:srgbClr val="17365D"/>
          </a:solidFill>
          <a:ln cap="flat" cmpd="sng" w="12700">
            <a:solidFill>
              <a:srgbClr val="8CB3E3"/>
            </a:solidFill>
            <a:prstDash val="dash"/>
            <a:round/>
            <a:headEnd len="sm" w="sm" type="none"/>
            <a:tailEnd len="sm" w="sm" type="none"/>
          </a:ln>
          <a:effectLst>
            <a:outerShdw blurRad="39960" rotWithShape="0" dir="5400000" dist="23040">
              <a:srgbClr val="000000">
                <a:alpha val="34901"/>
              </a:srgbClr>
            </a:outerShdw>
          </a:effectLst>
        </p:spPr>
        <p:txBody>
          <a:bodyPr anchorCtr="0" anchor="ctr" bIns="33750" lIns="67500" spcFirstLastPara="1" rIns="67500" wrap="square" tIns="337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sp>
        <p:nvSpPr>
          <p:cNvPr id="126" name="Google Shape;126;p20"/>
          <p:cNvSpPr/>
          <p:nvPr/>
        </p:nvSpPr>
        <p:spPr>
          <a:xfrm>
            <a:off x="1043820" y="3065580"/>
            <a:ext cx="822690" cy="184950"/>
          </a:xfrm>
          <a:prstGeom prst="roundRect">
            <a:avLst>
              <a:gd fmla="val 16667" name="adj"/>
            </a:avLst>
          </a:prstGeom>
          <a:solidFill>
            <a:schemeClr val="dk1"/>
          </a:solidFill>
          <a:ln cap="flat" cmpd="sng" w="10150">
            <a:solidFill>
              <a:srgbClr val="1C63B5"/>
            </a:solidFill>
            <a:prstDash val="solid"/>
            <a:round/>
            <a:headEnd len="sm" w="sm" type="none"/>
            <a:tailEnd len="sm" w="sm" type="none"/>
          </a:ln>
          <a:effectLst>
            <a:outerShdw blurRad="39960" rotWithShape="0" dir="5400000" dist="23040">
              <a:srgbClr val="000000">
                <a:alpha val="34901"/>
              </a:srgbClr>
            </a:outerShdw>
          </a:effectLst>
        </p:spPr>
        <p:txBody>
          <a:bodyPr anchorCtr="0" anchor="ctr" bIns="33750" lIns="67500" spcFirstLastPara="1" rIns="67500" wrap="square" tIns="337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sp>
        <p:nvSpPr>
          <p:cNvPr id="127" name="Google Shape;127;p20"/>
          <p:cNvSpPr/>
          <p:nvPr/>
        </p:nvSpPr>
        <p:spPr>
          <a:xfrm>
            <a:off x="326430" y="108810"/>
            <a:ext cx="7543530" cy="410130"/>
          </a:xfrm>
          <a:prstGeom prst="rect">
            <a:avLst/>
          </a:prstGeom>
          <a:noFill/>
          <a:ln>
            <a:noFill/>
          </a:ln>
        </p:spPr>
        <p:txBody>
          <a:bodyPr anchorCtr="0" anchor="t" bIns="33750" lIns="67500" spcFirstLastPara="1" rIns="67500" wrap="square" tIns="33750">
            <a:noAutofit/>
          </a:bodyPr>
          <a:lstStyle/>
          <a:p>
            <a:pPr indent="0" lvl="0" marL="0" marR="0" rtl="0" algn="l">
              <a:lnSpc>
                <a:spcPct val="100000"/>
              </a:lnSpc>
              <a:spcBef>
                <a:spcPts val="0"/>
              </a:spcBef>
              <a:spcAft>
                <a:spcPts val="0"/>
              </a:spcAft>
              <a:buClr>
                <a:srgbClr val="000000"/>
              </a:buClr>
              <a:buSzPts val="2300"/>
              <a:buFont typeface="Arial"/>
              <a:buNone/>
            </a:pPr>
            <a:r>
              <a:rPr b="1" i="0" lang="en-GB" sz="2300" u="none" cap="none" strike="noStrike">
                <a:solidFill>
                  <a:srgbClr val="FFFFFF"/>
                </a:solidFill>
                <a:latin typeface="Arial"/>
                <a:ea typeface="Arial"/>
                <a:cs typeface="Arial"/>
                <a:sym typeface="Arial"/>
              </a:rPr>
              <a:t>Simulation Environment  —  Jun</a:t>
            </a:r>
            <a:endParaRPr b="0" i="0" sz="2300" u="none" cap="none" strike="noStrike">
              <a:solidFill>
                <a:srgbClr val="FFFFFF"/>
              </a:solidFill>
              <a:latin typeface="Arial"/>
              <a:ea typeface="Arial"/>
              <a:cs typeface="Arial"/>
              <a:sym typeface="Arial"/>
            </a:endParaRPr>
          </a:p>
        </p:txBody>
      </p:sp>
      <p:sp>
        <p:nvSpPr>
          <p:cNvPr id="128" name="Google Shape;128;p20"/>
          <p:cNvSpPr/>
          <p:nvPr/>
        </p:nvSpPr>
        <p:spPr>
          <a:xfrm>
            <a:off x="548640" y="685800"/>
            <a:ext cx="1714230" cy="28350"/>
          </a:xfrm>
          <a:prstGeom prst="rect">
            <a:avLst/>
          </a:prstGeom>
          <a:solidFill>
            <a:srgbClr val="6B7280"/>
          </a:solidFill>
          <a:ln>
            <a:noFill/>
          </a:ln>
          <a:effectLst>
            <a:outerShdw blurRad="39960" rotWithShape="0" dir="5400000" dist="23040">
              <a:srgbClr val="000000">
                <a:alpha val="34901"/>
              </a:srgbClr>
            </a:outerShdw>
          </a:effectLst>
        </p:spPr>
        <p:txBody>
          <a:bodyPr anchorCtr="0" anchor="ctr" bIns="0" lIns="67500" spcFirstLastPara="1" rIns="6750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sp>
        <p:nvSpPr>
          <p:cNvPr id="129" name="Google Shape;129;p20"/>
          <p:cNvSpPr/>
          <p:nvPr/>
        </p:nvSpPr>
        <p:spPr>
          <a:xfrm>
            <a:off x="262980" y="778140"/>
            <a:ext cx="1530090" cy="311850"/>
          </a:xfrm>
          <a:prstGeom prst="roundRect">
            <a:avLst>
              <a:gd fmla="val 16667" name="adj"/>
            </a:avLst>
          </a:prstGeom>
          <a:solidFill>
            <a:srgbClr val="366092"/>
          </a:solidFill>
          <a:ln cap="flat" cmpd="sng" w="12700">
            <a:solidFill>
              <a:srgbClr val="2563A5"/>
            </a:solidFill>
            <a:prstDash val="solid"/>
            <a:round/>
            <a:headEnd len="sm" w="sm" type="none"/>
            <a:tailEnd len="sm" w="sm" type="none"/>
          </a:ln>
          <a:effectLst>
            <a:outerShdw blurRad="39960" rotWithShape="0" dir="5400000" dist="23040">
              <a:srgbClr val="000000">
                <a:alpha val="34901"/>
              </a:srgbClr>
            </a:outerShdw>
          </a:effectLst>
        </p:spPr>
        <p:txBody>
          <a:bodyPr anchorCtr="0" anchor="ctr" bIns="20525" lIns="41025" spcFirstLastPara="1" rIns="41025" wrap="square" tIns="20525">
            <a:noAutofit/>
          </a:bodyPr>
          <a:lstStyle/>
          <a:p>
            <a:pPr indent="0" lvl="0" marL="0" marR="0" rtl="0" algn="ctr">
              <a:lnSpc>
                <a:spcPct val="100000"/>
              </a:lnSpc>
              <a:spcBef>
                <a:spcPts val="0"/>
              </a:spcBef>
              <a:spcAft>
                <a:spcPts val="0"/>
              </a:spcAft>
              <a:buClr>
                <a:srgbClr val="000000"/>
              </a:buClr>
              <a:buSzPts val="900"/>
              <a:buFont typeface="Arial"/>
              <a:buNone/>
            </a:pPr>
            <a:r>
              <a:rPr b="1" i="0" lang="en-GB" sz="900" u="none" cap="none" strike="noStrike">
                <a:solidFill>
                  <a:schemeClr val="lt1"/>
                </a:solidFill>
                <a:latin typeface="Arial"/>
                <a:ea typeface="Arial"/>
                <a:cs typeface="Arial"/>
                <a:sym typeface="Arial"/>
              </a:rPr>
              <a:t>Simulation Platform Overview</a:t>
            </a:r>
            <a:endParaRPr b="0" i="0" sz="900" u="none" cap="none" strike="noStrike">
              <a:solidFill>
                <a:srgbClr val="FFFFFF"/>
              </a:solidFill>
              <a:latin typeface="Arial"/>
              <a:ea typeface="Arial"/>
              <a:cs typeface="Arial"/>
              <a:sym typeface="Arial"/>
            </a:endParaRPr>
          </a:p>
        </p:txBody>
      </p:sp>
      <p:sp>
        <p:nvSpPr>
          <p:cNvPr id="130" name="Google Shape;130;p20"/>
          <p:cNvSpPr/>
          <p:nvPr/>
        </p:nvSpPr>
        <p:spPr>
          <a:xfrm>
            <a:off x="291330" y="3337740"/>
            <a:ext cx="719820" cy="318600"/>
          </a:xfrm>
          <a:prstGeom prst="rect">
            <a:avLst/>
          </a:prstGeom>
          <a:noFill/>
          <a:ln>
            <a:noFill/>
          </a:ln>
        </p:spPr>
        <p:txBody>
          <a:bodyPr anchorCtr="0" anchor="ctr" bIns="13775" lIns="34275" spcFirstLastPara="1" rIns="34275" wrap="square" tIns="13775">
            <a:noAutofit/>
          </a:bodyPr>
          <a:lstStyle/>
          <a:p>
            <a:pPr indent="0" lvl="0" marL="0" marR="0" rtl="0" algn="l">
              <a:lnSpc>
                <a:spcPct val="100000"/>
              </a:lnSpc>
              <a:spcBef>
                <a:spcPts val="0"/>
              </a:spcBef>
              <a:spcAft>
                <a:spcPts val="0"/>
              </a:spcAft>
              <a:buClr>
                <a:srgbClr val="000000"/>
              </a:buClr>
              <a:buSzPts val="600"/>
              <a:buFont typeface="Arial"/>
              <a:buNone/>
            </a:pPr>
            <a:r>
              <a:rPr b="0" i="0" lang="en-GB" sz="600" u="none" cap="none" strike="noStrike">
                <a:solidFill>
                  <a:schemeClr val="lt1"/>
                </a:solidFill>
                <a:latin typeface="Arial"/>
                <a:ea typeface="Arial"/>
                <a:cs typeface="Arial"/>
                <a:sym typeface="Arial"/>
              </a:rPr>
              <a:t>Physics simulation</a:t>
            </a:r>
            <a:endParaRPr b="0" i="0" sz="600" u="none" cap="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600"/>
              <a:buFont typeface="Arial"/>
              <a:buNone/>
            </a:pPr>
            <a:r>
              <a:rPr b="0" i="0" lang="en-GB" sz="600" u="none" cap="none" strike="noStrike">
                <a:solidFill>
                  <a:schemeClr val="lt1"/>
                </a:solidFill>
                <a:latin typeface="Arial"/>
                <a:ea typeface="Arial"/>
                <a:cs typeface="Arial"/>
                <a:sym typeface="Arial"/>
              </a:rPr>
              <a:t>and rendering</a:t>
            </a:r>
            <a:endParaRPr b="0" i="0" sz="600" u="none" cap="none" strike="noStrike">
              <a:solidFill>
                <a:srgbClr val="FFFFFF"/>
              </a:solidFill>
              <a:latin typeface="Arial"/>
              <a:ea typeface="Arial"/>
              <a:cs typeface="Arial"/>
              <a:sym typeface="Arial"/>
            </a:endParaRPr>
          </a:p>
        </p:txBody>
      </p:sp>
      <p:sp>
        <p:nvSpPr>
          <p:cNvPr id="131" name="Google Shape;131;p20"/>
          <p:cNvSpPr/>
          <p:nvPr/>
        </p:nvSpPr>
        <p:spPr>
          <a:xfrm>
            <a:off x="1118070" y="3337740"/>
            <a:ext cx="882630" cy="318600"/>
          </a:xfrm>
          <a:prstGeom prst="rect">
            <a:avLst/>
          </a:prstGeom>
          <a:noFill/>
          <a:ln>
            <a:noFill/>
          </a:ln>
        </p:spPr>
        <p:txBody>
          <a:bodyPr anchorCtr="0" anchor="ctr" bIns="13775" lIns="34275" spcFirstLastPara="1" rIns="34275" wrap="square" tIns="13775">
            <a:noAutofit/>
          </a:bodyPr>
          <a:lstStyle/>
          <a:p>
            <a:pPr indent="0" lvl="0" marL="0" marR="0" rtl="0" algn="l">
              <a:lnSpc>
                <a:spcPct val="100000"/>
              </a:lnSpc>
              <a:spcBef>
                <a:spcPts val="0"/>
              </a:spcBef>
              <a:spcAft>
                <a:spcPts val="0"/>
              </a:spcAft>
              <a:buClr>
                <a:srgbClr val="000000"/>
              </a:buClr>
              <a:buSzPts val="600"/>
              <a:buFont typeface="Arial"/>
              <a:buNone/>
            </a:pPr>
            <a:r>
              <a:rPr b="0" i="0" lang="en-GB" sz="600" u="none" cap="none" strike="noStrike">
                <a:solidFill>
                  <a:schemeClr val="lt1"/>
                </a:solidFill>
                <a:latin typeface="Arial"/>
                <a:ea typeface="Arial"/>
                <a:cs typeface="Arial"/>
                <a:sym typeface="Arial"/>
              </a:rPr>
              <a:t>7-DOF arm</a:t>
            </a:r>
            <a:endParaRPr b="0" i="0" sz="600" u="none" cap="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600"/>
              <a:buFont typeface="Arial"/>
              <a:buNone/>
            </a:pPr>
            <a:r>
              <a:rPr b="0" i="0" lang="en-GB" sz="600" u="none" cap="none" strike="noStrike">
                <a:solidFill>
                  <a:schemeClr val="lt1"/>
                </a:solidFill>
                <a:latin typeface="Arial"/>
                <a:ea typeface="Arial"/>
                <a:cs typeface="Arial"/>
                <a:sym typeface="Arial"/>
              </a:rPr>
              <a:t>Top-down view</a:t>
            </a:r>
            <a:endParaRPr b="0" i="0" sz="600" u="none" cap="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600"/>
              <a:buFont typeface="Arial"/>
              <a:buNone/>
            </a:pPr>
            <a:r>
              <a:t/>
            </a:r>
            <a:endParaRPr b="0" i="0" sz="600" u="none" cap="none" strike="noStrike">
              <a:solidFill>
                <a:srgbClr val="FFFFFF"/>
              </a:solidFill>
              <a:latin typeface="Arial"/>
              <a:ea typeface="Arial"/>
              <a:cs typeface="Arial"/>
              <a:sym typeface="Arial"/>
            </a:endParaRPr>
          </a:p>
        </p:txBody>
      </p:sp>
      <p:sp>
        <p:nvSpPr>
          <p:cNvPr id="132" name="Google Shape;132;p20"/>
          <p:cNvSpPr/>
          <p:nvPr/>
        </p:nvSpPr>
        <p:spPr>
          <a:xfrm>
            <a:off x="1162350" y="4104270"/>
            <a:ext cx="719820" cy="124200"/>
          </a:xfrm>
          <a:prstGeom prst="rect">
            <a:avLst/>
          </a:prstGeom>
          <a:noFill/>
          <a:ln>
            <a:noFill/>
          </a:ln>
        </p:spPr>
        <p:txBody>
          <a:bodyPr anchorCtr="0" anchor="ctr" bIns="13775" lIns="34275" spcFirstLastPara="1" rIns="34275" wrap="square" tIns="13775">
            <a:noAutofit/>
          </a:bodyPr>
          <a:lstStyle/>
          <a:p>
            <a:pPr indent="0" lvl="0" marL="0" marR="0" rtl="0" algn="l">
              <a:lnSpc>
                <a:spcPct val="100000"/>
              </a:lnSpc>
              <a:spcBef>
                <a:spcPts val="0"/>
              </a:spcBef>
              <a:spcAft>
                <a:spcPts val="0"/>
              </a:spcAft>
              <a:buClr>
                <a:srgbClr val="000000"/>
              </a:buClr>
              <a:buSzPts val="600"/>
              <a:buFont typeface="Arial"/>
              <a:buNone/>
            </a:pPr>
            <a:r>
              <a:rPr b="0" i="0" lang="en-GB" sz="600" u="none" cap="none" strike="noStrike">
                <a:solidFill>
                  <a:schemeClr val="lt1"/>
                </a:solidFill>
                <a:latin typeface="Arial"/>
                <a:ea typeface="Arial"/>
                <a:cs typeface="Arial"/>
                <a:sym typeface="Arial"/>
              </a:rPr>
              <a:t>Electric gripper</a:t>
            </a:r>
            <a:endParaRPr b="0" i="0" sz="600" u="none" cap="none" strike="noStrike">
              <a:solidFill>
                <a:srgbClr val="FFFFFF"/>
              </a:solidFill>
              <a:latin typeface="Arial"/>
              <a:ea typeface="Arial"/>
              <a:cs typeface="Arial"/>
              <a:sym typeface="Arial"/>
            </a:endParaRPr>
          </a:p>
        </p:txBody>
      </p:sp>
      <p:sp>
        <p:nvSpPr>
          <p:cNvPr id="133" name="Google Shape;133;p20"/>
          <p:cNvSpPr/>
          <p:nvPr/>
        </p:nvSpPr>
        <p:spPr>
          <a:xfrm>
            <a:off x="291330" y="4075380"/>
            <a:ext cx="719820" cy="221400"/>
          </a:xfrm>
          <a:prstGeom prst="rect">
            <a:avLst/>
          </a:prstGeom>
          <a:noFill/>
          <a:ln>
            <a:noFill/>
          </a:ln>
        </p:spPr>
        <p:txBody>
          <a:bodyPr anchorCtr="0" anchor="ctr" bIns="13775" lIns="34275" spcFirstLastPara="1" rIns="34275" wrap="square" tIns="13775">
            <a:noAutofit/>
          </a:bodyPr>
          <a:lstStyle/>
          <a:p>
            <a:pPr indent="0" lvl="0" marL="0" marR="0" rtl="0" algn="l">
              <a:lnSpc>
                <a:spcPct val="100000"/>
              </a:lnSpc>
              <a:spcBef>
                <a:spcPts val="0"/>
              </a:spcBef>
              <a:spcAft>
                <a:spcPts val="0"/>
              </a:spcAft>
              <a:buClr>
                <a:srgbClr val="000000"/>
              </a:buClr>
              <a:buSzPts val="600"/>
              <a:buFont typeface="Arial"/>
              <a:buNone/>
            </a:pPr>
            <a:r>
              <a:rPr b="0" i="0" lang="en-GB" sz="600" u="none" cap="none" strike="noStrike">
                <a:solidFill>
                  <a:schemeClr val="lt1"/>
                </a:solidFill>
                <a:latin typeface="Arial"/>
                <a:ea typeface="Arial"/>
                <a:cs typeface="Arial"/>
                <a:sym typeface="Arial"/>
              </a:rPr>
              <a:t>Communication</a:t>
            </a:r>
            <a:endParaRPr b="0" i="0" sz="600" u="none" cap="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600"/>
              <a:buFont typeface="Arial"/>
              <a:buNone/>
            </a:pPr>
            <a:r>
              <a:rPr b="0" i="0" lang="en-GB" sz="600" u="none" cap="none" strike="noStrike">
                <a:solidFill>
                  <a:schemeClr val="lt1"/>
                </a:solidFill>
                <a:latin typeface="Arial"/>
                <a:ea typeface="Arial"/>
                <a:cs typeface="Arial"/>
                <a:sym typeface="Arial"/>
              </a:rPr>
              <a:t>and integration</a:t>
            </a:r>
            <a:endParaRPr b="0" i="0" sz="600" u="none" cap="none" strike="noStrike">
              <a:solidFill>
                <a:srgbClr val="FFFFFF"/>
              </a:solidFill>
              <a:latin typeface="Arial"/>
              <a:ea typeface="Arial"/>
              <a:cs typeface="Arial"/>
              <a:sym typeface="Arial"/>
            </a:endParaRPr>
          </a:p>
        </p:txBody>
      </p:sp>
      <p:sp>
        <p:nvSpPr>
          <p:cNvPr id="134" name="Google Shape;134;p20"/>
          <p:cNvSpPr/>
          <p:nvPr/>
        </p:nvSpPr>
        <p:spPr>
          <a:xfrm>
            <a:off x="142020" y="3063420"/>
            <a:ext cx="822690" cy="184950"/>
          </a:xfrm>
          <a:prstGeom prst="roundRect">
            <a:avLst>
              <a:gd fmla="val 16667" name="adj"/>
            </a:avLst>
          </a:prstGeom>
          <a:solidFill>
            <a:schemeClr val="dk1"/>
          </a:solidFill>
          <a:ln cap="flat" cmpd="sng" w="10150">
            <a:solidFill>
              <a:srgbClr val="1C63B5"/>
            </a:solidFill>
            <a:prstDash val="solid"/>
            <a:round/>
            <a:headEnd len="sm" w="sm" type="none"/>
            <a:tailEnd len="sm" w="sm" type="none"/>
          </a:ln>
          <a:effectLst>
            <a:outerShdw blurRad="39960" rotWithShape="0" dir="5400000" dist="23040">
              <a:srgbClr val="000000">
                <a:alpha val="34901"/>
              </a:srgbClr>
            </a:outerShdw>
          </a:effectLst>
        </p:spPr>
        <p:txBody>
          <a:bodyPr anchorCtr="0" anchor="ctr" bIns="33750" lIns="67500" spcFirstLastPara="1" rIns="67500" wrap="square" tIns="337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sp>
        <p:nvSpPr>
          <p:cNvPr id="135" name="Google Shape;135;p20"/>
          <p:cNvSpPr/>
          <p:nvPr/>
        </p:nvSpPr>
        <p:spPr>
          <a:xfrm>
            <a:off x="378810" y="3086100"/>
            <a:ext cx="345870" cy="113670"/>
          </a:xfrm>
          <a:prstGeom prst="rect">
            <a:avLst/>
          </a:prstGeom>
          <a:noFill/>
          <a:ln>
            <a:noFill/>
          </a:ln>
        </p:spPr>
        <p:txBody>
          <a:bodyPr anchorCtr="0" anchor="t" bIns="6750" lIns="20525" spcFirstLastPara="1" rIns="20525" wrap="square" tIns="6750">
            <a:noAutofit/>
          </a:bodyPr>
          <a:lstStyle/>
          <a:p>
            <a:pPr indent="0" lvl="0" marL="0" marR="0" rtl="0" algn="ctr">
              <a:lnSpc>
                <a:spcPct val="100000"/>
              </a:lnSpc>
              <a:spcBef>
                <a:spcPts val="0"/>
              </a:spcBef>
              <a:spcAft>
                <a:spcPts val="0"/>
              </a:spcAft>
              <a:buClr>
                <a:srgbClr val="000000"/>
              </a:buClr>
              <a:buSzPts val="700"/>
              <a:buFont typeface="Arial"/>
              <a:buNone/>
            </a:pPr>
            <a:r>
              <a:rPr b="1" i="0" lang="en-GB" sz="700" u="none" cap="none" strike="noStrike">
                <a:solidFill>
                  <a:schemeClr val="lt1"/>
                </a:solidFill>
                <a:latin typeface="Calibri"/>
                <a:ea typeface="Calibri"/>
                <a:cs typeface="Calibri"/>
                <a:sym typeface="Calibri"/>
              </a:rPr>
              <a:t>Gazebo</a:t>
            </a:r>
            <a:endParaRPr b="0" i="0" sz="700" u="none" cap="none" strike="noStrike">
              <a:solidFill>
                <a:srgbClr val="FFFFFF"/>
              </a:solidFill>
              <a:latin typeface="Arial"/>
              <a:ea typeface="Arial"/>
              <a:cs typeface="Arial"/>
              <a:sym typeface="Arial"/>
            </a:endParaRPr>
          </a:p>
        </p:txBody>
      </p:sp>
      <p:sp>
        <p:nvSpPr>
          <p:cNvPr id="136" name="Google Shape;136;p20"/>
          <p:cNvSpPr/>
          <p:nvPr/>
        </p:nvSpPr>
        <p:spPr>
          <a:xfrm>
            <a:off x="957690" y="3084210"/>
            <a:ext cx="995220" cy="113670"/>
          </a:xfrm>
          <a:prstGeom prst="rect">
            <a:avLst/>
          </a:prstGeom>
          <a:noFill/>
          <a:ln>
            <a:noFill/>
          </a:ln>
        </p:spPr>
        <p:txBody>
          <a:bodyPr anchorCtr="0" anchor="t" bIns="6750" lIns="20525" spcFirstLastPara="1" rIns="20525" wrap="square" tIns="6750">
            <a:noAutofit/>
          </a:bodyPr>
          <a:lstStyle/>
          <a:p>
            <a:pPr indent="0" lvl="0" marL="0" marR="0" rtl="0" algn="ctr">
              <a:lnSpc>
                <a:spcPct val="100000"/>
              </a:lnSpc>
              <a:spcBef>
                <a:spcPts val="0"/>
              </a:spcBef>
              <a:spcAft>
                <a:spcPts val="0"/>
              </a:spcAft>
              <a:buClr>
                <a:srgbClr val="000000"/>
              </a:buClr>
              <a:buSzPts val="700"/>
              <a:buFont typeface="Arial"/>
              <a:buNone/>
            </a:pPr>
            <a:r>
              <a:rPr b="1" i="0" lang="en-GB" sz="700" u="none" cap="none" strike="noStrike">
                <a:solidFill>
                  <a:schemeClr val="lt1"/>
                </a:solidFill>
                <a:latin typeface="Calibri"/>
                <a:ea typeface="Calibri"/>
                <a:cs typeface="Calibri"/>
                <a:sym typeface="Calibri"/>
              </a:rPr>
              <a:t>Sawyer &amp; hand camara</a:t>
            </a:r>
            <a:endParaRPr b="0" i="0" sz="700" u="none" cap="none" strike="noStrike">
              <a:solidFill>
                <a:srgbClr val="FFFFFF"/>
              </a:solidFill>
              <a:latin typeface="Arial"/>
              <a:ea typeface="Arial"/>
              <a:cs typeface="Arial"/>
              <a:sym typeface="Arial"/>
            </a:endParaRPr>
          </a:p>
        </p:txBody>
      </p:sp>
      <p:sp>
        <p:nvSpPr>
          <p:cNvPr id="137" name="Google Shape;137;p20"/>
          <p:cNvSpPr/>
          <p:nvPr/>
        </p:nvSpPr>
        <p:spPr>
          <a:xfrm>
            <a:off x="1043820" y="3809160"/>
            <a:ext cx="822690" cy="184950"/>
          </a:xfrm>
          <a:prstGeom prst="roundRect">
            <a:avLst>
              <a:gd fmla="val 16667" name="adj"/>
            </a:avLst>
          </a:prstGeom>
          <a:solidFill>
            <a:schemeClr val="dk1"/>
          </a:solidFill>
          <a:ln cap="flat" cmpd="sng" w="10150">
            <a:solidFill>
              <a:srgbClr val="1C63B5"/>
            </a:solidFill>
            <a:prstDash val="solid"/>
            <a:round/>
            <a:headEnd len="sm" w="sm" type="none"/>
            <a:tailEnd len="sm" w="sm" type="none"/>
          </a:ln>
          <a:effectLst>
            <a:outerShdw blurRad="39960" rotWithShape="0" dir="5400000" dist="23040">
              <a:srgbClr val="000000">
                <a:alpha val="34901"/>
              </a:srgbClr>
            </a:outerShdw>
          </a:effectLst>
        </p:spPr>
        <p:txBody>
          <a:bodyPr anchorCtr="0" anchor="ctr" bIns="33750" lIns="67500" spcFirstLastPara="1" rIns="67500" wrap="square" tIns="337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sp>
        <p:nvSpPr>
          <p:cNvPr id="138" name="Google Shape;138;p20"/>
          <p:cNvSpPr/>
          <p:nvPr/>
        </p:nvSpPr>
        <p:spPr>
          <a:xfrm>
            <a:off x="1052460" y="3825900"/>
            <a:ext cx="860220" cy="113670"/>
          </a:xfrm>
          <a:prstGeom prst="rect">
            <a:avLst/>
          </a:prstGeom>
          <a:noFill/>
          <a:ln>
            <a:noFill/>
          </a:ln>
        </p:spPr>
        <p:txBody>
          <a:bodyPr anchorCtr="0" anchor="t" bIns="6750" lIns="20525" spcFirstLastPara="1" rIns="20525" wrap="square" tIns="6750">
            <a:noAutofit/>
          </a:bodyPr>
          <a:lstStyle/>
          <a:p>
            <a:pPr indent="0" lvl="0" marL="0" marR="0" rtl="0" algn="ctr">
              <a:lnSpc>
                <a:spcPct val="100000"/>
              </a:lnSpc>
              <a:spcBef>
                <a:spcPts val="0"/>
              </a:spcBef>
              <a:spcAft>
                <a:spcPts val="0"/>
              </a:spcAft>
              <a:buClr>
                <a:srgbClr val="000000"/>
              </a:buClr>
              <a:buSzPts val="700"/>
              <a:buFont typeface="Arial"/>
              <a:buNone/>
            </a:pPr>
            <a:r>
              <a:rPr b="1" i="0" lang="en-GB" sz="700" u="none" cap="none" strike="noStrike">
                <a:solidFill>
                  <a:schemeClr val="lt1"/>
                </a:solidFill>
                <a:latin typeface="Calibri"/>
                <a:ea typeface="Calibri"/>
                <a:cs typeface="Calibri"/>
                <a:sym typeface="Calibri"/>
              </a:rPr>
              <a:t>Parallel-jaw gripper</a:t>
            </a:r>
            <a:endParaRPr b="0" i="0" sz="700" u="none" cap="none" strike="noStrike">
              <a:solidFill>
                <a:srgbClr val="FFFFFF"/>
              </a:solidFill>
              <a:latin typeface="Arial"/>
              <a:ea typeface="Arial"/>
              <a:cs typeface="Arial"/>
              <a:sym typeface="Arial"/>
            </a:endParaRPr>
          </a:p>
        </p:txBody>
      </p:sp>
      <p:sp>
        <p:nvSpPr>
          <p:cNvPr id="139" name="Google Shape;139;p20"/>
          <p:cNvSpPr/>
          <p:nvPr/>
        </p:nvSpPr>
        <p:spPr>
          <a:xfrm>
            <a:off x="142020" y="3809160"/>
            <a:ext cx="822690" cy="184950"/>
          </a:xfrm>
          <a:prstGeom prst="roundRect">
            <a:avLst>
              <a:gd fmla="val 16667" name="adj"/>
            </a:avLst>
          </a:prstGeom>
          <a:solidFill>
            <a:schemeClr val="dk1"/>
          </a:solidFill>
          <a:ln cap="flat" cmpd="sng" w="10150">
            <a:solidFill>
              <a:srgbClr val="1C63B5"/>
            </a:solidFill>
            <a:prstDash val="solid"/>
            <a:round/>
            <a:headEnd len="sm" w="sm" type="none"/>
            <a:tailEnd len="sm" w="sm" type="none"/>
          </a:ln>
          <a:effectLst>
            <a:outerShdw blurRad="39960" rotWithShape="0" dir="5400000" dist="23040">
              <a:srgbClr val="000000">
                <a:alpha val="34901"/>
              </a:srgbClr>
            </a:outerShdw>
          </a:effectLst>
        </p:spPr>
        <p:txBody>
          <a:bodyPr anchorCtr="0" anchor="ctr" bIns="33750" lIns="67500" spcFirstLastPara="1" rIns="67500" wrap="square" tIns="337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sp>
        <p:nvSpPr>
          <p:cNvPr id="140" name="Google Shape;140;p20"/>
          <p:cNvSpPr/>
          <p:nvPr/>
        </p:nvSpPr>
        <p:spPr>
          <a:xfrm>
            <a:off x="436590" y="3826710"/>
            <a:ext cx="207630" cy="113670"/>
          </a:xfrm>
          <a:prstGeom prst="rect">
            <a:avLst/>
          </a:prstGeom>
          <a:noFill/>
          <a:ln>
            <a:noFill/>
          </a:ln>
        </p:spPr>
        <p:txBody>
          <a:bodyPr anchorCtr="0" anchor="t" bIns="6750" lIns="20525" spcFirstLastPara="1" rIns="20525" wrap="square" tIns="6750">
            <a:noAutofit/>
          </a:bodyPr>
          <a:lstStyle/>
          <a:p>
            <a:pPr indent="0" lvl="0" marL="0" marR="0" rtl="0" algn="ctr">
              <a:lnSpc>
                <a:spcPct val="100000"/>
              </a:lnSpc>
              <a:spcBef>
                <a:spcPts val="0"/>
              </a:spcBef>
              <a:spcAft>
                <a:spcPts val="0"/>
              </a:spcAft>
              <a:buClr>
                <a:srgbClr val="000000"/>
              </a:buClr>
              <a:buSzPts val="700"/>
              <a:buFont typeface="Arial"/>
              <a:buNone/>
            </a:pPr>
            <a:r>
              <a:rPr b="1" i="0" lang="en-GB" sz="700" u="none" cap="none" strike="noStrike">
                <a:solidFill>
                  <a:schemeClr val="lt1"/>
                </a:solidFill>
                <a:latin typeface="Calibri"/>
                <a:ea typeface="Calibri"/>
                <a:cs typeface="Calibri"/>
                <a:sym typeface="Calibri"/>
              </a:rPr>
              <a:t>ROS</a:t>
            </a:r>
            <a:endParaRPr b="0" i="0" sz="700" u="none" cap="none" strike="noStrike">
              <a:solidFill>
                <a:srgbClr val="FFFFFF"/>
              </a:solidFill>
              <a:latin typeface="Arial"/>
              <a:ea typeface="Arial"/>
              <a:cs typeface="Arial"/>
              <a:sym typeface="Arial"/>
            </a:endParaRPr>
          </a:p>
        </p:txBody>
      </p:sp>
      <p:pic>
        <p:nvPicPr>
          <p:cNvPr id="141" name="Google Shape;141;p20"/>
          <p:cNvPicPr preferRelativeResize="0"/>
          <p:nvPr/>
        </p:nvPicPr>
        <p:blipFill rotWithShape="1">
          <a:blip r:embed="rId3">
            <a:alphaModFix/>
          </a:blip>
          <a:srcRect b="0" l="0" r="0" t="0"/>
          <a:stretch/>
        </p:blipFill>
        <p:spPr>
          <a:xfrm>
            <a:off x="262980" y="1426950"/>
            <a:ext cx="1485270" cy="1485270"/>
          </a:xfrm>
          <a:prstGeom prst="rect">
            <a:avLst/>
          </a:prstGeom>
          <a:noFill/>
          <a:ln>
            <a:noFill/>
          </a:ln>
        </p:spPr>
      </p:pic>
      <p:sp>
        <p:nvSpPr>
          <p:cNvPr id="142" name="Google Shape;142;p20"/>
          <p:cNvSpPr/>
          <p:nvPr/>
        </p:nvSpPr>
        <p:spPr>
          <a:xfrm>
            <a:off x="3073140" y="778140"/>
            <a:ext cx="3314520" cy="287820"/>
          </a:xfrm>
          <a:prstGeom prst="roundRect">
            <a:avLst>
              <a:gd fmla="val 16667" name="adj"/>
            </a:avLst>
          </a:prstGeom>
          <a:solidFill>
            <a:srgbClr val="B2A0C7"/>
          </a:solidFill>
          <a:ln cap="flat" cmpd="sng" w="12700">
            <a:solidFill>
              <a:srgbClr val="634AA7"/>
            </a:solidFill>
            <a:prstDash val="solid"/>
            <a:round/>
            <a:headEnd len="sm" w="sm" type="none"/>
            <a:tailEnd len="sm" w="sm" type="none"/>
          </a:ln>
          <a:effectLst>
            <a:outerShdw blurRad="39960" rotWithShape="0" dir="5400000" dist="23040">
              <a:srgbClr val="000000">
                <a:alpha val="34901"/>
              </a:srgbClr>
            </a:outerShdw>
          </a:effectLst>
        </p:spPr>
        <p:txBody>
          <a:bodyPr anchorCtr="0" anchor="ctr" bIns="20525" lIns="41025" spcFirstLastPara="1" rIns="41025" wrap="square" tIns="20525">
            <a:noAutofit/>
          </a:bodyPr>
          <a:lstStyle/>
          <a:p>
            <a:pPr indent="0" lvl="0" marL="0" marR="0" rtl="0" algn="ctr">
              <a:lnSpc>
                <a:spcPct val="100000"/>
              </a:lnSpc>
              <a:spcBef>
                <a:spcPts val="0"/>
              </a:spcBef>
              <a:spcAft>
                <a:spcPts val="0"/>
              </a:spcAft>
              <a:buClr>
                <a:srgbClr val="000000"/>
              </a:buClr>
              <a:buSzPts val="1100"/>
              <a:buFont typeface="Arial"/>
              <a:buNone/>
            </a:pPr>
            <a:r>
              <a:rPr b="1" i="0" lang="en-GB" sz="1100" u="none" cap="none" strike="noStrike">
                <a:solidFill>
                  <a:srgbClr val="634AA7"/>
                </a:solidFill>
                <a:latin typeface="Arial"/>
                <a:ea typeface="Arial"/>
                <a:cs typeface="Arial"/>
                <a:sym typeface="Arial"/>
              </a:rPr>
              <a:t>Startup Sequence (Orchestrated Launch)</a:t>
            </a:r>
            <a:endParaRPr b="0" i="0" sz="1100" u="none" cap="none" strike="noStrike">
              <a:solidFill>
                <a:srgbClr val="000000"/>
              </a:solidFill>
              <a:latin typeface="Arial"/>
              <a:ea typeface="Arial"/>
              <a:cs typeface="Arial"/>
              <a:sym typeface="Arial"/>
            </a:endParaRPr>
          </a:p>
        </p:txBody>
      </p:sp>
      <p:sp>
        <p:nvSpPr>
          <p:cNvPr id="143" name="Google Shape;143;p20"/>
          <p:cNvSpPr/>
          <p:nvPr/>
        </p:nvSpPr>
        <p:spPr>
          <a:xfrm>
            <a:off x="3018870" y="1316520"/>
            <a:ext cx="3463020" cy="376920"/>
          </a:xfrm>
          <a:prstGeom prst="roundRect">
            <a:avLst>
              <a:gd fmla="val 16667" name="adj"/>
            </a:avLst>
          </a:prstGeom>
          <a:solidFill>
            <a:srgbClr val="E5DFEB"/>
          </a:solidFill>
          <a:ln cap="flat" cmpd="sng" w="12700">
            <a:solidFill>
              <a:srgbClr val="634AA7"/>
            </a:solidFill>
            <a:prstDash val="solid"/>
            <a:round/>
            <a:headEnd len="sm" w="sm" type="none"/>
            <a:tailEnd len="sm" w="sm" type="none"/>
          </a:ln>
          <a:effectLst>
            <a:outerShdw blurRad="39960" rotWithShape="0" dir="5400000" dist="23040">
              <a:srgbClr val="000000">
                <a:alpha val="34901"/>
              </a:srgbClr>
            </a:outerShdw>
          </a:effectLst>
        </p:spPr>
        <p:txBody>
          <a:bodyPr anchorCtr="0" anchor="ctr" bIns="33750" lIns="67500" spcFirstLastPara="1" rIns="67500" wrap="square" tIns="337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sp>
        <p:nvSpPr>
          <p:cNvPr id="144" name="Google Shape;144;p20"/>
          <p:cNvSpPr/>
          <p:nvPr/>
        </p:nvSpPr>
        <p:spPr>
          <a:xfrm>
            <a:off x="3153600" y="1347570"/>
            <a:ext cx="3154410" cy="158490"/>
          </a:xfrm>
          <a:prstGeom prst="rect">
            <a:avLst/>
          </a:prstGeom>
          <a:noFill/>
          <a:ln>
            <a:noFill/>
          </a:ln>
        </p:spPr>
        <p:txBody>
          <a:bodyPr anchorCtr="0" anchor="ctr" bIns="13775" lIns="34275" spcFirstLastPara="1" rIns="34275" wrap="square" tIns="13775">
            <a:noAutofit/>
          </a:bodyPr>
          <a:lstStyle/>
          <a:p>
            <a:pPr indent="0" lvl="0" marL="0" marR="0" rtl="0" algn="l">
              <a:lnSpc>
                <a:spcPct val="100000"/>
              </a:lnSpc>
              <a:spcBef>
                <a:spcPts val="0"/>
              </a:spcBef>
              <a:spcAft>
                <a:spcPts val="0"/>
              </a:spcAft>
              <a:buClr>
                <a:srgbClr val="000000"/>
              </a:buClr>
              <a:buSzPts val="900"/>
              <a:buFont typeface="Arial"/>
              <a:buNone/>
            </a:pPr>
            <a:r>
              <a:rPr b="1" i="0" lang="en-GB" sz="900" u="none" cap="none" strike="noStrike">
                <a:solidFill>
                  <a:srgbClr val="634AA7"/>
                </a:solidFill>
                <a:latin typeface="Arial"/>
                <a:ea typeface="Arial"/>
                <a:cs typeface="Arial"/>
                <a:sym typeface="Arial"/>
              </a:rPr>
              <a:t>Custom launch file: sawyer_david.launch</a:t>
            </a:r>
            <a:endParaRPr b="0" i="0" sz="900" u="none" cap="none" strike="noStrike">
              <a:solidFill>
                <a:srgbClr val="FFFFFF"/>
              </a:solidFill>
              <a:latin typeface="Arial"/>
              <a:ea typeface="Arial"/>
              <a:cs typeface="Arial"/>
              <a:sym typeface="Arial"/>
            </a:endParaRPr>
          </a:p>
        </p:txBody>
      </p:sp>
      <p:sp>
        <p:nvSpPr>
          <p:cNvPr id="145" name="Google Shape;145;p20"/>
          <p:cNvSpPr/>
          <p:nvPr/>
        </p:nvSpPr>
        <p:spPr>
          <a:xfrm>
            <a:off x="3233250" y="1494180"/>
            <a:ext cx="3154410" cy="135540"/>
          </a:xfrm>
          <a:prstGeom prst="rect">
            <a:avLst/>
          </a:prstGeom>
          <a:noFill/>
          <a:ln>
            <a:noFill/>
          </a:ln>
        </p:spPr>
        <p:txBody>
          <a:bodyPr anchorCtr="0" anchor="ctr" bIns="13775" lIns="34275" spcFirstLastPara="1" rIns="34275" wrap="square" tIns="13775">
            <a:noAutofit/>
          </a:bodyPr>
          <a:lstStyle/>
          <a:p>
            <a:pPr indent="0" lvl="0" marL="0" marR="0" rtl="0" algn="l">
              <a:lnSpc>
                <a:spcPct val="100000"/>
              </a:lnSpc>
              <a:spcBef>
                <a:spcPts val="0"/>
              </a:spcBef>
              <a:spcAft>
                <a:spcPts val="0"/>
              </a:spcAft>
              <a:buClr>
                <a:srgbClr val="000000"/>
              </a:buClr>
              <a:buSzPts val="700"/>
              <a:buFont typeface="Arial"/>
              <a:buNone/>
            </a:pPr>
            <a:r>
              <a:rPr b="0" i="0" lang="en-GB" sz="700" u="none" cap="none" strike="noStrike">
                <a:solidFill>
                  <a:srgbClr val="505050"/>
                </a:solidFill>
                <a:latin typeface="Arial"/>
                <a:ea typeface="Arial"/>
                <a:cs typeface="Arial"/>
                <a:sym typeface="Arial"/>
              </a:rPr>
              <a:t>Orchestrates the startup sequence</a:t>
            </a:r>
            <a:endParaRPr b="0" i="0" sz="700" u="none" cap="none" strike="noStrike">
              <a:solidFill>
                <a:srgbClr val="FFFFFF"/>
              </a:solidFill>
              <a:latin typeface="Arial"/>
              <a:ea typeface="Arial"/>
              <a:cs typeface="Arial"/>
              <a:sym typeface="Arial"/>
            </a:endParaRPr>
          </a:p>
        </p:txBody>
      </p:sp>
      <p:sp>
        <p:nvSpPr>
          <p:cNvPr id="146" name="Google Shape;146;p20"/>
          <p:cNvSpPr/>
          <p:nvPr/>
        </p:nvSpPr>
        <p:spPr>
          <a:xfrm>
            <a:off x="2307420" y="2074410"/>
            <a:ext cx="904230" cy="2180520"/>
          </a:xfrm>
          <a:prstGeom prst="roundRect">
            <a:avLst>
              <a:gd fmla="val 16667" name="adj"/>
            </a:avLst>
          </a:prstGeom>
          <a:solidFill>
            <a:srgbClr val="17365D"/>
          </a:solidFill>
          <a:ln cap="flat" cmpd="sng" w="13950">
            <a:solidFill>
              <a:srgbClr val="2563A5"/>
            </a:solidFill>
            <a:prstDash val="solid"/>
            <a:round/>
            <a:headEnd len="sm" w="sm" type="none"/>
            <a:tailEnd len="sm" w="sm" type="none"/>
          </a:ln>
          <a:effectLst>
            <a:outerShdw blurRad="39960" rotWithShape="0" dir="5400000" dist="23040">
              <a:srgbClr val="000000">
                <a:alpha val="34901"/>
              </a:srgbClr>
            </a:outerShdw>
          </a:effectLst>
        </p:spPr>
        <p:txBody>
          <a:bodyPr anchorCtr="0" anchor="ctr" bIns="33750" lIns="67500" spcFirstLastPara="1" rIns="67500" wrap="square" tIns="337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sp>
        <p:nvSpPr>
          <p:cNvPr id="147" name="Google Shape;147;p20"/>
          <p:cNvSpPr/>
          <p:nvPr/>
        </p:nvSpPr>
        <p:spPr>
          <a:xfrm>
            <a:off x="2636550" y="1923480"/>
            <a:ext cx="260280" cy="260280"/>
          </a:xfrm>
          <a:prstGeom prst="ellipse">
            <a:avLst/>
          </a:prstGeom>
          <a:solidFill>
            <a:srgbClr val="2563A5"/>
          </a:solidFill>
          <a:ln cap="flat" cmpd="sng" w="15225">
            <a:solidFill>
              <a:srgbClr val="2563A5"/>
            </a:solidFill>
            <a:prstDash val="solid"/>
            <a:round/>
            <a:headEnd len="sm" w="sm" type="none"/>
            <a:tailEnd len="sm" w="sm" type="none"/>
          </a:ln>
          <a:effectLst>
            <a:outerShdw blurRad="39960" rotWithShape="0" dir="5400000" dist="23040">
              <a:srgbClr val="000000">
                <a:alpha val="34901"/>
              </a:srgbClr>
            </a:outerShdw>
          </a:effectLst>
        </p:spPr>
        <p:txBody>
          <a:bodyPr anchorCtr="0" anchor="ctr" bIns="33750" lIns="67500" spcFirstLastPara="1" rIns="67500" wrap="square" tIns="33750">
            <a:noAutofit/>
          </a:bodyPr>
          <a:lstStyle/>
          <a:p>
            <a:pPr indent="0" lvl="0" marL="0" marR="0" rtl="0" algn="ctr">
              <a:lnSpc>
                <a:spcPct val="100000"/>
              </a:lnSpc>
              <a:spcBef>
                <a:spcPts val="0"/>
              </a:spcBef>
              <a:spcAft>
                <a:spcPts val="0"/>
              </a:spcAft>
              <a:buClr>
                <a:srgbClr val="000000"/>
              </a:buClr>
              <a:buSzPts val="1100"/>
              <a:buFont typeface="Arial"/>
              <a:buNone/>
            </a:pPr>
            <a:r>
              <a:rPr b="1" i="0" lang="en-GB" sz="1100" u="none" cap="none" strike="noStrike">
                <a:solidFill>
                  <a:srgbClr val="FFFFFF"/>
                </a:solidFill>
                <a:latin typeface="Arial"/>
                <a:ea typeface="Arial"/>
                <a:cs typeface="Arial"/>
                <a:sym typeface="Arial"/>
              </a:rPr>
              <a:t>1</a:t>
            </a:r>
            <a:endParaRPr b="0" i="0" sz="1100" u="none" cap="none" strike="noStrike">
              <a:solidFill>
                <a:srgbClr val="FFFFFF"/>
              </a:solidFill>
              <a:latin typeface="Arial"/>
              <a:ea typeface="Arial"/>
              <a:cs typeface="Arial"/>
              <a:sym typeface="Arial"/>
            </a:endParaRPr>
          </a:p>
        </p:txBody>
      </p:sp>
      <p:sp>
        <p:nvSpPr>
          <p:cNvPr id="148" name="Google Shape;148;p20"/>
          <p:cNvSpPr/>
          <p:nvPr/>
        </p:nvSpPr>
        <p:spPr>
          <a:xfrm>
            <a:off x="2336580" y="2193480"/>
            <a:ext cx="850230" cy="221400"/>
          </a:xfrm>
          <a:prstGeom prst="rect">
            <a:avLst/>
          </a:prstGeom>
          <a:noFill/>
          <a:ln>
            <a:noFill/>
          </a:ln>
        </p:spPr>
        <p:txBody>
          <a:bodyPr anchorCtr="0" anchor="ctr" bIns="13775" lIns="34275" spcFirstLastPara="1" rIns="34275" wrap="square" tIns="13775">
            <a:noAutofit/>
          </a:bodyPr>
          <a:lstStyle/>
          <a:p>
            <a:pPr indent="0" lvl="0" marL="0" marR="0" rtl="0" algn="ctr">
              <a:lnSpc>
                <a:spcPct val="100000"/>
              </a:lnSpc>
              <a:spcBef>
                <a:spcPts val="0"/>
              </a:spcBef>
              <a:spcAft>
                <a:spcPts val="0"/>
              </a:spcAft>
              <a:buClr>
                <a:srgbClr val="000000"/>
              </a:buClr>
              <a:buSzPts val="1300"/>
              <a:buFont typeface="Arial"/>
              <a:buNone/>
            </a:pPr>
            <a:r>
              <a:rPr b="1" i="0" lang="en-GB" sz="1300" u="none" cap="none" strike="noStrike">
                <a:solidFill>
                  <a:srgbClr val="B7CCE4"/>
                </a:solidFill>
                <a:latin typeface="Arial"/>
                <a:ea typeface="Arial"/>
                <a:cs typeface="Arial"/>
                <a:sym typeface="Arial"/>
              </a:rPr>
              <a:t>0 s:</a:t>
            </a:r>
            <a:endParaRPr b="0" i="0" sz="1300" u="none" cap="none" strike="noStrike">
              <a:solidFill>
                <a:srgbClr val="FFFFFF"/>
              </a:solidFill>
              <a:latin typeface="Arial"/>
              <a:ea typeface="Arial"/>
              <a:cs typeface="Arial"/>
              <a:sym typeface="Arial"/>
            </a:endParaRPr>
          </a:p>
        </p:txBody>
      </p:sp>
      <p:sp>
        <p:nvSpPr>
          <p:cNvPr id="149" name="Google Shape;149;p20"/>
          <p:cNvSpPr/>
          <p:nvPr/>
        </p:nvSpPr>
        <p:spPr>
          <a:xfrm>
            <a:off x="2336580" y="2413800"/>
            <a:ext cx="863730" cy="285660"/>
          </a:xfrm>
          <a:prstGeom prst="rect">
            <a:avLst/>
          </a:prstGeom>
          <a:noFill/>
          <a:ln>
            <a:noFill/>
          </a:ln>
        </p:spPr>
        <p:txBody>
          <a:bodyPr anchorCtr="0" anchor="ctr" bIns="13775" lIns="34275" spcFirstLastPara="1" rIns="34275" wrap="square" tIns="13775">
            <a:noAutofit/>
          </a:bodyPr>
          <a:lstStyle/>
          <a:p>
            <a:pPr indent="0" lvl="0" marL="0" marR="0" rtl="0" algn="l">
              <a:lnSpc>
                <a:spcPct val="100000"/>
              </a:lnSpc>
              <a:spcBef>
                <a:spcPts val="0"/>
              </a:spcBef>
              <a:spcAft>
                <a:spcPts val="0"/>
              </a:spcAft>
              <a:buClr>
                <a:srgbClr val="000000"/>
              </a:buClr>
              <a:buSzPts val="800"/>
              <a:buFont typeface="Arial"/>
              <a:buNone/>
            </a:pPr>
            <a:r>
              <a:rPr b="1" i="0" lang="en-GB" sz="800" u="none" cap="none" strike="noStrike">
                <a:solidFill>
                  <a:schemeClr val="lt1"/>
                </a:solidFill>
                <a:latin typeface="Arial"/>
                <a:ea typeface="Arial"/>
                <a:cs typeface="Arial"/>
                <a:sym typeface="Arial"/>
              </a:rPr>
              <a:t>Launch</a:t>
            </a:r>
            <a:endParaRPr b="0" i="0" sz="800" u="none" cap="none" strike="noStrike">
              <a:solidFill>
                <a:srgbClr val="FFFFFF"/>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1" i="0" lang="en-GB" sz="800" u="none" cap="none" strike="noStrike">
                <a:solidFill>
                  <a:schemeClr val="lt1"/>
                </a:solidFill>
                <a:latin typeface="Arial"/>
                <a:ea typeface="Arial"/>
                <a:cs typeface="Arial"/>
                <a:sym typeface="Arial"/>
              </a:rPr>
              <a:t>simulation</a:t>
            </a:r>
            <a:endParaRPr b="0" i="0" sz="800" u="none" cap="none" strike="noStrike">
              <a:solidFill>
                <a:srgbClr val="FFFFFF"/>
              </a:solidFill>
              <a:latin typeface="Arial"/>
              <a:ea typeface="Arial"/>
              <a:cs typeface="Arial"/>
              <a:sym typeface="Arial"/>
            </a:endParaRPr>
          </a:p>
        </p:txBody>
      </p:sp>
      <p:cxnSp>
        <p:nvCxnSpPr>
          <p:cNvPr id="150" name="Google Shape;150;p20"/>
          <p:cNvCxnSpPr/>
          <p:nvPr/>
        </p:nvCxnSpPr>
        <p:spPr>
          <a:xfrm flipH="1" rot="10800000">
            <a:off x="2422980" y="2858760"/>
            <a:ext cx="632880" cy="8100"/>
          </a:xfrm>
          <a:prstGeom prst="straightConnector1">
            <a:avLst/>
          </a:prstGeom>
          <a:noFill/>
          <a:ln cap="flat" cmpd="sng" w="12700">
            <a:solidFill>
              <a:srgbClr val="2563A5"/>
            </a:solidFill>
            <a:prstDash val="solid"/>
            <a:round/>
            <a:headEnd len="sm" w="sm" type="none"/>
            <a:tailEnd len="sm" w="sm" type="none"/>
          </a:ln>
        </p:spPr>
      </p:cxnSp>
      <p:sp>
        <p:nvSpPr>
          <p:cNvPr id="151" name="Google Shape;151;p20"/>
          <p:cNvSpPr/>
          <p:nvPr/>
        </p:nvSpPr>
        <p:spPr>
          <a:xfrm>
            <a:off x="3468690" y="2083320"/>
            <a:ext cx="905040" cy="2180520"/>
          </a:xfrm>
          <a:prstGeom prst="roundRect">
            <a:avLst>
              <a:gd fmla="val 16667" name="adj"/>
            </a:avLst>
          </a:prstGeom>
          <a:solidFill>
            <a:srgbClr val="4F6128"/>
          </a:solidFill>
          <a:ln cap="flat" cmpd="sng" w="13950">
            <a:solidFill>
              <a:srgbClr val="498B40"/>
            </a:solidFill>
            <a:prstDash val="solid"/>
            <a:round/>
            <a:headEnd len="sm" w="sm" type="none"/>
            <a:tailEnd len="sm" w="sm" type="none"/>
          </a:ln>
          <a:effectLst>
            <a:outerShdw blurRad="39960" rotWithShape="0" dir="5400000" dist="23040">
              <a:srgbClr val="000000">
                <a:alpha val="34901"/>
              </a:srgbClr>
            </a:outerShdw>
          </a:effectLst>
        </p:spPr>
        <p:txBody>
          <a:bodyPr anchorCtr="0" anchor="ctr" bIns="33750" lIns="67500" spcFirstLastPara="1" rIns="67500" wrap="square" tIns="337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sp>
        <p:nvSpPr>
          <p:cNvPr id="152" name="Google Shape;152;p20"/>
          <p:cNvSpPr/>
          <p:nvPr/>
        </p:nvSpPr>
        <p:spPr>
          <a:xfrm>
            <a:off x="3774870" y="1923480"/>
            <a:ext cx="260280" cy="260280"/>
          </a:xfrm>
          <a:prstGeom prst="ellipse">
            <a:avLst/>
          </a:prstGeom>
          <a:solidFill>
            <a:srgbClr val="498B40"/>
          </a:solidFill>
          <a:ln cap="flat" cmpd="sng" w="15225">
            <a:solidFill>
              <a:srgbClr val="498B40"/>
            </a:solidFill>
            <a:prstDash val="solid"/>
            <a:round/>
            <a:headEnd len="sm" w="sm" type="none"/>
            <a:tailEnd len="sm" w="sm" type="none"/>
          </a:ln>
          <a:effectLst>
            <a:outerShdw blurRad="39960" rotWithShape="0" dir="5400000" dist="23040">
              <a:srgbClr val="000000">
                <a:alpha val="34901"/>
              </a:srgbClr>
            </a:outerShdw>
          </a:effectLst>
        </p:spPr>
        <p:txBody>
          <a:bodyPr anchorCtr="0" anchor="ctr" bIns="33750" lIns="67500" spcFirstLastPara="1" rIns="67500" wrap="square" tIns="33750">
            <a:noAutofit/>
          </a:bodyPr>
          <a:lstStyle/>
          <a:p>
            <a:pPr indent="0" lvl="0" marL="0" marR="0" rtl="0" algn="ctr">
              <a:lnSpc>
                <a:spcPct val="100000"/>
              </a:lnSpc>
              <a:spcBef>
                <a:spcPts val="0"/>
              </a:spcBef>
              <a:spcAft>
                <a:spcPts val="0"/>
              </a:spcAft>
              <a:buClr>
                <a:srgbClr val="000000"/>
              </a:buClr>
              <a:buSzPts val="1100"/>
              <a:buFont typeface="Arial"/>
              <a:buNone/>
            </a:pPr>
            <a:r>
              <a:rPr b="1" i="0" lang="en-GB" sz="1100" u="none" cap="none" strike="noStrike">
                <a:solidFill>
                  <a:srgbClr val="FFFFFF"/>
                </a:solidFill>
                <a:latin typeface="Arial"/>
                <a:ea typeface="Arial"/>
                <a:cs typeface="Arial"/>
                <a:sym typeface="Arial"/>
              </a:rPr>
              <a:t>2</a:t>
            </a:r>
            <a:endParaRPr b="0" i="0" sz="1100" u="none" cap="none" strike="noStrike">
              <a:solidFill>
                <a:srgbClr val="FFFFFF"/>
              </a:solidFill>
              <a:latin typeface="Arial"/>
              <a:ea typeface="Arial"/>
              <a:cs typeface="Arial"/>
              <a:sym typeface="Arial"/>
            </a:endParaRPr>
          </a:p>
        </p:txBody>
      </p:sp>
      <p:sp>
        <p:nvSpPr>
          <p:cNvPr id="153" name="Google Shape;153;p20"/>
          <p:cNvSpPr/>
          <p:nvPr/>
        </p:nvSpPr>
        <p:spPr>
          <a:xfrm>
            <a:off x="3509730" y="2209140"/>
            <a:ext cx="850230" cy="221400"/>
          </a:xfrm>
          <a:prstGeom prst="rect">
            <a:avLst/>
          </a:prstGeom>
          <a:noFill/>
          <a:ln>
            <a:noFill/>
          </a:ln>
        </p:spPr>
        <p:txBody>
          <a:bodyPr anchorCtr="0" anchor="ctr" bIns="13775" lIns="34275" spcFirstLastPara="1" rIns="34275" wrap="square" tIns="13775">
            <a:noAutofit/>
          </a:bodyPr>
          <a:lstStyle/>
          <a:p>
            <a:pPr indent="0" lvl="0" marL="0" marR="0" rtl="0" algn="ctr">
              <a:lnSpc>
                <a:spcPct val="100000"/>
              </a:lnSpc>
              <a:spcBef>
                <a:spcPts val="0"/>
              </a:spcBef>
              <a:spcAft>
                <a:spcPts val="0"/>
              </a:spcAft>
              <a:buClr>
                <a:srgbClr val="000000"/>
              </a:buClr>
              <a:buSzPts val="1300"/>
              <a:buFont typeface="Arial"/>
              <a:buNone/>
            </a:pPr>
            <a:r>
              <a:rPr b="1" i="0" lang="en-GB" sz="1300" u="none" cap="none" strike="noStrike">
                <a:solidFill>
                  <a:srgbClr val="D6E3BC"/>
                </a:solidFill>
                <a:latin typeface="Arial"/>
                <a:ea typeface="Arial"/>
                <a:cs typeface="Arial"/>
                <a:sym typeface="Arial"/>
              </a:rPr>
              <a:t>18 s:</a:t>
            </a:r>
            <a:endParaRPr b="0" i="0" sz="1300" u="none" cap="none" strike="noStrike">
              <a:solidFill>
                <a:srgbClr val="FFFFFF"/>
              </a:solidFill>
              <a:latin typeface="Arial"/>
              <a:ea typeface="Arial"/>
              <a:cs typeface="Arial"/>
              <a:sym typeface="Arial"/>
            </a:endParaRPr>
          </a:p>
        </p:txBody>
      </p:sp>
      <p:sp>
        <p:nvSpPr>
          <p:cNvPr id="154" name="Google Shape;154;p20"/>
          <p:cNvSpPr/>
          <p:nvPr/>
        </p:nvSpPr>
        <p:spPr>
          <a:xfrm>
            <a:off x="3509730" y="2422440"/>
            <a:ext cx="863730" cy="285660"/>
          </a:xfrm>
          <a:prstGeom prst="rect">
            <a:avLst/>
          </a:prstGeom>
          <a:noFill/>
          <a:ln>
            <a:noFill/>
          </a:ln>
        </p:spPr>
        <p:txBody>
          <a:bodyPr anchorCtr="0" anchor="ctr" bIns="13775" lIns="34275" spcFirstLastPara="1" rIns="34275" wrap="square" tIns="13775">
            <a:noAutofit/>
          </a:bodyPr>
          <a:lstStyle/>
          <a:p>
            <a:pPr indent="0" lvl="0" marL="0" marR="0" rtl="0" algn="l">
              <a:lnSpc>
                <a:spcPct val="100000"/>
              </a:lnSpc>
              <a:spcBef>
                <a:spcPts val="0"/>
              </a:spcBef>
              <a:spcAft>
                <a:spcPts val="0"/>
              </a:spcAft>
              <a:buClr>
                <a:srgbClr val="000000"/>
              </a:buClr>
              <a:buSzPts val="800"/>
              <a:buFont typeface="Arial"/>
              <a:buNone/>
            </a:pPr>
            <a:r>
              <a:rPr b="1" i="0" lang="en-GB" sz="800" u="none" cap="none" strike="noStrike">
                <a:solidFill>
                  <a:srgbClr val="D6E3BC"/>
                </a:solidFill>
                <a:latin typeface="Arial"/>
                <a:ea typeface="Arial"/>
                <a:cs typeface="Arial"/>
                <a:sym typeface="Arial"/>
              </a:rPr>
              <a:t>spawn_pick_</a:t>
            </a:r>
            <a:endParaRPr b="0" i="0" sz="800" u="none" cap="none" strike="noStrike">
              <a:solidFill>
                <a:srgbClr val="FFFFFF"/>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1" i="0" lang="en-GB" sz="800" u="none" cap="none" strike="noStrike">
                <a:solidFill>
                  <a:srgbClr val="D6E3BC"/>
                </a:solidFill>
                <a:latin typeface="Arial"/>
                <a:ea typeface="Arial"/>
                <a:cs typeface="Arial"/>
                <a:sym typeface="Arial"/>
              </a:rPr>
              <a:t>place_scene.py</a:t>
            </a:r>
            <a:endParaRPr b="0" i="0" sz="800" u="none" cap="none" strike="noStrike">
              <a:solidFill>
                <a:srgbClr val="FFFFFF"/>
              </a:solidFill>
              <a:latin typeface="Arial"/>
              <a:ea typeface="Arial"/>
              <a:cs typeface="Arial"/>
              <a:sym typeface="Arial"/>
            </a:endParaRPr>
          </a:p>
        </p:txBody>
      </p:sp>
      <p:cxnSp>
        <p:nvCxnSpPr>
          <p:cNvPr id="155" name="Google Shape;155;p20"/>
          <p:cNvCxnSpPr/>
          <p:nvPr/>
        </p:nvCxnSpPr>
        <p:spPr>
          <a:xfrm>
            <a:off x="3523230" y="2872800"/>
            <a:ext cx="804870" cy="270"/>
          </a:xfrm>
          <a:prstGeom prst="straightConnector1">
            <a:avLst/>
          </a:prstGeom>
          <a:noFill/>
          <a:ln cap="flat" cmpd="sng" w="12700">
            <a:solidFill>
              <a:srgbClr val="498B40"/>
            </a:solidFill>
            <a:prstDash val="solid"/>
            <a:round/>
            <a:headEnd len="sm" w="sm" type="none"/>
            <a:tailEnd len="sm" w="sm" type="none"/>
          </a:ln>
        </p:spPr>
      </p:cxnSp>
      <p:sp>
        <p:nvSpPr>
          <p:cNvPr id="156" name="Google Shape;156;p20"/>
          <p:cNvSpPr/>
          <p:nvPr/>
        </p:nvSpPr>
        <p:spPr>
          <a:xfrm>
            <a:off x="3468690" y="2924370"/>
            <a:ext cx="863730" cy="659070"/>
          </a:xfrm>
          <a:prstGeom prst="rect">
            <a:avLst/>
          </a:prstGeom>
          <a:noFill/>
          <a:ln>
            <a:noFill/>
          </a:ln>
        </p:spPr>
        <p:txBody>
          <a:bodyPr anchorCtr="0" anchor="t" bIns="13775" lIns="34275" spcFirstLastPara="1" rIns="34275" wrap="square" tIns="13775">
            <a:noAutofit/>
          </a:bodyPr>
          <a:lstStyle/>
          <a:p>
            <a:pPr indent="0" lvl="0" marL="0" marR="0" rtl="0" algn="l">
              <a:lnSpc>
                <a:spcPct val="100000"/>
              </a:lnSpc>
              <a:spcBef>
                <a:spcPts val="0"/>
              </a:spcBef>
              <a:spcAft>
                <a:spcPts val="0"/>
              </a:spcAft>
              <a:buClr>
                <a:srgbClr val="000000"/>
              </a:buClr>
              <a:buSzPts val="700"/>
              <a:buFont typeface="Arial"/>
              <a:buNone/>
            </a:pPr>
            <a:r>
              <a:rPr b="0" i="0" lang="en-GB" sz="700" u="none" cap="none" strike="noStrike">
                <a:solidFill>
                  <a:srgbClr val="D6E3BC"/>
                </a:solidFill>
                <a:latin typeface="Arial"/>
                <a:ea typeface="Arial"/>
                <a:cs typeface="Arial"/>
                <a:sym typeface="Arial"/>
              </a:rPr>
              <a:t>Populate the table</a:t>
            </a:r>
            <a:endParaRPr b="0" i="0" sz="700" u="none" cap="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700"/>
              <a:buFont typeface="Arial"/>
              <a:buNone/>
            </a:pPr>
            <a:r>
              <a:rPr b="0" i="0" lang="en-GB" sz="700" u="none" cap="none" strike="noStrike">
                <a:solidFill>
                  <a:srgbClr val="D6E3BC"/>
                </a:solidFill>
                <a:latin typeface="Arial"/>
                <a:ea typeface="Arial"/>
                <a:cs typeface="Arial"/>
                <a:sym typeface="Arial"/>
              </a:rPr>
              <a:t>with 9 objects</a:t>
            </a:r>
            <a:endParaRPr b="0" i="0" sz="700" u="none" cap="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700"/>
              <a:buFont typeface="Arial"/>
              <a:buNone/>
            </a:pPr>
            <a:r>
              <a:rPr b="0" i="0" lang="en-GB" sz="700" u="none" cap="none" strike="noStrike">
                <a:solidFill>
                  <a:srgbClr val="D6E3BC"/>
                </a:solidFill>
                <a:latin typeface="Arial"/>
                <a:ea typeface="Arial"/>
                <a:cs typeface="Arial"/>
                <a:sym typeface="Arial"/>
              </a:rPr>
              <a:t>(blocks, cans, boxes</a:t>
            </a:r>
            <a:endParaRPr b="0" i="0" sz="700" u="none" cap="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700"/>
              <a:buFont typeface="Arial"/>
              <a:buNone/>
            </a:pPr>
            <a:r>
              <a:rPr b="0" i="0" lang="en-GB" sz="700" u="none" cap="none" strike="noStrike">
                <a:solidFill>
                  <a:srgbClr val="D6E3BC"/>
                </a:solidFill>
                <a:latin typeface="Arial"/>
                <a:ea typeface="Arial"/>
                <a:cs typeface="Arial"/>
                <a:sym typeface="Arial"/>
              </a:rPr>
              <a:t>of different sizes</a:t>
            </a:r>
            <a:endParaRPr b="0" i="0" sz="700" u="none" cap="none" strike="noStrike">
              <a:solidFill>
                <a:srgbClr val="FFFFFF"/>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700"/>
              <a:buFont typeface="Arial"/>
              <a:buNone/>
            </a:pPr>
            <a:r>
              <a:rPr b="0" i="0" lang="en-GB" sz="700" u="none" cap="none" strike="noStrike">
                <a:solidFill>
                  <a:srgbClr val="D6E3BC"/>
                </a:solidFill>
                <a:latin typeface="Arial"/>
                <a:ea typeface="Arial"/>
                <a:cs typeface="Arial"/>
                <a:sym typeface="Arial"/>
              </a:rPr>
              <a:t>and colors)</a:t>
            </a:r>
            <a:endParaRPr b="0" i="0" sz="700" u="none" cap="none" strike="noStrike">
              <a:solidFill>
                <a:srgbClr val="FFFFFF"/>
              </a:solidFill>
              <a:latin typeface="Arial"/>
              <a:ea typeface="Arial"/>
              <a:cs typeface="Arial"/>
              <a:sym typeface="Arial"/>
            </a:endParaRPr>
          </a:p>
        </p:txBody>
      </p:sp>
      <p:sp>
        <p:nvSpPr>
          <p:cNvPr id="157" name="Google Shape;157;p20"/>
          <p:cNvSpPr/>
          <p:nvPr/>
        </p:nvSpPr>
        <p:spPr>
          <a:xfrm>
            <a:off x="4699890" y="2083320"/>
            <a:ext cx="946080" cy="2214540"/>
          </a:xfrm>
          <a:prstGeom prst="roundRect">
            <a:avLst>
              <a:gd fmla="val 16667" name="adj"/>
            </a:avLst>
          </a:prstGeom>
          <a:solidFill>
            <a:srgbClr val="E36C09"/>
          </a:solidFill>
          <a:ln cap="flat" cmpd="sng" w="13950">
            <a:solidFill>
              <a:srgbClr val="E89417"/>
            </a:solidFill>
            <a:prstDash val="solid"/>
            <a:round/>
            <a:headEnd len="sm" w="sm" type="none"/>
            <a:tailEnd len="sm" w="sm" type="none"/>
          </a:ln>
          <a:effectLst>
            <a:outerShdw blurRad="39960" rotWithShape="0" dir="5400000" dist="23040">
              <a:srgbClr val="000000">
                <a:alpha val="34901"/>
              </a:srgbClr>
            </a:outerShdw>
          </a:effectLst>
        </p:spPr>
        <p:txBody>
          <a:bodyPr anchorCtr="0" anchor="ctr" bIns="33750" lIns="67500" spcFirstLastPara="1" rIns="67500" wrap="square" tIns="337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sp>
        <p:nvSpPr>
          <p:cNvPr id="158" name="Google Shape;158;p20"/>
          <p:cNvSpPr/>
          <p:nvPr/>
        </p:nvSpPr>
        <p:spPr>
          <a:xfrm>
            <a:off x="5029020" y="1932390"/>
            <a:ext cx="260280" cy="264330"/>
          </a:xfrm>
          <a:prstGeom prst="ellipse">
            <a:avLst/>
          </a:prstGeom>
          <a:solidFill>
            <a:srgbClr val="E89417"/>
          </a:solidFill>
          <a:ln cap="flat" cmpd="sng" w="15225">
            <a:solidFill>
              <a:srgbClr val="E89417"/>
            </a:solidFill>
            <a:prstDash val="solid"/>
            <a:round/>
            <a:headEnd len="sm" w="sm" type="none"/>
            <a:tailEnd len="sm" w="sm" type="none"/>
          </a:ln>
          <a:effectLst>
            <a:outerShdw blurRad="39960" rotWithShape="0" dir="5400000" dist="23040">
              <a:srgbClr val="000000">
                <a:alpha val="34901"/>
              </a:srgbClr>
            </a:outerShdw>
          </a:effectLst>
        </p:spPr>
        <p:txBody>
          <a:bodyPr anchorCtr="0" anchor="ctr" bIns="33750" lIns="67500" spcFirstLastPara="1" rIns="67500" wrap="square" tIns="33750">
            <a:noAutofit/>
          </a:bodyPr>
          <a:lstStyle/>
          <a:p>
            <a:pPr indent="0" lvl="0" marL="0" marR="0" rtl="0" algn="ctr">
              <a:lnSpc>
                <a:spcPct val="100000"/>
              </a:lnSpc>
              <a:spcBef>
                <a:spcPts val="0"/>
              </a:spcBef>
              <a:spcAft>
                <a:spcPts val="0"/>
              </a:spcAft>
              <a:buClr>
                <a:srgbClr val="000000"/>
              </a:buClr>
              <a:buSzPts val="1100"/>
              <a:buFont typeface="Arial"/>
              <a:buNone/>
            </a:pPr>
            <a:r>
              <a:rPr b="1" i="0" lang="en-GB" sz="1100" u="none" cap="none" strike="noStrike">
                <a:solidFill>
                  <a:srgbClr val="FFFFFF"/>
                </a:solidFill>
                <a:latin typeface="Arial"/>
                <a:ea typeface="Arial"/>
                <a:cs typeface="Arial"/>
                <a:sym typeface="Arial"/>
              </a:rPr>
              <a:t>3</a:t>
            </a:r>
            <a:endParaRPr b="0" i="0" sz="1100" u="none" cap="none" strike="noStrike">
              <a:solidFill>
                <a:srgbClr val="000000"/>
              </a:solidFill>
              <a:latin typeface="Arial"/>
              <a:ea typeface="Arial"/>
              <a:cs typeface="Arial"/>
              <a:sym typeface="Arial"/>
            </a:endParaRPr>
          </a:p>
        </p:txBody>
      </p:sp>
      <p:sp>
        <p:nvSpPr>
          <p:cNvPr id="159" name="Google Shape;159;p20"/>
          <p:cNvSpPr/>
          <p:nvPr/>
        </p:nvSpPr>
        <p:spPr>
          <a:xfrm>
            <a:off x="4764420" y="2221560"/>
            <a:ext cx="850230" cy="221400"/>
          </a:xfrm>
          <a:prstGeom prst="rect">
            <a:avLst/>
          </a:prstGeom>
          <a:noFill/>
          <a:ln>
            <a:noFill/>
          </a:ln>
        </p:spPr>
        <p:txBody>
          <a:bodyPr anchorCtr="0" anchor="ctr" bIns="13775" lIns="34275" spcFirstLastPara="1" rIns="34275" wrap="square" tIns="13775">
            <a:noAutofit/>
          </a:bodyPr>
          <a:lstStyle/>
          <a:p>
            <a:pPr indent="0" lvl="0" marL="0" marR="0" rtl="0" algn="ctr">
              <a:lnSpc>
                <a:spcPct val="100000"/>
              </a:lnSpc>
              <a:spcBef>
                <a:spcPts val="0"/>
              </a:spcBef>
              <a:spcAft>
                <a:spcPts val="0"/>
              </a:spcAft>
              <a:buClr>
                <a:srgbClr val="000000"/>
              </a:buClr>
              <a:buSzPts val="1300"/>
              <a:buFont typeface="Arial"/>
              <a:buNone/>
            </a:pPr>
            <a:r>
              <a:rPr b="1" i="0" lang="en-GB" sz="1300" u="none" cap="none" strike="noStrike">
                <a:solidFill>
                  <a:srgbClr val="FABF8E"/>
                </a:solidFill>
                <a:latin typeface="Arial"/>
                <a:ea typeface="Arial"/>
                <a:cs typeface="Arial"/>
                <a:sym typeface="Arial"/>
              </a:rPr>
              <a:t>35 s:</a:t>
            </a:r>
            <a:endParaRPr b="0" i="0" sz="1300" u="none" cap="none" strike="noStrike">
              <a:solidFill>
                <a:srgbClr val="FFFFFF"/>
              </a:solidFill>
              <a:latin typeface="Arial"/>
              <a:ea typeface="Arial"/>
              <a:cs typeface="Arial"/>
              <a:sym typeface="Arial"/>
            </a:endParaRPr>
          </a:p>
        </p:txBody>
      </p:sp>
      <p:sp>
        <p:nvSpPr>
          <p:cNvPr id="160" name="Google Shape;160;p20"/>
          <p:cNvSpPr/>
          <p:nvPr/>
        </p:nvSpPr>
        <p:spPr>
          <a:xfrm>
            <a:off x="4740930" y="2422440"/>
            <a:ext cx="863730" cy="285660"/>
          </a:xfrm>
          <a:prstGeom prst="rect">
            <a:avLst/>
          </a:prstGeom>
          <a:noFill/>
          <a:ln>
            <a:noFill/>
          </a:ln>
        </p:spPr>
        <p:txBody>
          <a:bodyPr anchorCtr="0" anchor="ctr" bIns="13775" lIns="34275" spcFirstLastPara="1" rIns="34275" wrap="square" tIns="13775">
            <a:noAutofit/>
          </a:bodyPr>
          <a:lstStyle/>
          <a:p>
            <a:pPr indent="0" lvl="0" marL="0" marR="0" rtl="0" algn="l">
              <a:lnSpc>
                <a:spcPct val="100000"/>
              </a:lnSpc>
              <a:spcBef>
                <a:spcPts val="0"/>
              </a:spcBef>
              <a:spcAft>
                <a:spcPts val="0"/>
              </a:spcAft>
              <a:buClr>
                <a:srgbClr val="000000"/>
              </a:buClr>
              <a:buSzPts val="800"/>
              <a:buFont typeface="Arial"/>
              <a:buNone/>
            </a:pPr>
            <a:r>
              <a:rPr b="1" i="0" lang="en-GB" sz="800" u="none" cap="none" strike="noStrike">
                <a:solidFill>
                  <a:srgbClr val="FDE9D8"/>
                </a:solidFill>
                <a:latin typeface="Arial"/>
                <a:ea typeface="Arial"/>
                <a:cs typeface="Arial"/>
                <a:sym typeface="Arial"/>
              </a:rPr>
              <a:t>send_safe_</a:t>
            </a:r>
            <a:endParaRPr b="0" i="0" sz="800" u="none" cap="none" strike="noStrike">
              <a:solidFill>
                <a:srgbClr val="FFFFFF"/>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1" i="0" lang="en-GB" sz="800" u="none" cap="none" strike="noStrike">
                <a:solidFill>
                  <a:srgbClr val="FDE9D8"/>
                </a:solidFill>
                <a:latin typeface="Arial"/>
                <a:ea typeface="Arial"/>
                <a:cs typeface="Arial"/>
                <a:sym typeface="Arial"/>
              </a:rPr>
              <a:t>pose.py</a:t>
            </a:r>
            <a:endParaRPr b="0" i="0" sz="800" u="none" cap="none" strike="noStrike">
              <a:solidFill>
                <a:srgbClr val="FFFFFF"/>
              </a:solidFill>
              <a:latin typeface="Arial"/>
              <a:ea typeface="Arial"/>
              <a:cs typeface="Arial"/>
              <a:sym typeface="Arial"/>
            </a:endParaRPr>
          </a:p>
        </p:txBody>
      </p:sp>
      <p:cxnSp>
        <p:nvCxnSpPr>
          <p:cNvPr id="161" name="Google Shape;161;p20"/>
          <p:cNvCxnSpPr/>
          <p:nvPr/>
        </p:nvCxnSpPr>
        <p:spPr>
          <a:xfrm>
            <a:off x="4807890" y="2866590"/>
            <a:ext cx="782190" cy="270"/>
          </a:xfrm>
          <a:prstGeom prst="straightConnector1">
            <a:avLst/>
          </a:prstGeom>
          <a:noFill/>
          <a:ln cap="flat" cmpd="sng" w="12700">
            <a:solidFill>
              <a:srgbClr val="E89417"/>
            </a:solidFill>
            <a:prstDash val="solid"/>
            <a:round/>
            <a:headEnd len="sm" w="sm" type="none"/>
            <a:tailEnd len="sm" w="sm" type="none"/>
          </a:ln>
        </p:spPr>
      </p:cxnSp>
      <p:sp>
        <p:nvSpPr>
          <p:cNvPr id="162" name="Google Shape;162;p20"/>
          <p:cNvSpPr/>
          <p:nvPr/>
        </p:nvSpPr>
        <p:spPr>
          <a:xfrm>
            <a:off x="4713390" y="2921130"/>
            <a:ext cx="863730" cy="343170"/>
          </a:xfrm>
          <a:prstGeom prst="rect">
            <a:avLst/>
          </a:prstGeom>
          <a:noFill/>
          <a:ln>
            <a:noFill/>
          </a:ln>
        </p:spPr>
        <p:txBody>
          <a:bodyPr anchorCtr="0" anchor="t" bIns="13775" lIns="34275" spcFirstLastPara="1" rIns="34275" wrap="square" tIns="13775">
            <a:noAutofit/>
          </a:bodyPr>
          <a:lstStyle/>
          <a:p>
            <a:pPr indent="0" lvl="0" marL="0" marR="0" rtl="0" algn="l">
              <a:lnSpc>
                <a:spcPct val="100000"/>
              </a:lnSpc>
              <a:spcBef>
                <a:spcPts val="0"/>
              </a:spcBef>
              <a:spcAft>
                <a:spcPts val="0"/>
              </a:spcAft>
              <a:buClr>
                <a:srgbClr val="000000"/>
              </a:buClr>
              <a:buSzPts val="700"/>
              <a:buFont typeface="Arial"/>
              <a:buNone/>
            </a:pPr>
            <a:r>
              <a:rPr b="0" i="0" lang="en-GB" sz="700" u="none" cap="none" strike="noStrike">
                <a:solidFill>
                  <a:srgbClr val="FDE9D8"/>
                </a:solidFill>
                <a:latin typeface="Arial"/>
                <a:ea typeface="Arial"/>
                <a:cs typeface="Arial"/>
                <a:sym typeface="Arial"/>
              </a:rPr>
              <a:t>Move the arm to</a:t>
            </a:r>
            <a:endParaRPr b="0" i="0" sz="700" u="none" cap="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700"/>
              <a:buFont typeface="Arial"/>
              <a:buNone/>
            </a:pPr>
            <a:r>
              <a:rPr b="0" i="0" lang="en-GB" sz="700" u="none" cap="none" strike="noStrike">
                <a:solidFill>
                  <a:srgbClr val="FDE9D8"/>
                </a:solidFill>
                <a:latin typeface="Arial"/>
                <a:ea typeface="Arial"/>
                <a:cs typeface="Arial"/>
                <a:sym typeface="Arial"/>
              </a:rPr>
              <a:t>a neutral / safe</a:t>
            </a:r>
            <a:endParaRPr b="0" i="0" sz="700" u="none" cap="none" strike="noStrike">
              <a:solidFill>
                <a:srgbClr val="FFFFFF"/>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700"/>
              <a:buFont typeface="Arial"/>
              <a:buNone/>
            </a:pPr>
            <a:r>
              <a:rPr b="0" i="0" lang="en-GB" sz="700" u="none" cap="none" strike="noStrike">
                <a:solidFill>
                  <a:srgbClr val="FDE9D8"/>
                </a:solidFill>
                <a:latin typeface="Arial"/>
                <a:ea typeface="Arial"/>
                <a:cs typeface="Arial"/>
                <a:sym typeface="Arial"/>
              </a:rPr>
              <a:t>posture</a:t>
            </a:r>
            <a:endParaRPr b="0" i="0" sz="700" u="none" cap="none" strike="noStrike">
              <a:solidFill>
                <a:srgbClr val="FFFFFF"/>
              </a:solidFill>
              <a:latin typeface="Arial"/>
              <a:ea typeface="Arial"/>
              <a:cs typeface="Arial"/>
              <a:sym typeface="Arial"/>
            </a:endParaRPr>
          </a:p>
        </p:txBody>
      </p:sp>
      <p:sp>
        <p:nvSpPr>
          <p:cNvPr id="163" name="Google Shape;163;p20"/>
          <p:cNvSpPr/>
          <p:nvPr/>
        </p:nvSpPr>
        <p:spPr>
          <a:xfrm>
            <a:off x="5953770" y="2089800"/>
            <a:ext cx="1048950" cy="2223450"/>
          </a:xfrm>
          <a:prstGeom prst="roundRect">
            <a:avLst>
              <a:gd fmla="val 16667" name="adj"/>
            </a:avLst>
          </a:prstGeom>
          <a:solidFill>
            <a:srgbClr val="A50021"/>
          </a:solidFill>
          <a:ln cap="flat" cmpd="sng" w="13950">
            <a:solidFill>
              <a:srgbClr val="2563A5"/>
            </a:solidFill>
            <a:prstDash val="solid"/>
            <a:round/>
            <a:headEnd len="sm" w="sm" type="none"/>
            <a:tailEnd len="sm" w="sm" type="none"/>
          </a:ln>
          <a:effectLst>
            <a:outerShdw blurRad="39960" rotWithShape="0" dir="5400000" dist="23040">
              <a:srgbClr val="000000">
                <a:alpha val="34901"/>
              </a:srgbClr>
            </a:outerShdw>
          </a:effectLst>
        </p:spPr>
        <p:txBody>
          <a:bodyPr anchorCtr="0" anchor="ctr" bIns="33750" lIns="67500" spcFirstLastPara="1" rIns="67500" wrap="square" tIns="337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sp>
        <p:nvSpPr>
          <p:cNvPr id="164" name="Google Shape;164;p20"/>
          <p:cNvSpPr/>
          <p:nvPr/>
        </p:nvSpPr>
        <p:spPr>
          <a:xfrm>
            <a:off x="6283170" y="1923480"/>
            <a:ext cx="241380" cy="265410"/>
          </a:xfrm>
          <a:prstGeom prst="ellipse">
            <a:avLst/>
          </a:prstGeom>
          <a:solidFill>
            <a:srgbClr val="C00000"/>
          </a:solidFill>
          <a:ln cap="flat" cmpd="sng" w="15225">
            <a:solidFill>
              <a:srgbClr val="2563A5"/>
            </a:solidFill>
            <a:prstDash val="solid"/>
            <a:round/>
            <a:headEnd len="sm" w="sm" type="none"/>
            <a:tailEnd len="sm" w="sm" type="none"/>
          </a:ln>
          <a:effectLst>
            <a:outerShdw blurRad="39960" rotWithShape="0" dir="5400000" dist="23040">
              <a:srgbClr val="000000">
                <a:alpha val="34901"/>
              </a:srgbClr>
            </a:outerShdw>
          </a:effectLst>
        </p:spPr>
        <p:txBody>
          <a:bodyPr anchorCtr="0" anchor="ctr" bIns="33750" lIns="67500" spcFirstLastPara="1" rIns="67500" wrap="square" tIns="33750">
            <a:noAutofit/>
          </a:bodyPr>
          <a:lstStyle/>
          <a:p>
            <a:pPr indent="0" lvl="0" marL="0" marR="0" rtl="0" algn="ctr">
              <a:lnSpc>
                <a:spcPct val="100000"/>
              </a:lnSpc>
              <a:spcBef>
                <a:spcPts val="0"/>
              </a:spcBef>
              <a:spcAft>
                <a:spcPts val="0"/>
              </a:spcAft>
              <a:buClr>
                <a:srgbClr val="000000"/>
              </a:buClr>
              <a:buSzPts val="1100"/>
              <a:buFont typeface="Arial"/>
              <a:buNone/>
            </a:pPr>
            <a:r>
              <a:rPr b="1" i="0" lang="en-GB" sz="1100" u="none" cap="none" strike="noStrike">
                <a:solidFill>
                  <a:srgbClr val="FFFFFF"/>
                </a:solidFill>
                <a:latin typeface="Arial"/>
                <a:ea typeface="Arial"/>
                <a:cs typeface="Arial"/>
                <a:sym typeface="Arial"/>
              </a:rPr>
              <a:t>4</a:t>
            </a:r>
            <a:endParaRPr b="0" i="0" sz="1100" u="none" cap="none" strike="noStrike">
              <a:solidFill>
                <a:srgbClr val="FFFFFF"/>
              </a:solidFill>
              <a:latin typeface="Arial"/>
              <a:ea typeface="Arial"/>
              <a:cs typeface="Arial"/>
              <a:sym typeface="Arial"/>
            </a:endParaRPr>
          </a:p>
        </p:txBody>
      </p:sp>
      <p:sp>
        <p:nvSpPr>
          <p:cNvPr id="165" name="Google Shape;165;p20"/>
          <p:cNvSpPr/>
          <p:nvPr/>
        </p:nvSpPr>
        <p:spPr>
          <a:xfrm>
            <a:off x="6048810" y="2208060"/>
            <a:ext cx="883710" cy="221400"/>
          </a:xfrm>
          <a:prstGeom prst="rect">
            <a:avLst/>
          </a:prstGeom>
          <a:noFill/>
          <a:ln>
            <a:noFill/>
          </a:ln>
        </p:spPr>
        <p:txBody>
          <a:bodyPr anchorCtr="0" anchor="ctr" bIns="13775" lIns="34275" spcFirstLastPara="1" rIns="34275" wrap="square" tIns="13775">
            <a:noAutofit/>
          </a:bodyPr>
          <a:lstStyle/>
          <a:p>
            <a:pPr indent="0" lvl="0" marL="0" marR="0" rtl="0" algn="ctr">
              <a:lnSpc>
                <a:spcPct val="100000"/>
              </a:lnSpc>
              <a:spcBef>
                <a:spcPts val="0"/>
              </a:spcBef>
              <a:spcAft>
                <a:spcPts val="0"/>
              </a:spcAft>
              <a:buClr>
                <a:srgbClr val="000000"/>
              </a:buClr>
              <a:buSzPts val="1300"/>
              <a:buFont typeface="Arial"/>
              <a:buNone/>
            </a:pPr>
            <a:r>
              <a:rPr b="1" i="0" lang="en-GB" sz="1300" u="none" cap="none" strike="noStrike">
                <a:solidFill>
                  <a:srgbClr val="E5B8B7"/>
                </a:solidFill>
                <a:latin typeface="Arial"/>
                <a:ea typeface="Arial"/>
                <a:cs typeface="Arial"/>
                <a:sym typeface="Arial"/>
              </a:rPr>
              <a:t>70 s:</a:t>
            </a:r>
            <a:endParaRPr b="0" i="0" sz="1300" u="none" cap="none" strike="noStrike">
              <a:solidFill>
                <a:srgbClr val="FFFFFF"/>
              </a:solidFill>
              <a:latin typeface="Arial"/>
              <a:ea typeface="Arial"/>
              <a:cs typeface="Arial"/>
              <a:sym typeface="Arial"/>
            </a:endParaRPr>
          </a:p>
        </p:txBody>
      </p:sp>
      <p:sp>
        <p:nvSpPr>
          <p:cNvPr id="166" name="Google Shape;166;p20"/>
          <p:cNvSpPr/>
          <p:nvPr/>
        </p:nvSpPr>
        <p:spPr>
          <a:xfrm>
            <a:off x="6036120" y="2403000"/>
            <a:ext cx="896400" cy="414990"/>
          </a:xfrm>
          <a:prstGeom prst="rect">
            <a:avLst/>
          </a:prstGeom>
          <a:noFill/>
          <a:ln>
            <a:noFill/>
          </a:ln>
        </p:spPr>
        <p:txBody>
          <a:bodyPr anchorCtr="0" anchor="ctr" bIns="13775" lIns="34275" spcFirstLastPara="1" rIns="34275" wrap="square" tIns="13775">
            <a:noAutofit/>
          </a:bodyPr>
          <a:lstStyle/>
          <a:p>
            <a:pPr indent="0" lvl="0" marL="0" marR="0" rtl="0" algn="l">
              <a:lnSpc>
                <a:spcPct val="100000"/>
              </a:lnSpc>
              <a:spcBef>
                <a:spcPts val="0"/>
              </a:spcBef>
              <a:spcAft>
                <a:spcPts val="0"/>
              </a:spcAft>
              <a:buClr>
                <a:srgbClr val="000000"/>
              </a:buClr>
              <a:buSzPts val="800"/>
              <a:buFont typeface="Arial"/>
              <a:buNone/>
            </a:pPr>
            <a:r>
              <a:rPr b="1" i="0" lang="en-GB" sz="800" u="none" cap="none" strike="noStrike">
                <a:solidFill>
                  <a:srgbClr val="E5B8B7"/>
                </a:solidFill>
                <a:latin typeface="Arial"/>
                <a:ea typeface="Arial"/>
                <a:cs typeface="Arial"/>
                <a:sym typeface="Arial"/>
              </a:rPr>
              <a:t>go_to_top_</a:t>
            </a:r>
            <a:endParaRPr b="0" i="0" sz="800" u="none" cap="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1" i="0" lang="en-GB" sz="800" u="none" cap="none" strike="noStrike">
                <a:solidFill>
                  <a:srgbClr val="E5B8B7"/>
                </a:solidFill>
                <a:latin typeface="Arial"/>
                <a:ea typeface="Arial"/>
                <a:cs typeface="Arial"/>
                <a:sym typeface="Arial"/>
              </a:rPr>
              <a:t>hand_camera_</a:t>
            </a:r>
            <a:endParaRPr b="0" i="0" sz="800" u="none" cap="none" strike="noStrike">
              <a:solidFill>
                <a:srgbClr val="FFFFFF"/>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1" i="0" lang="en-GB" sz="800" u="none" cap="none" strike="noStrike">
                <a:solidFill>
                  <a:srgbClr val="E5B8B7"/>
                </a:solidFill>
                <a:latin typeface="Arial"/>
                <a:ea typeface="Arial"/>
                <a:cs typeface="Arial"/>
                <a:sym typeface="Arial"/>
              </a:rPr>
              <a:t>pos.py</a:t>
            </a:r>
            <a:endParaRPr b="0" i="0" sz="800" u="none" cap="none" strike="noStrike">
              <a:solidFill>
                <a:srgbClr val="FFFFFF"/>
              </a:solidFill>
              <a:latin typeface="Arial"/>
              <a:ea typeface="Arial"/>
              <a:cs typeface="Arial"/>
              <a:sym typeface="Arial"/>
            </a:endParaRPr>
          </a:p>
        </p:txBody>
      </p:sp>
      <p:cxnSp>
        <p:nvCxnSpPr>
          <p:cNvPr id="167" name="Google Shape;167;p20"/>
          <p:cNvCxnSpPr/>
          <p:nvPr/>
        </p:nvCxnSpPr>
        <p:spPr>
          <a:xfrm>
            <a:off x="6077160" y="2869290"/>
            <a:ext cx="820530" cy="270"/>
          </a:xfrm>
          <a:prstGeom prst="straightConnector1">
            <a:avLst/>
          </a:prstGeom>
          <a:noFill/>
          <a:ln cap="flat" cmpd="sng" w="9525">
            <a:solidFill>
              <a:srgbClr val="BE4B48"/>
            </a:solidFill>
            <a:prstDash val="solid"/>
            <a:round/>
            <a:headEnd len="sm" w="sm" type="none"/>
            <a:tailEnd len="sm" w="sm" type="none"/>
          </a:ln>
        </p:spPr>
      </p:cxnSp>
      <p:sp>
        <p:nvSpPr>
          <p:cNvPr id="168" name="Google Shape;168;p20"/>
          <p:cNvSpPr/>
          <p:nvPr/>
        </p:nvSpPr>
        <p:spPr>
          <a:xfrm>
            <a:off x="5975910" y="2875500"/>
            <a:ext cx="966600" cy="448470"/>
          </a:xfrm>
          <a:prstGeom prst="rect">
            <a:avLst/>
          </a:prstGeom>
          <a:noFill/>
          <a:ln>
            <a:noFill/>
          </a:ln>
        </p:spPr>
        <p:txBody>
          <a:bodyPr anchorCtr="0" anchor="t" bIns="13775" lIns="34275" spcFirstLastPara="1" rIns="34275" wrap="square" tIns="13775">
            <a:noAutofit/>
          </a:bodyPr>
          <a:lstStyle/>
          <a:p>
            <a:pPr indent="0" lvl="0" marL="0" marR="0" rtl="0" algn="l">
              <a:lnSpc>
                <a:spcPct val="100000"/>
              </a:lnSpc>
              <a:spcBef>
                <a:spcPts val="0"/>
              </a:spcBef>
              <a:spcAft>
                <a:spcPts val="0"/>
              </a:spcAft>
              <a:buClr>
                <a:srgbClr val="000000"/>
              </a:buClr>
              <a:buSzPts val="700"/>
              <a:buFont typeface="Arial"/>
              <a:buNone/>
            </a:pPr>
            <a:r>
              <a:rPr b="0" i="0" lang="en-GB" sz="700" u="none" cap="none" strike="noStrike">
                <a:solidFill>
                  <a:srgbClr val="E5B8B7"/>
                </a:solidFill>
                <a:latin typeface="Arial"/>
                <a:ea typeface="Arial"/>
                <a:cs typeface="Arial"/>
                <a:sym typeface="Arial"/>
              </a:rPr>
              <a:t>Move the hand</a:t>
            </a:r>
            <a:endParaRPr b="0" i="0" sz="700" u="none" cap="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700"/>
              <a:buFont typeface="Arial"/>
              <a:buNone/>
            </a:pPr>
            <a:r>
              <a:rPr b="0" i="0" lang="en-GB" sz="700" u="none" cap="none" strike="noStrike">
                <a:solidFill>
                  <a:srgbClr val="E5B8B7"/>
                </a:solidFill>
                <a:latin typeface="Arial"/>
                <a:ea typeface="Arial"/>
                <a:cs typeface="Arial"/>
                <a:sym typeface="Arial"/>
              </a:rPr>
              <a:t>camera above the</a:t>
            </a:r>
            <a:endParaRPr b="0" i="0" sz="700" u="none" cap="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700"/>
              <a:buFont typeface="Arial"/>
              <a:buNone/>
            </a:pPr>
            <a:r>
              <a:rPr b="0" i="0" lang="en-GB" sz="700" u="none" cap="none" strike="noStrike">
                <a:solidFill>
                  <a:srgbClr val="E5B8B7"/>
                </a:solidFill>
                <a:latin typeface="Arial"/>
                <a:ea typeface="Arial"/>
                <a:cs typeface="Arial"/>
                <a:sym typeface="Arial"/>
              </a:rPr>
              <a:t>workspace for</a:t>
            </a:r>
            <a:endParaRPr b="0" i="0" sz="700" u="none" cap="none" strike="noStrike">
              <a:solidFill>
                <a:srgbClr val="FFFFFF"/>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700"/>
              <a:buFont typeface="Arial"/>
              <a:buNone/>
            </a:pPr>
            <a:r>
              <a:rPr b="0" i="0" lang="en-GB" sz="700" u="none" cap="none" strike="noStrike">
                <a:solidFill>
                  <a:srgbClr val="E5B8B7"/>
                </a:solidFill>
                <a:latin typeface="Arial"/>
                <a:ea typeface="Arial"/>
                <a:cs typeface="Arial"/>
                <a:sym typeface="Arial"/>
              </a:rPr>
              <a:t>top-down perception</a:t>
            </a:r>
            <a:endParaRPr b="0" i="0" sz="700" u="none" cap="none" strike="noStrike">
              <a:solidFill>
                <a:srgbClr val="FFFFFF"/>
              </a:solidFill>
              <a:latin typeface="Arial"/>
              <a:ea typeface="Arial"/>
              <a:cs typeface="Arial"/>
              <a:sym typeface="Arial"/>
            </a:endParaRPr>
          </a:p>
        </p:txBody>
      </p:sp>
      <p:cxnSp>
        <p:nvCxnSpPr>
          <p:cNvPr id="169" name="Google Shape;169;p20"/>
          <p:cNvCxnSpPr/>
          <p:nvPr/>
        </p:nvCxnSpPr>
        <p:spPr>
          <a:xfrm>
            <a:off x="3246750" y="3048030"/>
            <a:ext cx="151200" cy="270"/>
          </a:xfrm>
          <a:prstGeom prst="straightConnector1">
            <a:avLst/>
          </a:prstGeom>
          <a:noFill/>
          <a:ln cap="flat" cmpd="sng" w="30475">
            <a:solidFill>
              <a:srgbClr val="528DD5"/>
            </a:solidFill>
            <a:prstDash val="solid"/>
            <a:round/>
            <a:headEnd len="sm" w="sm" type="none"/>
            <a:tailEnd len="sm" w="sm" type="none"/>
          </a:ln>
        </p:spPr>
      </p:cxnSp>
      <p:sp>
        <p:nvSpPr>
          <p:cNvPr id="170" name="Google Shape;170;p20"/>
          <p:cNvSpPr/>
          <p:nvPr/>
        </p:nvSpPr>
        <p:spPr>
          <a:xfrm>
            <a:off x="4530600" y="2689200"/>
            <a:ext cx="231930" cy="23193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pic>
        <p:nvPicPr>
          <p:cNvPr id="171" name="Google Shape;171;p20"/>
          <p:cNvPicPr preferRelativeResize="0"/>
          <p:nvPr/>
        </p:nvPicPr>
        <p:blipFill rotWithShape="1">
          <a:blip r:embed="rId4">
            <a:alphaModFix/>
          </a:blip>
          <a:srcRect b="0" l="0" r="0" t="0"/>
          <a:stretch/>
        </p:blipFill>
        <p:spPr>
          <a:xfrm>
            <a:off x="4823280" y="3390660"/>
            <a:ext cx="762480" cy="837000"/>
          </a:xfrm>
          <a:prstGeom prst="rect">
            <a:avLst/>
          </a:prstGeom>
          <a:noFill/>
          <a:ln>
            <a:noFill/>
          </a:ln>
        </p:spPr>
      </p:pic>
      <p:cxnSp>
        <p:nvCxnSpPr>
          <p:cNvPr id="172" name="Google Shape;172;p20"/>
          <p:cNvCxnSpPr/>
          <p:nvPr/>
        </p:nvCxnSpPr>
        <p:spPr>
          <a:xfrm>
            <a:off x="4456890" y="3048030"/>
            <a:ext cx="151200" cy="270"/>
          </a:xfrm>
          <a:prstGeom prst="straightConnector1">
            <a:avLst/>
          </a:prstGeom>
          <a:noFill/>
          <a:ln cap="flat" cmpd="sng" w="30475">
            <a:solidFill>
              <a:srgbClr val="528DD5"/>
            </a:solidFill>
            <a:prstDash val="solid"/>
            <a:round/>
            <a:headEnd len="sm" w="sm" type="none"/>
            <a:tailEnd len="sm" w="sm" type="none"/>
          </a:ln>
        </p:spPr>
      </p:cxnSp>
      <p:cxnSp>
        <p:nvCxnSpPr>
          <p:cNvPr id="173" name="Google Shape;173;p20"/>
          <p:cNvCxnSpPr/>
          <p:nvPr/>
        </p:nvCxnSpPr>
        <p:spPr>
          <a:xfrm>
            <a:off x="5736960" y="3040470"/>
            <a:ext cx="151200" cy="270"/>
          </a:xfrm>
          <a:prstGeom prst="straightConnector1">
            <a:avLst/>
          </a:prstGeom>
          <a:noFill/>
          <a:ln cap="flat" cmpd="sng" w="30475">
            <a:solidFill>
              <a:srgbClr val="528DD5"/>
            </a:solidFill>
            <a:prstDash val="solid"/>
            <a:round/>
            <a:headEnd len="sm" w="sm" type="none"/>
            <a:tailEnd len="sm" w="sm" type="none"/>
          </a:ln>
        </p:spPr>
      </p:cxnSp>
      <p:sp>
        <p:nvSpPr>
          <p:cNvPr id="174" name="Google Shape;174;p20"/>
          <p:cNvSpPr/>
          <p:nvPr/>
        </p:nvSpPr>
        <p:spPr>
          <a:xfrm>
            <a:off x="7236000" y="861030"/>
            <a:ext cx="1811700" cy="3737340"/>
          </a:xfrm>
          <a:prstGeom prst="roundRect">
            <a:avLst>
              <a:gd fmla="val 16667" name="adj"/>
            </a:avLst>
          </a:prstGeom>
          <a:solidFill>
            <a:srgbClr val="003300"/>
          </a:solidFill>
          <a:ln cap="flat" cmpd="sng" w="13950">
            <a:solidFill>
              <a:srgbClr val="498B40"/>
            </a:solidFill>
            <a:prstDash val="dash"/>
            <a:round/>
            <a:headEnd len="sm" w="sm" type="none"/>
            <a:tailEnd len="sm" w="sm" type="none"/>
          </a:ln>
          <a:effectLst>
            <a:outerShdw blurRad="39960" rotWithShape="0" dir="5400000" dist="23040">
              <a:srgbClr val="000000">
                <a:alpha val="34901"/>
              </a:srgbClr>
            </a:outerShdw>
          </a:effectLst>
        </p:spPr>
        <p:txBody>
          <a:bodyPr anchorCtr="0" anchor="ctr" bIns="33750" lIns="67500" spcFirstLastPara="1" rIns="67500" wrap="square" tIns="337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sp>
        <p:nvSpPr>
          <p:cNvPr id="175" name="Google Shape;175;p20"/>
          <p:cNvSpPr/>
          <p:nvPr/>
        </p:nvSpPr>
        <p:spPr>
          <a:xfrm>
            <a:off x="7544610" y="684990"/>
            <a:ext cx="1242810" cy="244080"/>
          </a:xfrm>
          <a:prstGeom prst="roundRect">
            <a:avLst>
              <a:gd fmla="val 16667" name="adj"/>
            </a:avLst>
          </a:prstGeom>
          <a:solidFill>
            <a:srgbClr val="76923C"/>
          </a:solidFill>
          <a:ln cap="flat" cmpd="sng" w="12700">
            <a:solidFill>
              <a:srgbClr val="498B40"/>
            </a:solidFill>
            <a:prstDash val="solid"/>
            <a:round/>
            <a:headEnd len="sm" w="sm" type="none"/>
            <a:tailEnd len="sm" w="sm" type="none"/>
          </a:ln>
          <a:effectLst>
            <a:outerShdw blurRad="39960" rotWithShape="0" dir="5400000" dist="23040">
              <a:srgbClr val="000000">
                <a:alpha val="34901"/>
              </a:srgbClr>
            </a:outerShdw>
          </a:effectLst>
        </p:spPr>
        <p:txBody>
          <a:bodyPr anchorCtr="0" anchor="ctr" bIns="20525" lIns="41025" spcFirstLastPara="1" rIns="41025" wrap="square" tIns="20525">
            <a:noAutofit/>
          </a:bodyPr>
          <a:lstStyle/>
          <a:p>
            <a:pPr indent="0" lvl="0" marL="0" marR="0" rtl="0" algn="ctr">
              <a:lnSpc>
                <a:spcPct val="100000"/>
              </a:lnSpc>
              <a:spcBef>
                <a:spcPts val="0"/>
              </a:spcBef>
              <a:spcAft>
                <a:spcPts val="0"/>
              </a:spcAft>
              <a:buClr>
                <a:srgbClr val="000000"/>
              </a:buClr>
              <a:buSzPts val="900"/>
              <a:buFont typeface="Arial"/>
              <a:buNone/>
            </a:pPr>
            <a:r>
              <a:rPr b="1" i="0" lang="en-GB" sz="900" u="none" cap="none" strike="noStrike">
                <a:solidFill>
                  <a:srgbClr val="1E642D"/>
                </a:solidFill>
                <a:latin typeface="Arial"/>
                <a:ea typeface="Arial"/>
                <a:cs typeface="Arial"/>
                <a:sym typeface="Arial"/>
              </a:rPr>
              <a:t>Initialization Result</a:t>
            </a:r>
            <a:endParaRPr b="0" i="0" sz="900" u="none" cap="none" strike="noStrike">
              <a:solidFill>
                <a:srgbClr val="FFFFFF"/>
              </a:solidFill>
              <a:latin typeface="Arial"/>
              <a:ea typeface="Arial"/>
              <a:cs typeface="Arial"/>
              <a:sym typeface="Arial"/>
            </a:endParaRPr>
          </a:p>
        </p:txBody>
      </p:sp>
      <p:sp>
        <p:nvSpPr>
          <p:cNvPr id="176" name="Google Shape;176;p20"/>
          <p:cNvSpPr/>
          <p:nvPr/>
        </p:nvSpPr>
        <p:spPr>
          <a:xfrm>
            <a:off x="7606170" y="1041930"/>
            <a:ext cx="1387530" cy="455490"/>
          </a:xfrm>
          <a:prstGeom prst="rect">
            <a:avLst/>
          </a:prstGeom>
          <a:noFill/>
          <a:ln>
            <a:noFill/>
          </a:ln>
        </p:spPr>
        <p:txBody>
          <a:bodyPr anchorCtr="0" anchor="ctr" bIns="13775" lIns="34275" spcFirstLastPara="1" rIns="34275" wrap="square" tIns="13775">
            <a:noAutofit/>
          </a:bodyPr>
          <a:lstStyle/>
          <a:p>
            <a:pPr indent="0" lvl="0" marL="0" marR="0" rtl="0" algn="l">
              <a:lnSpc>
                <a:spcPct val="100000"/>
              </a:lnSpc>
              <a:spcBef>
                <a:spcPts val="0"/>
              </a:spcBef>
              <a:spcAft>
                <a:spcPts val="0"/>
              </a:spcAft>
              <a:buClr>
                <a:srgbClr val="000000"/>
              </a:buClr>
              <a:buSzPts val="900"/>
              <a:buFont typeface="Arial"/>
              <a:buNone/>
            </a:pPr>
            <a:r>
              <a:rPr b="1" i="0" lang="en-GB" sz="900" u="none" cap="none" strike="noStrike">
                <a:solidFill>
                  <a:srgbClr val="D6E3BC"/>
                </a:solidFill>
                <a:latin typeface="Arial"/>
                <a:ea typeface="Arial"/>
                <a:cs typeface="Arial"/>
                <a:sym typeface="Arial"/>
              </a:rPr>
              <a:t>System Ready for Perception</a:t>
            </a:r>
            <a:endParaRPr b="0" i="0" sz="900" u="none" cap="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900"/>
              <a:buFont typeface="Arial"/>
              <a:buNone/>
            </a:pPr>
            <a:r>
              <a:rPr b="1" i="0" lang="en-GB" sz="900" u="none" cap="none" strike="noStrike">
                <a:solidFill>
                  <a:srgbClr val="D6E3BC"/>
                </a:solidFill>
                <a:latin typeface="Arial"/>
                <a:ea typeface="Arial"/>
                <a:cs typeface="Arial"/>
                <a:sym typeface="Arial"/>
              </a:rPr>
              <a:t>and Task Execution</a:t>
            </a:r>
            <a:endParaRPr b="0" i="0" sz="900" u="none" cap="none" strike="noStrike">
              <a:solidFill>
                <a:srgbClr val="FFFFFF"/>
              </a:solidFill>
              <a:latin typeface="Arial"/>
              <a:ea typeface="Arial"/>
              <a:cs typeface="Arial"/>
              <a:sym typeface="Arial"/>
            </a:endParaRPr>
          </a:p>
        </p:txBody>
      </p:sp>
      <p:sp>
        <p:nvSpPr>
          <p:cNvPr id="177" name="Google Shape;177;p20"/>
          <p:cNvSpPr/>
          <p:nvPr/>
        </p:nvSpPr>
        <p:spPr>
          <a:xfrm>
            <a:off x="7338330" y="1544670"/>
            <a:ext cx="1585440" cy="633420"/>
          </a:xfrm>
          <a:prstGeom prst="rect">
            <a:avLst/>
          </a:prstGeom>
          <a:noFill/>
          <a:ln>
            <a:noFill/>
          </a:ln>
        </p:spPr>
        <p:txBody>
          <a:bodyPr anchorCtr="0" anchor="t" bIns="13775" lIns="34275" spcFirstLastPara="1" rIns="34275" wrap="square" tIns="13775">
            <a:noAutofit/>
          </a:bodyPr>
          <a:lstStyle/>
          <a:p>
            <a:pPr indent="0" lvl="0" marL="0" marR="0" rtl="0" algn="l">
              <a:lnSpc>
                <a:spcPct val="100000"/>
              </a:lnSpc>
              <a:spcBef>
                <a:spcPts val="0"/>
              </a:spcBef>
              <a:spcAft>
                <a:spcPts val="0"/>
              </a:spcAft>
              <a:buClr>
                <a:srgbClr val="000000"/>
              </a:buClr>
              <a:buSzPts val="800"/>
              <a:buFont typeface="Arial"/>
              <a:buNone/>
            </a:pPr>
            <a:r>
              <a:rPr b="0" i="0" lang="en-GB" sz="800" u="none" cap="none" strike="noStrike">
                <a:solidFill>
                  <a:srgbClr val="EAF1DD"/>
                </a:solidFill>
                <a:latin typeface="Arial"/>
                <a:ea typeface="Arial"/>
                <a:cs typeface="Arial"/>
                <a:sym typeface="Arial"/>
              </a:rPr>
              <a:t>This staged initialization ensures the scene is ready, the arm is initialized, and the camera has a clear top-down view before LLM-generated code runs.</a:t>
            </a:r>
            <a:endParaRPr b="0" i="0" sz="800" u="none" cap="none" strike="noStrike">
              <a:solidFill>
                <a:srgbClr val="FFFFFF"/>
              </a:solidFill>
              <a:latin typeface="Arial"/>
              <a:ea typeface="Arial"/>
              <a:cs typeface="Arial"/>
              <a:sym typeface="Arial"/>
            </a:endParaRPr>
          </a:p>
        </p:txBody>
      </p:sp>
      <p:sp>
        <p:nvSpPr>
          <p:cNvPr id="178" name="Google Shape;178;p20"/>
          <p:cNvSpPr/>
          <p:nvPr/>
        </p:nvSpPr>
        <p:spPr>
          <a:xfrm>
            <a:off x="7399890" y="2316330"/>
            <a:ext cx="1514160" cy="1424250"/>
          </a:xfrm>
          <a:prstGeom prst="roundRect">
            <a:avLst>
              <a:gd fmla="val 16667" name="adj"/>
            </a:avLst>
          </a:prstGeom>
          <a:solidFill>
            <a:srgbClr val="C2D59B"/>
          </a:solidFill>
          <a:ln cap="flat" cmpd="sng" w="10150">
            <a:solidFill>
              <a:srgbClr val="498B40"/>
            </a:solidFill>
            <a:prstDash val="solid"/>
            <a:round/>
            <a:headEnd len="sm" w="sm" type="none"/>
            <a:tailEnd len="sm" w="sm" type="none"/>
          </a:ln>
          <a:effectLst>
            <a:outerShdw blurRad="39960" rotWithShape="0" dir="5400000" dist="23040">
              <a:srgbClr val="000000">
                <a:alpha val="34901"/>
              </a:srgbClr>
            </a:outerShdw>
          </a:effectLst>
        </p:spPr>
        <p:txBody>
          <a:bodyPr anchorCtr="0" anchor="ctr" bIns="33750" lIns="67500" spcFirstLastPara="1" rIns="67500" wrap="square" tIns="337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sp>
        <p:nvSpPr>
          <p:cNvPr id="179" name="Google Shape;179;p20"/>
          <p:cNvSpPr/>
          <p:nvPr/>
        </p:nvSpPr>
        <p:spPr>
          <a:xfrm>
            <a:off x="7651530" y="2194560"/>
            <a:ext cx="959850" cy="235980"/>
          </a:xfrm>
          <a:prstGeom prst="roundRect">
            <a:avLst>
              <a:gd fmla="val 16667" name="adj"/>
            </a:avLst>
          </a:prstGeom>
          <a:solidFill>
            <a:srgbClr val="F7FFF5"/>
          </a:solidFill>
          <a:ln cap="flat" cmpd="sng" w="10150">
            <a:solidFill>
              <a:srgbClr val="498B40"/>
            </a:solidFill>
            <a:prstDash val="solid"/>
            <a:round/>
            <a:headEnd len="sm" w="sm" type="none"/>
            <a:tailEnd len="sm" w="sm" type="none"/>
          </a:ln>
          <a:effectLst>
            <a:outerShdw blurRad="39960" rotWithShape="0" dir="5400000" dist="23040">
              <a:srgbClr val="000000">
                <a:alpha val="34901"/>
              </a:srgbClr>
            </a:outerShdw>
          </a:effectLst>
        </p:spPr>
        <p:txBody>
          <a:bodyPr anchorCtr="0" anchor="ctr" bIns="20525" lIns="41025" spcFirstLastPara="1" rIns="41025" wrap="square" tIns="20525">
            <a:noAutofit/>
          </a:bodyPr>
          <a:lstStyle/>
          <a:p>
            <a:pPr indent="0" lvl="0" marL="0" marR="0" rtl="0" algn="ctr">
              <a:lnSpc>
                <a:spcPct val="100000"/>
              </a:lnSpc>
              <a:spcBef>
                <a:spcPts val="0"/>
              </a:spcBef>
              <a:spcAft>
                <a:spcPts val="0"/>
              </a:spcAft>
              <a:buClr>
                <a:srgbClr val="000000"/>
              </a:buClr>
              <a:buSzPts val="600"/>
              <a:buFont typeface="Arial"/>
              <a:buNone/>
            </a:pPr>
            <a:r>
              <a:rPr b="0" i="0" lang="en-GB" sz="600" u="none" cap="none" strike="noStrike">
                <a:solidFill>
                  <a:srgbClr val="000000"/>
                </a:solidFill>
                <a:latin typeface="Arial"/>
                <a:ea typeface="Arial"/>
                <a:cs typeface="Arial"/>
                <a:sym typeface="Arial"/>
              </a:rPr>
              <a:t>Top-down camera view</a:t>
            </a:r>
            <a:endParaRPr b="0" i="0" sz="600" u="none" cap="none" strike="noStrike">
              <a:solidFill>
                <a:srgbClr val="000000"/>
              </a:solidFill>
              <a:latin typeface="Arial"/>
              <a:ea typeface="Arial"/>
              <a:cs typeface="Arial"/>
              <a:sym typeface="Arial"/>
            </a:endParaRPr>
          </a:p>
        </p:txBody>
      </p:sp>
      <p:cxnSp>
        <p:nvCxnSpPr>
          <p:cNvPr id="180" name="Google Shape;180;p20"/>
          <p:cNvCxnSpPr/>
          <p:nvPr/>
        </p:nvCxnSpPr>
        <p:spPr>
          <a:xfrm>
            <a:off x="8026560" y="4152870"/>
            <a:ext cx="316710" cy="270"/>
          </a:xfrm>
          <a:prstGeom prst="straightConnector1">
            <a:avLst/>
          </a:prstGeom>
          <a:noFill/>
          <a:ln cap="flat" cmpd="sng" w="22850">
            <a:solidFill>
              <a:srgbClr val="498B40"/>
            </a:solidFill>
            <a:prstDash val="solid"/>
            <a:round/>
            <a:headEnd len="sm" w="sm" type="none"/>
            <a:tailEnd len="sm" w="sm" type="none"/>
          </a:ln>
        </p:spPr>
      </p:cxnSp>
      <p:sp>
        <p:nvSpPr>
          <p:cNvPr id="181" name="Google Shape;181;p20"/>
          <p:cNvSpPr/>
          <p:nvPr/>
        </p:nvSpPr>
        <p:spPr>
          <a:xfrm>
            <a:off x="7407450" y="4312440"/>
            <a:ext cx="609930" cy="217080"/>
          </a:xfrm>
          <a:prstGeom prst="rect">
            <a:avLst/>
          </a:prstGeom>
          <a:noFill/>
          <a:ln>
            <a:noFill/>
          </a:ln>
        </p:spPr>
        <p:txBody>
          <a:bodyPr anchorCtr="0" anchor="ctr" bIns="13775" lIns="34275" spcFirstLastPara="1" rIns="34275" wrap="square" tIns="13775">
            <a:noAutofit/>
          </a:bodyPr>
          <a:lstStyle/>
          <a:p>
            <a:pPr indent="0" lvl="0" marL="0" marR="0" rtl="0" algn="l">
              <a:lnSpc>
                <a:spcPct val="100000"/>
              </a:lnSpc>
              <a:spcBef>
                <a:spcPts val="0"/>
              </a:spcBef>
              <a:spcAft>
                <a:spcPts val="0"/>
              </a:spcAft>
              <a:buClr>
                <a:srgbClr val="000000"/>
              </a:buClr>
              <a:buSzPts val="600"/>
              <a:buFont typeface="Arial"/>
              <a:buNone/>
            </a:pPr>
            <a:r>
              <a:rPr b="0" i="0" lang="en-GB" sz="600" u="none" cap="none" strike="noStrike">
                <a:solidFill>
                  <a:srgbClr val="EAF1DD"/>
                </a:solidFill>
                <a:latin typeface="Arial"/>
                <a:ea typeface="Arial"/>
                <a:cs typeface="Arial"/>
                <a:sym typeface="Arial"/>
              </a:rPr>
              <a:t>LLM-generated</a:t>
            </a:r>
            <a:endParaRPr b="0" i="0" sz="600" u="none" cap="none" strike="noStrike">
              <a:solidFill>
                <a:srgbClr val="FFFFFF"/>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600"/>
              <a:buFont typeface="Arial"/>
              <a:buNone/>
            </a:pPr>
            <a:r>
              <a:rPr b="0" i="0" lang="en-GB" sz="600" u="none" cap="none" strike="noStrike">
                <a:solidFill>
                  <a:srgbClr val="EAF1DD"/>
                </a:solidFill>
                <a:latin typeface="Arial"/>
                <a:ea typeface="Arial"/>
                <a:cs typeface="Arial"/>
                <a:sym typeface="Arial"/>
              </a:rPr>
              <a:t>code execution</a:t>
            </a:r>
            <a:endParaRPr b="0" i="0" sz="600" u="none" cap="none" strike="noStrike">
              <a:solidFill>
                <a:srgbClr val="FFFFFF"/>
              </a:solidFill>
              <a:latin typeface="Arial"/>
              <a:ea typeface="Arial"/>
              <a:cs typeface="Arial"/>
              <a:sym typeface="Arial"/>
            </a:endParaRPr>
          </a:p>
        </p:txBody>
      </p:sp>
      <p:sp>
        <p:nvSpPr>
          <p:cNvPr id="182" name="Google Shape;182;p20"/>
          <p:cNvSpPr/>
          <p:nvPr/>
        </p:nvSpPr>
        <p:spPr>
          <a:xfrm>
            <a:off x="8519580" y="4298940"/>
            <a:ext cx="474390" cy="217080"/>
          </a:xfrm>
          <a:prstGeom prst="rect">
            <a:avLst/>
          </a:prstGeom>
          <a:noFill/>
          <a:ln>
            <a:noFill/>
          </a:ln>
        </p:spPr>
        <p:txBody>
          <a:bodyPr anchorCtr="0" anchor="ctr" bIns="13775" lIns="34275" spcFirstLastPara="1" rIns="34275" wrap="square" tIns="13775">
            <a:noAutofit/>
          </a:bodyPr>
          <a:lstStyle/>
          <a:p>
            <a:pPr indent="0" lvl="0" marL="0" marR="0" rtl="0" algn="l">
              <a:lnSpc>
                <a:spcPct val="100000"/>
              </a:lnSpc>
              <a:spcBef>
                <a:spcPts val="0"/>
              </a:spcBef>
              <a:spcAft>
                <a:spcPts val="0"/>
              </a:spcAft>
              <a:buClr>
                <a:srgbClr val="000000"/>
              </a:buClr>
              <a:buSzPts val="600"/>
              <a:buFont typeface="Arial"/>
              <a:buNone/>
            </a:pPr>
            <a:r>
              <a:rPr b="0" i="0" lang="en-GB" sz="600" u="none" cap="none" strike="noStrike">
                <a:solidFill>
                  <a:srgbClr val="EAF1DD"/>
                </a:solidFill>
                <a:latin typeface="Arial"/>
                <a:ea typeface="Arial"/>
                <a:cs typeface="Arial"/>
                <a:sym typeface="Arial"/>
              </a:rPr>
              <a:t>Task</a:t>
            </a:r>
            <a:endParaRPr b="0" i="0" sz="600" u="none" cap="none" strike="noStrike">
              <a:solidFill>
                <a:srgbClr val="FFFFFF"/>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600"/>
              <a:buFont typeface="Arial"/>
              <a:buNone/>
            </a:pPr>
            <a:r>
              <a:rPr b="0" i="0" lang="en-GB" sz="600" u="none" cap="none" strike="noStrike">
                <a:solidFill>
                  <a:srgbClr val="EAF1DD"/>
                </a:solidFill>
                <a:latin typeface="Arial"/>
                <a:ea typeface="Arial"/>
                <a:cs typeface="Arial"/>
                <a:sym typeface="Arial"/>
              </a:rPr>
              <a:t>execution</a:t>
            </a:r>
            <a:endParaRPr b="0" i="0" sz="600" u="none" cap="none" strike="noStrike">
              <a:solidFill>
                <a:srgbClr val="FFFFFF"/>
              </a:solidFill>
              <a:latin typeface="Arial"/>
              <a:ea typeface="Arial"/>
              <a:cs typeface="Arial"/>
              <a:sym typeface="Arial"/>
            </a:endParaRPr>
          </a:p>
        </p:txBody>
      </p:sp>
      <p:pic>
        <p:nvPicPr>
          <p:cNvPr id="183" name="Google Shape;183;p20"/>
          <p:cNvPicPr preferRelativeResize="0"/>
          <p:nvPr/>
        </p:nvPicPr>
        <p:blipFill rotWithShape="1">
          <a:blip r:embed="rId5">
            <a:alphaModFix/>
          </a:blip>
          <a:srcRect b="13550" l="20233" r="13251" t="12630"/>
          <a:stretch/>
        </p:blipFill>
        <p:spPr>
          <a:xfrm>
            <a:off x="8550360" y="3907440"/>
            <a:ext cx="365580" cy="405810"/>
          </a:xfrm>
          <a:prstGeom prst="rect">
            <a:avLst/>
          </a:prstGeom>
          <a:noFill/>
          <a:ln>
            <a:noFill/>
          </a:ln>
        </p:spPr>
      </p:pic>
      <p:pic>
        <p:nvPicPr>
          <p:cNvPr id="184" name="Google Shape;184;p20"/>
          <p:cNvPicPr preferRelativeResize="0"/>
          <p:nvPr/>
        </p:nvPicPr>
        <p:blipFill rotWithShape="1">
          <a:blip r:embed="rId6">
            <a:alphaModFix/>
          </a:blip>
          <a:srcRect b="15747" l="18026" r="13613" t="12983"/>
          <a:stretch/>
        </p:blipFill>
        <p:spPr>
          <a:xfrm>
            <a:off x="7470630" y="3907440"/>
            <a:ext cx="396360" cy="413370"/>
          </a:xfrm>
          <a:prstGeom prst="rect">
            <a:avLst/>
          </a:prstGeom>
          <a:noFill/>
          <a:ln>
            <a:noFill/>
          </a:ln>
        </p:spPr>
      </p:pic>
      <p:cxnSp>
        <p:nvCxnSpPr>
          <p:cNvPr id="185" name="Google Shape;185;p20"/>
          <p:cNvCxnSpPr/>
          <p:nvPr/>
        </p:nvCxnSpPr>
        <p:spPr>
          <a:xfrm>
            <a:off x="7806780" y="3809160"/>
            <a:ext cx="804870" cy="270"/>
          </a:xfrm>
          <a:prstGeom prst="straightConnector1">
            <a:avLst/>
          </a:prstGeom>
          <a:noFill/>
          <a:ln cap="flat" cmpd="sng" w="12700">
            <a:solidFill>
              <a:srgbClr val="498B40"/>
            </a:solidFill>
            <a:prstDash val="solid"/>
            <a:round/>
            <a:headEnd len="sm" w="sm" type="none"/>
            <a:tailEnd len="sm" w="sm" type="none"/>
          </a:ln>
        </p:spPr>
      </p:cxnSp>
      <p:cxnSp>
        <p:nvCxnSpPr>
          <p:cNvPr id="186" name="Google Shape;186;p20"/>
          <p:cNvCxnSpPr/>
          <p:nvPr/>
        </p:nvCxnSpPr>
        <p:spPr>
          <a:xfrm>
            <a:off x="8198820" y="3809160"/>
            <a:ext cx="270" cy="132300"/>
          </a:xfrm>
          <a:prstGeom prst="straightConnector1">
            <a:avLst/>
          </a:prstGeom>
          <a:noFill/>
          <a:ln cap="flat" cmpd="sng" w="9525">
            <a:solidFill>
              <a:srgbClr val="9BBB59"/>
            </a:solidFill>
            <a:prstDash val="solid"/>
            <a:round/>
            <a:headEnd len="sm" w="sm" type="none"/>
            <a:tailEnd len="med" w="med" type="triangle"/>
          </a:ln>
        </p:spPr>
      </p:cxnSp>
      <p:sp>
        <p:nvSpPr>
          <p:cNvPr id="187" name="Google Shape;187;p20"/>
          <p:cNvSpPr/>
          <p:nvPr/>
        </p:nvSpPr>
        <p:spPr>
          <a:xfrm>
            <a:off x="142020" y="4626180"/>
            <a:ext cx="8880840" cy="448200"/>
          </a:xfrm>
          <a:prstGeom prst="roundRect">
            <a:avLst>
              <a:gd fmla="val 16667" name="adj"/>
            </a:avLst>
          </a:prstGeom>
          <a:solidFill>
            <a:srgbClr val="7F7F7F"/>
          </a:solidFill>
          <a:ln cap="flat" cmpd="sng" w="12700">
            <a:solidFill>
              <a:srgbClr val="2563A5"/>
            </a:solidFill>
            <a:prstDash val="solid"/>
            <a:round/>
            <a:headEnd len="sm" w="sm" type="none"/>
            <a:tailEnd len="sm" w="sm" type="none"/>
          </a:ln>
          <a:effectLst>
            <a:outerShdw blurRad="39960" rotWithShape="0" dir="5400000" dist="23040">
              <a:srgbClr val="000000">
                <a:alpha val="34901"/>
              </a:srgbClr>
            </a:outerShdw>
          </a:effectLst>
        </p:spPr>
        <p:txBody>
          <a:bodyPr anchorCtr="0" anchor="ctr" bIns="33750" lIns="67500" spcFirstLastPara="1" rIns="67500" wrap="square" tIns="337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sp>
        <p:nvSpPr>
          <p:cNvPr id="188" name="Google Shape;188;p20"/>
          <p:cNvSpPr/>
          <p:nvPr/>
        </p:nvSpPr>
        <p:spPr>
          <a:xfrm>
            <a:off x="362340" y="4732020"/>
            <a:ext cx="287820" cy="254070"/>
          </a:xfrm>
          <a:prstGeom prst="ellipse">
            <a:avLst/>
          </a:prstGeom>
          <a:solidFill>
            <a:srgbClr val="FFFFFF"/>
          </a:solidFill>
          <a:ln cap="flat" cmpd="sng" w="15225">
            <a:solidFill>
              <a:srgbClr val="2563A5"/>
            </a:solidFill>
            <a:prstDash val="solid"/>
            <a:round/>
            <a:headEnd len="sm" w="sm" type="none"/>
            <a:tailEnd len="sm" w="sm" type="none"/>
          </a:ln>
          <a:effectLst>
            <a:outerShdw blurRad="39960" rotWithShape="0" dir="5400000" dist="23040">
              <a:srgbClr val="000000">
                <a:alpha val="34901"/>
              </a:srgbClr>
            </a:outerShdw>
          </a:effectLst>
        </p:spPr>
        <p:txBody>
          <a:bodyPr anchorCtr="0" anchor="ctr" bIns="33750" lIns="67500" spcFirstLastPara="1" rIns="67500" wrap="square" tIns="33750">
            <a:noAutofit/>
          </a:bodyPr>
          <a:lstStyle/>
          <a:p>
            <a:pPr indent="0" lvl="0" marL="0" marR="0" rtl="0" algn="ctr">
              <a:lnSpc>
                <a:spcPct val="100000"/>
              </a:lnSpc>
              <a:spcBef>
                <a:spcPts val="0"/>
              </a:spcBef>
              <a:spcAft>
                <a:spcPts val="0"/>
              </a:spcAft>
              <a:buClr>
                <a:srgbClr val="000000"/>
              </a:buClr>
              <a:buSzPts val="1200"/>
              <a:buFont typeface="Arial"/>
              <a:buNone/>
            </a:pPr>
            <a:r>
              <a:rPr b="0" i="0" lang="en-GB" sz="1200" u="none" cap="none" strike="noStrike">
                <a:solidFill>
                  <a:srgbClr val="2563A5"/>
                </a:solidFill>
                <a:latin typeface="Arial"/>
                <a:ea typeface="Arial"/>
                <a:cs typeface="Arial"/>
                <a:sym typeface="Arial"/>
              </a:rPr>
              <a:t>⏱</a:t>
            </a:r>
            <a:endParaRPr b="0" i="0" sz="1200" u="none" cap="none" strike="noStrike">
              <a:solidFill>
                <a:srgbClr val="000000"/>
              </a:solidFill>
              <a:latin typeface="Arial"/>
              <a:ea typeface="Arial"/>
              <a:cs typeface="Arial"/>
              <a:sym typeface="Arial"/>
            </a:endParaRPr>
          </a:p>
        </p:txBody>
      </p:sp>
      <p:sp>
        <p:nvSpPr>
          <p:cNvPr id="189" name="Google Shape;189;p20"/>
          <p:cNvSpPr/>
          <p:nvPr/>
        </p:nvSpPr>
        <p:spPr>
          <a:xfrm>
            <a:off x="714420" y="4779810"/>
            <a:ext cx="1033830" cy="152820"/>
          </a:xfrm>
          <a:prstGeom prst="rect">
            <a:avLst/>
          </a:prstGeom>
          <a:noFill/>
          <a:ln>
            <a:noFill/>
          </a:ln>
        </p:spPr>
        <p:txBody>
          <a:bodyPr anchorCtr="0" anchor="ctr" bIns="13775" lIns="34275" spcFirstLastPara="1" rIns="34275" wrap="square" tIns="13775">
            <a:noAutofit/>
          </a:bodyPr>
          <a:lstStyle/>
          <a:p>
            <a:pPr indent="0" lvl="0" marL="0" marR="0" rtl="0" algn="l">
              <a:lnSpc>
                <a:spcPct val="100000"/>
              </a:lnSpc>
              <a:spcBef>
                <a:spcPts val="0"/>
              </a:spcBef>
              <a:spcAft>
                <a:spcPts val="0"/>
              </a:spcAft>
              <a:buClr>
                <a:srgbClr val="000000"/>
              </a:buClr>
              <a:buSzPts val="800"/>
              <a:buFont typeface="Arial"/>
              <a:buNone/>
            </a:pPr>
            <a:r>
              <a:rPr b="1" i="0" lang="en-GB" sz="800" u="none" cap="none" strike="noStrike">
                <a:solidFill>
                  <a:srgbClr val="07315D"/>
                </a:solidFill>
                <a:latin typeface="Arial"/>
                <a:ea typeface="Arial"/>
                <a:cs typeface="Arial"/>
                <a:sym typeface="Arial"/>
              </a:rPr>
              <a:t>Timing Summary</a:t>
            </a:r>
            <a:endParaRPr b="0" i="0" sz="800" u="none" cap="none" strike="noStrike">
              <a:solidFill>
                <a:srgbClr val="FFFFFF"/>
              </a:solidFill>
              <a:latin typeface="Arial"/>
              <a:ea typeface="Arial"/>
              <a:cs typeface="Arial"/>
              <a:sym typeface="Arial"/>
            </a:endParaRPr>
          </a:p>
        </p:txBody>
      </p:sp>
      <p:sp>
        <p:nvSpPr>
          <p:cNvPr id="190" name="Google Shape;190;p20"/>
          <p:cNvSpPr/>
          <p:nvPr/>
        </p:nvSpPr>
        <p:spPr>
          <a:xfrm>
            <a:off x="2263140" y="4732020"/>
            <a:ext cx="277830" cy="265140"/>
          </a:xfrm>
          <a:prstGeom prst="ellipse">
            <a:avLst/>
          </a:prstGeom>
          <a:solidFill>
            <a:srgbClr val="FFFFFF"/>
          </a:solidFill>
          <a:ln cap="flat" cmpd="sng" w="15225">
            <a:solidFill>
              <a:srgbClr val="2563A5"/>
            </a:solidFill>
            <a:prstDash val="solid"/>
            <a:round/>
            <a:headEnd len="sm" w="sm" type="none"/>
            <a:tailEnd len="sm" w="sm" type="none"/>
          </a:ln>
          <a:effectLst>
            <a:outerShdw blurRad="39960" rotWithShape="0" dir="5400000" dist="23040">
              <a:srgbClr val="000000">
                <a:alpha val="34901"/>
              </a:srgbClr>
            </a:outerShdw>
          </a:effectLst>
        </p:spPr>
        <p:txBody>
          <a:bodyPr anchorCtr="0" anchor="ctr" bIns="33750" lIns="67500" spcFirstLastPara="1" rIns="67500" wrap="square" tIns="33750">
            <a:noAutofit/>
          </a:bodyPr>
          <a:lstStyle/>
          <a:p>
            <a:pPr indent="0" lvl="0" marL="0" marR="0" rtl="0" algn="l">
              <a:lnSpc>
                <a:spcPct val="100000"/>
              </a:lnSpc>
              <a:spcBef>
                <a:spcPts val="0"/>
              </a:spcBef>
              <a:spcAft>
                <a:spcPts val="0"/>
              </a:spcAft>
              <a:buClr>
                <a:srgbClr val="000000"/>
              </a:buClr>
              <a:buSzPts val="800"/>
              <a:buFont typeface="Arial"/>
              <a:buNone/>
            </a:pPr>
            <a:r>
              <a:rPr b="1" i="0" lang="en-GB" sz="800" u="none" cap="none" strike="noStrike">
                <a:solidFill>
                  <a:srgbClr val="2563A5"/>
                </a:solidFill>
                <a:latin typeface="Times New Roman"/>
                <a:ea typeface="Times New Roman"/>
                <a:cs typeface="Times New Roman"/>
                <a:sym typeface="Times New Roman"/>
              </a:rPr>
              <a:t>0s</a:t>
            </a:r>
            <a:endParaRPr b="0" i="0" sz="800" u="none" cap="none" strike="noStrike">
              <a:solidFill>
                <a:srgbClr val="000000"/>
              </a:solidFill>
              <a:latin typeface="Arial"/>
              <a:ea typeface="Arial"/>
              <a:cs typeface="Arial"/>
              <a:sym typeface="Arial"/>
            </a:endParaRPr>
          </a:p>
        </p:txBody>
      </p:sp>
      <p:sp>
        <p:nvSpPr>
          <p:cNvPr id="191" name="Google Shape;191;p20"/>
          <p:cNvSpPr/>
          <p:nvPr/>
        </p:nvSpPr>
        <p:spPr>
          <a:xfrm>
            <a:off x="2630340" y="4806000"/>
            <a:ext cx="424980" cy="135540"/>
          </a:xfrm>
          <a:prstGeom prst="rect">
            <a:avLst/>
          </a:prstGeom>
          <a:noFill/>
          <a:ln>
            <a:noFill/>
          </a:ln>
        </p:spPr>
        <p:txBody>
          <a:bodyPr anchorCtr="0" anchor="ctr" bIns="13775" lIns="34275" spcFirstLastPara="1" rIns="34275" wrap="square" tIns="13775">
            <a:noAutofit/>
          </a:bodyPr>
          <a:lstStyle/>
          <a:p>
            <a:pPr indent="0" lvl="0" marL="0" marR="0" rtl="0" algn="l">
              <a:lnSpc>
                <a:spcPct val="100000"/>
              </a:lnSpc>
              <a:spcBef>
                <a:spcPts val="0"/>
              </a:spcBef>
              <a:spcAft>
                <a:spcPts val="0"/>
              </a:spcAft>
              <a:buClr>
                <a:srgbClr val="000000"/>
              </a:buClr>
              <a:buSzPts val="700"/>
              <a:buFont typeface="Arial"/>
              <a:buNone/>
            </a:pPr>
            <a:r>
              <a:rPr b="1" i="0" lang="en-GB" sz="700" u="none" cap="none" strike="noStrike">
                <a:solidFill>
                  <a:srgbClr val="07315D"/>
                </a:solidFill>
                <a:latin typeface="Arial"/>
                <a:ea typeface="Arial"/>
                <a:cs typeface="Arial"/>
                <a:sym typeface="Arial"/>
              </a:rPr>
              <a:t>launch</a:t>
            </a:r>
            <a:endParaRPr b="0" i="0" sz="700" u="none" cap="none" strike="noStrike">
              <a:solidFill>
                <a:srgbClr val="FFFFFF"/>
              </a:solidFill>
              <a:latin typeface="Arial"/>
              <a:ea typeface="Arial"/>
              <a:cs typeface="Arial"/>
              <a:sym typeface="Arial"/>
            </a:endParaRPr>
          </a:p>
        </p:txBody>
      </p:sp>
      <p:cxnSp>
        <p:nvCxnSpPr>
          <p:cNvPr id="192" name="Google Shape;192;p20"/>
          <p:cNvCxnSpPr/>
          <p:nvPr/>
        </p:nvCxnSpPr>
        <p:spPr>
          <a:xfrm>
            <a:off x="3073140" y="4850010"/>
            <a:ext cx="256500" cy="270"/>
          </a:xfrm>
          <a:prstGeom prst="straightConnector1">
            <a:avLst/>
          </a:prstGeom>
          <a:noFill/>
          <a:ln cap="flat" cmpd="sng" w="9525">
            <a:solidFill>
              <a:srgbClr val="634AA7"/>
            </a:solidFill>
            <a:prstDash val="solid"/>
            <a:round/>
            <a:headEnd len="sm" w="sm" type="none"/>
            <a:tailEnd len="sm" w="sm" type="none"/>
          </a:ln>
        </p:spPr>
      </p:cxnSp>
      <p:sp>
        <p:nvSpPr>
          <p:cNvPr id="193" name="Google Shape;193;p20"/>
          <p:cNvSpPr/>
          <p:nvPr/>
        </p:nvSpPr>
        <p:spPr>
          <a:xfrm>
            <a:off x="3508110" y="4732020"/>
            <a:ext cx="285930" cy="275670"/>
          </a:xfrm>
          <a:prstGeom prst="ellipse">
            <a:avLst/>
          </a:prstGeom>
          <a:solidFill>
            <a:srgbClr val="FFFFFF"/>
          </a:solidFill>
          <a:ln cap="flat" cmpd="sng" w="15225">
            <a:solidFill>
              <a:srgbClr val="498B40"/>
            </a:solidFill>
            <a:prstDash val="solid"/>
            <a:round/>
            <a:headEnd len="sm" w="sm" type="none"/>
            <a:tailEnd len="sm" w="sm" type="none"/>
          </a:ln>
          <a:effectLst>
            <a:outerShdw blurRad="39960" rotWithShape="0" dir="5400000" dist="23040">
              <a:srgbClr val="000000">
                <a:alpha val="34901"/>
              </a:srgbClr>
            </a:outerShdw>
          </a:effectLst>
        </p:spPr>
        <p:txBody>
          <a:bodyPr anchorCtr="0" anchor="ctr" bIns="33750" lIns="67500" spcFirstLastPara="1" rIns="67500" wrap="square" tIns="33750">
            <a:noAutofit/>
          </a:bodyPr>
          <a:lstStyle/>
          <a:p>
            <a:pPr indent="0" lvl="0" marL="0" marR="0" rtl="0" algn="ctr">
              <a:lnSpc>
                <a:spcPct val="100000"/>
              </a:lnSpc>
              <a:spcBef>
                <a:spcPts val="0"/>
              </a:spcBef>
              <a:spcAft>
                <a:spcPts val="0"/>
              </a:spcAft>
              <a:buClr>
                <a:srgbClr val="000000"/>
              </a:buClr>
              <a:buSzPts val="800"/>
              <a:buFont typeface="Arial"/>
              <a:buNone/>
            </a:pPr>
            <a:r>
              <a:rPr b="1" i="0" lang="en-GB" sz="800" u="none" cap="none" strike="noStrike">
                <a:solidFill>
                  <a:srgbClr val="498B40"/>
                </a:solidFill>
                <a:latin typeface="Arial"/>
                <a:ea typeface="Arial"/>
                <a:cs typeface="Arial"/>
                <a:sym typeface="Arial"/>
              </a:rPr>
              <a:t>18 s</a:t>
            </a:r>
            <a:endParaRPr b="0" i="0" sz="800" u="none" cap="none" strike="noStrike">
              <a:solidFill>
                <a:srgbClr val="000000"/>
              </a:solidFill>
              <a:latin typeface="Arial"/>
              <a:ea typeface="Arial"/>
              <a:cs typeface="Arial"/>
              <a:sym typeface="Arial"/>
            </a:endParaRPr>
          </a:p>
        </p:txBody>
      </p:sp>
      <p:sp>
        <p:nvSpPr>
          <p:cNvPr id="194" name="Google Shape;194;p20"/>
          <p:cNvSpPr/>
          <p:nvPr/>
        </p:nvSpPr>
        <p:spPr>
          <a:xfrm>
            <a:off x="3870450" y="4732830"/>
            <a:ext cx="700650" cy="233280"/>
          </a:xfrm>
          <a:prstGeom prst="rect">
            <a:avLst/>
          </a:prstGeom>
          <a:noFill/>
          <a:ln>
            <a:noFill/>
          </a:ln>
        </p:spPr>
        <p:txBody>
          <a:bodyPr anchorCtr="0" anchor="ctr" bIns="13775" lIns="34275" spcFirstLastPara="1" rIns="34275" wrap="square" tIns="13775">
            <a:noAutofit/>
          </a:bodyPr>
          <a:lstStyle/>
          <a:p>
            <a:pPr indent="0" lvl="0" marL="0" marR="0" rtl="0" algn="l">
              <a:lnSpc>
                <a:spcPct val="100000"/>
              </a:lnSpc>
              <a:spcBef>
                <a:spcPts val="0"/>
              </a:spcBef>
              <a:spcAft>
                <a:spcPts val="0"/>
              </a:spcAft>
              <a:buClr>
                <a:srgbClr val="000000"/>
              </a:buClr>
              <a:buSzPts val="700"/>
              <a:buFont typeface="Arial"/>
              <a:buNone/>
            </a:pPr>
            <a:r>
              <a:rPr b="1" i="0" lang="en-GB" sz="700" u="none" cap="none" strike="noStrike">
                <a:solidFill>
                  <a:srgbClr val="07315D"/>
                </a:solidFill>
                <a:latin typeface="Arial"/>
                <a:ea typeface="Arial"/>
                <a:cs typeface="Arial"/>
                <a:sym typeface="Arial"/>
              </a:rPr>
              <a:t>objects</a:t>
            </a:r>
            <a:endParaRPr b="0" i="0" sz="700" u="none" cap="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700"/>
              <a:buFont typeface="Arial"/>
              <a:buNone/>
            </a:pPr>
            <a:r>
              <a:rPr b="1" i="0" lang="en-GB" sz="700" u="none" cap="none" strike="noStrike">
                <a:solidFill>
                  <a:srgbClr val="07315D"/>
                </a:solidFill>
                <a:latin typeface="Arial"/>
                <a:ea typeface="Arial"/>
                <a:cs typeface="Arial"/>
                <a:sym typeface="Arial"/>
              </a:rPr>
              <a:t>(populated)</a:t>
            </a:r>
            <a:endParaRPr b="0" i="0" sz="700" u="none" cap="none" strike="noStrike">
              <a:solidFill>
                <a:srgbClr val="FFFFFF"/>
              </a:solidFill>
              <a:latin typeface="Arial"/>
              <a:ea typeface="Arial"/>
              <a:cs typeface="Arial"/>
              <a:sym typeface="Arial"/>
            </a:endParaRPr>
          </a:p>
        </p:txBody>
      </p:sp>
      <p:cxnSp>
        <p:nvCxnSpPr>
          <p:cNvPr id="195" name="Google Shape;195;p20"/>
          <p:cNvCxnSpPr/>
          <p:nvPr/>
        </p:nvCxnSpPr>
        <p:spPr>
          <a:xfrm>
            <a:off x="4456890" y="4875390"/>
            <a:ext cx="256500" cy="270"/>
          </a:xfrm>
          <a:prstGeom prst="straightConnector1">
            <a:avLst/>
          </a:prstGeom>
          <a:noFill/>
          <a:ln cap="flat" cmpd="sng" w="9525">
            <a:solidFill>
              <a:srgbClr val="634AA7"/>
            </a:solidFill>
            <a:prstDash val="solid"/>
            <a:round/>
            <a:headEnd len="sm" w="sm" type="none"/>
            <a:tailEnd len="sm" w="sm" type="none"/>
          </a:ln>
        </p:spPr>
      </p:cxnSp>
      <p:sp>
        <p:nvSpPr>
          <p:cNvPr id="196" name="Google Shape;196;p20"/>
          <p:cNvSpPr/>
          <p:nvPr/>
        </p:nvSpPr>
        <p:spPr>
          <a:xfrm>
            <a:off x="4885920" y="4732020"/>
            <a:ext cx="285930" cy="275670"/>
          </a:xfrm>
          <a:prstGeom prst="ellipse">
            <a:avLst/>
          </a:prstGeom>
          <a:solidFill>
            <a:srgbClr val="FFFFFF"/>
          </a:solidFill>
          <a:ln cap="flat" cmpd="sng" w="15225">
            <a:solidFill>
              <a:srgbClr val="E89417"/>
            </a:solidFill>
            <a:prstDash val="solid"/>
            <a:round/>
            <a:headEnd len="sm" w="sm" type="none"/>
            <a:tailEnd len="sm" w="sm" type="none"/>
          </a:ln>
          <a:effectLst>
            <a:outerShdw blurRad="39960" rotWithShape="0" dir="5400000" dist="23040">
              <a:srgbClr val="000000">
                <a:alpha val="34901"/>
              </a:srgbClr>
            </a:outerShdw>
          </a:effectLst>
        </p:spPr>
        <p:txBody>
          <a:bodyPr anchorCtr="0" anchor="ctr" bIns="33750" lIns="67500" spcFirstLastPara="1" rIns="67500" wrap="square" tIns="33750">
            <a:noAutofit/>
          </a:bodyPr>
          <a:lstStyle/>
          <a:p>
            <a:pPr indent="0" lvl="0" marL="0" marR="0" rtl="0" algn="ctr">
              <a:lnSpc>
                <a:spcPct val="100000"/>
              </a:lnSpc>
              <a:spcBef>
                <a:spcPts val="0"/>
              </a:spcBef>
              <a:spcAft>
                <a:spcPts val="0"/>
              </a:spcAft>
              <a:buClr>
                <a:srgbClr val="000000"/>
              </a:buClr>
              <a:buSzPts val="800"/>
              <a:buFont typeface="Arial"/>
              <a:buNone/>
            </a:pPr>
            <a:r>
              <a:rPr b="1" i="0" lang="en-GB" sz="800" u="none" cap="none" strike="noStrike">
                <a:solidFill>
                  <a:srgbClr val="E89417"/>
                </a:solidFill>
                <a:latin typeface="Arial"/>
                <a:ea typeface="Arial"/>
                <a:cs typeface="Arial"/>
                <a:sym typeface="Arial"/>
              </a:rPr>
              <a:t>35 s</a:t>
            </a:r>
            <a:endParaRPr b="0" i="0" sz="800" u="none" cap="none" strike="noStrike">
              <a:solidFill>
                <a:srgbClr val="000000"/>
              </a:solidFill>
              <a:latin typeface="Arial"/>
              <a:ea typeface="Arial"/>
              <a:cs typeface="Arial"/>
              <a:sym typeface="Arial"/>
            </a:endParaRPr>
          </a:p>
        </p:txBody>
      </p:sp>
      <p:sp>
        <p:nvSpPr>
          <p:cNvPr id="197" name="Google Shape;197;p20"/>
          <p:cNvSpPr/>
          <p:nvPr/>
        </p:nvSpPr>
        <p:spPr>
          <a:xfrm>
            <a:off x="5264730" y="4732830"/>
            <a:ext cx="565920" cy="233280"/>
          </a:xfrm>
          <a:prstGeom prst="rect">
            <a:avLst/>
          </a:prstGeom>
          <a:noFill/>
          <a:ln>
            <a:noFill/>
          </a:ln>
        </p:spPr>
        <p:txBody>
          <a:bodyPr anchorCtr="0" anchor="ctr" bIns="13775" lIns="34275" spcFirstLastPara="1" rIns="34275" wrap="square" tIns="13775">
            <a:noAutofit/>
          </a:bodyPr>
          <a:lstStyle/>
          <a:p>
            <a:pPr indent="0" lvl="0" marL="0" marR="0" rtl="0" algn="l">
              <a:lnSpc>
                <a:spcPct val="100000"/>
              </a:lnSpc>
              <a:spcBef>
                <a:spcPts val="0"/>
              </a:spcBef>
              <a:spcAft>
                <a:spcPts val="0"/>
              </a:spcAft>
              <a:buClr>
                <a:srgbClr val="000000"/>
              </a:buClr>
              <a:buSzPts val="700"/>
              <a:buFont typeface="Arial"/>
              <a:buNone/>
            </a:pPr>
            <a:r>
              <a:rPr b="1" i="0" lang="en-GB" sz="700" u="none" cap="none" strike="noStrike">
                <a:solidFill>
                  <a:srgbClr val="07315D"/>
                </a:solidFill>
                <a:latin typeface="Arial"/>
                <a:ea typeface="Arial"/>
                <a:cs typeface="Arial"/>
                <a:sym typeface="Arial"/>
              </a:rPr>
              <a:t>safe pose</a:t>
            </a:r>
            <a:endParaRPr b="0" i="0" sz="700" u="none" cap="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700"/>
              <a:buFont typeface="Arial"/>
              <a:buNone/>
            </a:pPr>
            <a:r>
              <a:rPr b="1" i="0" lang="en-GB" sz="700" u="none" cap="none" strike="noStrike">
                <a:solidFill>
                  <a:srgbClr val="07315D"/>
                </a:solidFill>
                <a:latin typeface="Arial"/>
                <a:ea typeface="Arial"/>
                <a:cs typeface="Arial"/>
                <a:sym typeface="Arial"/>
              </a:rPr>
              <a:t>(arm ready)</a:t>
            </a:r>
            <a:endParaRPr b="0" i="0" sz="700" u="none" cap="none" strike="noStrike">
              <a:solidFill>
                <a:srgbClr val="FFFFFF"/>
              </a:solidFill>
              <a:latin typeface="Arial"/>
              <a:ea typeface="Arial"/>
              <a:cs typeface="Arial"/>
              <a:sym typeface="Arial"/>
            </a:endParaRPr>
          </a:p>
        </p:txBody>
      </p:sp>
      <p:cxnSp>
        <p:nvCxnSpPr>
          <p:cNvPr id="198" name="Google Shape;198;p20"/>
          <p:cNvCxnSpPr/>
          <p:nvPr/>
        </p:nvCxnSpPr>
        <p:spPr>
          <a:xfrm>
            <a:off x="5830920" y="4850010"/>
            <a:ext cx="268650" cy="270"/>
          </a:xfrm>
          <a:prstGeom prst="straightConnector1">
            <a:avLst/>
          </a:prstGeom>
          <a:noFill/>
          <a:ln cap="flat" cmpd="sng" w="9525">
            <a:solidFill>
              <a:srgbClr val="634AA7"/>
            </a:solidFill>
            <a:prstDash val="solid"/>
            <a:round/>
            <a:headEnd len="sm" w="sm" type="none"/>
            <a:tailEnd len="sm" w="sm" type="none"/>
          </a:ln>
        </p:spPr>
      </p:cxnSp>
      <p:sp>
        <p:nvSpPr>
          <p:cNvPr id="199" name="Google Shape;199;p20"/>
          <p:cNvSpPr/>
          <p:nvPr/>
        </p:nvSpPr>
        <p:spPr>
          <a:xfrm>
            <a:off x="6196230" y="4732020"/>
            <a:ext cx="285930" cy="275670"/>
          </a:xfrm>
          <a:prstGeom prst="ellipse">
            <a:avLst/>
          </a:prstGeom>
          <a:solidFill>
            <a:srgbClr val="FFFFFF"/>
          </a:solidFill>
          <a:ln cap="flat" cmpd="sng" w="15225">
            <a:solidFill>
              <a:srgbClr val="A50021"/>
            </a:solidFill>
            <a:prstDash val="solid"/>
            <a:round/>
            <a:headEnd len="sm" w="sm" type="none"/>
            <a:tailEnd len="sm" w="sm" type="none"/>
          </a:ln>
          <a:effectLst>
            <a:outerShdw blurRad="39960" rotWithShape="0" dir="5400000" dist="23040">
              <a:srgbClr val="000000">
                <a:alpha val="34901"/>
              </a:srgbClr>
            </a:outerShdw>
          </a:effectLst>
        </p:spPr>
        <p:txBody>
          <a:bodyPr anchorCtr="0" anchor="ctr" bIns="33750" lIns="67500" spcFirstLastPara="1" rIns="67500" wrap="square" tIns="33750">
            <a:noAutofit/>
          </a:bodyPr>
          <a:lstStyle/>
          <a:p>
            <a:pPr indent="0" lvl="0" marL="0" marR="0" rtl="0" algn="ctr">
              <a:lnSpc>
                <a:spcPct val="100000"/>
              </a:lnSpc>
              <a:spcBef>
                <a:spcPts val="0"/>
              </a:spcBef>
              <a:spcAft>
                <a:spcPts val="0"/>
              </a:spcAft>
              <a:buClr>
                <a:srgbClr val="000000"/>
              </a:buClr>
              <a:buSzPts val="800"/>
              <a:buFont typeface="Arial"/>
              <a:buNone/>
            </a:pPr>
            <a:r>
              <a:rPr b="1" i="0" lang="en-GB" sz="800" u="none" cap="none" strike="noStrike">
                <a:solidFill>
                  <a:srgbClr val="C00000"/>
                </a:solidFill>
                <a:latin typeface="Arial"/>
                <a:ea typeface="Arial"/>
                <a:cs typeface="Arial"/>
                <a:sym typeface="Arial"/>
              </a:rPr>
              <a:t>70 s</a:t>
            </a:r>
            <a:endParaRPr b="0" i="0" sz="800" u="none" cap="none" strike="noStrike">
              <a:solidFill>
                <a:srgbClr val="000000"/>
              </a:solidFill>
              <a:latin typeface="Arial"/>
              <a:ea typeface="Arial"/>
              <a:cs typeface="Arial"/>
              <a:sym typeface="Arial"/>
            </a:endParaRPr>
          </a:p>
        </p:txBody>
      </p:sp>
      <p:sp>
        <p:nvSpPr>
          <p:cNvPr id="200" name="Google Shape;200;p20"/>
          <p:cNvSpPr/>
          <p:nvPr/>
        </p:nvSpPr>
        <p:spPr>
          <a:xfrm>
            <a:off x="6525360" y="4744980"/>
            <a:ext cx="655290" cy="233280"/>
          </a:xfrm>
          <a:prstGeom prst="rect">
            <a:avLst/>
          </a:prstGeom>
          <a:noFill/>
          <a:ln>
            <a:noFill/>
          </a:ln>
        </p:spPr>
        <p:txBody>
          <a:bodyPr anchorCtr="0" anchor="ctr" bIns="13775" lIns="34275" spcFirstLastPara="1" rIns="34275" wrap="square" tIns="13775">
            <a:noAutofit/>
          </a:bodyPr>
          <a:lstStyle/>
          <a:p>
            <a:pPr indent="0" lvl="0" marL="0" marR="0" rtl="0" algn="l">
              <a:lnSpc>
                <a:spcPct val="100000"/>
              </a:lnSpc>
              <a:spcBef>
                <a:spcPts val="0"/>
              </a:spcBef>
              <a:spcAft>
                <a:spcPts val="0"/>
              </a:spcAft>
              <a:buClr>
                <a:srgbClr val="000000"/>
              </a:buClr>
              <a:buSzPts val="700"/>
              <a:buFont typeface="Arial"/>
              <a:buNone/>
            </a:pPr>
            <a:r>
              <a:rPr b="1" i="0" lang="en-GB" sz="700" u="none" cap="none" strike="noStrike">
                <a:solidFill>
                  <a:srgbClr val="07315D"/>
                </a:solidFill>
                <a:latin typeface="Arial"/>
                <a:ea typeface="Arial"/>
                <a:cs typeface="Arial"/>
                <a:sym typeface="Arial"/>
              </a:rPr>
              <a:t>camera scan</a:t>
            </a:r>
            <a:endParaRPr b="0" i="0" sz="700" u="none" cap="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700"/>
              <a:buFont typeface="Arial"/>
              <a:buNone/>
            </a:pPr>
            <a:r>
              <a:rPr b="1" i="0" lang="en-GB" sz="700" u="none" cap="none" strike="noStrike">
                <a:solidFill>
                  <a:srgbClr val="07315D"/>
                </a:solidFill>
                <a:latin typeface="Arial"/>
                <a:ea typeface="Arial"/>
                <a:cs typeface="Arial"/>
                <a:sym typeface="Arial"/>
              </a:rPr>
              <a:t>ready</a:t>
            </a:r>
            <a:endParaRPr b="0" i="0" sz="700" u="none" cap="none" strike="noStrike">
              <a:solidFill>
                <a:srgbClr val="FFFFFF"/>
              </a:solidFill>
              <a:latin typeface="Arial"/>
              <a:ea typeface="Arial"/>
              <a:cs typeface="Arial"/>
              <a:sym typeface="Arial"/>
            </a:endParaRPr>
          </a:p>
        </p:txBody>
      </p:sp>
      <p:cxnSp>
        <p:nvCxnSpPr>
          <p:cNvPr id="201" name="Google Shape;201;p20"/>
          <p:cNvCxnSpPr/>
          <p:nvPr/>
        </p:nvCxnSpPr>
        <p:spPr>
          <a:xfrm>
            <a:off x="7191990" y="4703670"/>
            <a:ext cx="270" cy="258930"/>
          </a:xfrm>
          <a:prstGeom prst="straightConnector1">
            <a:avLst/>
          </a:prstGeom>
          <a:noFill/>
          <a:ln cap="flat" cmpd="sng" w="12700">
            <a:solidFill>
              <a:srgbClr val="2563A5"/>
            </a:solidFill>
            <a:prstDash val="solid"/>
            <a:round/>
            <a:headEnd len="sm" w="sm" type="none"/>
            <a:tailEnd len="sm" w="sm" type="none"/>
          </a:ln>
        </p:spPr>
      </p:cxnSp>
      <p:sp>
        <p:nvSpPr>
          <p:cNvPr id="202" name="Google Shape;202;p20"/>
          <p:cNvSpPr/>
          <p:nvPr/>
        </p:nvSpPr>
        <p:spPr>
          <a:xfrm>
            <a:off x="7425270" y="4734990"/>
            <a:ext cx="238140" cy="229770"/>
          </a:xfrm>
          <a:prstGeom prst="ellipse">
            <a:avLst/>
          </a:prstGeom>
          <a:solidFill>
            <a:srgbClr val="FFFFFF"/>
          </a:solidFill>
          <a:ln cap="flat" cmpd="sng" w="15225">
            <a:solidFill>
              <a:srgbClr val="2563A5"/>
            </a:solidFill>
            <a:prstDash val="solid"/>
            <a:round/>
            <a:headEnd len="sm" w="sm" type="none"/>
            <a:tailEnd len="sm" w="sm" type="none"/>
          </a:ln>
          <a:effectLst>
            <a:outerShdw blurRad="39960" rotWithShape="0" dir="5400000" dist="23040">
              <a:srgbClr val="000000">
                <a:alpha val="34901"/>
              </a:srgbClr>
            </a:outerShdw>
          </a:effectLst>
        </p:spPr>
        <p:txBody>
          <a:bodyPr anchorCtr="0" anchor="ctr" bIns="33750" lIns="67500" spcFirstLastPara="1" rIns="67500" wrap="square" tIns="33750">
            <a:noAutofit/>
          </a:bodyPr>
          <a:lstStyle/>
          <a:p>
            <a:pPr indent="0" lvl="0" marL="0" marR="0" rtl="0" algn="ctr">
              <a:lnSpc>
                <a:spcPct val="100000"/>
              </a:lnSpc>
              <a:spcBef>
                <a:spcPts val="0"/>
              </a:spcBef>
              <a:spcAft>
                <a:spcPts val="0"/>
              </a:spcAft>
              <a:buClr>
                <a:srgbClr val="000000"/>
              </a:buClr>
              <a:buSzPts val="1400"/>
              <a:buFont typeface="Arial"/>
              <a:buNone/>
            </a:pPr>
            <a:r>
              <a:rPr b="0" i="0" lang="en-GB" sz="1400" u="none" cap="none" strike="noStrike">
                <a:solidFill>
                  <a:srgbClr val="2563A5"/>
                </a:solidFill>
                <a:latin typeface="Arial"/>
                <a:ea typeface="Arial"/>
                <a:cs typeface="Arial"/>
                <a:sym typeface="Arial"/>
              </a:rPr>
              <a:t>◎</a:t>
            </a:r>
            <a:endParaRPr b="0" i="0" sz="1400" u="none" cap="none" strike="noStrike">
              <a:solidFill>
                <a:srgbClr val="000000"/>
              </a:solidFill>
              <a:latin typeface="Arial"/>
              <a:ea typeface="Arial"/>
              <a:cs typeface="Arial"/>
              <a:sym typeface="Arial"/>
            </a:endParaRPr>
          </a:p>
        </p:txBody>
      </p:sp>
      <p:sp>
        <p:nvSpPr>
          <p:cNvPr id="203" name="Google Shape;203;p20"/>
          <p:cNvSpPr/>
          <p:nvPr/>
        </p:nvSpPr>
        <p:spPr>
          <a:xfrm>
            <a:off x="7781940" y="4740120"/>
            <a:ext cx="1132110" cy="255960"/>
          </a:xfrm>
          <a:prstGeom prst="rect">
            <a:avLst/>
          </a:prstGeom>
          <a:noFill/>
          <a:ln>
            <a:noFill/>
          </a:ln>
        </p:spPr>
        <p:txBody>
          <a:bodyPr anchorCtr="0" anchor="ctr" bIns="13775" lIns="34275" spcFirstLastPara="1" rIns="34275" wrap="square" tIns="13775">
            <a:noAutofit/>
          </a:bodyPr>
          <a:lstStyle/>
          <a:p>
            <a:pPr indent="0" lvl="0" marL="0" marR="0" rtl="0" algn="l">
              <a:lnSpc>
                <a:spcPct val="100000"/>
              </a:lnSpc>
              <a:spcBef>
                <a:spcPts val="0"/>
              </a:spcBef>
              <a:spcAft>
                <a:spcPts val="0"/>
              </a:spcAft>
              <a:buClr>
                <a:srgbClr val="000000"/>
              </a:buClr>
              <a:buSzPts val="800"/>
              <a:buFont typeface="Arial"/>
              <a:buNone/>
            </a:pPr>
            <a:r>
              <a:rPr b="1" i="0" lang="en-GB" sz="800" u="none" cap="none" strike="noStrike">
                <a:solidFill>
                  <a:srgbClr val="07315D"/>
                </a:solidFill>
                <a:latin typeface="Arial"/>
                <a:ea typeface="Arial"/>
                <a:cs typeface="Arial"/>
                <a:sym typeface="Arial"/>
              </a:rPr>
              <a:t>Ready for perception</a:t>
            </a:r>
            <a:endParaRPr b="0" i="0" sz="800" u="none" cap="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1" i="0" lang="en-GB" sz="800" u="none" cap="none" strike="noStrike">
                <a:solidFill>
                  <a:srgbClr val="07315D"/>
                </a:solidFill>
                <a:latin typeface="Arial"/>
                <a:ea typeface="Arial"/>
                <a:cs typeface="Arial"/>
                <a:sym typeface="Arial"/>
              </a:rPr>
              <a:t>and task execution</a:t>
            </a:r>
            <a:endParaRPr b="0" i="0" sz="800" u="none" cap="none" strike="noStrike">
              <a:solidFill>
                <a:srgbClr val="FFFFFF"/>
              </a:solidFill>
              <a:latin typeface="Arial"/>
              <a:ea typeface="Arial"/>
              <a:cs typeface="Arial"/>
              <a:sym typeface="Arial"/>
            </a:endParaRPr>
          </a:p>
        </p:txBody>
      </p:sp>
      <p:pic>
        <p:nvPicPr>
          <p:cNvPr id="204" name="Google Shape;204;p20"/>
          <p:cNvPicPr preferRelativeResize="0"/>
          <p:nvPr/>
        </p:nvPicPr>
        <p:blipFill rotWithShape="1">
          <a:blip r:embed="rId7">
            <a:alphaModFix/>
          </a:blip>
          <a:srcRect b="0" l="0" r="0" t="0"/>
          <a:stretch/>
        </p:blipFill>
        <p:spPr>
          <a:xfrm>
            <a:off x="3508110" y="3467880"/>
            <a:ext cx="835920" cy="666360"/>
          </a:xfrm>
          <a:prstGeom prst="rect">
            <a:avLst/>
          </a:prstGeom>
          <a:noFill/>
          <a:ln>
            <a:noFill/>
          </a:ln>
        </p:spPr>
      </p:pic>
      <p:pic>
        <p:nvPicPr>
          <p:cNvPr id="205" name="Google Shape;205;p20"/>
          <p:cNvPicPr preferRelativeResize="0"/>
          <p:nvPr/>
        </p:nvPicPr>
        <p:blipFill rotWithShape="1">
          <a:blip r:embed="rId8">
            <a:alphaModFix/>
          </a:blip>
          <a:srcRect b="0" l="0" r="0" t="0"/>
          <a:stretch/>
        </p:blipFill>
        <p:spPr>
          <a:xfrm>
            <a:off x="2412990" y="2957580"/>
            <a:ext cx="681750" cy="1228230"/>
          </a:xfrm>
          <a:prstGeom prst="rect">
            <a:avLst/>
          </a:prstGeom>
          <a:noFill/>
          <a:ln>
            <a:noFill/>
          </a:ln>
        </p:spPr>
      </p:pic>
      <p:pic>
        <p:nvPicPr>
          <p:cNvPr id="206" name="Google Shape;206;p20"/>
          <p:cNvPicPr preferRelativeResize="0"/>
          <p:nvPr/>
        </p:nvPicPr>
        <p:blipFill rotWithShape="1">
          <a:blip r:embed="rId9">
            <a:alphaModFix/>
          </a:blip>
          <a:srcRect b="16570" l="5424" r="12847" t="4836"/>
          <a:stretch/>
        </p:blipFill>
        <p:spPr>
          <a:xfrm>
            <a:off x="7569990" y="2482650"/>
            <a:ext cx="1217430" cy="1175040"/>
          </a:xfrm>
          <a:prstGeom prst="rect">
            <a:avLst/>
          </a:prstGeom>
          <a:noFill/>
          <a:ln>
            <a:noFill/>
          </a:ln>
        </p:spPr>
      </p:pic>
      <p:pic>
        <p:nvPicPr>
          <p:cNvPr id="207" name="Google Shape;207;p20"/>
          <p:cNvPicPr preferRelativeResize="0"/>
          <p:nvPr/>
        </p:nvPicPr>
        <p:blipFill rotWithShape="1">
          <a:blip r:embed="rId10">
            <a:alphaModFix/>
          </a:blip>
          <a:srcRect b="13834" l="0" r="0" t="0"/>
          <a:stretch/>
        </p:blipFill>
        <p:spPr>
          <a:xfrm>
            <a:off x="6058530" y="3344760"/>
            <a:ext cx="838890" cy="88452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F2937"/>
        </a:solidFill>
      </p:bgPr>
    </p:bg>
    <p:spTree>
      <p:nvGrpSpPr>
        <p:cNvPr id="211" name="Shape 211"/>
        <p:cNvGrpSpPr/>
        <p:nvPr/>
      </p:nvGrpSpPr>
      <p:grpSpPr>
        <a:xfrm>
          <a:off x="0" y="0"/>
          <a:ext cx="0" cy="0"/>
          <a:chOff x="0" y="0"/>
          <a:chExt cx="0" cy="0"/>
        </a:xfrm>
      </p:grpSpPr>
      <p:sp>
        <p:nvSpPr>
          <p:cNvPr id="212" name="Google Shape;212;p21"/>
          <p:cNvSpPr/>
          <p:nvPr/>
        </p:nvSpPr>
        <p:spPr>
          <a:xfrm>
            <a:off x="548640" y="240030"/>
            <a:ext cx="7543260" cy="410130"/>
          </a:xfrm>
          <a:prstGeom prst="rect">
            <a:avLst/>
          </a:prstGeom>
          <a:noFill/>
          <a:ln>
            <a:noFill/>
          </a:ln>
        </p:spPr>
        <p:txBody>
          <a:bodyPr anchorCtr="0" anchor="t" bIns="33750" lIns="67500" spcFirstLastPara="1" rIns="67500" wrap="square" tIns="33750">
            <a:noAutofit/>
          </a:bodyPr>
          <a:lstStyle/>
          <a:p>
            <a:pPr indent="0" lvl="0" marL="0" marR="0" rtl="0" algn="l">
              <a:lnSpc>
                <a:spcPct val="100000"/>
              </a:lnSpc>
              <a:spcBef>
                <a:spcPts val="0"/>
              </a:spcBef>
              <a:spcAft>
                <a:spcPts val="0"/>
              </a:spcAft>
              <a:buClr>
                <a:srgbClr val="000000"/>
              </a:buClr>
              <a:buSzPts val="2300"/>
              <a:buFont typeface="Arial"/>
              <a:buNone/>
            </a:pPr>
            <a:r>
              <a:rPr b="1" i="0" lang="en-GB" sz="2300" u="none" cap="none" strike="noStrike">
                <a:solidFill>
                  <a:srgbClr val="FFFFFF"/>
                </a:solidFill>
                <a:latin typeface="Arial"/>
                <a:ea typeface="Arial"/>
                <a:cs typeface="Arial"/>
                <a:sym typeface="Arial"/>
              </a:rPr>
              <a:t>Scene Perception  —  Sergio</a:t>
            </a:r>
            <a:endParaRPr b="0" i="0" sz="2300" u="none" cap="none" strike="noStrike">
              <a:solidFill>
                <a:srgbClr val="FFFFFF"/>
              </a:solidFill>
              <a:latin typeface="Arial"/>
              <a:ea typeface="Arial"/>
              <a:cs typeface="Arial"/>
              <a:sym typeface="Arial"/>
            </a:endParaRPr>
          </a:p>
        </p:txBody>
      </p:sp>
      <p:sp>
        <p:nvSpPr>
          <p:cNvPr id="213" name="Google Shape;213;p21"/>
          <p:cNvSpPr/>
          <p:nvPr/>
        </p:nvSpPr>
        <p:spPr>
          <a:xfrm>
            <a:off x="548640" y="685800"/>
            <a:ext cx="1713960" cy="28080"/>
          </a:xfrm>
          <a:prstGeom prst="rect">
            <a:avLst/>
          </a:prstGeom>
          <a:solidFill>
            <a:srgbClr val="6B7280"/>
          </a:solidFill>
          <a:ln>
            <a:noFill/>
          </a:ln>
          <a:effectLst>
            <a:outerShdw blurRad="39960" rotWithShape="0" dir="5400000" dist="23040">
              <a:srgbClr val="000000">
                <a:alpha val="34901"/>
              </a:srgbClr>
            </a:outerShdw>
          </a:effectLst>
        </p:spPr>
        <p:txBody>
          <a:bodyPr anchorCtr="0" anchor="ctr" bIns="0" lIns="67500" spcFirstLastPara="1" rIns="6750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sp>
        <p:nvSpPr>
          <p:cNvPr id="214" name="Google Shape;214;p21"/>
          <p:cNvSpPr/>
          <p:nvPr/>
        </p:nvSpPr>
        <p:spPr>
          <a:xfrm>
            <a:off x="685800" y="960125"/>
            <a:ext cx="3646500" cy="1524600"/>
          </a:xfrm>
          <a:prstGeom prst="rect">
            <a:avLst/>
          </a:prstGeom>
          <a:noFill/>
          <a:ln>
            <a:noFill/>
          </a:ln>
        </p:spPr>
        <p:txBody>
          <a:bodyPr anchorCtr="0" anchor="t" bIns="33750" lIns="67500" spcFirstLastPara="1" rIns="67500" wrap="square" tIns="33750">
            <a:noAutofit/>
          </a:bodyPr>
          <a:lstStyle/>
          <a:p>
            <a:pPr indent="0" lvl="0" marL="0" marR="0" rtl="0" algn="just">
              <a:lnSpc>
                <a:spcPct val="100000"/>
              </a:lnSpc>
              <a:spcBef>
                <a:spcPts val="0"/>
              </a:spcBef>
              <a:spcAft>
                <a:spcPts val="0"/>
              </a:spcAft>
              <a:buClr>
                <a:srgbClr val="000000"/>
              </a:buClr>
              <a:buSzPts val="1100"/>
              <a:buFont typeface="Arial"/>
              <a:buNone/>
            </a:pPr>
            <a:r>
              <a:rPr i="0" lang="en-GB" sz="1500" u="none" cap="none" strike="noStrike">
                <a:solidFill>
                  <a:srgbClr val="D1D5DB"/>
                </a:solidFill>
                <a:latin typeface="Geist"/>
                <a:ea typeface="Geist"/>
                <a:cs typeface="Geist"/>
                <a:sym typeface="Geist"/>
              </a:rPr>
              <a:t>Before the robot can manipulate objects, it needs to know where they are. The perception pipeline starts with make_scene(), which captures an RGB image and a synchronized depth frame from the hand-mounted camera.</a:t>
            </a:r>
            <a:endParaRPr i="0" sz="1500" u="none" cap="none" strike="noStrike">
              <a:solidFill>
                <a:srgbClr val="FFFFFF"/>
              </a:solidFill>
              <a:latin typeface="Geist"/>
              <a:ea typeface="Geist"/>
              <a:cs typeface="Geist"/>
              <a:sym typeface="Geist"/>
            </a:endParaRPr>
          </a:p>
        </p:txBody>
      </p:sp>
      <p:sp>
        <p:nvSpPr>
          <p:cNvPr id="215" name="Google Shape;215;p21"/>
          <p:cNvSpPr/>
          <p:nvPr/>
        </p:nvSpPr>
        <p:spPr>
          <a:xfrm>
            <a:off x="782700" y="2730975"/>
            <a:ext cx="3452700" cy="1681500"/>
          </a:xfrm>
          <a:prstGeom prst="rect">
            <a:avLst/>
          </a:prstGeom>
          <a:noFill/>
          <a:ln>
            <a:noFill/>
          </a:ln>
        </p:spPr>
        <p:txBody>
          <a:bodyPr anchorCtr="0" anchor="t" bIns="33750" lIns="67500" spcFirstLastPara="1" rIns="67500" wrap="square" tIns="33750">
            <a:noAutofit/>
          </a:bodyPr>
          <a:lstStyle/>
          <a:p>
            <a:pPr indent="0" lvl="0" marL="0" marR="0" rtl="0" algn="just">
              <a:lnSpc>
                <a:spcPct val="100000"/>
              </a:lnSpc>
              <a:spcBef>
                <a:spcPts val="0"/>
              </a:spcBef>
              <a:spcAft>
                <a:spcPts val="0"/>
              </a:spcAft>
              <a:buClr>
                <a:srgbClr val="000000"/>
              </a:buClr>
              <a:buSzPts val="1100"/>
              <a:buFont typeface="Arial"/>
              <a:buNone/>
            </a:pPr>
            <a:r>
              <a:rPr i="0" lang="en-GB" sz="1500" u="none" cap="none" strike="noStrike">
                <a:solidFill>
                  <a:srgbClr val="D1D5DB"/>
                </a:solidFill>
                <a:latin typeface="Geist"/>
                <a:ea typeface="Geist"/>
                <a:cs typeface="Geist"/>
                <a:sym typeface="Geist"/>
              </a:rPr>
              <a:t>A YOLO</a:t>
            </a:r>
            <a:r>
              <a:rPr lang="en-GB" sz="1500">
                <a:solidFill>
                  <a:srgbClr val="D1D5DB"/>
                </a:solidFill>
                <a:latin typeface="Geist"/>
                <a:ea typeface="Geist"/>
                <a:cs typeface="Geist"/>
                <a:sym typeface="Geist"/>
              </a:rPr>
              <a:t>26n </a:t>
            </a:r>
            <a:r>
              <a:rPr i="0" lang="en-GB" sz="1500" u="none" cap="none" strike="noStrike">
                <a:solidFill>
                  <a:srgbClr val="D1D5DB"/>
                </a:solidFill>
                <a:latin typeface="Geist"/>
                <a:ea typeface="Geist"/>
                <a:cs typeface="Geist"/>
                <a:sym typeface="Geist"/>
              </a:rPr>
              <a:t>model (trained on the object set) detects each visible object and returns 2D bounding boxes with class labels. The detector runs in real time and can handle partial occlusions and varying lighting conditions in simulation.</a:t>
            </a:r>
            <a:endParaRPr i="0" sz="1500" u="none" cap="none" strike="noStrike">
              <a:solidFill>
                <a:srgbClr val="FFFFFF"/>
              </a:solidFill>
              <a:latin typeface="Geist"/>
              <a:ea typeface="Geist"/>
              <a:cs typeface="Geist"/>
              <a:sym typeface="Geist"/>
            </a:endParaRPr>
          </a:p>
        </p:txBody>
      </p:sp>
      <p:pic>
        <p:nvPicPr>
          <p:cNvPr id="216" name="Google Shape;216;p21"/>
          <p:cNvPicPr preferRelativeResize="0"/>
          <p:nvPr/>
        </p:nvPicPr>
        <p:blipFill>
          <a:blip r:embed="rId3">
            <a:alphaModFix/>
          </a:blip>
          <a:stretch>
            <a:fillRect/>
          </a:stretch>
        </p:blipFill>
        <p:spPr>
          <a:xfrm>
            <a:off x="5093425" y="1337938"/>
            <a:ext cx="3646650" cy="246762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F2937"/>
        </a:solidFill>
      </p:bgPr>
    </p:bg>
    <p:spTree>
      <p:nvGrpSpPr>
        <p:cNvPr id="220" name="Shape 220"/>
        <p:cNvGrpSpPr/>
        <p:nvPr/>
      </p:nvGrpSpPr>
      <p:grpSpPr>
        <a:xfrm>
          <a:off x="0" y="0"/>
          <a:ext cx="0" cy="0"/>
          <a:chOff x="0" y="0"/>
          <a:chExt cx="0" cy="0"/>
        </a:xfrm>
      </p:grpSpPr>
      <p:sp>
        <p:nvSpPr>
          <p:cNvPr id="221" name="Google Shape;221;p22"/>
          <p:cNvSpPr/>
          <p:nvPr/>
        </p:nvSpPr>
        <p:spPr>
          <a:xfrm>
            <a:off x="548640" y="240030"/>
            <a:ext cx="7543200" cy="410100"/>
          </a:xfrm>
          <a:prstGeom prst="rect">
            <a:avLst/>
          </a:prstGeom>
          <a:noFill/>
          <a:ln>
            <a:noFill/>
          </a:ln>
        </p:spPr>
        <p:txBody>
          <a:bodyPr anchorCtr="0" anchor="t" bIns="33750" lIns="67500" spcFirstLastPara="1" rIns="67500" wrap="square" tIns="33750">
            <a:noAutofit/>
          </a:bodyPr>
          <a:lstStyle/>
          <a:p>
            <a:pPr indent="0" lvl="0" marL="0" marR="0" rtl="0" algn="l">
              <a:lnSpc>
                <a:spcPct val="100000"/>
              </a:lnSpc>
              <a:spcBef>
                <a:spcPts val="0"/>
              </a:spcBef>
              <a:spcAft>
                <a:spcPts val="0"/>
              </a:spcAft>
              <a:buClr>
                <a:srgbClr val="000000"/>
              </a:buClr>
              <a:buSzPts val="2300"/>
              <a:buFont typeface="Arial"/>
              <a:buNone/>
            </a:pPr>
            <a:r>
              <a:rPr b="1" lang="en-GB" sz="2300">
                <a:solidFill>
                  <a:srgbClr val="FFFFFF"/>
                </a:solidFill>
              </a:rPr>
              <a:t>Model Training</a:t>
            </a:r>
            <a:r>
              <a:rPr b="1" i="0" lang="en-GB" sz="2300" u="none" cap="none" strike="noStrike">
                <a:solidFill>
                  <a:srgbClr val="FFFFFF"/>
                </a:solidFill>
                <a:latin typeface="Arial"/>
                <a:ea typeface="Arial"/>
                <a:cs typeface="Arial"/>
                <a:sym typeface="Arial"/>
              </a:rPr>
              <a:t>  —  Sergio</a:t>
            </a:r>
            <a:endParaRPr b="0" i="0" sz="2300" u="none" cap="none" strike="noStrike">
              <a:solidFill>
                <a:srgbClr val="FFFFFF"/>
              </a:solidFill>
              <a:latin typeface="Arial"/>
              <a:ea typeface="Arial"/>
              <a:cs typeface="Arial"/>
              <a:sym typeface="Arial"/>
            </a:endParaRPr>
          </a:p>
        </p:txBody>
      </p:sp>
      <p:sp>
        <p:nvSpPr>
          <p:cNvPr id="222" name="Google Shape;222;p22"/>
          <p:cNvSpPr/>
          <p:nvPr/>
        </p:nvSpPr>
        <p:spPr>
          <a:xfrm>
            <a:off x="548640" y="685800"/>
            <a:ext cx="1713900" cy="28200"/>
          </a:xfrm>
          <a:prstGeom prst="rect">
            <a:avLst/>
          </a:prstGeom>
          <a:solidFill>
            <a:srgbClr val="6B7280"/>
          </a:solidFill>
          <a:ln>
            <a:noFill/>
          </a:ln>
          <a:effectLst>
            <a:outerShdw blurRad="39960" rotWithShape="0" dir="5400000" dist="23040">
              <a:srgbClr val="000000">
                <a:alpha val="34900"/>
              </a:srgbClr>
            </a:outerShdw>
          </a:effectLst>
        </p:spPr>
        <p:txBody>
          <a:bodyPr anchorCtr="0" anchor="ctr" bIns="0" lIns="67500" spcFirstLastPara="1" rIns="6750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pic>
        <p:nvPicPr>
          <p:cNvPr id="223" name="Google Shape;223;p22"/>
          <p:cNvPicPr preferRelativeResize="0"/>
          <p:nvPr/>
        </p:nvPicPr>
        <p:blipFill>
          <a:blip r:embed="rId3">
            <a:alphaModFix/>
          </a:blip>
          <a:stretch>
            <a:fillRect/>
          </a:stretch>
        </p:blipFill>
        <p:spPr>
          <a:xfrm>
            <a:off x="2426355" y="937575"/>
            <a:ext cx="3787800" cy="37878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F2937"/>
        </a:solidFill>
      </p:bgPr>
    </p:bg>
    <p:spTree>
      <p:nvGrpSpPr>
        <p:cNvPr id="227" name="Shape 227"/>
        <p:cNvGrpSpPr/>
        <p:nvPr/>
      </p:nvGrpSpPr>
      <p:grpSpPr>
        <a:xfrm>
          <a:off x="0" y="0"/>
          <a:ext cx="0" cy="0"/>
          <a:chOff x="0" y="0"/>
          <a:chExt cx="0" cy="0"/>
        </a:xfrm>
      </p:grpSpPr>
      <p:sp>
        <p:nvSpPr>
          <p:cNvPr id="228" name="Google Shape;228;p23"/>
          <p:cNvSpPr/>
          <p:nvPr/>
        </p:nvSpPr>
        <p:spPr>
          <a:xfrm>
            <a:off x="548640" y="240030"/>
            <a:ext cx="7543200" cy="410100"/>
          </a:xfrm>
          <a:prstGeom prst="rect">
            <a:avLst/>
          </a:prstGeom>
          <a:noFill/>
          <a:ln>
            <a:noFill/>
          </a:ln>
        </p:spPr>
        <p:txBody>
          <a:bodyPr anchorCtr="0" anchor="t" bIns="33750" lIns="67500" spcFirstLastPara="1" rIns="67500" wrap="square" tIns="33750">
            <a:noAutofit/>
          </a:bodyPr>
          <a:lstStyle/>
          <a:p>
            <a:pPr indent="0" lvl="0" marL="0" marR="0" rtl="0" algn="l">
              <a:lnSpc>
                <a:spcPct val="100000"/>
              </a:lnSpc>
              <a:spcBef>
                <a:spcPts val="0"/>
              </a:spcBef>
              <a:spcAft>
                <a:spcPts val="0"/>
              </a:spcAft>
              <a:buClr>
                <a:srgbClr val="000000"/>
              </a:buClr>
              <a:buSzPts val="2300"/>
              <a:buFont typeface="Arial"/>
              <a:buNone/>
            </a:pPr>
            <a:r>
              <a:rPr b="1" i="0" lang="en-GB" sz="2300" u="none" cap="none" strike="noStrike">
                <a:solidFill>
                  <a:srgbClr val="FFFFFF"/>
                </a:solidFill>
                <a:latin typeface="Arial"/>
                <a:ea typeface="Arial"/>
                <a:cs typeface="Arial"/>
                <a:sym typeface="Arial"/>
              </a:rPr>
              <a:t>Scene Perception  —  Sergio</a:t>
            </a:r>
            <a:endParaRPr b="0" i="0" sz="2300" u="none" cap="none" strike="noStrike">
              <a:solidFill>
                <a:srgbClr val="FFFFFF"/>
              </a:solidFill>
              <a:latin typeface="Arial"/>
              <a:ea typeface="Arial"/>
              <a:cs typeface="Arial"/>
              <a:sym typeface="Arial"/>
            </a:endParaRPr>
          </a:p>
        </p:txBody>
      </p:sp>
      <p:sp>
        <p:nvSpPr>
          <p:cNvPr id="229" name="Google Shape;229;p23"/>
          <p:cNvSpPr/>
          <p:nvPr/>
        </p:nvSpPr>
        <p:spPr>
          <a:xfrm>
            <a:off x="548640" y="685800"/>
            <a:ext cx="1713900" cy="28200"/>
          </a:xfrm>
          <a:prstGeom prst="rect">
            <a:avLst/>
          </a:prstGeom>
          <a:solidFill>
            <a:srgbClr val="6B7280"/>
          </a:solidFill>
          <a:ln>
            <a:noFill/>
          </a:ln>
          <a:effectLst>
            <a:outerShdw blurRad="39960" rotWithShape="0" dir="5400000" dist="23040">
              <a:srgbClr val="000000">
                <a:alpha val="34900"/>
              </a:srgbClr>
            </a:outerShdw>
          </a:effectLst>
        </p:spPr>
        <p:txBody>
          <a:bodyPr anchorCtr="0" anchor="ctr" bIns="0" lIns="67500" spcFirstLastPara="1" rIns="6750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sp>
        <p:nvSpPr>
          <p:cNvPr id="230" name="Google Shape;230;p23"/>
          <p:cNvSpPr/>
          <p:nvPr/>
        </p:nvSpPr>
        <p:spPr>
          <a:xfrm>
            <a:off x="365250" y="1187925"/>
            <a:ext cx="5036700" cy="671100"/>
          </a:xfrm>
          <a:prstGeom prst="rect">
            <a:avLst/>
          </a:prstGeom>
          <a:noFill/>
          <a:ln>
            <a:noFill/>
          </a:ln>
        </p:spPr>
        <p:txBody>
          <a:bodyPr anchorCtr="0" anchor="t" bIns="33750" lIns="67500" spcFirstLastPara="1" rIns="67500" wrap="square" tIns="33750">
            <a:noAutofit/>
          </a:bodyPr>
          <a:lstStyle/>
          <a:p>
            <a:pPr indent="0" lvl="0" marL="0" marR="0" rtl="0" algn="just">
              <a:lnSpc>
                <a:spcPct val="100000"/>
              </a:lnSpc>
              <a:spcBef>
                <a:spcPts val="0"/>
              </a:spcBef>
              <a:spcAft>
                <a:spcPts val="0"/>
              </a:spcAft>
              <a:buClr>
                <a:srgbClr val="000000"/>
              </a:buClr>
              <a:buSzPts val="1100"/>
              <a:buFont typeface="Arial"/>
              <a:buNone/>
            </a:pPr>
            <a:r>
              <a:rPr i="0" lang="en-GB" sz="1500" u="none" cap="none" strike="noStrike">
                <a:solidFill>
                  <a:srgbClr val="D1D5DB"/>
                </a:solidFill>
                <a:latin typeface="Geist"/>
                <a:ea typeface="Geist"/>
                <a:cs typeface="Geist"/>
                <a:sym typeface="Geist"/>
              </a:rPr>
              <a:t>The 2D detections are meaningless for manipulation — the robot needs 3D coordinates. The frame2world.py module takes each bounding box center, samples the depth image at that pixel, and back-projects the 2D point into 3D world coordinates using the camera intrinsics and the known hand-eye transformation.</a:t>
            </a:r>
            <a:endParaRPr i="0" sz="1500" u="none" cap="none" strike="noStrike">
              <a:solidFill>
                <a:srgbClr val="FFFFFF"/>
              </a:solidFill>
              <a:latin typeface="Geist"/>
              <a:ea typeface="Geist"/>
              <a:cs typeface="Geist"/>
              <a:sym typeface="Geist"/>
            </a:endParaRPr>
          </a:p>
        </p:txBody>
      </p:sp>
      <p:sp>
        <p:nvSpPr>
          <p:cNvPr id="231" name="Google Shape;231;p23"/>
          <p:cNvSpPr/>
          <p:nvPr/>
        </p:nvSpPr>
        <p:spPr>
          <a:xfrm>
            <a:off x="365250" y="3085300"/>
            <a:ext cx="5136600" cy="899400"/>
          </a:xfrm>
          <a:prstGeom prst="rect">
            <a:avLst/>
          </a:prstGeom>
          <a:noFill/>
          <a:ln>
            <a:noFill/>
          </a:ln>
        </p:spPr>
        <p:txBody>
          <a:bodyPr anchorCtr="0" anchor="t" bIns="33750" lIns="67500" spcFirstLastPara="1" rIns="67500" wrap="square" tIns="33750">
            <a:noAutofit/>
          </a:bodyPr>
          <a:lstStyle/>
          <a:p>
            <a:pPr indent="0" lvl="0" marL="0" marR="0" rtl="0" algn="just">
              <a:lnSpc>
                <a:spcPct val="100000"/>
              </a:lnSpc>
              <a:spcBef>
                <a:spcPts val="0"/>
              </a:spcBef>
              <a:spcAft>
                <a:spcPts val="0"/>
              </a:spcAft>
              <a:buClr>
                <a:srgbClr val="000000"/>
              </a:buClr>
              <a:buSzPts val="1100"/>
              <a:buFont typeface="Arial"/>
              <a:buNone/>
            </a:pPr>
            <a:r>
              <a:rPr i="0" lang="en-GB" sz="1500" u="none" cap="none" strike="noStrike">
                <a:solidFill>
                  <a:srgbClr val="D1D5DB"/>
                </a:solidFill>
                <a:latin typeface="Geist"/>
                <a:ea typeface="Geist"/>
                <a:cs typeface="Geist"/>
                <a:sym typeface="Geist"/>
              </a:rPr>
              <a:t>The output is a Python dictionary mapping object names to their pose: {object_name: (x, y, z, yaw)}. This dictionary is passed to the LLM-generated code, which uses it to plan approach vectors and grasp targets.</a:t>
            </a:r>
            <a:endParaRPr i="0" sz="1500" u="none" cap="none" strike="noStrike">
              <a:solidFill>
                <a:srgbClr val="FFFFFF"/>
              </a:solidFill>
              <a:latin typeface="Geist"/>
              <a:ea typeface="Geist"/>
              <a:cs typeface="Geist"/>
              <a:sym typeface="Geist"/>
            </a:endParaRPr>
          </a:p>
        </p:txBody>
      </p:sp>
      <p:sp>
        <p:nvSpPr>
          <p:cNvPr id="232" name="Google Shape;232;p23"/>
          <p:cNvSpPr/>
          <p:nvPr/>
        </p:nvSpPr>
        <p:spPr>
          <a:xfrm>
            <a:off x="548640" y="4526280"/>
            <a:ext cx="7543200" cy="204300"/>
          </a:xfrm>
          <a:prstGeom prst="rect">
            <a:avLst/>
          </a:prstGeom>
          <a:noFill/>
          <a:ln>
            <a:noFill/>
          </a:ln>
        </p:spPr>
        <p:txBody>
          <a:bodyPr anchorCtr="0" anchor="t" bIns="33750" lIns="67500" spcFirstLastPara="1" rIns="67500" wrap="square" tIns="33750">
            <a:noAutofit/>
          </a:bodyPr>
          <a:lstStyle/>
          <a:p>
            <a:pPr indent="0" lvl="0" marL="0" marR="0" rtl="0" algn="l">
              <a:lnSpc>
                <a:spcPct val="100000"/>
              </a:lnSpc>
              <a:spcBef>
                <a:spcPts val="0"/>
              </a:spcBef>
              <a:spcAft>
                <a:spcPts val="0"/>
              </a:spcAft>
              <a:buClr>
                <a:srgbClr val="000000"/>
              </a:buClr>
              <a:buSzPts val="900"/>
              <a:buFont typeface="Arial"/>
              <a:buNone/>
            </a:pPr>
            <a:r>
              <a:rPr b="0" i="0" lang="en-GB" sz="900" u="none" cap="none" strike="noStrike">
                <a:solidFill>
                  <a:srgbClr val="9CA3AF"/>
                </a:solidFill>
                <a:latin typeface="Arial"/>
                <a:ea typeface="Arial"/>
                <a:cs typeface="Arial"/>
                <a:sym typeface="Arial"/>
              </a:rPr>
              <a:t>Output: {object_name: (x, y, z, yaw)} — used directly by the motion planner.</a:t>
            </a:r>
            <a:endParaRPr b="0" i="0" sz="900" u="none" cap="none" strike="noStrike">
              <a:solidFill>
                <a:srgbClr val="FFFFFF"/>
              </a:solidFill>
              <a:latin typeface="Arial"/>
              <a:ea typeface="Arial"/>
              <a:cs typeface="Arial"/>
              <a:sym typeface="Arial"/>
            </a:endParaRPr>
          </a:p>
        </p:txBody>
      </p:sp>
      <p:pic>
        <p:nvPicPr>
          <p:cNvPr id="233" name="Google Shape;233;p23"/>
          <p:cNvPicPr preferRelativeResize="0"/>
          <p:nvPr/>
        </p:nvPicPr>
        <p:blipFill>
          <a:blip r:embed="rId3">
            <a:alphaModFix/>
          </a:blip>
          <a:stretch>
            <a:fillRect/>
          </a:stretch>
        </p:blipFill>
        <p:spPr>
          <a:xfrm>
            <a:off x="5793675" y="1441180"/>
            <a:ext cx="2978749" cy="229404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F2937"/>
        </a:solidFill>
      </p:bgPr>
    </p:bg>
    <p:spTree>
      <p:nvGrpSpPr>
        <p:cNvPr id="238" name="Shape 238"/>
        <p:cNvGrpSpPr/>
        <p:nvPr/>
      </p:nvGrpSpPr>
      <p:grpSpPr>
        <a:xfrm>
          <a:off x="0" y="0"/>
          <a:ext cx="0" cy="0"/>
          <a:chOff x="0" y="0"/>
          <a:chExt cx="0" cy="0"/>
        </a:xfrm>
      </p:grpSpPr>
      <p:sp>
        <p:nvSpPr>
          <p:cNvPr id="239" name="Google Shape;239;p24"/>
          <p:cNvSpPr/>
          <p:nvPr/>
        </p:nvSpPr>
        <p:spPr>
          <a:xfrm>
            <a:off x="5643810" y="240030"/>
            <a:ext cx="3257010" cy="410130"/>
          </a:xfrm>
          <a:prstGeom prst="rect">
            <a:avLst/>
          </a:prstGeom>
          <a:noFill/>
          <a:ln>
            <a:noFill/>
          </a:ln>
        </p:spPr>
        <p:txBody>
          <a:bodyPr anchorCtr="0" anchor="t" bIns="33750" lIns="67500" spcFirstLastPara="1" rIns="67500" wrap="square" tIns="33750">
            <a:noAutofit/>
          </a:bodyPr>
          <a:lstStyle/>
          <a:p>
            <a:pPr indent="0" lvl="0" marL="0" marR="0" rtl="0" algn="l">
              <a:lnSpc>
                <a:spcPct val="100000"/>
              </a:lnSpc>
              <a:spcBef>
                <a:spcPts val="0"/>
              </a:spcBef>
              <a:spcAft>
                <a:spcPts val="0"/>
              </a:spcAft>
              <a:buClr>
                <a:srgbClr val="000000"/>
              </a:buClr>
              <a:buSzPts val="2300"/>
              <a:buFont typeface="Arial"/>
              <a:buNone/>
            </a:pPr>
            <a:r>
              <a:rPr b="1" i="0" lang="en-GB" sz="2300" u="none" cap="none" strike="noStrike">
                <a:solidFill>
                  <a:srgbClr val="FFFFFF"/>
                </a:solidFill>
                <a:latin typeface="Arial"/>
                <a:ea typeface="Arial"/>
                <a:cs typeface="Arial"/>
                <a:sym typeface="Arial"/>
              </a:rPr>
              <a:t>LLM Code Generation</a:t>
            </a:r>
            <a:endParaRPr b="0" i="0" sz="2300" u="none" cap="none" strike="noStrike">
              <a:solidFill>
                <a:srgbClr val="FFFFFF"/>
              </a:solidFill>
              <a:latin typeface="Arial"/>
              <a:ea typeface="Arial"/>
              <a:cs typeface="Arial"/>
              <a:sym typeface="Arial"/>
            </a:endParaRPr>
          </a:p>
        </p:txBody>
      </p:sp>
      <p:sp>
        <p:nvSpPr>
          <p:cNvPr id="240" name="Google Shape;240;p24"/>
          <p:cNvSpPr/>
          <p:nvPr/>
        </p:nvSpPr>
        <p:spPr>
          <a:xfrm>
            <a:off x="5198310" y="674460"/>
            <a:ext cx="2159730" cy="39420"/>
          </a:xfrm>
          <a:prstGeom prst="rect">
            <a:avLst/>
          </a:prstGeom>
          <a:solidFill>
            <a:srgbClr val="6B7280"/>
          </a:solidFill>
          <a:ln>
            <a:noFill/>
          </a:ln>
          <a:effectLst>
            <a:outerShdw blurRad="39960" rotWithShape="0" dir="5400000" dist="23040">
              <a:srgbClr val="000000">
                <a:alpha val="34901"/>
              </a:srgbClr>
            </a:outerShdw>
          </a:effectLst>
        </p:spPr>
        <p:txBody>
          <a:bodyPr anchorCtr="0" anchor="ctr" bIns="6200" lIns="67500" spcFirstLastPara="1" rIns="67500" wrap="square" tIns="62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sp>
        <p:nvSpPr>
          <p:cNvPr id="241" name="Google Shape;241;p24"/>
          <p:cNvSpPr/>
          <p:nvPr/>
        </p:nvSpPr>
        <p:spPr>
          <a:xfrm>
            <a:off x="4396950" y="922860"/>
            <a:ext cx="2165940" cy="1275750"/>
          </a:xfrm>
          <a:prstGeom prst="roundRect">
            <a:avLst>
              <a:gd fmla="val 4370" name="adj"/>
            </a:avLst>
          </a:prstGeom>
          <a:solidFill>
            <a:srgbClr val="101620"/>
          </a:solidFill>
          <a:ln cap="flat" cmpd="sng" w="14275">
            <a:solidFill>
              <a:srgbClr val="002A80"/>
            </a:solidFill>
            <a:prstDash val="solid"/>
            <a:round/>
            <a:headEnd len="sm" w="sm" type="none"/>
            <a:tailEnd len="sm" w="sm" type="none"/>
          </a:ln>
        </p:spPr>
        <p:txBody>
          <a:bodyPr anchorCtr="0" anchor="t" bIns="33750" lIns="67500" spcFirstLastPara="1" rIns="67500" wrap="square" tIns="337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sp>
        <p:nvSpPr>
          <p:cNvPr id="242" name="Google Shape;242;p24"/>
          <p:cNvSpPr/>
          <p:nvPr/>
        </p:nvSpPr>
        <p:spPr>
          <a:xfrm>
            <a:off x="4542480" y="1049220"/>
            <a:ext cx="1647810" cy="215190"/>
          </a:xfrm>
          <a:prstGeom prst="rect">
            <a:avLst/>
          </a:prstGeom>
          <a:noFill/>
          <a:ln>
            <a:noFill/>
          </a:ln>
        </p:spPr>
        <p:txBody>
          <a:bodyPr anchorCtr="0" anchor="t" bIns="0" lIns="0" spcFirstLastPara="1" rIns="0" wrap="square" tIns="0">
            <a:noAutofit/>
          </a:bodyPr>
          <a:lstStyle/>
          <a:p>
            <a:pPr indent="0" lvl="0" marL="0" marR="0" rtl="0" algn="l">
              <a:lnSpc>
                <a:spcPct val="108000"/>
              </a:lnSpc>
              <a:spcBef>
                <a:spcPts val="0"/>
              </a:spcBef>
              <a:spcAft>
                <a:spcPts val="0"/>
              </a:spcAft>
              <a:buClr>
                <a:srgbClr val="000000"/>
              </a:buClr>
              <a:buSzPts val="1400"/>
              <a:buFont typeface="Arial"/>
              <a:buNone/>
            </a:pPr>
            <a:r>
              <a:rPr b="1" i="0" lang="en-GB" sz="1400" u="none" cap="none" strike="noStrike">
                <a:solidFill>
                  <a:srgbClr val="EBEDF0"/>
                </a:solidFill>
                <a:latin typeface="Geist"/>
                <a:ea typeface="Geist"/>
                <a:cs typeface="Geist"/>
                <a:sym typeface="Geist"/>
              </a:rPr>
              <a:t>Model</a:t>
            </a:r>
            <a:endParaRPr b="0" i="0" sz="1400" u="none" cap="none" strike="noStrike">
              <a:solidFill>
                <a:srgbClr val="FFFFFF"/>
              </a:solidFill>
              <a:latin typeface="Arial"/>
              <a:ea typeface="Arial"/>
              <a:cs typeface="Arial"/>
              <a:sym typeface="Arial"/>
            </a:endParaRPr>
          </a:p>
        </p:txBody>
      </p:sp>
      <p:sp>
        <p:nvSpPr>
          <p:cNvPr id="243" name="Google Shape;243;p24"/>
          <p:cNvSpPr/>
          <p:nvPr/>
        </p:nvSpPr>
        <p:spPr>
          <a:xfrm>
            <a:off x="4542480" y="1359990"/>
            <a:ext cx="1875150" cy="688770"/>
          </a:xfrm>
          <a:prstGeom prst="rect">
            <a:avLst/>
          </a:prstGeom>
          <a:noFill/>
          <a:ln>
            <a:noFill/>
          </a:ln>
        </p:spPr>
        <p:txBody>
          <a:bodyPr anchorCtr="0" anchor="t" bIns="0" lIns="0" spcFirstLastPara="1" rIns="0" wrap="square" tIns="0">
            <a:noAutofit/>
          </a:bodyPr>
          <a:lstStyle/>
          <a:p>
            <a:pPr indent="0" lvl="0" marL="0" marR="0" rtl="0" algn="l">
              <a:lnSpc>
                <a:spcPct val="107000"/>
              </a:lnSpc>
              <a:spcBef>
                <a:spcPts val="0"/>
              </a:spcBef>
              <a:spcAft>
                <a:spcPts val="0"/>
              </a:spcAft>
              <a:buClr>
                <a:srgbClr val="000000"/>
              </a:buClr>
              <a:buSzPts val="900"/>
              <a:buFont typeface="Arial"/>
              <a:buNone/>
            </a:pPr>
            <a:r>
              <a:rPr b="0" i="0" lang="en-GB" sz="900" u="none" cap="none" strike="noStrike">
                <a:solidFill>
                  <a:srgbClr val="EBEDF0"/>
                </a:solidFill>
                <a:latin typeface="Geist"/>
                <a:ea typeface="Geist"/>
                <a:cs typeface="Geist"/>
                <a:sym typeface="Geist"/>
              </a:rPr>
              <a:t>Qwen2.5-Coder 3B — code-specialized LLM running locally via Ollama at </a:t>
            </a:r>
            <a:r>
              <a:rPr b="0" i="0" lang="en-GB" sz="900" u="none" cap="none" strike="noStrike">
                <a:solidFill>
                  <a:srgbClr val="EBEDF0"/>
                </a:solidFill>
                <a:highlight>
                  <a:srgbClr val="1D232D"/>
                </a:highlight>
                <a:latin typeface="Consolas"/>
                <a:ea typeface="Consolas"/>
                <a:cs typeface="Consolas"/>
                <a:sym typeface="Consolas"/>
              </a:rPr>
              <a:t>localhost:11434</a:t>
            </a:r>
            <a:endParaRPr b="0" i="0" sz="900" u="none" cap="none" strike="noStrike">
              <a:solidFill>
                <a:srgbClr val="FFFFFF"/>
              </a:solidFill>
              <a:latin typeface="Arial"/>
              <a:ea typeface="Arial"/>
              <a:cs typeface="Arial"/>
              <a:sym typeface="Arial"/>
            </a:endParaRPr>
          </a:p>
        </p:txBody>
      </p:sp>
      <p:sp>
        <p:nvSpPr>
          <p:cNvPr id="244" name="Google Shape;244;p24"/>
          <p:cNvSpPr/>
          <p:nvPr/>
        </p:nvSpPr>
        <p:spPr>
          <a:xfrm>
            <a:off x="6734880" y="919890"/>
            <a:ext cx="2165940" cy="1275750"/>
          </a:xfrm>
          <a:prstGeom prst="roundRect">
            <a:avLst>
              <a:gd fmla="val 4370" name="adj"/>
            </a:avLst>
          </a:prstGeom>
          <a:solidFill>
            <a:srgbClr val="101620"/>
          </a:solidFill>
          <a:ln cap="flat" cmpd="sng" w="14275">
            <a:solidFill>
              <a:srgbClr val="002A80"/>
            </a:solidFill>
            <a:prstDash val="solid"/>
            <a:round/>
            <a:headEnd len="sm" w="sm" type="none"/>
            <a:tailEnd len="sm" w="sm" type="none"/>
          </a:ln>
        </p:spPr>
        <p:txBody>
          <a:bodyPr anchorCtr="0" anchor="t" bIns="33750" lIns="67500" spcFirstLastPara="1" rIns="67500" wrap="square" tIns="337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sp>
        <p:nvSpPr>
          <p:cNvPr id="245" name="Google Shape;245;p24"/>
          <p:cNvSpPr/>
          <p:nvPr/>
        </p:nvSpPr>
        <p:spPr>
          <a:xfrm>
            <a:off x="6880140" y="1049490"/>
            <a:ext cx="1647810" cy="215190"/>
          </a:xfrm>
          <a:prstGeom prst="rect">
            <a:avLst/>
          </a:prstGeom>
          <a:noFill/>
          <a:ln>
            <a:noFill/>
          </a:ln>
        </p:spPr>
        <p:txBody>
          <a:bodyPr anchorCtr="0" anchor="t" bIns="0" lIns="0" spcFirstLastPara="1" rIns="0" wrap="square" tIns="0">
            <a:noAutofit/>
          </a:bodyPr>
          <a:lstStyle/>
          <a:p>
            <a:pPr indent="0" lvl="0" marL="0" marR="0" rtl="0" algn="l">
              <a:lnSpc>
                <a:spcPct val="108000"/>
              </a:lnSpc>
              <a:spcBef>
                <a:spcPts val="0"/>
              </a:spcBef>
              <a:spcAft>
                <a:spcPts val="0"/>
              </a:spcAft>
              <a:buClr>
                <a:srgbClr val="000000"/>
              </a:buClr>
              <a:buSzPts val="1400"/>
              <a:buFont typeface="Arial"/>
              <a:buNone/>
            </a:pPr>
            <a:r>
              <a:rPr b="1" i="0" lang="en-GB" sz="1400" u="none" cap="none" strike="noStrike">
                <a:solidFill>
                  <a:srgbClr val="EBEDF0"/>
                </a:solidFill>
                <a:latin typeface="Geist"/>
                <a:ea typeface="Geist"/>
                <a:cs typeface="Geist"/>
                <a:sym typeface="Geist"/>
              </a:rPr>
              <a:t>Why Local</a:t>
            </a:r>
            <a:endParaRPr b="0" i="0" sz="1400" u="none" cap="none" strike="noStrike">
              <a:solidFill>
                <a:srgbClr val="FFFFFF"/>
              </a:solidFill>
              <a:latin typeface="Arial"/>
              <a:ea typeface="Arial"/>
              <a:cs typeface="Arial"/>
              <a:sym typeface="Arial"/>
            </a:endParaRPr>
          </a:p>
        </p:txBody>
      </p:sp>
      <p:sp>
        <p:nvSpPr>
          <p:cNvPr id="246" name="Google Shape;246;p24"/>
          <p:cNvSpPr/>
          <p:nvPr/>
        </p:nvSpPr>
        <p:spPr>
          <a:xfrm>
            <a:off x="6880140" y="1351350"/>
            <a:ext cx="1875150" cy="684450"/>
          </a:xfrm>
          <a:prstGeom prst="rect">
            <a:avLst/>
          </a:prstGeom>
          <a:noFill/>
          <a:ln>
            <a:noFill/>
          </a:ln>
        </p:spPr>
        <p:txBody>
          <a:bodyPr anchorCtr="0" anchor="t" bIns="0" lIns="0" spcFirstLastPara="1" rIns="0" wrap="square" tIns="0">
            <a:noAutofit/>
          </a:bodyPr>
          <a:lstStyle/>
          <a:p>
            <a:pPr indent="0" lvl="0" marL="0" marR="0" rtl="0" algn="l">
              <a:lnSpc>
                <a:spcPct val="107000"/>
              </a:lnSpc>
              <a:spcBef>
                <a:spcPts val="0"/>
              </a:spcBef>
              <a:spcAft>
                <a:spcPts val="0"/>
              </a:spcAft>
              <a:buClr>
                <a:srgbClr val="000000"/>
              </a:buClr>
              <a:buSzPts val="900"/>
              <a:buFont typeface="Arial"/>
              <a:buNone/>
            </a:pPr>
            <a:r>
              <a:rPr b="0" i="0" lang="en-GB" sz="900" u="none" cap="none" strike="noStrike">
                <a:solidFill>
                  <a:srgbClr val="EBEDF0"/>
                </a:solidFill>
                <a:latin typeface="Geist"/>
                <a:ea typeface="Geist"/>
                <a:cs typeface="Geist"/>
                <a:sym typeface="Geist"/>
              </a:rPr>
              <a:t>Eliminates API latency, privacy risks, and inference costs — critical for iterative robotics research</a:t>
            </a:r>
            <a:endParaRPr b="0" i="0" sz="900" u="none" cap="none" strike="noStrike">
              <a:solidFill>
                <a:srgbClr val="FFFFFF"/>
              </a:solidFill>
              <a:latin typeface="Arial"/>
              <a:ea typeface="Arial"/>
              <a:cs typeface="Arial"/>
              <a:sym typeface="Arial"/>
            </a:endParaRPr>
          </a:p>
        </p:txBody>
      </p:sp>
      <p:sp>
        <p:nvSpPr>
          <p:cNvPr id="247" name="Google Shape;247;p24"/>
          <p:cNvSpPr/>
          <p:nvPr/>
        </p:nvSpPr>
        <p:spPr>
          <a:xfrm>
            <a:off x="4438530" y="3969540"/>
            <a:ext cx="4462290" cy="933390"/>
          </a:xfrm>
          <a:prstGeom prst="roundRect">
            <a:avLst>
              <a:gd fmla="val 5972" name="adj"/>
            </a:avLst>
          </a:prstGeom>
          <a:solidFill>
            <a:srgbClr val="101620"/>
          </a:solidFill>
          <a:ln cap="flat" cmpd="sng" w="14275">
            <a:solidFill>
              <a:srgbClr val="002A80"/>
            </a:solidFill>
            <a:prstDash val="solid"/>
            <a:round/>
            <a:headEnd len="sm" w="sm" type="none"/>
            <a:tailEnd len="sm" w="sm" type="none"/>
          </a:ln>
        </p:spPr>
        <p:txBody>
          <a:bodyPr anchorCtr="0" anchor="t" bIns="33750" lIns="67500" spcFirstLastPara="1" rIns="67500" wrap="square" tIns="337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sp>
        <p:nvSpPr>
          <p:cNvPr id="248" name="Google Shape;248;p24"/>
          <p:cNvSpPr/>
          <p:nvPr/>
        </p:nvSpPr>
        <p:spPr>
          <a:xfrm>
            <a:off x="4656150" y="4096170"/>
            <a:ext cx="1647810" cy="215190"/>
          </a:xfrm>
          <a:prstGeom prst="rect">
            <a:avLst/>
          </a:prstGeom>
          <a:noFill/>
          <a:ln>
            <a:noFill/>
          </a:ln>
        </p:spPr>
        <p:txBody>
          <a:bodyPr anchorCtr="0" anchor="t" bIns="0" lIns="0" spcFirstLastPara="1" rIns="0" wrap="square" tIns="0">
            <a:noAutofit/>
          </a:bodyPr>
          <a:lstStyle/>
          <a:p>
            <a:pPr indent="0" lvl="0" marL="0" marR="0" rtl="0" algn="l">
              <a:lnSpc>
                <a:spcPct val="108000"/>
              </a:lnSpc>
              <a:spcBef>
                <a:spcPts val="0"/>
              </a:spcBef>
              <a:spcAft>
                <a:spcPts val="0"/>
              </a:spcAft>
              <a:buClr>
                <a:srgbClr val="000000"/>
              </a:buClr>
              <a:buSzPts val="1400"/>
              <a:buFont typeface="Arial"/>
              <a:buNone/>
            </a:pPr>
            <a:r>
              <a:rPr b="1" i="0" lang="en-GB" sz="1400" u="none" cap="none" strike="noStrike">
                <a:solidFill>
                  <a:srgbClr val="EBEDF0"/>
                </a:solidFill>
                <a:latin typeface="Geist"/>
                <a:ea typeface="Geist"/>
                <a:cs typeface="Geist"/>
                <a:sym typeface="Geist"/>
              </a:rPr>
              <a:t>Output</a:t>
            </a:r>
            <a:endParaRPr b="0" i="0" sz="1400" u="none" cap="none" strike="noStrike">
              <a:solidFill>
                <a:srgbClr val="FFFFFF"/>
              </a:solidFill>
              <a:latin typeface="Arial"/>
              <a:ea typeface="Arial"/>
              <a:cs typeface="Arial"/>
              <a:sym typeface="Arial"/>
            </a:endParaRPr>
          </a:p>
        </p:txBody>
      </p:sp>
      <p:sp>
        <p:nvSpPr>
          <p:cNvPr id="249" name="Google Shape;249;p24"/>
          <p:cNvSpPr/>
          <p:nvPr/>
        </p:nvSpPr>
        <p:spPr>
          <a:xfrm>
            <a:off x="4614030" y="4441230"/>
            <a:ext cx="4171500" cy="346410"/>
          </a:xfrm>
          <a:prstGeom prst="rect">
            <a:avLst/>
          </a:prstGeom>
          <a:noFill/>
          <a:ln>
            <a:noFill/>
          </a:ln>
        </p:spPr>
        <p:txBody>
          <a:bodyPr anchorCtr="0" anchor="t" bIns="0" lIns="0" spcFirstLastPara="1" rIns="0" wrap="square" tIns="0">
            <a:noAutofit/>
          </a:bodyPr>
          <a:lstStyle/>
          <a:p>
            <a:pPr indent="0" lvl="0" marL="0" marR="0" rtl="0" algn="l">
              <a:lnSpc>
                <a:spcPct val="107000"/>
              </a:lnSpc>
              <a:spcBef>
                <a:spcPts val="0"/>
              </a:spcBef>
              <a:spcAft>
                <a:spcPts val="0"/>
              </a:spcAft>
              <a:buClr>
                <a:srgbClr val="000000"/>
              </a:buClr>
              <a:buSzPts val="900"/>
              <a:buFont typeface="Arial"/>
              <a:buNone/>
            </a:pPr>
            <a:r>
              <a:rPr b="0" i="0" lang="en-GB" sz="900" u="none" cap="none" strike="noStrike">
                <a:solidFill>
                  <a:srgbClr val="EBEDF0"/>
                </a:solidFill>
                <a:latin typeface="Geist"/>
                <a:ea typeface="Geist"/>
                <a:cs typeface="Geist"/>
                <a:sym typeface="Geist"/>
              </a:rPr>
              <a:t>Generates a complete, executable Python script (</a:t>
            </a:r>
            <a:r>
              <a:rPr b="0" i="0" lang="en-GB" sz="900" u="none" cap="none" strike="noStrike">
                <a:solidFill>
                  <a:srgbClr val="EBEDF0"/>
                </a:solidFill>
                <a:highlight>
                  <a:srgbClr val="1D232D"/>
                </a:highlight>
                <a:latin typeface="Consolas"/>
                <a:ea typeface="Consolas"/>
                <a:cs typeface="Consolas"/>
                <a:sym typeface="Consolas"/>
              </a:rPr>
              <a:t>generated_task.py</a:t>
            </a:r>
            <a:r>
              <a:rPr b="0" i="0" lang="en-GB" sz="900" u="none" cap="none" strike="noStrike">
                <a:solidFill>
                  <a:srgbClr val="EBEDF0"/>
                </a:solidFill>
                <a:latin typeface="Geist"/>
                <a:ea typeface="Geist"/>
                <a:cs typeface="Geist"/>
                <a:sym typeface="Geist"/>
              </a:rPr>
              <a:t>) from raw natural language.</a:t>
            </a:r>
            <a:endParaRPr b="0" i="0" sz="900" u="none" cap="none" strike="noStrike">
              <a:solidFill>
                <a:srgbClr val="FFFFFF"/>
              </a:solidFill>
              <a:latin typeface="Arial"/>
              <a:ea typeface="Arial"/>
              <a:cs typeface="Arial"/>
              <a:sym typeface="Arial"/>
            </a:endParaRPr>
          </a:p>
        </p:txBody>
      </p:sp>
      <p:sp>
        <p:nvSpPr>
          <p:cNvPr id="250" name="Google Shape;250;p24"/>
          <p:cNvSpPr/>
          <p:nvPr/>
        </p:nvSpPr>
        <p:spPr>
          <a:xfrm>
            <a:off x="4396950" y="2463480"/>
            <a:ext cx="2165940" cy="1275750"/>
          </a:xfrm>
          <a:prstGeom prst="roundRect">
            <a:avLst>
              <a:gd fmla="val 4370" name="adj"/>
            </a:avLst>
          </a:prstGeom>
          <a:solidFill>
            <a:srgbClr val="101620"/>
          </a:solidFill>
          <a:ln cap="flat" cmpd="sng" w="14275">
            <a:solidFill>
              <a:srgbClr val="002A80"/>
            </a:solidFill>
            <a:prstDash val="solid"/>
            <a:round/>
            <a:headEnd len="sm" w="sm" type="none"/>
            <a:tailEnd len="sm" w="sm" type="none"/>
          </a:ln>
        </p:spPr>
        <p:txBody>
          <a:bodyPr anchorCtr="0" anchor="t" bIns="33750" lIns="67500" spcFirstLastPara="1" rIns="67500" wrap="square" tIns="337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sp>
        <p:nvSpPr>
          <p:cNvPr id="251" name="Google Shape;251;p24"/>
          <p:cNvSpPr/>
          <p:nvPr/>
        </p:nvSpPr>
        <p:spPr>
          <a:xfrm>
            <a:off x="4542480" y="2602800"/>
            <a:ext cx="1647810" cy="215190"/>
          </a:xfrm>
          <a:prstGeom prst="rect">
            <a:avLst/>
          </a:prstGeom>
          <a:noFill/>
          <a:ln>
            <a:noFill/>
          </a:ln>
        </p:spPr>
        <p:txBody>
          <a:bodyPr anchorCtr="0" anchor="t" bIns="0" lIns="0" spcFirstLastPara="1" rIns="0" wrap="square" tIns="0">
            <a:noAutofit/>
          </a:bodyPr>
          <a:lstStyle/>
          <a:p>
            <a:pPr indent="0" lvl="0" marL="0" marR="0" rtl="0" algn="l">
              <a:lnSpc>
                <a:spcPct val="108000"/>
              </a:lnSpc>
              <a:spcBef>
                <a:spcPts val="0"/>
              </a:spcBef>
              <a:spcAft>
                <a:spcPts val="0"/>
              </a:spcAft>
              <a:buClr>
                <a:srgbClr val="000000"/>
              </a:buClr>
              <a:buSzPts val="1400"/>
              <a:buFont typeface="Arial"/>
              <a:buNone/>
            </a:pPr>
            <a:r>
              <a:rPr b="1" i="0" lang="en-GB" sz="1400" u="none" cap="none" strike="noStrike">
                <a:solidFill>
                  <a:srgbClr val="EBEDF0"/>
                </a:solidFill>
                <a:latin typeface="Geist"/>
                <a:ea typeface="Geist"/>
                <a:cs typeface="Geist"/>
                <a:sym typeface="Geist"/>
              </a:rPr>
              <a:t>The System Prompt</a:t>
            </a:r>
            <a:endParaRPr b="0" i="0" sz="1400" u="none" cap="none" strike="noStrike">
              <a:solidFill>
                <a:srgbClr val="FFFFFF"/>
              </a:solidFill>
              <a:latin typeface="Arial"/>
              <a:ea typeface="Arial"/>
              <a:cs typeface="Arial"/>
              <a:sym typeface="Arial"/>
            </a:endParaRPr>
          </a:p>
        </p:txBody>
      </p:sp>
      <p:sp>
        <p:nvSpPr>
          <p:cNvPr id="252" name="Google Shape;252;p24"/>
          <p:cNvSpPr/>
          <p:nvPr/>
        </p:nvSpPr>
        <p:spPr>
          <a:xfrm>
            <a:off x="4572450" y="2935170"/>
            <a:ext cx="1875150" cy="68877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0" i="0" lang="en-GB" sz="900" u="none" cap="none" strike="noStrike">
                <a:solidFill>
                  <a:schemeClr val="lt1"/>
                </a:solidFill>
                <a:latin typeface="Calibri"/>
                <a:ea typeface="Calibri"/>
                <a:cs typeface="Calibri"/>
                <a:sym typeface="Calibri"/>
              </a:rPr>
              <a:t>A </a:t>
            </a:r>
            <a:r>
              <a:rPr b="0" i="0" lang="en-GB" sz="900" u="none" cap="none" strike="noStrike">
                <a:solidFill>
                  <a:srgbClr val="EBEDF0"/>
                </a:solidFill>
                <a:highlight>
                  <a:srgbClr val="1D232D"/>
                </a:highlight>
                <a:latin typeface="Consolas"/>
                <a:ea typeface="Consolas"/>
                <a:cs typeface="Consolas"/>
                <a:sym typeface="Consolas"/>
              </a:rPr>
              <a:t>system_prompt.md</a:t>
            </a:r>
            <a:r>
              <a:rPr b="0" i="0" lang="en-GB" sz="900" u="none" cap="none" strike="noStrike">
                <a:solidFill>
                  <a:srgbClr val="EBEDF0"/>
                </a:solidFill>
                <a:latin typeface="Geist"/>
                <a:ea typeface="Geist"/>
                <a:cs typeface="Geist"/>
                <a:sym typeface="Geist"/>
              </a:rPr>
              <a:t> defines the full robot API, acting as the LLM's instruction manual.</a:t>
            </a:r>
            <a:endParaRPr b="0" i="0" sz="900" u="none" cap="none" strike="noStrike">
              <a:solidFill>
                <a:srgbClr val="FFFFFF"/>
              </a:solidFill>
              <a:latin typeface="Arial"/>
              <a:ea typeface="Arial"/>
              <a:cs typeface="Arial"/>
              <a:sym typeface="Arial"/>
            </a:endParaRPr>
          </a:p>
        </p:txBody>
      </p:sp>
      <p:sp>
        <p:nvSpPr>
          <p:cNvPr id="253" name="Google Shape;253;p24"/>
          <p:cNvSpPr/>
          <p:nvPr/>
        </p:nvSpPr>
        <p:spPr>
          <a:xfrm>
            <a:off x="6734880" y="2445660"/>
            <a:ext cx="2165940" cy="1275750"/>
          </a:xfrm>
          <a:prstGeom prst="roundRect">
            <a:avLst>
              <a:gd fmla="val 4370" name="adj"/>
            </a:avLst>
          </a:prstGeom>
          <a:solidFill>
            <a:srgbClr val="101620"/>
          </a:solidFill>
          <a:ln cap="flat" cmpd="sng" w="14275">
            <a:solidFill>
              <a:srgbClr val="002A80"/>
            </a:solidFill>
            <a:prstDash val="solid"/>
            <a:round/>
            <a:headEnd len="sm" w="sm" type="none"/>
            <a:tailEnd len="sm" w="sm" type="none"/>
          </a:ln>
        </p:spPr>
        <p:txBody>
          <a:bodyPr anchorCtr="0" anchor="t" bIns="33750" lIns="67500" spcFirstLastPara="1" rIns="67500" wrap="square" tIns="337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Calibri"/>
              <a:ea typeface="Calibri"/>
              <a:cs typeface="Calibri"/>
              <a:sym typeface="Calibri"/>
            </a:endParaRPr>
          </a:p>
        </p:txBody>
      </p:sp>
      <p:sp>
        <p:nvSpPr>
          <p:cNvPr id="254" name="Google Shape;254;p24"/>
          <p:cNvSpPr/>
          <p:nvPr/>
        </p:nvSpPr>
        <p:spPr>
          <a:xfrm>
            <a:off x="6880140" y="2588760"/>
            <a:ext cx="1647810" cy="229230"/>
          </a:xfrm>
          <a:prstGeom prst="rect">
            <a:avLst/>
          </a:prstGeom>
          <a:noFill/>
          <a:ln>
            <a:noFill/>
          </a:ln>
        </p:spPr>
        <p:txBody>
          <a:bodyPr anchorCtr="0" anchor="t" bIns="0" lIns="0" spcFirstLastPara="1" rIns="0" wrap="square" tIns="0">
            <a:noAutofit/>
          </a:bodyPr>
          <a:lstStyle/>
          <a:p>
            <a:pPr indent="0" lvl="0" marL="0" marR="0" rtl="0" algn="l">
              <a:lnSpc>
                <a:spcPct val="108000"/>
              </a:lnSpc>
              <a:spcBef>
                <a:spcPts val="0"/>
              </a:spcBef>
              <a:spcAft>
                <a:spcPts val="0"/>
              </a:spcAft>
              <a:buClr>
                <a:srgbClr val="000000"/>
              </a:buClr>
              <a:buSzPts val="1400"/>
              <a:buFont typeface="Arial"/>
              <a:buNone/>
            </a:pPr>
            <a:r>
              <a:rPr b="1" i="0" lang="en-GB" sz="1400" u="none" cap="none" strike="noStrike">
                <a:solidFill>
                  <a:srgbClr val="EBEDF0"/>
                </a:solidFill>
                <a:latin typeface="Geist"/>
                <a:ea typeface="Geist"/>
                <a:cs typeface="Geist"/>
                <a:sym typeface="Geist"/>
              </a:rPr>
              <a:t>Orchestration</a:t>
            </a:r>
            <a:endParaRPr b="0" i="0" sz="1400" u="none" cap="none" strike="noStrike">
              <a:solidFill>
                <a:srgbClr val="FFFFFF"/>
              </a:solidFill>
              <a:latin typeface="Arial"/>
              <a:ea typeface="Arial"/>
              <a:cs typeface="Arial"/>
              <a:sym typeface="Arial"/>
            </a:endParaRPr>
          </a:p>
        </p:txBody>
      </p:sp>
      <p:sp>
        <p:nvSpPr>
          <p:cNvPr id="255" name="Google Shape;255;p24"/>
          <p:cNvSpPr/>
          <p:nvPr/>
        </p:nvSpPr>
        <p:spPr>
          <a:xfrm>
            <a:off x="6910380" y="2918160"/>
            <a:ext cx="1875150" cy="684450"/>
          </a:xfrm>
          <a:prstGeom prst="rect">
            <a:avLst/>
          </a:prstGeom>
          <a:noFill/>
          <a:ln>
            <a:noFill/>
          </a:ln>
        </p:spPr>
        <p:txBody>
          <a:bodyPr anchorCtr="0" anchor="t" bIns="0" lIns="0" spcFirstLastPara="1" rIns="0" wrap="square" tIns="0">
            <a:noAutofit/>
          </a:bodyPr>
          <a:lstStyle/>
          <a:p>
            <a:pPr indent="0" lvl="0" marL="0" marR="0" rtl="0" algn="l">
              <a:lnSpc>
                <a:spcPct val="94000"/>
              </a:lnSpc>
              <a:spcBef>
                <a:spcPts val="0"/>
              </a:spcBef>
              <a:spcAft>
                <a:spcPts val="0"/>
              </a:spcAft>
              <a:buClr>
                <a:srgbClr val="000000"/>
              </a:buClr>
              <a:buSzPts val="900"/>
              <a:buFont typeface="Arial"/>
              <a:buNone/>
            </a:pPr>
            <a:r>
              <a:rPr b="0" i="0" lang="en-GB" sz="900" u="none" cap="none" strike="noStrike">
                <a:solidFill>
                  <a:srgbClr val="EBEDF0"/>
                </a:solidFill>
                <a:latin typeface="Geist"/>
                <a:ea typeface="Geist"/>
                <a:cs typeface="Geist"/>
                <a:sym typeface="Geist"/>
              </a:rPr>
              <a:t>Captures user input, queries Ollama, writes generated code, reloads the module, and executes </a:t>
            </a:r>
            <a:r>
              <a:rPr b="0" i="0" lang="en-GB" sz="900" u="none" cap="none" strike="noStrike">
                <a:solidFill>
                  <a:srgbClr val="EBEDF0"/>
                </a:solidFill>
                <a:highlight>
                  <a:srgbClr val="1D232D"/>
                </a:highlight>
                <a:latin typeface="Consolas"/>
                <a:ea typeface="Consolas"/>
                <a:cs typeface="Consolas"/>
                <a:sym typeface="Consolas"/>
              </a:rPr>
              <a:t>execute_task()</a:t>
            </a:r>
            <a:r>
              <a:rPr b="0" i="0" lang="en-GB" sz="900" u="none" cap="none" strike="noStrike">
                <a:solidFill>
                  <a:srgbClr val="EBEDF0"/>
                </a:solidFill>
                <a:latin typeface="Geist"/>
                <a:ea typeface="Geist"/>
                <a:cs typeface="Geist"/>
                <a:sym typeface="Geist"/>
              </a:rPr>
              <a:t>. Built-in retry logic ensures robustness.</a:t>
            </a:r>
            <a:endParaRPr b="0" i="0" sz="900" u="none" cap="none" strike="noStrike">
              <a:solidFill>
                <a:srgbClr val="FFFFFF"/>
              </a:solidFill>
              <a:latin typeface="Arial"/>
              <a:ea typeface="Arial"/>
              <a:cs typeface="Arial"/>
              <a:sym typeface="Arial"/>
            </a:endParaRPr>
          </a:p>
        </p:txBody>
      </p:sp>
      <p:pic>
        <p:nvPicPr>
          <p:cNvPr id="256" name="Google Shape;256;p24"/>
          <p:cNvPicPr preferRelativeResize="0"/>
          <p:nvPr/>
        </p:nvPicPr>
        <p:blipFill rotWithShape="1">
          <a:blip r:embed="rId3">
            <a:alphaModFix/>
          </a:blip>
          <a:srcRect b="0" l="0" r="0" t="0"/>
          <a:stretch/>
        </p:blipFill>
        <p:spPr>
          <a:xfrm>
            <a:off x="0" y="1484460"/>
            <a:ext cx="4322160" cy="24381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F2937"/>
        </a:solidFill>
      </p:bgPr>
    </p:bg>
    <p:spTree>
      <p:nvGrpSpPr>
        <p:cNvPr id="260" name="Shape 260"/>
        <p:cNvGrpSpPr/>
        <p:nvPr/>
      </p:nvGrpSpPr>
      <p:grpSpPr>
        <a:xfrm>
          <a:off x="0" y="0"/>
          <a:ext cx="0" cy="0"/>
          <a:chOff x="0" y="0"/>
          <a:chExt cx="0" cy="0"/>
        </a:xfrm>
      </p:grpSpPr>
      <p:sp>
        <p:nvSpPr>
          <p:cNvPr id="261" name="Google Shape;261;p25"/>
          <p:cNvSpPr/>
          <p:nvPr/>
        </p:nvSpPr>
        <p:spPr>
          <a:xfrm>
            <a:off x="548640" y="240030"/>
            <a:ext cx="7543260" cy="410130"/>
          </a:xfrm>
          <a:prstGeom prst="rect">
            <a:avLst/>
          </a:prstGeom>
          <a:noFill/>
          <a:ln>
            <a:noFill/>
          </a:ln>
        </p:spPr>
        <p:txBody>
          <a:bodyPr anchorCtr="0" anchor="t" bIns="33750" lIns="67500" spcFirstLastPara="1" rIns="67500" wrap="square" tIns="33750">
            <a:noAutofit/>
          </a:bodyPr>
          <a:lstStyle/>
          <a:p>
            <a:pPr indent="0" lvl="0" marL="0" marR="0" rtl="0" algn="l">
              <a:lnSpc>
                <a:spcPct val="100000"/>
              </a:lnSpc>
              <a:spcBef>
                <a:spcPts val="0"/>
              </a:spcBef>
              <a:spcAft>
                <a:spcPts val="0"/>
              </a:spcAft>
              <a:buClr>
                <a:srgbClr val="000000"/>
              </a:buClr>
              <a:buSzPts val="2300"/>
              <a:buFont typeface="Arial"/>
              <a:buNone/>
            </a:pPr>
            <a:r>
              <a:rPr b="1" i="0" lang="en-GB" sz="2300" u="none" cap="none" strike="noStrike">
                <a:solidFill>
                  <a:srgbClr val="FFFFFF"/>
                </a:solidFill>
                <a:latin typeface="Arial"/>
                <a:ea typeface="Arial"/>
                <a:cs typeface="Arial"/>
                <a:sym typeface="Arial"/>
              </a:rPr>
              <a:t>Motion Control  —  Cadavid</a:t>
            </a:r>
            <a:endParaRPr b="0" i="0" sz="2300" u="none" cap="none" strike="noStrike">
              <a:solidFill>
                <a:srgbClr val="FFFFFF"/>
              </a:solidFill>
              <a:latin typeface="Arial"/>
              <a:ea typeface="Arial"/>
              <a:cs typeface="Arial"/>
              <a:sym typeface="Arial"/>
            </a:endParaRPr>
          </a:p>
        </p:txBody>
      </p:sp>
      <p:sp>
        <p:nvSpPr>
          <p:cNvPr id="262" name="Google Shape;262;p25"/>
          <p:cNvSpPr/>
          <p:nvPr/>
        </p:nvSpPr>
        <p:spPr>
          <a:xfrm>
            <a:off x="548640" y="685800"/>
            <a:ext cx="1713960" cy="28080"/>
          </a:xfrm>
          <a:prstGeom prst="rect">
            <a:avLst/>
          </a:prstGeom>
          <a:solidFill>
            <a:srgbClr val="6B7280"/>
          </a:solidFill>
          <a:ln>
            <a:noFill/>
          </a:ln>
          <a:effectLst>
            <a:outerShdw blurRad="39960" rotWithShape="0" dir="5400000" dist="23040">
              <a:srgbClr val="000000">
                <a:alpha val="34901"/>
              </a:srgbClr>
            </a:outerShdw>
          </a:effectLst>
        </p:spPr>
        <p:txBody>
          <a:bodyPr anchorCtr="0" anchor="ctr" bIns="0" lIns="67500" spcFirstLastPara="1" rIns="6750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sp>
        <p:nvSpPr>
          <p:cNvPr id="263" name="Google Shape;263;p25"/>
          <p:cNvSpPr/>
          <p:nvPr/>
        </p:nvSpPr>
        <p:spPr>
          <a:xfrm>
            <a:off x="685800" y="960120"/>
            <a:ext cx="7886160" cy="581580"/>
          </a:xfrm>
          <a:prstGeom prst="rect">
            <a:avLst/>
          </a:prstGeom>
          <a:noFill/>
          <a:ln>
            <a:noFill/>
          </a:ln>
        </p:spPr>
        <p:txBody>
          <a:bodyPr anchorCtr="0" anchor="t" bIns="33750" lIns="67500" spcFirstLastPara="1" rIns="67500" wrap="square" tIns="33750">
            <a:noAutofit/>
          </a:bodyPr>
          <a:lstStyle/>
          <a:p>
            <a:pPr indent="0" lvl="0" marL="0" marR="0" rtl="0" algn="l">
              <a:lnSpc>
                <a:spcPct val="100000"/>
              </a:lnSpc>
              <a:spcBef>
                <a:spcPts val="0"/>
              </a:spcBef>
              <a:spcAft>
                <a:spcPts val="0"/>
              </a:spcAft>
              <a:buClr>
                <a:srgbClr val="000000"/>
              </a:buClr>
              <a:buSzPts val="1100"/>
              <a:buFont typeface="Arial"/>
              <a:buNone/>
            </a:pPr>
            <a:r>
              <a:rPr b="0" i="0" lang="en-GB" sz="1100" u="none" cap="none" strike="noStrike">
                <a:solidFill>
                  <a:srgbClr val="D1D5DB"/>
                </a:solidFill>
                <a:latin typeface="Arial"/>
                <a:ea typeface="Arial"/>
                <a:cs typeface="Arial"/>
                <a:sym typeface="Arial"/>
              </a:rPr>
              <a:t>The generated code calls execute_waypoints() with a list of target poses. Each waypoint specifies a position and orientation for the end-effector. The motion controller processes these waypoints using an L-shaped vertical approach pattern: move above the target, descend straight down, grasp, lift straight up, then move to the destination.</a:t>
            </a:r>
            <a:endParaRPr b="0" i="0" sz="1100" u="none" cap="none" strike="noStrike">
              <a:solidFill>
                <a:srgbClr val="FFFFFF"/>
              </a:solidFill>
              <a:latin typeface="Arial"/>
              <a:ea typeface="Arial"/>
              <a:cs typeface="Arial"/>
              <a:sym typeface="Arial"/>
            </a:endParaRPr>
          </a:p>
        </p:txBody>
      </p:sp>
      <p:sp>
        <p:nvSpPr>
          <p:cNvPr id="264" name="Google Shape;264;p25"/>
          <p:cNvSpPr/>
          <p:nvPr/>
        </p:nvSpPr>
        <p:spPr>
          <a:xfrm>
            <a:off x="685800" y="1337310"/>
            <a:ext cx="7886160" cy="581580"/>
          </a:xfrm>
          <a:prstGeom prst="rect">
            <a:avLst/>
          </a:prstGeom>
          <a:noFill/>
          <a:ln>
            <a:noFill/>
          </a:ln>
        </p:spPr>
        <p:txBody>
          <a:bodyPr anchorCtr="0" anchor="t" bIns="33750" lIns="67500" spcFirstLastPara="1" rIns="67500" wrap="square" tIns="33750">
            <a:noAutofit/>
          </a:bodyPr>
          <a:lstStyle/>
          <a:p>
            <a:pPr indent="0" lvl="0" marL="0" marR="0" rtl="0" algn="l">
              <a:lnSpc>
                <a:spcPct val="100000"/>
              </a:lnSpc>
              <a:spcBef>
                <a:spcPts val="0"/>
              </a:spcBef>
              <a:spcAft>
                <a:spcPts val="0"/>
              </a:spcAft>
              <a:buClr>
                <a:srgbClr val="000000"/>
              </a:buClr>
              <a:buSzPts val="1100"/>
              <a:buFont typeface="Arial"/>
              <a:buNone/>
            </a:pPr>
            <a:r>
              <a:rPr b="0" i="0" lang="en-GB" sz="1100" u="none" cap="none" strike="noStrike">
                <a:solidFill>
                  <a:srgbClr val="D1D5DB"/>
                </a:solidFill>
                <a:latin typeface="Arial"/>
                <a:ea typeface="Arial"/>
                <a:cs typeface="Arial"/>
                <a:sym typeface="Arial"/>
              </a:rPr>
              <a:t>For each target pose, the system calls _compute_ik(), which uses TRAC-IK — a fast and robust inverse kinematics solver. TRAC-IK efficiently finds joint configurations that satisfy the desired end-effector pose while respecting joint limits and avoiding singularities.</a:t>
            </a:r>
            <a:endParaRPr b="0" i="0" sz="1100" u="none" cap="none" strike="noStrike">
              <a:solidFill>
                <a:srgbClr val="FFFFFF"/>
              </a:solidFill>
              <a:latin typeface="Arial"/>
              <a:ea typeface="Arial"/>
              <a:cs typeface="Arial"/>
              <a:sym typeface="Arial"/>
            </a:endParaRPr>
          </a:p>
        </p:txBody>
      </p:sp>
      <p:sp>
        <p:nvSpPr>
          <p:cNvPr id="265" name="Google Shape;265;p25"/>
          <p:cNvSpPr/>
          <p:nvPr/>
        </p:nvSpPr>
        <p:spPr>
          <a:xfrm>
            <a:off x="685800" y="1714500"/>
            <a:ext cx="7886160" cy="581580"/>
          </a:xfrm>
          <a:prstGeom prst="rect">
            <a:avLst/>
          </a:prstGeom>
          <a:noFill/>
          <a:ln>
            <a:noFill/>
          </a:ln>
        </p:spPr>
        <p:txBody>
          <a:bodyPr anchorCtr="0" anchor="t" bIns="33750" lIns="67500" spcFirstLastPara="1" rIns="67500" wrap="square" tIns="33750">
            <a:noAutofit/>
          </a:bodyPr>
          <a:lstStyle/>
          <a:p>
            <a:pPr indent="0" lvl="0" marL="0" marR="0" rtl="0" algn="l">
              <a:lnSpc>
                <a:spcPct val="100000"/>
              </a:lnSpc>
              <a:spcBef>
                <a:spcPts val="0"/>
              </a:spcBef>
              <a:spcAft>
                <a:spcPts val="0"/>
              </a:spcAft>
              <a:buClr>
                <a:srgbClr val="000000"/>
              </a:buClr>
              <a:buSzPts val="1100"/>
              <a:buFont typeface="Arial"/>
              <a:buNone/>
            </a:pPr>
            <a:r>
              <a:rPr b="0" i="0" lang="en-GB" sz="1100" u="none" cap="none" strike="noStrike">
                <a:solidFill>
                  <a:srgbClr val="D1D5DB"/>
                </a:solidFill>
                <a:latin typeface="Arial"/>
                <a:ea typeface="Arial"/>
                <a:cs typeface="Arial"/>
                <a:sym typeface="Arial"/>
              </a:rPr>
              <a:t>Before grasping, adjust_grasp_waypoints() inserts additional waypoints: a pre-grasp offset (slightly above the object), an approach vector (straight down to the object), and a retreat vector (straight up after closing the gripper). This ensures clean, collision-free pick-ups.</a:t>
            </a:r>
            <a:endParaRPr b="0" i="0" sz="1100" u="none" cap="none" strike="noStrike">
              <a:solidFill>
                <a:srgbClr val="FFFFFF"/>
              </a:solidFill>
              <a:latin typeface="Arial"/>
              <a:ea typeface="Arial"/>
              <a:cs typeface="Arial"/>
              <a:sym typeface="Arial"/>
            </a:endParaRPr>
          </a:p>
        </p:txBody>
      </p:sp>
      <p:sp>
        <p:nvSpPr>
          <p:cNvPr id="266" name="Google Shape;266;p25"/>
          <p:cNvSpPr/>
          <p:nvPr/>
        </p:nvSpPr>
        <p:spPr>
          <a:xfrm>
            <a:off x="685800" y="2091690"/>
            <a:ext cx="7886160" cy="581580"/>
          </a:xfrm>
          <a:prstGeom prst="rect">
            <a:avLst/>
          </a:prstGeom>
          <a:noFill/>
          <a:ln>
            <a:noFill/>
          </a:ln>
        </p:spPr>
        <p:txBody>
          <a:bodyPr anchorCtr="0" anchor="t" bIns="33750" lIns="67500" spcFirstLastPara="1" rIns="67500" wrap="square" tIns="33750">
            <a:noAutofit/>
          </a:bodyPr>
          <a:lstStyle/>
          <a:p>
            <a:pPr indent="0" lvl="0" marL="0" marR="0" rtl="0" algn="l">
              <a:lnSpc>
                <a:spcPct val="100000"/>
              </a:lnSpc>
              <a:spcBef>
                <a:spcPts val="0"/>
              </a:spcBef>
              <a:spcAft>
                <a:spcPts val="0"/>
              </a:spcAft>
              <a:buClr>
                <a:srgbClr val="000000"/>
              </a:buClr>
              <a:buSzPts val="1100"/>
              <a:buFont typeface="Arial"/>
              <a:buNone/>
            </a:pPr>
            <a:r>
              <a:rPr b="0" i="0" lang="en-GB" sz="1100" u="none" cap="none" strike="noStrike">
                <a:solidFill>
                  <a:srgbClr val="D1D5DB"/>
                </a:solidFill>
                <a:latin typeface="Arial"/>
                <a:ea typeface="Arial"/>
                <a:cs typeface="Arial"/>
                <a:sym typeface="Arial"/>
              </a:rPr>
              <a:t>The gripper is controlled through intera_interface: close with controlled force, verify grasp (wait_and_check_grasp), lift via move_straight_z(), move to place location, open to release. The entire motion sequence is synchronized through ROS topic publishers.</a:t>
            </a:r>
            <a:endParaRPr b="0" i="0" sz="1100" u="none" cap="none" strike="noStrike">
              <a:solidFill>
                <a:srgbClr val="FFFFFF"/>
              </a:solidFill>
              <a:latin typeface="Arial"/>
              <a:ea typeface="Arial"/>
              <a:cs typeface="Arial"/>
              <a:sym typeface="Arial"/>
            </a:endParaRPr>
          </a:p>
        </p:txBody>
      </p:sp>
      <p:sp>
        <p:nvSpPr>
          <p:cNvPr id="267" name="Google Shape;267;p25"/>
          <p:cNvSpPr/>
          <p:nvPr/>
        </p:nvSpPr>
        <p:spPr>
          <a:xfrm>
            <a:off x="548640" y="4526280"/>
            <a:ext cx="7543260" cy="204390"/>
          </a:xfrm>
          <a:prstGeom prst="rect">
            <a:avLst/>
          </a:prstGeom>
          <a:noFill/>
          <a:ln>
            <a:noFill/>
          </a:ln>
        </p:spPr>
        <p:txBody>
          <a:bodyPr anchorCtr="0" anchor="t" bIns="33750" lIns="67500" spcFirstLastPara="1" rIns="67500" wrap="square" tIns="33750">
            <a:noAutofit/>
          </a:bodyPr>
          <a:lstStyle/>
          <a:p>
            <a:pPr indent="0" lvl="0" marL="0" marR="0" rtl="0" algn="l">
              <a:lnSpc>
                <a:spcPct val="100000"/>
              </a:lnSpc>
              <a:spcBef>
                <a:spcPts val="0"/>
              </a:spcBef>
              <a:spcAft>
                <a:spcPts val="0"/>
              </a:spcAft>
              <a:buClr>
                <a:srgbClr val="000000"/>
              </a:buClr>
              <a:buSzPts val="900"/>
              <a:buFont typeface="Arial"/>
              <a:buNone/>
            </a:pPr>
            <a:r>
              <a:rPr b="0" i="0" lang="en-GB" sz="900" u="none" cap="none" strike="noStrike">
                <a:solidFill>
                  <a:srgbClr val="9CA3AF"/>
                </a:solidFill>
                <a:latin typeface="Arial"/>
                <a:ea typeface="Arial"/>
                <a:cs typeface="Arial"/>
                <a:sym typeface="Arial"/>
              </a:rPr>
              <a:t>IK Solver: TRAC-IK — resolves joint angles for 7-DOF Sawyer arm at ~1 kHz.</a:t>
            </a:r>
            <a:endParaRPr b="0" i="0" sz="900" u="none" cap="none" strike="noStrike">
              <a:solidFill>
                <a:srgbClr val="FFFFFF"/>
              </a:solidFill>
              <a:latin typeface="Arial"/>
              <a:ea typeface="Arial"/>
              <a:cs typeface="Arial"/>
              <a:sym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F2937"/>
        </a:solidFill>
      </p:bgPr>
    </p:bg>
    <p:spTree>
      <p:nvGrpSpPr>
        <p:cNvPr id="271" name="Shape 271"/>
        <p:cNvGrpSpPr/>
        <p:nvPr/>
      </p:nvGrpSpPr>
      <p:grpSpPr>
        <a:xfrm>
          <a:off x="0" y="0"/>
          <a:ext cx="0" cy="0"/>
          <a:chOff x="0" y="0"/>
          <a:chExt cx="0" cy="0"/>
        </a:xfrm>
      </p:grpSpPr>
      <p:sp>
        <p:nvSpPr>
          <p:cNvPr id="272" name="Google Shape;272;p26"/>
          <p:cNvSpPr/>
          <p:nvPr/>
        </p:nvSpPr>
        <p:spPr>
          <a:xfrm>
            <a:off x="548640" y="240030"/>
            <a:ext cx="7543260" cy="410130"/>
          </a:xfrm>
          <a:prstGeom prst="rect">
            <a:avLst/>
          </a:prstGeom>
          <a:noFill/>
          <a:ln>
            <a:noFill/>
          </a:ln>
        </p:spPr>
        <p:txBody>
          <a:bodyPr anchorCtr="0" anchor="t" bIns="33750" lIns="67500" spcFirstLastPara="1" rIns="67500" wrap="square" tIns="33750">
            <a:noAutofit/>
          </a:bodyPr>
          <a:lstStyle/>
          <a:p>
            <a:pPr indent="0" lvl="0" marL="0" marR="0" rtl="0" algn="l">
              <a:lnSpc>
                <a:spcPct val="100000"/>
              </a:lnSpc>
              <a:spcBef>
                <a:spcPts val="0"/>
              </a:spcBef>
              <a:spcAft>
                <a:spcPts val="0"/>
              </a:spcAft>
              <a:buClr>
                <a:srgbClr val="000000"/>
              </a:buClr>
              <a:buSzPts val="2300"/>
              <a:buFont typeface="Arial"/>
              <a:buNone/>
            </a:pPr>
            <a:r>
              <a:rPr b="1" i="0" lang="en-GB" sz="2300" u="none" cap="none" strike="noStrike">
                <a:solidFill>
                  <a:srgbClr val="FFFFFF"/>
                </a:solidFill>
                <a:latin typeface="Arial"/>
                <a:ea typeface="Arial"/>
                <a:cs typeface="Arial"/>
                <a:sym typeface="Arial"/>
              </a:rPr>
              <a:t>Integration &amp; Results  —  Jossua</a:t>
            </a:r>
            <a:endParaRPr b="0" i="0" sz="2300" u="none" cap="none" strike="noStrike">
              <a:solidFill>
                <a:srgbClr val="FFFFFF"/>
              </a:solidFill>
              <a:latin typeface="Arial"/>
              <a:ea typeface="Arial"/>
              <a:cs typeface="Arial"/>
              <a:sym typeface="Arial"/>
            </a:endParaRPr>
          </a:p>
        </p:txBody>
      </p:sp>
      <p:sp>
        <p:nvSpPr>
          <p:cNvPr id="273" name="Google Shape;273;p26"/>
          <p:cNvSpPr/>
          <p:nvPr/>
        </p:nvSpPr>
        <p:spPr>
          <a:xfrm>
            <a:off x="548640" y="685800"/>
            <a:ext cx="1713960" cy="28080"/>
          </a:xfrm>
          <a:prstGeom prst="rect">
            <a:avLst/>
          </a:prstGeom>
          <a:solidFill>
            <a:srgbClr val="6B7280"/>
          </a:solidFill>
          <a:ln>
            <a:noFill/>
          </a:ln>
          <a:effectLst>
            <a:outerShdw blurRad="39960" rotWithShape="0" dir="5400000" dist="23040">
              <a:srgbClr val="000000">
                <a:alpha val="34901"/>
              </a:srgbClr>
            </a:outerShdw>
          </a:effectLst>
        </p:spPr>
        <p:txBody>
          <a:bodyPr anchorCtr="0" anchor="ctr" bIns="0" lIns="67500" spcFirstLastPara="1" rIns="6750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sp>
        <p:nvSpPr>
          <p:cNvPr id="274" name="Google Shape;274;p26"/>
          <p:cNvSpPr/>
          <p:nvPr/>
        </p:nvSpPr>
        <p:spPr>
          <a:xfrm>
            <a:off x="685800" y="960120"/>
            <a:ext cx="7886160" cy="581580"/>
          </a:xfrm>
          <a:prstGeom prst="rect">
            <a:avLst/>
          </a:prstGeom>
          <a:noFill/>
          <a:ln>
            <a:noFill/>
          </a:ln>
        </p:spPr>
        <p:txBody>
          <a:bodyPr anchorCtr="0" anchor="t" bIns="33750" lIns="67500" spcFirstLastPara="1" rIns="67500" wrap="square" tIns="33750">
            <a:noAutofit/>
          </a:bodyPr>
          <a:lstStyle/>
          <a:p>
            <a:pPr indent="0" lvl="0" marL="0" marR="0" rtl="0" algn="l">
              <a:lnSpc>
                <a:spcPct val="100000"/>
              </a:lnSpc>
              <a:spcBef>
                <a:spcPts val="0"/>
              </a:spcBef>
              <a:spcAft>
                <a:spcPts val="0"/>
              </a:spcAft>
              <a:buClr>
                <a:srgbClr val="000000"/>
              </a:buClr>
              <a:buSzPts val="1100"/>
              <a:buFont typeface="Arial"/>
              <a:buNone/>
            </a:pPr>
            <a:r>
              <a:rPr b="0" i="0" lang="en-GB" sz="1100" u="none" cap="none" strike="noStrike">
                <a:solidFill>
                  <a:srgbClr val="D1D5DB"/>
                </a:solidFill>
                <a:latin typeface="Arial"/>
                <a:ea typeface="Arial"/>
                <a:cs typeface="Arial"/>
                <a:sym typeface="Arial"/>
              </a:rPr>
              <a:t>The complete pipeline runs end-to-end: the user types a natural language instruction, the LLM generates task-specific code, and the Sawyer robot executes the pick-and-place operation in simulation. No manual trajectory programming, no fine-tuning, no task-specific code changes.</a:t>
            </a:r>
            <a:endParaRPr b="0" i="0" sz="1100" u="none" cap="none" strike="noStrike">
              <a:solidFill>
                <a:srgbClr val="FFFFFF"/>
              </a:solidFill>
              <a:latin typeface="Arial"/>
              <a:ea typeface="Arial"/>
              <a:cs typeface="Arial"/>
              <a:sym typeface="Arial"/>
            </a:endParaRPr>
          </a:p>
        </p:txBody>
      </p:sp>
      <p:sp>
        <p:nvSpPr>
          <p:cNvPr id="275" name="Google Shape;275;p26"/>
          <p:cNvSpPr/>
          <p:nvPr/>
        </p:nvSpPr>
        <p:spPr>
          <a:xfrm>
            <a:off x="548640" y="4526280"/>
            <a:ext cx="7543260" cy="204390"/>
          </a:xfrm>
          <a:prstGeom prst="rect">
            <a:avLst/>
          </a:prstGeom>
          <a:noFill/>
          <a:ln>
            <a:noFill/>
          </a:ln>
        </p:spPr>
        <p:txBody>
          <a:bodyPr anchorCtr="0" anchor="t" bIns="33750" lIns="67500" spcFirstLastPara="1" rIns="67500" wrap="square" tIns="33750">
            <a:noAutofit/>
          </a:bodyPr>
          <a:lstStyle/>
          <a:p>
            <a:pPr indent="0" lvl="0" marL="0" marR="0" rtl="0" algn="l">
              <a:lnSpc>
                <a:spcPct val="100000"/>
              </a:lnSpc>
              <a:spcBef>
                <a:spcPts val="0"/>
              </a:spcBef>
              <a:spcAft>
                <a:spcPts val="0"/>
              </a:spcAft>
              <a:buClr>
                <a:srgbClr val="000000"/>
              </a:buClr>
              <a:buSzPts val="900"/>
              <a:buFont typeface="Arial"/>
              <a:buNone/>
            </a:pPr>
            <a:r>
              <a:rPr b="0" i="0" lang="en-GB" sz="900" u="none" cap="none" strike="noStrike">
                <a:solidFill>
                  <a:srgbClr val="9CA3AF"/>
                </a:solidFill>
                <a:latin typeface="Arial"/>
                <a:ea typeface="Arial"/>
                <a:cs typeface="Arial"/>
                <a:sym typeface="Arial"/>
              </a:rPr>
              <a:t>Demo video available — see the project submission.</a:t>
            </a:r>
            <a:endParaRPr b="0" i="0" sz="900" u="none" cap="none" strike="noStrike">
              <a:solidFill>
                <a:srgbClr val="FFFFFF"/>
              </a:solidFill>
              <a:latin typeface="Arial"/>
              <a:ea typeface="Arial"/>
              <a:cs typeface="Arial"/>
              <a:sym typeface="Arial"/>
            </a:endParaRPr>
          </a:p>
        </p:txBody>
      </p:sp>
      <p:pic>
        <p:nvPicPr>
          <p:cNvPr id="276" name="Google Shape;276;p26" title="call_graph_07_slides_flow.png"/>
          <p:cNvPicPr preferRelativeResize="0"/>
          <p:nvPr/>
        </p:nvPicPr>
        <p:blipFill rotWithShape="1">
          <a:blip r:embed="rId3">
            <a:alphaModFix/>
          </a:blip>
          <a:srcRect b="0" l="0" r="0" t="0"/>
          <a:stretch/>
        </p:blipFill>
        <p:spPr>
          <a:xfrm>
            <a:off x="1255800" y="1694100"/>
            <a:ext cx="6128950" cy="2679780"/>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F2937"/>
        </a:solidFill>
      </p:bgPr>
    </p:bg>
    <p:spTree>
      <p:nvGrpSpPr>
        <p:cNvPr id="280" name="Shape 280"/>
        <p:cNvGrpSpPr/>
        <p:nvPr/>
      </p:nvGrpSpPr>
      <p:grpSpPr>
        <a:xfrm>
          <a:off x="0" y="0"/>
          <a:ext cx="0" cy="0"/>
          <a:chOff x="0" y="0"/>
          <a:chExt cx="0" cy="0"/>
        </a:xfrm>
      </p:grpSpPr>
      <p:sp>
        <p:nvSpPr>
          <p:cNvPr id="281" name="Google Shape;281;p27"/>
          <p:cNvSpPr/>
          <p:nvPr/>
        </p:nvSpPr>
        <p:spPr>
          <a:xfrm>
            <a:off x="548640" y="240030"/>
            <a:ext cx="7543200" cy="410100"/>
          </a:xfrm>
          <a:prstGeom prst="rect">
            <a:avLst/>
          </a:prstGeom>
          <a:noFill/>
          <a:ln>
            <a:noFill/>
          </a:ln>
        </p:spPr>
        <p:txBody>
          <a:bodyPr anchorCtr="0" anchor="t" bIns="33750" lIns="67500" spcFirstLastPara="1" rIns="67500" wrap="square" tIns="33750">
            <a:noAutofit/>
          </a:bodyPr>
          <a:lstStyle/>
          <a:p>
            <a:pPr indent="0" lvl="0" marL="0" marR="0" rtl="0" algn="l">
              <a:lnSpc>
                <a:spcPct val="100000"/>
              </a:lnSpc>
              <a:spcBef>
                <a:spcPts val="0"/>
              </a:spcBef>
              <a:spcAft>
                <a:spcPts val="0"/>
              </a:spcAft>
              <a:buClr>
                <a:srgbClr val="000000"/>
              </a:buClr>
              <a:buSzPts val="2300"/>
              <a:buFont typeface="Arial"/>
              <a:buNone/>
            </a:pPr>
            <a:r>
              <a:rPr b="1" i="0" lang="en-GB" sz="2300" u="none" cap="none" strike="noStrike">
                <a:solidFill>
                  <a:schemeClr val="lt1"/>
                </a:solidFill>
                <a:latin typeface="Arial"/>
                <a:ea typeface="Arial"/>
                <a:cs typeface="Arial"/>
                <a:sym typeface="Arial"/>
              </a:rPr>
              <a:t>Integration &amp; Results  —  Jossua</a:t>
            </a:r>
            <a:endParaRPr b="0" i="0" sz="2300" u="none" cap="none" strike="noStrike">
              <a:solidFill>
                <a:schemeClr val="lt1"/>
              </a:solidFill>
              <a:latin typeface="Arial"/>
              <a:ea typeface="Arial"/>
              <a:cs typeface="Arial"/>
              <a:sym typeface="Arial"/>
            </a:endParaRPr>
          </a:p>
        </p:txBody>
      </p:sp>
      <p:sp>
        <p:nvSpPr>
          <p:cNvPr id="282" name="Google Shape;282;p27"/>
          <p:cNvSpPr/>
          <p:nvPr/>
        </p:nvSpPr>
        <p:spPr>
          <a:xfrm>
            <a:off x="548640" y="685800"/>
            <a:ext cx="1713900" cy="28200"/>
          </a:xfrm>
          <a:prstGeom prst="rect">
            <a:avLst/>
          </a:prstGeom>
          <a:solidFill>
            <a:srgbClr val="6B7280"/>
          </a:solidFill>
          <a:ln>
            <a:noFill/>
          </a:ln>
          <a:effectLst>
            <a:outerShdw blurRad="39960" rotWithShape="0" dir="5400000" dist="23040">
              <a:srgbClr val="000000">
                <a:alpha val="34901"/>
              </a:srgbClr>
            </a:outerShdw>
          </a:effectLst>
        </p:spPr>
        <p:txBody>
          <a:bodyPr anchorCtr="0" anchor="ctr" bIns="0" lIns="67500" spcFirstLastPara="1" rIns="6750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sp>
        <p:nvSpPr>
          <p:cNvPr id="283" name="Google Shape;283;p27"/>
          <p:cNvSpPr/>
          <p:nvPr/>
        </p:nvSpPr>
        <p:spPr>
          <a:xfrm>
            <a:off x="548650" y="1027125"/>
            <a:ext cx="7886100" cy="581700"/>
          </a:xfrm>
          <a:prstGeom prst="rect">
            <a:avLst/>
          </a:prstGeom>
          <a:noFill/>
          <a:ln>
            <a:noFill/>
          </a:ln>
        </p:spPr>
        <p:txBody>
          <a:bodyPr anchorCtr="0" anchor="t" bIns="33750" lIns="67500" spcFirstLastPara="1" rIns="67500" wrap="square" tIns="33750">
            <a:noAutofit/>
          </a:bodyPr>
          <a:lstStyle/>
          <a:p>
            <a:pPr indent="0" lvl="0" marL="0" marR="0" rtl="0" algn="ctr">
              <a:lnSpc>
                <a:spcPct val="100000"/>
              </a:lnSpc>
              <a:spcBef>
                <a:spcPts val="0"/>
              </a:spcBef>
              <a:spcAft>
                <a:spcPts val="0"/>
              </a:spcAft>
              <a:buClr>
                <a:srgbClr val="000000"/>
              </a:buClr>
              <a:buSzPts val="2200"/>
              <a:buFont typeface="Arial"/>
              <a:buNone/>
            </a:pPr>
            <a:r>
              <a:rPr b="0" i="0" lang="en-GB" sz="2200" u="none" cap="none" strike="noStrike">
                <a:solidFill>
                  <a:schemeClr val="lt1"/>
                </a:solidFill>
                <a:latin typeface="Arial"/>
                <a:ea typeface="Arial"/>
                <a:cs typeface="Arial"/>
                <a:sym typeface="Arial"/>
              </a:rPr>
              <a:t>Key differences from the reference paper</a:t>
            </a:r>
            <a:endParaRPr b="0" i="0" sz="2200" u="none" cap="none" strike="noStrike">
              <a:solidFill>
                <a:schemeClr val="lt1"/>
              </a:solidFill>
              <a:latin typeface="Arial"/>
              <a:ea typeface="Arial"/>
              <a:cs typeface="Arial"/>
              <a:sym typeface="Arial"/>
            </a:endParaRPr>
          </a:p>
        </p:txBody>
      </p:sp>
      <p:graphicFrame>
        <p:nvGraphicFramePr>
          <p:cNvPr id="284" name="Google Shape;284;p27"/>
          <p:cNvGraphicFramePr/>
          <p:nvPr/>
        </p:nvGraphicFramePr>
        <p:xfrm>
          <a:off x="952500" y="1924550"/>
          <a:ext cx="3000000" cy="3000000"/>
        </p:xfrm>
        <a:graphic>
          <a:graphicData uri="http://schemas.openxmlformats.org/drawingml/2006/table">
            <a:tbl>
              <a:tblPr>
                <a:noFill/>
                <a:tableStyleId>{4A36876E-1719-4065-81DF-F3432BCE14B1}</a:tableStyleId>
              </a:tblPr>
              <a:tblGrid>
                <a:gridCol w="2413000"/>
                <a:gridCol w="2413000"/>
                <a:gridCol w="2413000"/>
              </a:tblGrid>
              <a:tr h="381000">
                <a:tc>
                  <a:txBody>
                    <a:bodyPr/>
                    <a:lstStyle/>
                    <a:p>
                      <a:pPr indent="0" lvl="0" marL="0" marR="0" rtl="0" algn="l">
                        <a:lnSpc>
                          <a:spcPct val="100000"/>
                        </a:lnSpc>
                        <a:spcBef>
                          <a:spcPts val="0"/>
                        </a:spcBef>
                        <a:spcAft>
                          <a:spcPts val="0"/>
                        </a:spcAft>
                        <a:buClr>
                          <a:srgbClr val="000000"/>
                        </a:buClr>
                        <a:buSzPts val="1400"/>
                        <a:buFont typeface="Arial"/>
                        <a:buNone/>
                      </a:pPr>
                      <a:r>
                        <a:t/>
                      </a:r>
                      <a:endParaRPr sz="1400" u="none" cap="none" strike="noStrike">
                        <a:solidFill>
                          <a:schemeClr val="lt1"/>
                        </a:solidFill>
                      </a:endParaRPr>
                    </a:p>
                  </a:txBody>
                  <a:tcPr marT="91425" marB="91425" marR="91425" marL="91425">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lang="en-GB" sz="1400" u="none" cap="none" strike="noStrike">
                          <a:solidFill>
                            <a:schemeClr val="lt1"/>
                          </a:solidFill>
                        </a:rPr>
                        <a:t>Kwon / Liang et al.</a:t>
                      </a:r>
                      <a:endParaRPr sz="1400" u="none" cap="none" strike="noStrike">
                        <a:solidFill>
                          <a:schemeClr val="lt1"/>
                        </a:solidFill>
                      </a:endParaRPr>
                    </a:p>
                  </a:txBody>
                  <a:tcPr marT="91425" marB="91425" marR="91425" marL="91425">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lang="en-GB" sz="1400" u="none" cap="none" strike="noStrike">
                          <a:solidFill>
                            <a:schemeClr val="lt1"/>
                          </a:solidFill>
                        </a:rPr>
                        <a:t>This project</a:t>
                      </a:r>
                      <a:endParaRPr sz="1400" u="none" cap="none" strike="noStrike">
                        <a:solidFill>
                          <a:schemeClr val="lt1"/>
                        </a:solidFill>
                      </a:endParaRPr>
                    </a:p>
                  </a:txBody>
                  <a:tcPr marT="91425" marB="91425" marR="91425" marL="91425">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r>
              <a:tr h="381000">
                <a:tc>
                  <a:txBody>
                    <a:bodyPr/>
                    <a:lstStyle/>
                    <a:p>
                      <a:pPr indent="0" lvl="0" marL="0" marR="0" rtl="0" algn="l">
                        <a:lnSpc>
                          <a:spcPct val="100000"/>
                        </a:lnSpc>
                        <a:spcBef>
                          <a:spcPts val="0"/>
                        </a:spcBef>
                        <a:spcAft>
                          <a:spcPts val="0"/>
                        </a:spcAft>
                        <a:buClr>
                          <a:srgbClr val="000000"/>
                        </a:buClr>
                        <a:buSzPts val="1400"/>
                        <a:buFont typeface="Arial"/>
                        <a:buNone/>
                      </a:pPr>
                      <a:r>
                        <a:rPr lang="en-GB" sz="1400" u="none" cap="none" strike="noStrike">
                          <a:solidFill>
                            <a:schemeClr val="lt1"/>
                          </a:solidFill>
                        </a:rPr>
                        <a:t>Robot</a:t>
                      </a:r>
                      <a:endParaRPr sz="1400" u="none" cap="none" strike="noStrike">
                        <a:solidFill>
                          <a:schemeClr val="lt1"/>
                        </a:solidFill>
                      </a:endParaRPr>
                    </a:p>
                  </a:txBody>
                  <a:tcPr marT="91425" marB="91425" marR="91425" marL="91425">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lang="en-GB" sz="1400" u="none" cap="none" strike="noStrike">
                          <a:solidFill>
                            <a:schemeClr val="lt1"/>
                          </a:solidFill>
                        </a:rPr>
                        <a:t>Franka Emika Panda</a:t>
                      </a:r>
                      <a:endParaRPr sz="1400" u="none" cap="none" strike="noStrike">
                        <a:solidFill>
                          <a:schemeClr val="lt1"/>
                        </a:solidFill>
                      </a:endParaRPr>
                    </a:p>
                  </a:txBody>
                  <a:tcPr marT="91425" marB="91425" marR="91425" marL="91425">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lang="en-GB" sz="1400" u="none" cap="none" strike="noStrike">
                          <a:solidFill>
                            <a:schemeClr val="lt1"/>
                          </a:solidFill>
                        </a:rPr>
                        <a:t>Sawyer</a:t>
                      </a:r>
                      <a:endParaRPr sz="1400" u="none" cap="none" strike="noStrike">
                        <a:solidFill>
                          <a:schemeClr val="lt1"/>
                        </a:solidFill>
                      </a:endParaRPr>
                    </a:p>
                  </a:txBody>
                  <a:tcPr marT="91425" marB="91425" marR="91425" marL="91425">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r>
              <a:tr h="381000">
                <a:tc>
                  <a:txBody>
                    <a:bodyPr/>
                    <a:lstStyle/>
                    <a:p>
                      <a:pPr indent="0" lvl="0" marL="0" marR="0" rtl="0" algn="l">
                        <a:lnSpc>
                          <a:spcPct val="100000"/>
                        </a:lnSpc>
                        <a:spcBef>
                          <a:spcPts val="0"/>
                        </a:spcBef>
                        <a:spcAft>
                          <a:spcPts val="0"/>
                        </a:spcAft>
                        <a:buClr>
                          <a:srgbClr val="000000"/>
                        </a:buClr>
                        <a:buSzPts val="1400"/>
                        <a:buFont typeface="Arial"/>
                        <a:buNone/>
                      </a:pPr>
                      <a:r>
                        <a:rPr lang="en-GB" sz="1400" u="none" cap="none" strike="noStrike">
                          <a:solidFill>
                            <a:schemeClr val="lt1"/>
                          </a:solidFill>
                        </a:rPr>
                        <a:t>Environment</a:t>
                      </a:r>
                      <a:endParaRPr sz="1400" u="none" cap="none" strike="noStrike">
                        <a:solidFill>
                          <a:schemeClr val="lt1"/>
                        </a:solidFill>
                      </a:endParaRPr>
                    </a:p>
                  </a:txBody>
                  <a:tcPr marT="91425" marB="91425" marR="91425" marL="91425">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lang="en-GB" sz="1400" u="none" cap="none" strike="noStrike">
                          <a:solidFill>
                            <a:schemeClr val="lt1"/>
                          </a:solidFill>
                        </a:rPr>
                        <a:t>Real robot</a:t>
                      </a:r>
                      <a:endParaRPr sz="1400" u="none" cap="none" strike="noStrike">
                        <a:solidFill>
                          <a:schemeClr val="lt1"/>
                        </a:solidFill>
                      </a:endParaRPr>
                    </a:p>
                  </a:txBody>
                  <a:tcPr marT="91425" marB="91425" marR="91425" marL="91425">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lang="en-GB" sz="1400" u="none" cap="none" strike="noStrike">
                          <a:solidFill>
                            <a:schemeClr val="lt1"/>
                          </a:solidFill>
                        </a:rPr>
                        <a:t>Gazebo Simulation using ROS</a:t>
                      </a:r>
                      <a:endParaRPr sz="1400" u="none" cap="none" strike="noStrike">
                        <a:solidFill>
                          <a:schemeClr val="lt1"/>
                        </a:solidFill>
                      </a:endParaRPr>
                    </a:p>
                  </a:txBody>
                  <a:tcPr marT="91425" marB="91425" marR="91425" marL="91425">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r>
              <a:tr h="381000">
                <a:tc>
                  <a:txBody>
                    <a:bodyPr/>
                    <a:lstStyle/>
                    <a:p>
                      <a:pPr indent="0" lvl="0" marL="0" marR="0" rtl="0" algn="l">
                        <a:lnSpc>
                          <a:spcPct val="100000"/>
                        </a:lnSpc>
                        <a:spcBef>
                          <a:spcPts val="0"/>
                        </a:spcBef>
                        <a:spcAft>
                          <a:spcPts val="0"/>
                        </a:spcAft>
                        <a:buClr>
                          <a:srgbClr val="000000"/>
                        </a:buClr>
                        <a:buSzPts val="1400"/>
                        <a:buFont typeface="Arial"/>
                        <a:buNone/>
                      </a:pPr>
                      <a:r>
                        <a:rPr lang="en-GB" sz="1400" u="none" cap="none" strike="noStrike">
                          <a:solidFill>
                            <a:schemeClr val="lt1"/>
                          </a:solidFill>
                        </a:rPr>
                        <a:t>LLM</a:t>
                      </a:r>
                      <a:endParaRPr sz="1400" u="none" cap="none" strike="noStrike">
                        <a:solidFill>
                          <a:schemeClr val="lt1"/>
                        </a:solidFill>
                      </a:endParaRPr>
                    </a:p>
                  </a:txBody>
                  <a:tcPr marT="91425" marB="91425" marR="91425" marL="91425">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lang="en-GB" sz="1400" u="none" cap="none" strike="noStrike">
                          <a:solidFill>
                            <a:schemeClr val="lt1"/>
                          </a:solidFill>
                        </a:rPr>
                        <a:t>GPT (Cloud)</a:t>
                      </a:r>
                      <a:endParaRPr sz="1400" u="none" cap="none" strike="noStrike">
                        <a:solidFill>
                          <a:schemeClr val="lt1"/>
                        </a:solidFill>
                      </a:endParaRPr>
                    </a:p>
                  </a:txBody>
                  <a:tcPr marT="91425" marB="91425" marR="91425" marL="91425">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lang="en-GB" sz="1400" u="none" cap="none" strike="noStrike">
                          <a:solidFill>
                            <a:schemeClr val="lt1"/>
                          </a:solidFill>
                        </a:rPr>
                        <a:t>Qwen2.5-Coder 3B (local)</a:t>
                      </a:r>
                      <a:endParaRPr sz="1400" u="none" cap="none" strike="noStrike">
                        <a:solidFill>
                          <a:schemeClr val="lt1"/>
                        </a:solidFill>
                      </a:endParaRPr>
                    </a:p>
                  </a:txBody>
                  <a:tcPr marT="91425" marB="91425" marR="91425" marL="91425">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r>
              <a:tr h="381000">
                <a:tc>
                  <a:txBody>
                    <a:bodyPr/>
                    <a:lstStyle/>
                    <a:p>
                      <a:pPr indent="0" lvl="0" marL="0" marR="0" rtl="0" algn="l">
                        <a:lnSpc>
                          <a:spcPct val="100000"/>
                        </a:lnSpc>
                        <a:spcBef>
                          <a:spcPts val="0"/>
                        </a:spcBef>
                        <a:spcAft>
                          <a:spcPts val="0"/>
                        </a:spcAft>
                        <a:buClr>
                          <a:srgbClr val="000000"/>
                        </a:buClr>
                        <a:buSzPts val="1400"/>
                        <a:buFont typeface="Arial"/>
                        <a:buNone/>
                      </a:pPr>
                      <a:r>
                        <a:rPr lang="en-GB" sz="1400" u="none" cap="none" strike="noStrike">
                          <a:solidFill>
                            <a:schemeClr val="lt1"/>
                          </a:solidFill>
                        </a:rPr>
                        <a:t>Cost</a:t>
                      </a:r>
                      <a:endParaRPr sz="1400" u="none" cap="none" strike="noStrike">
                        <a:solidFill>
                          <a:schemeClr val="lt1"/>
                        </a:solidFill>
                      </a:endParaRPr>
                    </a:p>
                  </a:txBody>
                  <a:tcPr marT="91425" marB="91425" marR="91425" marL="91425">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lang="en-GB" sz="1400" u="none" cap="none" strike="noStrike">
                          <a:solidFill>
                            <a:schemeClr val="lt1"/>
                          </a:solidFill>
                        </a:rPr>
                        <a:t>API key/ Paid service</a:t>
                      </a:r>
                      <a:endParaRPr sz="1400" u="none" cap="none" strike="noStrike">
                        <a:solidFill>
                          <a:schemeClr val="lt1"/>
                        </a:solidFill>
                      </a:endParaRPr>
                    </a:p>
                  </a:txBody>
                  <a:tcPr marT="91425" marB="91425" marR="91425" marL="91425">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lang="en-GB" sz="1400" u="none" cap="none" strike="noStrike">
                          <a:solidFill>
                            <a:schemeClr val="lt1"/>
                          </a:solidFill>
                        </a:rPr>
                        <a:t>Free, 100% local</a:t>
                      </a:r>
                      <a:endParaRPr sz="1400" u="none" cap="none" strike="noStrike">
                        <a:solidFill>
                          <a:schemeClr val="lt1"/>
                        </a:solidFill>
                      </a:endParaRPr>
                    </a:p>
                  </a:txBody>
                  <a:tcPr marT="91425" marB="91425" marR="91425" marL="91425">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r>
              <a:tr h="381000">
                <a:tc>
                  <a:txBody>
                    <a:bodyPr/>
                    <a:lstStyle/>
                    <a:p>
                      <a:pPr indent="0" lvl="0" marL="0" marR="0" rtl="0" algn="l">
                        <a:lnSpc>
                          <a:spcPct val="100000"/>
                        </a:lnSpc>
                        <a:spcBef>
                          <a:spcPts val="0"/>
                        </a:spcBef>
                        <a:spcAft>
                          <a:spcPts val="0"/>
                        </a:spcAft>
                        <a:buClr>
                          <a:srgbClr val="000000"/>
                        </a:buClr>
                        <a:buSzPts val="1400"/>
                        <a:buFont typeface="Arial"/>
                        <a:buNone/>
                      </a:pPr>
                      <a:r>
                        <a:rPr lang="en-GB" sz="1400" u="none" cap="none" strike="noStrike">
                          <a:solidFill>
                            <a:schemeClr val="lt1"/>
                          </a:solidFill>
                        </a:rPr>
                        <a:t>Privacy</a:t>
                      </a:r>
                      <a:endParaRPr sz="1400" u="none" cap="none" strike="noStrike">
                        <a:solidFill>
                          <a:schemeClr val="lt1"/>
                        </a:solidFill>
                      </a:endParaRPr>
                    </a:p>
                  </a:txBody>
                  <a:tcPr marT="91425" marB="91425" marR="91425" marL="91425">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lang="en-GB" sz="1400" u="none" cap="none" strike="noStrike">
                          <a:solidFill>
                            <a:schemeClr val="lt1"/>
                          </a:solidFill>
                        </a:rPr>
                        <a:t>–</a:t>
                      </a:r>
                      <a:endParaRPr sz="1400" u="none" cap="none" strike="noStrike">
                        <a:solidFill>
                          <a:schemeClr val="lt1"/>
                        </a:solidFill>
                      </a:endParaRPr>
                    </a:p>
                  </a:txBody>
                  <a:tcPr marT="91425" marB="91425" marR="91425" marL="91425">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lang="en-GB" sz="1400" u="none" cap="none" strike="noStrike">
                          <a:solidFill>
                            <a:schemeClr val="lt1"/>
                          </a:solidFill>
                        </a:rPr>
                        <a:t>Localhost</a:t>
                      </a:r>
                      <a:endParaRPr sz="1400" u="none" cap="none" strike="noStrike">
                        <a:solidFill>
                          <a:schemeClr val="lt1"/>
                        </a:solidFill>
                      </a:endParaRPr>
                    </a:p>
                  </a:txBody>
                  <a:tcPr marT="91425" marB="91425" marR="91425" marL="91425">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9525">
                      <a:solidFill>
                        <a:schemeClr val="lt1"/>
                      </a:solidFill>
                      <a:prstDash val="solid"/>
                      <a:round/>
                      <a:headEnd len="sm" w="sm" type="none"/>
                      <a:tailEnd len="sm" w="sm" type="none"/>
                    </a:lnT>
                    <a:lnB cap="flat" cmpd="sng" w="9525">
                      <a:solidFill>
                        <a:schemeClr val="lt1"/>
                      </a:solidFill>
                      <a:prstDash val="solid"/>
                      <a:round/>
                      <a:headEnd len="sm" w="sm" type="none"/>
                      <a:tailEnd len="sm" w="sm" type="none"/>
                    </a:lnB>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F2937"/>
        </a:solidFill>
      </p:bgPr>
    </p:bg>
    <p:spTree>
      <p:nvGrpSpPr>
        <p:cNvPr id="288" name="Shape 288"/>
        <p:cNvGrpSpPr/>
        <p:nvPr/>
      </p:nvGrpSpPr>
      <p:grpSpPr>
        <a:xfrm>
          <a:off x="0" y="0"/>
          <a:ext cx="0" cy="0"/>
          <a:chOff x="0" y="0"/>
          <a:chExt cx="0" cy="0"/>
        </a:xfrm>
      </p:grpSpPr>
      <p:sp>
        <p:nvSpPr>
          <p:cNvPr id="289" name="Google Shape;289;p28"/>
          <p:cNvSpPr/>
          <p:nvPr/>
        </p:nvSpPr>
        <p:spPr>
          <a:xfrm>
            <a:off x="3204945" y="0"/>
            <a:ext cx="3453600" cy="410100"/>
          </a:xfrm>
          <a:prstGeom prst="rect">
            <a:avLst/>
          </a:prstGeom>
          <a:noFill/>
          <a:ln>
            <a:noFill/>
          </a:ln>
        </p:spPr>
        <p:txBody>
          <a:bodyPr anchorCtr="0" anchor="t" bIns="33750" lIns="67500" spcFirstLastPara="1" rIns="67500" wrap="square" tIns="33750">
            <a:noAutofit/>
          </a:bodyPr>
          <a:lstStyle/>
          <a:p>
            <a:pPr indent="0" lvl="0" marL="0" marR="0" rtl="0" algn="l">
              <a:lnSpc>
                <a:spcPct val="100000"/>
              </a:lnSpc>
              <a:spcBef>
                <a:spcPts val="0"/>
              </a:spcBef>
              <a:spcAft>
                <a:spcPts val="0"/>
              </a:spcAft>
              <a:buClr>
                <a:srgbClr val="000000"/>
              </a:buClr>
              <a:buSzPts val="2300"/>
              <a:buFont typeface="Arial"/>
              <a:buNone/>
            </a:pPr>
            <a:r>
              <a:rPr b="1" i="0" lang="en-GB" sz="2300" u="none" cap="none" strike="noStrike">
                <a:solidFill>
                  <a:schemeClr val="lt1"/>
                </a:solidFill>
                <a:latin typeface="Arial"/>
                <a:ea typeface="Arial"/>
                <a:cs typeface="Arial"/>
                <a:sym typeface="Arial"/>
              </a:rPr>
              <a:t>Integration &amp; Results</a:t>
            </a:r>
            <a:endParaRPr b="0" i="0" sz="2300" u="none" cap="none" strike="noStrike">
              <a:solidFill>
                <a:schemeClr val="lt1"/>
              </a:solidFill>
              <a:latin typeface="Arial"/>
              <a:ea typeface="Arial"/>
              <a:cs typeface="Arial"/>
              <a:sym typeface="Arial"/>
            </a:endParaRPr>
          </a:p>
        </p:txBody>
      </p:sp>
      <p:sp>
        <p:nvSpPr>
          <p:cNvPr id="290" name="Google Shape;290;p28"/>
          <p:cNvSpPr/>
          <p:nvPr/>
        </p:nvSpPr>
        <p:spPr>
          <a:xfrm>
            <a:off x="548640" y="685800"/>
            <a:ext cx="1713900" cy="28200"/>
          </a:xfrm>
          <a:prstGeom prst="rect">
            <a:avLst/>
          </a:prstGeom>
          <a:solidFill>
            <a:srgbClr val="6B7280"/>
          </a:solidFill>
          <a:ln>
            <a:noFill/>
          </a:ln>
          <a:effectLst>
            <a:outerShdw blurRad="39960" rotWithShape="0" dir="5400000" dist="23040">
              <a:srgbClr val="000000">
                <a:alpha val="34901"/>
              </a:srgbClr>
            </a:outerShdw>
          </a:effectLst>
        </p:spPr>
        <p:txBody>
          <a:bodyPr anchorCtr="0" anchor="ctr" bIns="0" lIns="67500" spcFirstLastPara="1" rIns="6750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pic>
        <p:nvPicPr>
          <p:cNvPr id="291" name="Google Shape;291;p28"/>
          <p:cNvPicPr preferRelativeResize="0"/>
          <p:nvPr/>
        </p:nvPicPr>
        <p:blipFill rotWithShape="1">
          <a:blip r:embed="rId3">
            <a:alphaModFix/>
          </a:blip>
          <a:srcRect b="0" l="0" r="0" t="0"/>
          <a:stretch/>
        </p:blipFill>
        <p:spPr>
          <a:xfrm>
            <a:off x="196626" y="481350"/>
            <a:ext cx="5807100" cy="4499549"/>
          </a:xfrm>
          <a:prstGeom prst="rect">
            <a:avLst/>
          </a:prstGeom>
          <a:noFill/>
          <a:ln>
            <a:noFill/>
          </a:ln>
        </p:spPr>
      </p:pic>
      <p:sp>
        <p:nvSpPr>
          <p:cNvPr id="292" name="Google Shape;292;p28"/>
          <p:cNvSpPr txBox="1"/>
          <p:nvPr/>
        </p:nvSpPr>
        <p:spPr>
          <a:xfrm>
            <a:off x="6003725" y="2284725"/>
            <a:ext cx="3000000" cy="8928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2300"/>
              <a:buFont typeface="Arial"/>
              <a:buNone/>
            </a:pPr>
            <a:r>
              <a:rPr b="0" i="0" lang="en-GB" sz="2300" u="none" cap="none" strike="noStrike">
                <a:solidFill>
                  <a:schemeClr val="lt1"/>
                </a:solidFill>
                <a:latin typeface="Arial"/>
                <a:ea typeface="Arial"/>
                <a:cs typeface="Arial"/>
                <a:sym typeface="Arial"/>
              </a:rPr>
              <a:t>Code of API bridge to and from Ollama</a:t>
            </a:r>
            <a:endParaRPr b="0" i="0" sz="2300" u="none" cap="none" strike="noStrike">
              <a:solidFill>
                <a:schemeClr val="lt1"/>
              </a:solidFill>
              <a:latin typeface="Arial"/>
              <a:ea typeface="Arial"/>
              <a:cs typeface="Arial"/>
              <a:sym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F2937"/>
        </a:solidFill>
      </p:bgPr>
    </p:bg>
    <p:spTree>
      <p:nvGrpSpPr>
        <p:cNvPr id="296" name="Shape 296"/>
        <p:cNvGrpSpPr/>
        <p:nvPr/>
      </p:nvGrpSpPr>
      <p:grpSpPr>
        <a:xfrm>
          <a:off x="0" y="0"/>
          <a:ext cx="0" cy="0"/>
          <a:chOff x="0" y="0"/>
          <a:chExt cx="0" cy="0"/>
        </a:xfrm>
      </p:grpSpPr>
      <p:sp>
        <p:nvSpPr>
          <p:cNvPr id="297" name="Google Shape;297;p29"/>
          <p:cNvSpPr/>
          <p:nvPr/>
        </p:nvSpPr>
        <p:spPr>
          <a:xfrm>
            <a:off x="514595" y="295125"/>
            <a:ext cx="3453600" cy="410100"/>
          </a:xfrm>
          <a:prstGeom prst="rect">
            <a:avLst/>
          </a:prstGeom>
          <a:noFill/>
          <a:ln>
            <a:noFill/>
          </a:ln>
        </p:spPr>
        <p:txBody>
          <a:bodyPr anchorCtr="0" anchor="t" bIns="33750" lIns="67500" spcFirstLastPara="1" rIns="67500" wrap="square" tIns="33750">
            <a:noAutofit/>
          </a:bodyPr>
          <a:lstStyle/>
          <a:p>
            <a:pPr indent="0" lvl="0" marL="0" marR="0" rtl="0" algn="l">
              <a:lnSpc>
                <a:spcPct val="100000"/>
              </a:lnSpc>
              <a:spcBef>
                <a:spcPts val="0"/>
              </a:spcBef>
              <a:spcAft>
                <a:spcPts val="0"/>
              </a:spcAft>
              <a:buClr>
                <a:srgbClr val="000000"/>
              </a:buClr>
              <a:buSzPts val="2300"/>
              <a:buFont typeface="Arial"/>
              <a:buNone/>
            </a:pPr>
            <a:r>
              <a:rPr b="1" i="0" lang="en-GB" sz="2300" u="none" cap="none" strike="noStrike">
                <a:solidFill>
                  <a:schemeClr val="lt1"/>
                </a:solidFill>
                <a:latin typeface="Arial"/>
                <a:ea typeface="Arial"/>
                <a:cs typeface="Arial"/>
                <a:sym typeface="Arial"/>
              </a:rPr>
              <a:t>Integration &amp; Results</a:t>
            </a:r>
            <a:endParaRPr b="0" i="0" sz="2300" u="none" cap="none" strike="noStrike">
              <a:solidFill>
                <a:schemeClr val="lt1"/>
              </a:solidFill>
              <a:latin typeface="Arial"/>
              <a:ea typeface="Arial"/>
              <a:cs typeface="Arial"/>
              <a:sym typeface="Arial"/>
            </a:endParaRPr>
          </a:p>
        </p:txBody>
      </p:sp>
      <p:sp>
        <p:nvSpPr>
          <p:cNvPr id="298" name="Google Shape;298;p29"/>
          <p:cNvSpPr txBox="1"/>
          <p:nvPr/>
        </p:nvSpPr>
        <p:spPr>
          <a:xfrm>
            <a:off x="514600" y="974875"/>
            <a:ext cx="6642600" cy="4464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700"/>
              <a:buFont typeface="Arial"/>
              <a:buNone/>
            </a:pPr>
            <a:r>
              <a:rPr b="0" i="0" lang="en-GB" sz="1700" u="none" cap="none" strike="noStrike">
                <a:solidFill>
                  <a:schemeClr val="lt1"/>
                </a:solidFill>
                <a:latin typeface="Arial"/>
                <a:ea typeface="Arial"/>
                <a:cs typeface="Arial"/>
                <a:sym typeface="Arial"/>
              </a:rPr>
              <a:t>Code of the routine generated by the LLM to perform a task</a:t>
            </a:r>
            <a:endParaRPr b="0" i="0" sz="1700" u="none" cap="none" strike="noStrike">
              <a:solidFill>
                <a:schemeClr val="lt1"/>
              </a:solidFill>
              <a:latin typeface="Arial"/>
              <a:ea typeface="Arial"/>
              <a:cs typeface="Arial"/>
              <a:sym typeface="Arial"/>
            </a:endParaRPr>
          </a:p>
        </p:txBody>
      </p:sp>
      <p:pic>
        <p:nvPicPr>
          <p:cNvPr descr="solo quitale los comentarios que existen en el codigo presente en la imagen" id="299" name="Google Shape;299;p29"/>
          <p:cNvPicPr preferRelativeResize="0"/>
          <p:nvPr/>
        </p:nvPicPr>
        <p:blipFill rotWithShape="1">
          <a:blip r:embed="rId3">
            <a:alphaModFix/>
          </a:blip>
          <a:srcRect b="0" l="0" r="0" t="0"/>
          <a:stretch/>
        </p:blipFill>
        <p:spPr>
          <a:xfrm>
            <a:off x="1936050" y="1583600"/>
            <a:ext cx="5271894" cy="3089000"/>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F2937"/>
        </a:solidFill>
      </p:bgPr>
    </p:bg>
    <p:spTree>
      <p:nvGrpSpPr>
        <p:cNvPr id="303" name="Shape 303"/>
        <p:cNvGrpSpPr/>
        <p:nvPr/>
      </p:nvGrpSpPr>
      <p:grpSpPr>
        <a:xfrm>
          <a:off x="0" y="0"/>
          <a:ext cx="0" cy="0"/>
          <a:chOff x="0" y="0"/>
          <a:chExt cx="0" cy="0"/>
        </a:xfrm>
      </p:grpSpPr>
      <p:sp>
        <p:nvSpPr>
          <p:cNvPr id="304" name="Google Shape;304;p30"/>
          <p:cNvSpPr/>
          <p:nvPr/>
        </p:nvSpPr>
        <p:spPr>
          <a:xfrm>
            <a:off x="514595" y="295125"/>
            <a:ext cx="3453600" cy="410100"/>
          </a:xfrm>
          <a:prstGeom prst="rect">
            <a:avLst/>
          </a:prstGeom>
          <a:noFill/>
          <a:ln>
            <a:noFill/>
          </a:ln>
        </p:spPr>
        <p:txBody>
          <a:bodyPr anchorCtr="0" anchor="t" bIns="33750" lIns="67500" spcFirstLastPara="1" rIns="67500" wrap="square" tIns="33750">
            <a:noAutofit/>
          </a:bodyPr>
          <a:lstStyle/>
          <a:p>
            <a:pPr indent="0" lvl="0" marL="0" marR="0" rtl="0" algn="l">
              <a:lnSpc>
                <a:spcPct val="100000"/>
              </a:lnSpc>
              <a:spcBef>
                <a:spcPts val="0"/>
              </a:spcBef>
              <a:spcAft>
                <a:spcPts val="0"/>
              </a:spcAft>
              <a:buClr>
                <a:srgbClr val="000000"/>
              </a:buClr>
              <a:buSzPts val="2300"/>
              <a:buFont typeface="Arial"/>
              <a:buNone/>
            </a:pPr>
            <a:r>
              <a:t/>
            </a:r>
            <a:endParaRPr b="0" i="0" sz="2300" u="none" cap="none" strike="noStrike">
              <a:solidFill>
                <a:schemeClr val="lt1"/>
              </a:solidFill>
              <a:latin typeface="Arial"/>
              <a:ea typeface="Arial"/>
              <a:cs typeface="Arial"/>
              <a:sym typeface="Arial"/>
            </a:endParaRPr>
          </a:p>
        </p:txBody>
      </p:sp>
      <p:sp>
        <p:nvSpPr>
          <p:cNvPr id="305" name="Google Shape;305;p30"/>
          <p:cNvSpPr txBox="1"/>
          <p:nvPr/>
        </p:nvSpPr>
        <p:spPr>
          <a:xfrm>
            <a:off x="593900" y="223125"/>
            <a:ext cx="6078000" cy="5541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2400"/>
              <a:buFont typeface="Arial"/>
              <a:buNone/>
            </a:pPr>
            <a:r>
              <a:rPr b="1" i="0" lang="en-GB" sz="2400" u="none" cap="none" strike="noStrike">
                <a:solidFill>
                  <a:schemeClr val="lt1"/>
                </a:solidFill>
                <a:latin typeface="Arial"/>
                <a:ea typeface="Arial"/>
                <a:cs typeface="Arial"/>
                <a:sym typeface="Arial"/>
              </a:rPr>
              <a:t>Results</a:t>
            </a:r>
            <a:endParaRPr b="1" i="0" sz="2400" u="none" cap="none" strike="noStrike">
              <a:solidFill>
                <a:schemeClr val="lt1"/>
              </a:solidFill>
              <a:latin typeface="Arial"/>
              <a:ea typeface="Arial"/>
              <a:cs typeface="Arial"/>
              <a:sym typeface="Arial"/>
            </a:endParaRPr>
          </a:p>
        </p:txBody>
      </p:sp>
      <p:pic>
        <p:nvPicPr>
          <p:cNvPr id="306" name="Google Shape;306;p30"/>
          <p:cNvPicPr preferRelativeResize="0"/>
          <p:nvPr/>
        </p:nvPicPr>
        <p:blipFill rotWithShape="1">
          <a:blip r:embed="rId3">
            <a:alphaModFix/>
          </a:blip>
          <a:srcRect b="0" l="0" r="0" t="0"/>
          <a:stretch/>
        </p:blipFill>
        <p:spPr>
          <a:xfrm>
            <a:off x="514600" y="1136700"/>
            <a:ext cx="2614549" cy="2870100"/>
          </a:xfrm>
          <a:prstGeom prst="rect">
            <a:avLst/>
          </a:prstGeom>
          <a:noFill/>
          <a:ln>
            <a:noFill/>
          </a:ln>
        </p:spPr>
      </p:pic>
      <p:sp>
        <p:nvSpPr>
          <p:cNvPr id="307" name="Google Shape;307;p30"/>
          <p:cNvSpPr txBox="1"/>
          <p:nvPr/>
        </p:nvSpPr>
        <p:spPr>
          <a:xfrm>
            <a:off x="3519350" y="841575"/>
            <a:ext cx="5160600" cy="36018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chemeClr val="dk1"/>
              </a:buClr>
              <a:buSzPts val="1100"/>
              <a:buFont typeface="Arial"/>
              <a:buNone/>
            </a:pPr>
            <a:r>
              <a:rPr b="1" i="0" lang="en-GB" sz="1900" u="none" cap="none" strike="noStrike">
                <a:solidFill>
                  <a:schemeClr val="lt1"/>
                </a:solidFill>
                <a:latin typeface="Arial"/>
                <a:ea typeface="Arial"/>
                <a:cs typeface="Arial"/>
                <a:sym typeface="Arial"/>
              </a:rPr>
              <a:t>   ✓ Successes:                                                           </a:t>
            </a:r>
            <a:endParaRPr b="1" i="0" sz="1900" u="none" cap="none" strike="noStrike">
              <a:solidFill>
                <a:schemeClr val="lt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en-GB" sz="1400" u="none" cap="none" strike="noStrike">
                <a:solidFill>
                  <a:schemeClr val="lt1"/>
                </a:solidFill>
                <a:latin typeface="Arial"/>
                <a:ea typeface="Arial"/>
                <a:cs typeface="Arial"/>
                <a:sym typeface="Arial"/>
              </a:rPr>
              <a:t>       - Handles varying object positions                                   </a:t>
            </a:r>
            <a:endParaRPr b="0" i="0" sz="1400" u="none" cap="none" strike="noStrike">
              <a:solidFill>
                <a:schemeClr val="lt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en-GB" sz="1400" u="none" cap="none" strike="noStrike">
                <a:solidFill>
                  <a:schemeClr val="lt1"/>
                </a:solidFill>
                <a:latin typeface="Arial"/>
                <a:ea typeface="Arial"/>
                <a:cs typeface="Arial"/>
                <a:sym typeface="Arial"/>
              </a:rPr>
              <a:t>       - Multiple object types (blocks, cans, boxes)                        </a:t>
            </a:r>
            <a:endParaRPr b="0" i="0" sz="1400" u="none" cap="none" strike="noStrike">
              <a:solidFill>
                <a:schemeClr val="lt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en-GB" sz="1400" u="none" cap="none" strike="noStrike">
                <a:solidFill>
                  <a:schemeClr val="lt1"/>
                </a:solidFill>
                <a:latin typeface="Arial"/>
                <a:ea typeface="Arial"/>
                <a:cs typeface="Arial"/>
                <a:sym typeface="Arial"/>
              </a:rPr>
              <a:t>       - Multi-step instructions                                            </a:t>
            </a:r>
            <a:endParaRPr b="0" i="0" sz="1400" u="none" cap="none" strike="noStrike">
              <a:solidFill>
                <a:schemeClr val="lt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en-GB" sz="1400" u="none" cap="none" strike="noStrike">
                <a:solidFill>
                  <a:schemeClr val="lt1"/>
                </a:solidFill>
                <a:latin typeface="Arial"/>
                <a:ea typeface="Arial"/>
                <a:cs typeface="Arial"/>
                <a:sym typeface="Arial"/>
              </a:rPr>
              <a:t>       - Code is human-readable and modifiable                              </a:t>
            </a:r>
            <a:endParaRPr b="0" i="0" sz="1400" u="none" cap="none" strike="noStrike">
              <a:solidFill>
                <a:schemeClr val="lt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en-GB" sz="1400" u="none" cap="none" strike="noStrike">
                <a:solidFill>
                  <a:schemeClr val="lt1"/>
                </a:solidFill>
                <a:latin typeface="Arial"/>
                <a:ea typeface="Arial"/>
                <a:cs typeface="Arial"/>
                <a:sym typeface="Arial"/>
              </a:rPr>
              <a:t>                                                                            </a:t>
            </a:r>
            <a:endParaRPr b="0" i="0" sz="1400" u="none" cap="none" strike="noStrike">
              <a:solidFill>
                <a:schemeClr val="lt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1" i="0" lang="en-GB" sz="1800" u="none" cap="none" strike="noStrike">
                <a:solidFill>
                  <a:schemeClr val="lt1"/>
                </a:solidFill>
                <a:latin typeface="Arial"/>
                <a:ea typeface="Arial"/>
                <a:cs typeface="Arial"/>
                <a:sym typeface="Arial"/>
              </a:rPr>
              <a:t>    ✗ Limitations:                                                         </a:t>
            </a:r>
            <a:endParaRPr b="1" i="0" sz="1800" u="none" cap="none" strike="noStrike">
              <a:solidFill>
                <a:schemeClr val="lt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en-GB" sz="1400" u="none" cap="none" strike="noStrike">
                <a:solidFill>
                  <a:schemeClr val="lt1"/>
                </a:solidFill>
                <a:latin typeface="Arial"/>
                <a:ea typeface="Arial"/>
                <a:cs typeface="Arial"/>
                <a:sym typeface="Arial"/>
              </a:rPr>
              <a:t>       - Static scenes only (no moving objects)                             </a:t>
            </a:r>
            <a:endParaRPr b="0" i="0" sz="1400" u="none" cap="none" strike="noStrike">
              <a:solidFill>
                <a:schemeClr val="lt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en-GB" sz="1400" u="none" cap="none" strike="noStrike">
                <a:solidFill>
                  <a:schemeClr val="lt1"/>
                </a:solidFill>
                <a:latin typeface="Arial"/>
                <a:ea typeface="Arial"/>
                <a:cs typeface="Arial"/>
                <a:sym typeface="Arial"/>
              </a:rPr>
              <a:t>       - Limited to pick-and-place primitives                               </a:t>
            </a:r>
            <a:endParaRPr b="0" i="0" sz="1400" u="none" cap="none" strike="noStrike">
              <a:solidFill>
                <a:schemeClr val="lt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en-GB" sz="1400" u="none" cap="none" strike="noStrike">
                <a:solidFill>
                  <a:schemeClr val="lt1"/>
                </a:solidFill>
                <a:latin typeface="Arial"/>
                <a:ea typeface="Arial"/>
                <a:cs typeface="Arial"/>
                <a:sym typeface="Arial"/>
              </a:rPr>
              <a:t>       - Occasional syntax errors → retry                                   </a:t>
            </a:r>
            <a:endParaRPr b="0" i="0" sz="1400" u="none" cap="none" strike="noStrike">
              <a:solidFill>
                <a:schemeClr val="lt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en-GB" sz="1400" u="none" cap="none" strike="noStrike">
                <a:solidFill>
                  <a:schemeClr val="lt1"/>
                </a:solidFill>
                <a:latin typeface="Arial"/>
                <a:ea typeface="Arial"/>
                <a:cs typeface="Arial"/>
                <a:sym typeface="Arial"/>
              </a:rPr>
              <a:t>                                                                            </a:t>
            </a:r>
            <a:endParaRPr b="0" i="0" sz="1400" u="none" cap="none" strike="noStrike">
              <a:solidFill>
                <a:schemeClr val="lt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1" i="0" lang="en-GB" sz="1700" u="none" cap="none" strike="noStrike">
                <a:solidFill>
                  <a:schemeClr val="lt1"/>
                </a:solidFill>
                <a:latin typeface="Arial"/>
                <a:ea typeface="Arial"/>
                <a:cs typeface="Arial"/>
                <a:sym typeface="Arial"/>
              </a:rPr>
              <a:t>     → Future work:                                                         </a:t>
            </a:r>
            <a:endParaRPr b="1" i="0" sz="1700" u="none" cap="none" strike="noStrike">
              <a:solidFill>
                <a:schemeClr val="lt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en-GB" sz="1400" u="none" cap="none" strike="noStrike">
                <a:solidFill>
                  <a:schemeClr val="lt1"/>
                </a:solidFill>
                <a:latin typeface="Arial"/>
                <a:ea typeface="Arial"/>
                <a:cs typeface="Arial"/>
                <a:sym typeface="Arial"/>
              </a:rPr>
              <a:t>       - Dynamic scene handling                                             </a:t>
            </a:r>
            <a:endParaRPr b="0" i="0" sz="1400" u="none" cap="none" strike="noStrike">
              <a:solidFill>
                <a:schemeClr val="lt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0" lang="en-GB" sz="1400" u="none" cap="none" strike="noStrike">
                <a:solidFill>
                  <a:schemeClr val="lt1"/>
                </a:solidFill>
                <a:latin typeface="Arial"/>
                <a:ea typeface="Arial"/>
                <a:cs typeface="Arial"/>
                <a:sym typeface="Arial"/>
              </a:rPr>
              <a:t>       - Error recovery                                                     </a:t>
            </a:r>
            <a:endParaRPr b="0" i="0" sz="1400" u="none" cap="none" strike="noStrike">
              <a:solidFill>
                <a:schemeClr val="lt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GB" sz="1400" u="none" cap="none" strike="noStrike">
                <a:solidFill>
                  <a:schemeClr val="lt1"/>
                </a:solidFill>
                <a:latin typeface="Arial"/>
                <a:ea typeface="Arial"/>
                <a:cs typeface="Arial"/>
                <a:sym typeface="Arial"/>
              </a:rPr>
              <a:t>       - More complex task primitives</a:t>
            </a:r>
            <a:endParaRPr b="0" i="0" sz="1400" u="none" cap="none" strike="noStrike">
              <a:solidFill>
                <a:schemeClr val="lt1"/>
              </a:solidFill>
              <a:latin typeface="Arial"/>
              <a:ea typeface="Arial"/>
              <a:cs typeface="Arial"/>
              <a:sym typeface="Arial"/>
            </a:endParaRPr>
          </a:p>
        </p:txBody>
      </p:sp>
      <p:sp>
        <p:nvSpPr>
          <p:cNvPr id="308" name="Google Shape;308;p30"/>
          <p:cNvSpPr/>
          <p:nvPr/>
        </p:nvSpPr>
        <p:spPr>
          <a:xfrm rot="10800000">
            <a:off x="3458675" y="546325"/>
            <a:ext cx="670500" cy="401700"/>
          </a:xfrm>
          <a:prstGeom prst="leftArrow">
            <a:avLst>
              <a:gd fmla="val 50000" name="adj1"/>
              <a:gd fmla="val 50000" name="adj2"/>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F2937"/>
        </a:solidFill>
      </p:bgPr>
    </p:bg>
    <p:spTree>
      <p:nvGrpSpPr>
        <p:cNvPr id="312" name="Shape 312"/>
        <p:cNvGrpSpPr/>
        <p:nvPr/>
      </p:nvGrpSpPr>
      <p:grpSpPr>
        <a:xfrm>
          <a:off x="0" y="0"/>
          <a:ext cx="0" cy="0"/>
          <a:chOff x="0" y="0"/>
          <a:chExt cx="0" cy="0"/>
        </a:xfrm>
      </p:grpSpPr>
      <p:sp>
        <p:nvSpPr>
          <p:cNvPr id="313" name="Google Shape;313;p31"/>
          <p:cNvSpPr/>
          <p:nvPr/>
        </p:nvSpPr>
        <p:spPr>
          <a:xfrm>
            <a:off x="548640" y="240030"/>
            <a:ext cx="7543260" cy="410130"/>
          </a:xfrm>
          <a:prstGeom prst="rect">
            <a:avLst/>
          </a:prstGeom>
          <a:noFill/>
          <a:ln>
            <a:noFill/>
          </a:ln>
        </p:spPr>
        <p:txBody>
          <a:bodyPr anchorCtr="0" anchor="t" bIns="33750" lIns="67500" spcFirstLastPara="1" rIns="67500" wrap="square" tIns="33750">
            <a:noAutofit/>
          </a:bodyPr>
          <a:lstStyle/>
          <a:p>
            <a:pPr indent="0" lvl="0" marL="0" marR="0" rtl="0" algn="l">
              <a:lnSpc>
                <a:spcPct val="100000"/>
              </a:lnSpc>
              <a:spcBef>
                <a:spcPts val="0"/>
              </a:spcBef>
              <a:spcAft>
                <a:spcPts val="0"/>
              </a:spcAft>
              <a:buClr>
                <a:srgbClr val="000000"/>
              </a:buClr>
              <a:buSzPts val="2300"/>
              <a:buFont typeface="Arial"/>
              <a:buNone/>
            </a:pPr>
            <a:r>
              <a:rPr b="1" i="0" lang="en-GB" sz="2300" u="none" cap="none" strike="noStrike">
                <a:solidFill>
                  <a:srgbClr val="FFFFFF"/>
                </a:solidFill>
                <a:latin typeface="Arial"/>
                <a:ea typeface="Arial"/>
                <a:cs typeface="Arial"/>
                <a:sym typeface="Arial"/>
              </a:rPr>
              <a:t>References &amp; Related Work</a:t>
            </a:r>
            <a:endParaRPr b="0" i="0" sz="2300" u="none" cap="none" strike="noStrike">
              <a:solidFill>
                <a:srgbClr val="FFFFFF"/>
              </a:solidFill>
              <a:latin typeface="Arial"/>
              <a:ea typeface="Arial"/>
              <a:cs typeface="Arial"/>
              <a:sym typeface="Arial"/>
            </a:endParaRPr>
          </a:p>
        </p:txBody>
      </p:sp>
      <p:sp>
        <p:nvSpPr>
          <p:cNvPr id="314" name="Google Shape;314;p31"/>
          <p:cNvSpPr/>
          <p:nvPr/>
        </p:nvSpPr>
        <p:spPr>
          <a:xfrm>
            <a:off x="548640" y="685800"/>
            <a:ext cx="1713960" cy="28080"/>
          </a:xfrm>
          <a:prstGeom prst="rect">
            <a:avLst/>
          </a:prstGeom>
          <a:solidFill>
            <a:srgbClr val="6B7280"/>
          </a:solidFill>
          <a:ln>
            <a:noFill/>
          </a:ln>
          <a:effectLst>
            <a:outerShdw blurRad="39960" rotWithShape="0" dir="5400000" dist="23040">
              <a:srgbClr val="000000">
                <a:alpha val="34901"/>
              </a:srgbClr>
            </a:outerShdw>
          </a:effectLst>
        </p:spPr>
        <p:txBody>
          <a:bodyPr anchorCtr="0" anchor="ctr" bIns="0" lIns="67500" spcFirstLastPara="1" rIns="67500" wrap="square" tIns="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sp>
        <p:nvSpPr>
          <p:cNvPr id="315" name="Google Shape;315;p31"/>
          <p:cNvSpPr/>
          <p:nvPr/>
        </p:nvSpPr>
        <p:spPr>
          <a:xfrm>
            <a:off x="685800" y="960120"/>
            <a:ext cx="7886160" cy="581580"/>
          </a:xfrm>
          <a:prstGeom prst="rect">
            <a:avLst/>
          </a:prstGeom>
          <a:noFill/>
          <a:ln>
            <a:noFill/>
          </a:ln>
        </p:spPr>
        <p:txBody>
          <a:bodyPr anchorCtr="0" anchor="t" bIns="33750" lIns="67500" spcFirstLastPara="1" rIns="67500" wrap="square" tIns="33750">
            <a:noAutofit/>
          </a:bodyPr>
          <a:lstStyle/>
          <a:p>
            <a:pPr indent="0" lvl="0" marL="0" marR="0" rtl="0" algn="l">
              <a:lnSpc>
                <a:spcPct val="100000"/>
              </a:lnSpc>
              <a:spcBef>
                <a:spcPts val="0"/>
              </a:spcBef>
              <a:spcAft>
                <a:spcPts val="0"/>
              </a:spcAft>
              <a:buClr>
                <a:srgbClr val="000000"/>
              </a:buClr>
              <a:buSzPts val="1100"/>
              <a:buFont typeface="Arial"/>
              <a:buNone/>
            </a:pPr>
            <a:r>
              <a:rPr b="0" i="0" lang="en-GB" sz="1100" u="none" cap="none" strike="noStrike">
                <a:solidFill>
                  <a:srgbClr val="D1D5DB"/>
                </a:solidFill>
                <a:latin typeface="Arial"/>
                <a:ea typeface="Arial"/>
                <a:cs typeface="Arial"/>
                <a:sym typeface="Arial"/>
              </a:rPr>
              <a:t>Kwon, T., Kim, B., Lee, Y., and Choo, J. "Language Models as Zero-Shot Trajectory Generators." RSS 2023 Workshop on Learning for Task and Motion Planning. — The foundational paper showing that LLMs can generate executable trajectory code from language instructions.</a:t>
            </a:r>
            <a:endParaRPr b="0" i="0" sz="1100" u="none" cap="none" strike="noStrike">
              <a:solidFill>
                <a:srgbClr val="FFFFFF"/>
              </a:solidFill>
              <a:latin typeface="Arial"/>
              <a:ea typeface="Arial"/>
              <a:cs typeface="Arial"/>
              <a:sym typeface="Arial"/>
            </a:endParaRPr>
          </a:p>
        </p:txBody>
      </p:sp>
      <p:sp>
        <p:nvSpPr>
          <p:cNvPr id="316" name="Google Shape;316;p31"/>
          <p:cNvSpPr/>
          <p:nvPr/>
        </p:nvSpPr>
        <p:spPr>
          <a:xfrm>
            <a:off x="685825" y="3419075"/>
            <a:ext cx="7634700" cy="581700"/>
          </a:xfrm>
          <a:prstGeom prst="rect">
            <a:avLst/>
          </a:prstGeom>
          <a:noFill/>
          <a:ln>
            <a:noFill/>
          </a:ln>
        </p:spPr>
        <p:txBody>
          <a:bodyPr anchorCtr="0" anchor="t" bIns="33750" lIns="67500" spcFirstLastPara="1" rIns="67500" wrap="square" tIns="33750">
            <a:noAutofit/>
          </a:bodyPr>
          <a:lstStyle/>
          <a:p>
            <a:pPr indent="0" lvl="0" marL="0" marR="0" rtl="0" algn="l">
              <a:lnSpc>
                <a:spcPct val="100000"/>
              </a:lnSpc>
              <a:spcBef>
                <a:spcPts val="0"/>
              </a:spcBef>
              <a:spcAft>
                <a:spcPts val="0"/>
              </a:spcAft>
              <a:buClr>
                <a:srgbClr val="000000"/>
              </a:buClr>
              <a:buSzPts val="1100"/>
              <a:buFont typeface="Arial"/>
              <a:buNone/>
            </a:pPr>
            <a:r>
              <a:rPr b="0" i="0" lang="en-GB" sz="1100" u="none" cap="none" strike="noStrike">
                <a:solidFill>
                  <a:srgbClr val="D1D5DB"/>
                </a:solidFill>
                <a:latin typeface="Arial"/>
                <a:ea typeface="Arial"/>
                <a:cs typeface="Arial"/>
                <a:sym typeface="Arial"/>
              </a:rPr>
              <a:t>Liang, J., Huang, W., Xia, F., Xu, P., Hausman, K., Ichter, B., Florence, P., and Zeng, A. "Code as Policies: Language Model Programs for Embodied Control." ICRA 2023. — Introduces the concept of using LLMs to generate robot control programs ("code as policies") with hierarchical code reuse.</a:t>
            </a:r>
            <a:endParaRPr b="0" i="0" sz="1100" u="none" cap="none" strike="noStrike">
              <a:solidFill>
                <a:srgbClr val="FFFFFF"/>
              </a:solidFill>
              <a:latin typeface="Arial"/>
              <a:ea typeface="Arial"/>
              <a:cs typeface="Arial"/>
              <a:sym typeface="Arial"/>
            </a:endParaRPr>
          </a:p>
        </p:txBody>
      </p:sp>
      <p:sp>
        <p:nvSpPr>
          <p:cNvPr id="317" name="Google Shape;317;p31"/>
          <p:cNvSpPr/>
          <p:nvPr/>
        </p:nvSpPr>
        <p:spPr>
          <a:xfrm>
            <a:off x="685825" y="2770125"/>
            <a:ext cx="7886100" cy="581700"/>
          </a:xfrm>
          <a:prstGeom prst="rect">
            <a:avLst/>
          </a:prstGeom>
          <a:noFill/>
          <a:ln>
            <a:noFill/>
          </a:ln>
        </p:spPr>
        <p:txBody>
          <a:bodyPr anchorCtr="0" anchor="t" bIns="33750" lIns="67500" spcFirstLastPara="1" rIns="67500" wrap="square" tIns="33750">
            <a:noAutofit/>
          </a:bodyPr>
          <a:lstStyle/>
          <a:p>
            <a:pPr indent="0" lvl="0" marL="0" marR="0" rtl="0" algn="l">
              <a:lnSpc>
                <a:spcPct val="100000"/>
              </a:lnSpc>
              <a:spcBef>
                <a:spcPts val="0"/>
              </a:spcBef>
              <a:spcAft>
                <a:spcPts val="0"/>
              </a:spcAft>
              <a:buClr>
                <a:srgbClr val="000000"/>
              </a:buClr>
              <a:buSzPts val="1100"/>
              <a:buFont typeface="Arial"/>
              <a:buNone/>
            </a:pPr>
            <a:r>
              <a:rPr b="0" i="0" lang="en-GB" sz="1100" u="none" cap="none" strike="noStrike">
                <a:solidFill>
                  <a:srgbClr val="D1D5DB"/>
                </a:solidFill>
                <a:latin typeface="Arial"/>
                <a:ea typeface="Arial"/>
                <a:cs typeface="Arial"/>
                <a:sym typeface="Arial"/>
              </a:rPr>
              <a:t>Vemprala, S., Bonatti, R., Bucker, A., and Kapoor, A. "ChatGPT for Robotics: Design Principles and Model Abilities." Microsoft Research, 2023. — Provides design principles for integrating LLMs into robotic systems, emphasizing prompt engineering and API design.</a:t>
            </a:r>
            <a:endParaRPr b="0" i="0" sz="1100" u="none" cap="none" strike="noStrike">
              <a:solidFill>
                <a:srgbClr val="FFFFFF"/>
              </a:solidFill>
              <a:latin typeface="Arial"/>
              <a:ea typeface="Arial"/>
              <a:cs typeface="Arial"/>
              <a:sym typeface="Arial"/>
            </a:endParaRPr>
          </a:p>
        </p:txBody>
      </p:sp>
      <p:sp>
        <p:nvSpPr>
          <p:cNvPr id="318" name="Google Shape;318;p31"/>
          <p:cNvSpPr/>
          <p:nvPr/>
        </p:nvSpPr>
        <p:spPr>
          <a:xfrm>
            <a:off x="685800" y="1677778"/>
            <a:ext cx="7886100" cy="410100"/>
          </a:xfrm>
          <a:prstGeom prst="rect">
            <a:avLst/>
          </a:prstGeom>
          <a:noFill/>
          <a:ln>
            <a:noFill/>
          </a:ln>
        </p:spPr>
        <p:txBody>
          <a:bodyPr anchorCtr="0" anchor="t" bIns="33750" lIns="67500" spcFirstLastPara="1" rIns="67500" wrap="square" tIns="33750">
            <a:noAutofit/>
          </a:bodyPr>
          <a:lstStyle/>
          <a:p>
            <a:pPr indent="0" lvl="0" marL="0" marR="0" rtl="0" algn="l">
              <a:lnSpc>
                <a:spcPct val="100000"/>
              </a:lnSpc>
              <a:spcBef>
                <a:spcPts val="0"/>
              </a:spcBef>
              <a:spcAft>
                <a:spcPts val="0"/>
              </a:spcAft>
              <a:buClr>
                <a:srgbClr val="000000"/>
              </a:buClr>
              <a:buSzPts val="1100"/>
              <a:buFont typeface="Arial"/>
              <a:buNone/>
            </a:pPr>
            <a:r>
              <a:rPr b="0" i="0" lang="en-GB" sz="1100" u="none" cap="none" strike="noStrike">
                <a:solidFill>
                  <a:srgbClr val="D1D5DB"/>
                </a:solidFill>
                <a:latin typeface="Arial"/>
                <a:ea typeface="Arial"/>
                <a:cs typeface="Arial"/>
                <a:sym typeface="Arial"/>
              </a:rPr>
              <a:t>TRAC-IK: Beeson, P. and Ames, B. "TRAC-IK: An Open-Source Library for Improved Inverse Kinematics of Humanoid Robots." IEEE-RAS 2015. — Fast IK solver used for real-time motion generation.</a:t>
            </a:r>
            <a:endParaRPr b="0" i="0" sz="1100" u="none" cap="none" strike="noStrike">
              <a:solidFill>
                <a:srgbClr val="FFFFFF"/>
              </a:solidFill>
              <a:latin typeface="Arial"/>
              <a:ea typeface="Arial"/>
              <a:cs typeface="Arial"/>
              <a:sym typeface="Arial"/>
            </a:endParaRPr>
          </a:p>
        </p:txBody>
      </p:sp>
      <p:sp>
        <p:nvSpPr>
          <p:cNvPr id="319" name="Google Shape;319;p31"/>
          <p:cNvSpPr/>
          <p:nvPr/>
        </p:nvSpPr>
        <p:spPr>
          <a:xfrm>
            <a:off x="685800" y="2223955"/>
            <a:ext cx="7886100" cy="410100"/>
          </a:xfrm>
          <a:prstGeom prst="rect">
            <a:avLst/>
          </a:prstGeom>
          <a:noFill/>
          <a:ln>
            <a:noFill/>
          </a:ln>
        </p:spPr>
        <p:txBody>
          <a:bodyPr anchorCtr="0" anchor="t" bIns="33750" lIns="67500" spcFirstLastPara="1" rIns="67500" wrap="square" tIns="33750">
            <a:noAutofit/>
          </a:bodyPr>
          <a:lstStyle/>
          <a:p>
            <a:pPr indent="0" lvl="0" marL="0" marR="0" rtl="0" algn="l">
              <a:lnSpc>
                <a:spcPct val="100000"/>
              </a:lnSpc>
              <a:spcBef>
                <a:spcPts val="0"/>
              </a:spcBef>
              <a:spcAft>
                <a:spcPts val="0"/>
              </a:spcAft>
              <a:buClr>
                <a:srgbClr val="000000"/>
              </a:buClr>
              <a:buSzPts val="1100"/>
              <a:buFont typeface="Arial"/>
              <a:buNone/>
            </a:pPr>
            <a:r>
              <a:rPr b="0" i="0" lang="en-GB" sz="1100" u="none" cap="none" strike="noStrike">
                <a:solidFill>
                  <a:srgbClr val="D1D5DB"/>
                </a:solidFill>
                <a:latin typeface="Arial"/>
                <a:ea typeface="Arial"/>
                <a:cs typeface="Arial"/>
                <a:sym typeface="Arial"/>
              </a:rPr>
              <a:t>Ultralytics YOLOv8: Jocher, G. et al. "Ultralytics YOLOv8." 2023. — Real-time object detection model used for scene perception.</a:t>
            </a:r>
            <a:endParaRPr b="0" i="0" sz="1100" u="none" cap="none" strike="noStrike">
              <a:solidFill>
                <a:srgbClr val="FFFFFF"/>
              </a:solidFill>
              <a:latin typeface="Arial"/>
              <a:ea typeface="Arial"/>
              <a:cs typeface="Arial"/>
              <a:sym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F2937"/>
        </a:solidFill>
      </p:bgPr>
    </p:bg>
    <p:spTree>
      <p:nvGrpSpPr>
        <p:cNvPr id="323" name="Shape 323"/>
        <p:cNvGrpSpPr/>
        <p:nvPr/>
      </p:nvGrpSpPr>
      <p:grpSpPr>
        <a:xfrm>
          <a:off x="0" y="0"/>
          <a:ext cx="0" cy="0"/>
          <a:chOff x="0" y="0"/>
          <a:chExt cx="0" cy="0"/>
        </a:xfrm>
      </p:grpSpPr>
      <p:sp>
        <p:nvSpPr>
          <p:cNvPr id="324" name="Google Shape;324;p32"/>
          <p:cNvSpPr/>
          <p:nvPr/>
        </p:nvSpPr>
        <p:spPr>
          <a:xfrm>
            <a:off x="0" y="2194560"/>
            <a:ext cx="9143280" cy="37530"/>
          </a:xfrm>
          <a:prstGeom prst="rect">
            <a:avLst/>
          </a:prstGeom>
          <a:solidFill>
            <a:srgbClr val="6B7280"/>
          </a:solidFill>
          <a:ln>
            <a:noFill/>
          </a:ln>
          <a:effectLst>
            <a:outerShdw blurRad="39960" rotWithShape="0" dir="5400000" dist="23040">
              <a:srgbClr val="000000">
                <a:alpha val="34901"/>
              </a:srgbClr>
            </a:outerShdw>
          </a:effectLst>
        </p:spPr>
        <p:txBody>
          <a:bodyPr anchorCtr="0" anchor="ctr" bIns="4325" lIns="67500" spcFirstLastPara="1" rIns="67500" wrap="square" tIns="43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Calibri"/>
              <a:ea typeface="Calibri"/>
              <a:cs typeface="Calibri"/>
              <a:sym typeface="Calibri"/>
            </a:endParaRPr>
          </a:p>
        </p:txBody>
      </p:sp>
      <p:sp>
        <p:nvSpPr>
          <p:cNvPr id="325" name="Google Shape;325;p32"/>
          <p:cNvSpPr/>
          <p:nvPr/>
        </p:nvSpPr>
        <p:spPr>
          <a:xfrm>
            <a:off x="685800" y="1234440"/>
            <a:ext cx="7749000" cy="569970"/>
          </a:xfrm>
          <a:prstGeom prst="rect">
            <a:avLst/>
          </a:prstGeom>
          <a:noFill/>
          <a:ln>
            <a:noFill/>
          </a:ln>
        </p:spPr>
        <p:txBody>
          <a:bodyPr anchorCtr="0" anchor="t" bIns="33750" lIns="67500" spcFirstLastPara="1" rIns="67500" wrap="square" tIns="33750">
            <a:noAutofit/>
          </a:bodyPr>
          <a:lstStyle/>
          <a:p>
            <a:pPr indent="0" lvl="0" marL="0" marR="0" rtl="0" algn="ctr">
              <a:lnSpc>
                <a:spcPct val="100000"/>
              </a:lnSpc>
              <a:spcBef>
                <a:spcPts val="0"/>
              </a:spcBef>
              <a:spcAft>
                <a:spcPts val="0"/>
              </a:spcAft>
              <a:buClr>
                <a:srgbClr val="000000"/>
              </a:buClr>
              <a:buSzPts val="3300"/>
              <a:buFont typeface="Arial"/>
              <a:buNone/>
            </a:pPr>
            <a:r>
              <a:rPr b="1" i="0" lang="en-GB" sz="3300" u="none" cap="none" strike="noStrike">
                <a:solidFill>
                  <a:srgbClr val="FFFFFF"/>
                </a:solidFill>
                <a:latin typeface="Arial"/>
                <a:ea typeface="Arial"/>
                <a:cs typeface="Arial"/>
                <a:sym typeface="Arial"/>
              </a:rPr>
              <a:t>Thank You</a:t>
            </a:r>
            <a:endParaRPr b="0" i="0" sz="3300" u="none" cap="none" strike="noStrike">
              <a:solidFill>
                <a:srgbClr val="FFFFFF"/>
              </a:solidFill>
              <a:latin typeface="Arial"/>
              <a:ea typeface="Arial"/>
              <a:cs typeface="Arial"/>
              <a:sym typeface="Arial"/>
            </a:endParaRPr>
          </a:p>
        </p:txBody>
      </p:sp>
      <p:sp>
        <p:nvSpPr>
          <p:cNvPr id="326" name="Google Shape;326;p32"/>
          <p:cNvSpPr/>
          <p:nvPr/>
        </p:nvSpPr>
        <p:spPr>
          <a:xfrm>
            <a:off x="685800" y="2468880"/>
            <a:ext cx="7749000" cy="364230"/>
          </a:xfrm>
          <a:prstGeom prst="rect">
            <a:avLst/>
          </a:prstGeom>
          <a:noFill/>
          <a:ln>
            <a:noFill/>
          </a:ln>
        </p:spPr>
        <p:txBody>
          <a:bodyPr anchorCtr="0" anchor="t" bIns="33750" lIns="67500" spcFirstLastPara="1" rIns="67500" wrap="square" tIns="33750">
            <a:noAutofit/>
          </a:bodyPr>
          <a:lstStyle/>
          <a:p>
            <a:pPr indent="0" lvl="0" marL="0" marR="0" rtl="0" algn="ctr">
              <a:lnSpc>
                <a:spcPct val="100000"/>
              </a:lnSpc>
              <a:spcBef>
                <a:spcPts val="0"/>
              </a:spcBef>
              <a:spcAft>
                <a:spcPts val="0"/>
              </a:spcAft>
              <a:buClr>
                <a:srgbClr val="000000"/>
              </a:buClr>
              <a:buSzPts val="2000"/>
              <a:buFont typeface="Arial"/>
              <a:buNone/>
            </a:pPr>
            <a:r>
              <a:rPr b="0" i="0" lang="en-GB" sz="2000" u="none" cap="none" strike="noStrike">
                <a:solidFill>
                  <a:srgbClr val="D1D5DB"/>
                </a:solidFill>
                <a:latin typeface="Arial"/>
                <a:ea typeface="Arial"/>
                <a:cs typeface="Arial"/>
                <a:sym typeface="Arial"/>
              </a:rPr>
              <a:t>Questions?</a:t>
            </a:r>
            <a:endParaRPr b="0" i="0" sz="2000" u="none" cap="none" strike="noStrike">
              <a:solidFill>
                <a:srgbClr val="FFFFFF"/>
              </a:solidFill>
              <a:latin typeface="Arial"/>
              <a:ea typeface="Arial"/>
              <a:cs typeface="Arial"/>
              <a:sym typeface="Arial"/>
            </a:endParaRPr>
          </a:p>
        </p:txBody>
      </p:sp>
      <p:sp>
        <p:nvSpPr>
          <p:cNvPr id="327" name="Google Shape;327;p32"/>
          <p:cNvSpPr/>
          <p:nvPr/>
        </p:nvSpPr>
        <p:spPr>
          <a:xfrm>
            <a:off x="685800" y="3429000"/>
            <a:ext cx="7749000" cy="272970"/>
          </a:xfrm>
          <a:prstGeom prst="rect">
            <a:avLst/>
          </a:prstGeom>
          <a:noFill/>
          <a:ln>
            <a:noFill/>
          </a:ln>
        </p:spPr>
        <p:txBody>
          <a:bodyPr anchorCtr="0" anchor="t" bIns="33750" lIns="67500" spcFirstLastPara="1" rIns="67500" wrap="square" tIns="33750">
            <a:noAutofit/>
          </a:bodyPr>
          <a:lstStyle/>
          <a:p>
            <a:pPr indent="0" lvl="0" marL="0" marR="0" rtl="0" algn="ctr">
              <a:lnSpc>
                <a:spcPct val="100000"/>
              </a:lnSpc>
              <a:spcBef>
                <a:spcPts val="0"/>
              </a:spcBef>
              <a:spcAft>
                <a:spcPts val="0"/>
              </a:spcAft>
              <a:buClr>
                <a:srgbClr val="000000"/>
              </a:buClr>
              <a:buSzPts val="1400"/>
              <a:buFont typeface="Arial"/>
              <a:buNone/>
            </a:pPr>
            <a:r>
              <a:rPr b="0" i="0" lang="en-GB" sz="1400" u="none" cap="none" strike="noStrike">
                <a:solidFill>
                  <a:srgbClr val="9CA3AF"/>
                </a:solidFill>
                <a:latin typeface="Arial"/>
                <a:ea typeface="Arial"/>
                <a:cs typeface="Arial"/>
                <a:sym typeface="Arial"/>
              </a:rPr>
              <a:t>Jun  ·  Sergio  ·  David  ·  Cadavid  ·  Jossua</a:t>
            </a:r>
            <a:endParaRPr b="0" i="0" sz="1400" u="none" cap="none" strike="noStrike">
              <a:solidFill>
                <a:srgbClr val="FFFFFF"/>
              </a:solidFill>
              <a:latin typeface="Arial"/>
              <a:ea typeface="Arial"/>
              <a:cs typeface="Arial"/>
              <a:sym typeface="Arial"/>
            </a:endParaRPr>
          </a:p>
        </p:txBody>
      </p:sp>
      <p:sp>
        <p:nvSpPr>
          <p:cNvPr id="328" name="Google Shape;328;p32"/>
          <p:cNvSpPr/>
          <p:nvPr/>
        </p:nvSpPr>
        <p:spPr>
          <a:xfrm>
            <a:off x="685800" y="3771900"/>
            <a:ext cx="7749000" cy="250020"/>
          </a:xfrm>
          <a:prstGeom prst="rect">
            <a:avLst/>
          </a:prstGeom>
          <a:noFill/>
          <a:ln>
            <a:noFill/>
          </a:ln>
        </p:spPr>
        <p:txBody>
          <a:bodyPr anchorCtr="0" anchor="t" bIns="33750" lIns="67500" spcFirstLastPara="1" rIns="67500" wrap="square" tIns="33750">
            <a:noAutofit/>
          </a:bodyPr>
          <a:lstStyle/>
          <a:p>
            <a:pPr indent="0" lvl="0" marL="0" marR="0" rtl="0" algn="ctr">
              <a:lnSpc>
                <a:spcPct val="100000"/>
              </a:lnSpc>
              <a:spcBef>
                <a:spcPts val="0"/>
              </a:spcBef>
              <a:spcAft>
                <a:spcPts val="0"/>
              </a:spcAft>
              <a:buClr>
                <a:srgbClr val="000000"/>
              </a:buClr>
              <a:buSzPts val="1200"/>
              <a:buFont typeface="Arial"/>
              <a:buNone/>
            </a:pPr>
            <a:r>
              <a:rPr b="0" i="0" lang="en-GB" sz="1200" u="none" cap="none" strike="noStrike">
                <a:solidFill>
                  <a:srgbClr val="9CA3AF"/>
                </a:solidFill>
                <a:latin typeface="Arial"/>
                <a:ea typeface="Arial"/>
                <a:cs typeface="Arial"/>
                <a:sym typeface="Arial"/>
              </a:rPr>
              <a:t>Robotics — Politecnico di Torino</a:t>
            </a:r>
            <a:endParaRPr b="0" i="0" sz="1200" u="none" cap="none" strike="noStrike">
              <a:solidFill>
                <a:srgbClr val="FFFFFF"/>
              </a:solidFill>
              <a:latin typeface="Arial"/>
              <a:ea typeface="Arial"/>
              <a:cs typeface="Arial"/>
              <a:sym typeface="Arial"/>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