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notesSlides/_rels/notesSlide8.xml.rels" ContentType="application/vnd.openxmlformats-package.relationships+xml"/>
  <Override PartName="/ppt/notesSlides/_rels/notesSlide4.xml.rels" ContentType="application/vnd.openxmlformats-package.relationships+xml"/>
  <Override PartName="/ppt/notesSlides/notesSlide4.xml" ContentType="application/vnd.openxmlformats-officedocument.presentationml.notesSlide+xml"/>
  <Override PartName="/ppt/notesSlides/notesSlide8.xml" ContentType="application/vnd.openxmlformats-officedocument.presentationml.notesSlide+xml"/>
  <Override PartName="/ppt/_rels/presentation.xml.rels" ContentType="application/vnd.openxmlformats-package.relationships+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_rels/slideLayout22.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16.xml.rels" ContentType="application/vnd.openxmlformats-package.relationships+xml"/>
  <Override PartName="/ppt/slideLayouts/_rels/slideLayout18.xml.rels" ContentType="application/vnd.openxmlformats-package.relationships+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xml.rels" ContentType="application/vnd.openxmlformats-package.relationships+xml"/>
  <Override PartName="/ppt/slideLayouts/_rels/slideLayout14.xml.rels" ContentType="application/vnd.openxmlformats-package.relationships+xml"/>
  <Override PartName="/ppt/slideLayouts/_rels/slideLayout10.xml.rels" ContentType="application/vnd.openxmlformats-package.relationships+xml"/>
  <Override PartName="/ppt/slideLayouts/_rels/slideLayout24.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8.xml.rels" ContentType="application/vnd.openxmlformats-package.relationships+xml"/>
  <Override PartName="/ppt/slideLayouts/_rels/slideLayout15.xml.rels" ContentType="application/vnd.openxmlformats-package.relationships+xml"/>
  <Override PartName="/ppt/slideLayouts/_rels/slideLayout2.xml.rels" ContentType="application/vnd.openxmlformats-package.relationships+xml"/>
  <Override PartName="/ppt/slideLayouts/_rels/slideLayout20.xml.rels" ContentType="application/vnd.openxmlformats-package.relationships+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5.xml" ContentType="application/vnd.openxmlformats-officedocument.presentationml.slideLayout+xml"/>
  <Override PartName="/ppt/slideLayouts/slideLayout2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4.xml" ContentType="application/vnd.openxmlformats-officedocument.presentationml.slideLayout+xml"/>
  <Override PartName="/ppt/slideLayouts/slideLayout22.xml" ContentType="application/vnd.openxmlformats-officedocument.presentationml.slideLayout+xml"/>
  <Override PartName="/ppt/media/image12.png" ContentType="image/png"/>
  <Override PartName="/ppt/media/image11.png" ContentType="image/png"/>
  <Override PartName="/ppt/media/image7.jpeg" ContentType="image/jpeg"/>
  <Override PartName="/ppt/media/image18.png" ContentType="image/png"/>
  <Override PartName="/ppt/media/image20.png" ContentType="image/png"/>
  <Override PartName="/ppt/media/image13.png" ContentType="image/png"/>
  <Override PartName="/ppt/media/image8.png" ContentType="image/png"/>
  <Override PartName="/ppt/media/image6.jpeg" ContentType="image/jpeg"/>
  <Override PartName="/ppt/media/image10.png" ContentType="image/png"/>
  <Override PartName="/ppt/media/image5.png" ContentType="image/png"/>
  <Override PartName="/ppt/media/image22.png" ContentType="image/png"/>
  <Override PartName="/ppt/media/image21.jpeg" ContentType="image/jpeg"/>
  <Override PartName="/ppt/media/image16.png" ContentType="image/png"/>
  <Override PartName="/ppt/media/image19.png" ContentType="image/png"/>
  <Override PartName="/ppt/media/image1.png" ContentType="image/png"/>
  <Override PartName="/ppt/media/image17.png" ContentType="image/png"/>
  <Override PartName="/ppt/media/image15.png" ContentType="image/png"/>
  <Override PartName="/ppt/media/image14.png" ContentType="image/png"/>
  <Override PartName="/ppt/media/image2.png" ContentType="image/png"/>
  <Override PartName="/ppt/media/image9.jpeg" ContentType="image/jpeg"/>
  <Override PartName="/ppt/media/image3.png" ContentType="image/png"/>
  <Override PartName="/ppt/media/image4.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4.xml.rels" ContentType="application/vnd.openxmlformats-package.relationships+xml"/>
  <Override PartName="/ppt/slides/_rels/slide11.xml.rels" ContentType="application/vnd.openxmlformats-package.relationships+xml"/>
  <Override PartName="/ppt/slides/_rels/slide1.xml.rels" ContentType="application/vnd.openxmlformats-package.relationships+xml"/>
  <Override PartName="/ppt/slides/_rels/slide4.xml.rels" ContentType="application/vnd.openxmlformats-package.relationships+xml"/>
  <Override PartName="/ppt/slides/_rels/slide2.xml.rels" ContentType="application/vnd.openxmlformats-package.relationships+xml"/>
  <Override PartName="/ppt/slides/_rels/slide5.xml.rels" ContentType="application/vnd.openxmlformats-package.relationships+xml"/>
  <Override PartName="/ppt/slides/_rels/slide3.xml.rels" ContentType="application/vnd.openxmlformats-package.relationships+xml"/>
  <Override PartName="/ppt/slides/_rels/slide6.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70" spc="-1" strike="noStrike">
                <a:solidFill>
                  <a:srgbClr val="000000"/>
                </a:solidFill>
                <a:latin typeface="Arial"/>
              </a:rPr>
              <a:t>Click to move </a:t>
            </a:r>
            <a:r>
              <a:rPr b="0" lang="en-US" sz="1870" spc="-1" strike="noStrike">
                <a:solidFill>
                  <a:srgbClr val="000000"/>
                </a:solidFill>
                <a:latin typeface="Arial"/>
              </a:rPr>
              <a:t>the slide</a:t>
            </a:r>
            <a:endParaRPr b="0" lang="en-US" sz="1870" spc="-1" strike="noStrike">
              <a:solidFill>
                <a:srgbClr val="000000"/>
              </a:solidFill>
              <a:latin typeface="Arial"/>
            </a:endParaRPr>
          </a:p>
        </p:txBody>
      </p:sp>
      <p:sp>
        <p:nvSpPr>
          <p:cNvPr id="8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a:t>
            </a:r>
            <a:r>
              <a:rPr b="0" lang="en-US" sz="2000" spc="-1" strike="noStrike">
                <a:latin typeface="Arial"/>
              </a:rPr>
              <a:t>notes format</a:t>
            </a:r>
            <a:endParaRPr b="0" lang="en-US" sz="2000" spc="-1" strike="noStrike">
              <a:latin typeface="Arial"/>
            </a:endParaRPr>
          </a:p>
        </p:txBody>
      </p:sp>
      <p:sp>
        <p:nvSpPr>
          <p:cNvPr id="84"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85" name="PlaceHolder 4"/>
          <p:cNvSpPr>
            <a:spLocks noGrp="1"/>
          </p:cNvSpPr>
          <p:nvPr>
            <p:ph type="dt" idx="7"/>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86" name="PlaceHolder 5"/>
          <p:cNvSpPr>
            <a:spLocks noGrp="1"/>
          </p:cNvSpPr>
          <p:nvPr>
            <p:ph type="ftr" idx="8"/>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87" name="PlaceHolder 6"/>
          <p:cNvSpPr>
            <a:spLocks noGrp="1"/>
          </p:cNvSpPr>
          <p:nvPr>
            <p:ph type="sldNum" idx="9"/>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66C188EC-8980-465F-B707-3EE67200CABF}"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PlaceHolder 1"/>
          <p:cNvSpPr>
            <a:spLocks noGrp="1"/>
          </p:cNvSpPr>
          <p:nvPr>
            <p:ph type="sldImg"/>
          </p:nvPr>
        </p:nvSpPr>
        <p:spPr>
          <a:xfrm>
            <a:off x="622080" y="977400"/>
            <a:ext cx="4976640" cy="2638800"/>
          </a:xfrm>
          <a:prstGeom prst="rect">
            <a:avLst/>
          </a:prstGeom>
          <a:ln w="0">
            <a:noFill/>
          </a:ln>
        </p:spPr>
      </p:sp>
      <p:sp>
        <p:nvSpPr>
          <p:cNvPr id="288" name="PlaceHolder 2"/>
          <p:cNvSpPr>
            <a:spLocks noGrp="1"/>
          </p:cNvSpPr>
          <p:nvPr>
            <p:ph type="body"/>
          </p:nvPr>
        </p:nvSpPr>
        <p:spPr>
          <a:xfrm>
            <a:off x="622080" y="3763440"/>
            <a:ext cx="4976640" cy="3078360"/>
          </a:xfrm>
          <a:prstGeom prst="rect">
            <a:avLst/>
          </a:prstGeom>
          <a:noFill/>
          <a:ln w="0">
            <a:noFill/>
          </a:ln>
        </p:spPr>
        <p:txBody>
          <a:bodyPr lIns="81360" rIns="81360" tIns="40680" bIns="40680" anchor="t">
            <a:noAutofit/>
          </a:bodyPr>
          <a:p>
            <a:endParaRPr b="0" lang="en-US" sz="2000" spc="-1" strike="noStrike">
              <a:latin typeface="Arial"/>
            </a:endParaRPr>
          </a:p>
        </p:txBody>
      </p:sp>
      <p:sp>
        <p:nvSpPr>
          <p:cNvPr id="289" name="PlaceHolder 3"/>
          <p:cNvSpPr>
            <a:spLocks noGrp="1"/>
          </p:cNvSpPr>
          <p:nvPr>
            <p:ph type="sldNum" idx="10"/>
          </p:nvPr>
        </p:nvSpPr>
        <p:spPr>
          <a:xfrm>
            <a:off x="3524040" y="7427880"/>
            <a:ext cx="2695320" cy="391680"/>
          </a:xfrm>
          <a:prstGeom prst="rect">
            <a:avLst/>
          </a:prstGeom>
          <a:noFill/>
          <a:ln w="0">
            <a:noFill/>
          </a:ln>
        </p:spPr>
        <p:txBody>
          <a:bodyPr lIns="81360" rIns="81360" tIns="40680" bIns="40680" anchor="b">
            <a:noAutofit/>
          </a:bodyPr>
          <a:lstStyle>
            <a:lvl1pPr algn="r">
              <a:lnSpc>
                <a:spcPct val="100000"/>
              </a:lnSpc>
              <a:buNone/>
              <a:tabLst>
                <a:tab algn="l" pos="0"/>
              </a:tabLst>
              <a:defRPr b="0" lang="en-GB" sz="1100" spc="-1" strike="noStrike">
                <a:solidFill>
                  <a:srgbClr val="000000"/>
                </a:solidFill>
                <a:latin typeface="Times New Roman"/>
                <a:ea typeface="Times New Roman"/>
              </a:defRPr>
            </a:lvl1pPr>
          </a:lstStyle>
          <a:p>
            <a:pPr algn="r">
              <a:lnSpc>
                <a:spcPct val="100000"/>
              </a:lnSpc>
              <a:buNone/>
              <a:tabLst>
                <a:tab algn="l" pos="0"/>
              </a:tabLst>
            </a:pPr>
            <a:fld id="{6BD9FF70-9EC9-45A7-95FD-CB44B869BB51}" type="slidenum">
              <a:rPr b="0" lang="en-GB" sz="1100" spc="-1" strike="noStrike">
                <a:solidFill>
                  <a:srgbClr val="000000"/>
                </a:solidFill>
                <a:latin typeface="Times New Roman"/>
                <a:ea typeface="Times New Roman"/>
              </a:rPr>
              <a:t>&lt;number&gt;</a:t>
            </a:fld>
            <a:endParaRPr b="0" lang="en-US" sz="11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sldImg"/>
          </p:nvPr>
        </p:nvSpPr>
        <p:spPr>
          <a:xfrm>
            <a:off x="685800" y="1143000"/>
            <a:ext cx="5485680" cy="3085200"/>
          </a:xfrm>
          <a:prstGeom prst="rect">
            <a:avLst/>
          </a:prstGeom>
          <a:ln w="0">
            <a:noFill/>
          </a:ln>
        </p:spPr>
      </p:sp>
      <p:sp>
        <p:nvSpPr>
          <p:cNvPr id="291" name="PlaceHolder 2"/>
          <p:cNvSpPr>
            <a:spLocks noGrp="1"/>
          </p:cNvSpPr>
          <p:nvPr>
            <p:ph type="body"/>
          </p:nvPr>
        </p:nvSpPr>
        <p:spPr>
          <a:xfrm>
            <a:off x="685800" y="4400640"/>
            <a:ext cx="5485680" cy="3599280"/>
          </a:xfrm>
          <a:prstGeom prst="rect">
            <a:avLst/>
          </a:prstGeom>
          <a:noFill/>
          <a:ln w="0">
            <a:noFill/>
          </a:ln>
        </p:spPr>
        <p:txBody>
          <a:bodyPr lIns="81360" rIns="81360" tIns="40680" bIns="40680" anchor="t">
            <a:noAutofit/>
          </a:bodyPr>
          <a:p>
            <a:pPr marL="190440">
              <a:lnSpc>
                <a:spcPct val="100000"/>
              </a:lnSpc>
              <a:buNone/>
              <a:tabLst>
                <a:tab algn="l" pos="0"/>
              </a:tabLst>
            </a:pPr>
            <a:r>
              <a:rPr b="0" lang="en-GB" sz="1800" spc="-1" strike="noStrike">
                <a:solidFill>
                  <a:srgbClr val="000000"/>
                </a:solidFill>
                <a:latin typeface="Arial"/>
                <a:ea typeface="Arial"/>
              </a:rPr>
              <a:t>At the heart of the system is the LLM code generator. We use Qwen2.5-Coder 3B, a 3-billion-parameter code-specialized language model, running locally via Ollama on localhost:11434. Running locally eliminates latency, privacy concerns, and API costs.</a:t>
            </a:r>
            <a:endParaRPr b="0" lang="en-US" sz="1800" spc="-1" strike="noStrike">
              <a:latin typeface="Arial"/>
            </a:endParaRPr>
          </a:p>
          <a:p>
            <a:pPr marL="190440">
              <a:lnSpc>
                <a:spcPct val="100000"/>
              </a:lnSpc>
              <a:buNone/>
              <a:tabLst>
                <a:tab algn="l" pos="0"/>
              </a:tabLst>
            </a:pPr>
            <a:r>
              <a:rPr b="0" lang="en-GB" sz="1800" spc="-1" strike="noStrike">
                <a:solidFill>
                  <a:srgbClr val="000000"/>
                </a:solidFill>
                <a:latin typeface="Arial"/>
                <a:ea typeface="Arial"/>
              </a:rP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endParaRPr b="0" lang="en-US" sz="1800" spc="-1" strike="noStrike">
              <a:latin typeface="Arial"/>
            </a:endParaRPr>
          </a:p>
          <a:p>
            <a:pPr marL="190440">
              <a:lnSpc>
                <a:spcPct val="100000"/>
              </a:lnSpc>
              <a:buNone/>
              <a:tabLst>
                <a:tab algn="l" pos="0"/>
              </a:tabLst>
            </a:pPr>
            <a:r>
              <a:rPr b="0" lang="en-GB" sz="1800" spc="-1" strike="noStrike">
                <a:solidFill>
                  <a:srgbClr val="000000"/>
                </a:solidFill>
                <a:latin typeface="Arial"/>
                <a:ea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1800" spc="-1" strike="noStrike">
              <a:latin typeface="Arial"/>
            </a:endParaRPr>
          </a:p>
          <a:p>
            <a:pPr marL="190440">
              <a:lnSpc>
                <a:spcPct val="100000"/>
              </a:lnSpc>
              <a:buNone/>
              <a:tabLst>
                <a:tab algn="l" pos="0"/>
              </a:tabLst>
            </a:pPr>
            <a:r>
              <a:rPr b="0" lang="en-GB" sz="1800" spc="-1" strike="noStrike">
                <a:solidFill>
                  <a:srgbClr val="000000"/>
                </a:solidFill>
                <a:latin typeface="Arial"/>
                <a:ea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1800" spc="-1" strike="noStrike">
              <a:latin typeface="Arial"/>
            </a:endParaRPr>
          </a:p>
          <a:p>
            <a:pPr marL="190440">
              <a:lnSpc>
                <a:spcPct val="100000"/>
              </a:lnSpc>
              <a:buNone/>
              <a:tabLst>
                <a:tab algn="l" pos="0"/>
              </a:tabLst>
            </a:pPr>
            <a:r>
              <a:rPr b="0" lang="en-GB" sz="1800" spc="-1" strike="noStrike">
                <a:solidFill>
                  <a:srgbClr val="000000"/>
                </a:solidFill>
                <a:latin typeface="Arial"/>
                <a:ea typeface="Arial"/>
              </a:rPr>
              <a:t>run_task.py orchestrates the process: it captures the user input, sends it to the LLM with the system prompt, writes the generated code to disk, reloads the module dynamically, and executes execute_task(). Error handling and retry logic ensure robustness.</a:t>
            </a:r>
            <a:endParaRPr b="0" lang="en-US" sz="1800" spc="-1" strike="noStrike">
              <a:latin typeface="Arial"/>
            </a:endParaRPr>
          </a:p>
          <a:p>
            <a:pPr marL="190440">
              <a:lnSpc>
                <a:spcPct val="100000"/>
              </a:lnSpc>
              <a:buNone/>
              <a:tabLst>
                <a:tab algn="l" pos="0"/>
              </a:tabLst>
            </a:pPr>
            <a:r>
              <a:rPr b="0" lang="en-GB" sz="1800" spc="-1" strike="noStrike">
                <a:solidFill>
                  <a:srgbClr val="000000"/>
                </a:solidFill>
                <a:latin typeface="Arial"/>
                <a:ea typeface="Arial"/>
              </a:rPr>
              <a:t>Model: Qwen2.5-Coder 3B (Ollama, temp=0.7) — locally hosted, no cloud dependency.</a:t>
            </a:r>
            <a:endParaRPr b="0" lang="en-US" sz="1800" spc="-1" strike="noStrike">
              <a:latin typeface="Arial"/>
            </a:endParaRPr>
          </a:p>
        </p:txBody>
      </p:sp>
      <p:sp>
        <p:nvSpPr>
          <p:cNvPr id="292" name="PlaceHolder 3"/>
          <p:cNvSpPr>
            <a:spLocks noGrp="1"/>
          </p:cNvSpPr>
          <p:nvPr>
            <p:ph type="sldNum" idx="11"/>
          </p:nvPr>
        </p:nvSpPr>
        <p:spPr>
          <a:xfrm>
            <a:off x="3884760" y="8685360"/>
            <a:ext cx="2971080" cy="457920"/>
          </a:xfrm>
          <a:prstGeom prst="rect">
            <a:avLst/>
          </a:prstGeom>
          <a:noFill/>
          <a:ln w="0">
            <a:noFill/>
          </a:ln>
        </p:spPr>
        <p:txBody>
          <a:bodyPr lIns="81360" rIns="81360" tIns="40680" bIns="40680" anchor="b">
            <a:noAutofit/>
          </a:bodyPr>
          <a:lstStyle>
            <a:lvl1pPr algn="r">
              <a:lnSpc>
                <a:spcPct val="100000"/>
              </a:lnSpc>
              <a:buNone/>
              <a:tabLst>
                <a:tab algn="l" pos="0"/>
              </a:tabLst>
              <a:defRPr b="0" lang="en-GB" sz="1100" spc="-1" strike="noStrike">
                <a:solidFill>
                  <a:srgbClr val="000000"/>
                </a:solidFill>
                <a:latin typeface="Times New Roman"/>
                <a:ea typeface="Times New Roman"/>
              </a:defRPr>
            </a:lvl1pPr>
          </a:lstStyle>
          <a:p>
            <a:pPr algn="r">
              <a:lnSpc>
                <a:spcPct val="100000"/>
              </a:lnSpc>
              <a:buNone/>
              <a:tabLst>
                <a:tab algn="l" pos="0"/>
              </a:tabLst>
            </a:pPr>
            <a:fld id="{86EBA890-7465-4B24-9ECD-001BEBF14C41}" type="slidenum">
              <a:rPr b="0" lang="en-GB" sz="1100" spc="-1" strike="noStrike">
                <a:solidFill>
                  <a:srgbClr val="000000"/>
                </a:solidFill>
                <a:latin typeface="Times New Roman"/>
                <a:ea typeface="Times New Roman"/>
              </a:rPr>
              <a:t>&lt;number&gt;</a:t>
            </a:fld>
            <a:endParaRPr b="0" lang="en-US" sz="11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86D2AD1D-AA6D-47CB-BD06-1E3F6BE82C70}"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93516E4B-5A2A-444C-80CB-064542F67350}"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8"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15E1E79D-8CFD-46B3-A034-3E2A74C2BBD2}"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6340FCCB-53B8-424B-BA46-1CA78576C75B}"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D5B826F5-6504-40A9-B2A7-295CB7AC9E2B}"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240"/>
            <a:ext cx="1097208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E53CD681-EBA6-4B52-8AF2-B4E67E715A69}"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27F1103-BB6D-4169-85E4-ABF8B5CAD0E9}"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AAE01088-E74E-4487-A3F3-ACAFADA85523}"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5"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2B6C0837-A404-420F-A75B-1A122A579B53}"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27"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28"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1E70B235-2E03-4BE8-8DD2-961CD2E32131}"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1AF2DB95-44F0-4104-B46C-EB09137A5F86}"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5"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6"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7"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8"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39"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40"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5926175E-F287-488A-8DAB-66F9600571A5}"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EB1D9057-A7FA-471F-831D-7B347AE2761C}"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47"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E451E0D3-B825-41F8-AB50-17D97E1DA990}"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49"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49EB3A44-E42B-46D5-B23A-3E839B8766F2}"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9EEA409F-07E2-48A3-BDD0-EF782000DB4A}"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72EF7C3F-D8A2-487F-B8FE-B1F5D502D30D}"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240"/>
            <a:ext cx="1097208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1250AB94-EBC8-49AE-B6DD-72856F316152}"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00A26BA0-97DC-4CD0-A1A4-33DA6BEDBACD}"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AAFD7D15-C6C4-4BF5-A715-9B49AED1826F}"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6" name="PlaceHolder 4"/>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51B7505B-F08A-4BD7-99F3-67B2AD487EAB}"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68" name="PlaceHolder 2"/>
          <p:cNvSpPr>
            <a:spLocks noGrp="1"/>
          </p:cNvSpPr>
          <p:nvPr>
            <p:ph/>
          </p:nvPr>
        </p:nvSpPr>
        <p:spPr>
          <a:xfrm>
            <a:off x="609480" y="160452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69" name="PlaceHolder 3"/>
          <p:cNvSpPr>
            <a:spLocks noGrp="1"/>
          </p:cNvSpPr>
          <p:nvPr>
            <p:ph/>
          </p:nvPr>
        </p:nvSpPr>
        <p:spPr>
          <a:xfrm>
            <a:off x="609480" y="3682080"/>
            <a:ext cx="109720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2B9C7586-D078-427B-AD5B-2618E7782299}"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47BF6690-BCD5-4554-A479-5347384F0846}"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240"/>
            <a:ext cx="10972080" cy="1144800"/>
          </a:xfrm>
          <a:prstGeom prst="rect">
            <a:avLst/>
          </a:prstGeom>
          <a:noFill/>
          <a:ln w="0">
            <a:noFill/>
          </a:ln>
        </p:spPr>
        <p:txBody>
          <a:bodyPr lIns="0" rIns="0" tIns="0" bIns="0" anchor="ctr">
            <a:noAutofit/>
          </a:bodyPr>
          <a:p>
            <a:endParaRPr b="0" lang="en-US" sz="1870" spc="-1" strike="noStrike">
              <a:solidFill>
                <a:srgbClr val="000000"/>
              </a:solidFill>
              <a:latin typeface="Arial"/>
            </a:endParaRPr>
          </a:p>
        </p:txBody>
      </p:sp>
      <p:sp>
        <p:nvSpPr>
          <p:cNvPr id="76" name="PlaceHolder 2"/>
          <p:cNvSpPr>
            <a:spLocks noGrp="1"/>
          </p:cNvSpPr>
          <p:nvPr>
            <p:ph/>
          </p:nvPr>
        </p:nvSpPr>
        <p:spPr>
          <a:xfrm>
            <a:off x="6094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7" name="PlaceHolder 3"/>
          <p:cNvSpPr>
            <a:spLocks noGrp="1"/>
          </p:cNvSpPr>
          <p:nvPr>
            <p:ph/>
          </p:nvPr>
        </p:nvSpPr>
        <p:spPr>
          <a:xfrm>
            <a:off x="431928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8" name="PlaceHolder 4"/>
          <p:cNvSpPr>
            <a:spLocks noGrp="1"/>
          </p:cNvSpPr>
          <p:nvPr>
            <p:ph/>
          </p:nvPr>
        </p:nvSpPr>
        <p:spPr>
          <a:xfrm>
            <a:off x="8028720" y="160452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79" name="PlaceHolder 5"/>
          <p:cNvSpPr>
            <a:spLocks noGrp="1"/>
          </p:cNvSpPr>
          <p:nvPr>
            <p:ph/>
          </p:nvPr>
        </p:nvSpPr>
        <p:spPr>
          <a:xfrm>
            <a:off x="6094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80" name="PlaceHolder 6"/>
          <p:cNvSpPr>
            <a:spLocks noGrp="1"/>
          </p:cNvSpPr>
          <p:nvPr>
            <p:ph/>
          </p:nvPr>
        </p:nvSpPr>
        <p:spPr>
          <a:xfrm>
            <a:off x="431928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81" name="PlaceHolder 7"/>
          <p:cNvSpPr>
            <a:spLocks noGrp="1"/>
          </p:cNvSpPr>
          <p:nvPr>
            <p:ph/>
          </p:nvPr>
        </p:nvSpPr>
        <p:spPr>
          <a:xfrm>
            <a:off x="8028720" y="3682080"/>
            <a:ext cx="3532680" cy="1896840"/>
          </a:xfrm>
          <a:prstGeom prst="rect">
            <a:avLst/>
          </a:prstGeom>
          <a:noFill/>
          <a:ln w="0">
            <a:noFill/>
          </a:ln>
        </p:spPr>
        <p:txBody>
          <a:bodyPr lIns="0" rIns="0" tIns="0" bIns="0" anchor="t">
            <a:normAutofit/>
          </a:bodyPr>
          <a:p>
            <a:endParaRPr b="0" lang="en-US" sz="187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418B6DA3-FE22-4F21-8889-D09DE224F9E0}" type="slidenum">
              <a:t>&lt;#&gt;</a:t>
            </a:fld>
          </a:p>
        </p:txBody>
      </p:sp>
      <p:sp>
        <p:nvSpPr>
          <p:cNvPr id="11" name="PlaceHolder 10"/>
          <p:cNvSpPr>
            <a:spLocks noGrp="1"/>
          </p:cNvSpPr>
          <p:nvPr>
            <p:ph type="dt" idx="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160"/>
            <a:ext cx="2894400" cy="363960"/>
          </a:xfrm>
          <a:prstGeom prst="rect">
            <a:avLst/>
          </a:prstGeom>
          <a:noFill/>
          <a:ln w="0">
            <a:noFill/>
          </a:ln>
        </p:spPr>
        <p:txBody>
          <a:bodyPr lIns="68400" rIns="68400" tIns="34200" bIns="34200" anchor="ctr">
            <a:noAutofit/>
          </a:bodyPr>
          <a:lstStyle>
            <a:lvl1pPr algn="ctr">
              <a:buNone/>
              <a:defRPr b="0" lang="en-US" sz="1400" spc="-1" strike="noStrike">
                <a:latin typeface="Times New Roman"/>
              </a:defRPr>
            </a:lvl1pPr>
          </a:lstStyle>
          <a:p>
            <a:pPr algn="ctr">
              <a:buNone/>
            </a:pPr>
            <a:r>
              <a:rPr b="0" lang="en-US" sz="1400" spc="-1" strike="noStrike">
                <a:latin typeface="Times New Roman"/>
              </a:rPr>
              <a:t>&lt;footer&gt;</a:t>
            </a:r>
            <a:endParaRPr b="0" lang="en-US" sz="1400" spc="-1" strike="noStrike">
              <a:latin typeface="Times New Roman"/>
            </a:endParaRPr>
          </a:p>
        </p:txBody>
      </p:sp>
      <p:sp>
        <p:nvSpPr>
          <p:cNvPr id="1" name="PlaceHolder 2"/>
          <p:cNvSpPr>
            <a:spLocks noGrp="1"/>
          </p:cNvSpPr>
          <p:nvPr>
            <p:ph type="sldNum" idx="2"/>
          </p:nvPr>
        </p:nvSpPr>
        <p:spPr>
          <a:xfrm>
            <a:off x="6552720" y="6356160"/>
            <a:ext cx="2132640" cy="363960"/>
          </a:xfrm>
          <a:prstGeom prst="rect">
            <a:avLst/>
          </a:prstGeom>
          <a:noFill/>
          <a:ln w="0">
            <a:noFill/>
          </a:ln>
        </p:spPr>
        <p:txBody>
          <a:bodyPr lIns="68400" rIns="68400" tIns="34200" bIns="34200" anchor="ctr">
            <a:noAutofit/>
          </a:bodyPr>
          <a:lstStyle>
            <a:lvl1pPr algn="r">
              <a:lnSpc>
                <a:spcPct val="100000"/>
              </a:lnSpc>
              <a:buNone/>
              <a:tabLst>
                <a:tab algn="l" pos="0"/>
              </a:tabLst>
              <a:defRPr b="0" lang="en-GB" sz="900" spc="-1" strike="noStrike">
                <a:solidFill>
                  <a:srgbClr val="888888"/>
                </a:solidFill>
                <a:latin typeface="Calibri"/>
                <a:ea typeface="Calibri"/>
              </a:defRPr>
            </a:lvl1pPr>
          </a:lstStyle>
          <a:p>
            <a:pPr algn="r">
              <a:lnSpc>
                <a:spcPct val="100000"/>
              </a:lnSpc>
              <a:buNone/>
              <a:tabLst>
                <a:tab algn="l" pos="0"/>
              </a:tabLst>
            </a:pPr>
            <a:fld id="{4DA0DA5E-5A8F-466B-8580-37F44139EC4B}" type="slidenum">
              <a:rPr b="0" lang="en-GB" sz="900" spc="-1" strike="noStrike">
                <a:solidFill>
                  <a:srgbClr val="888888"/>
                </a:solidFill>
                <a:latin typeface="Calibri"/>
                <a:ea typeface="Calibri"/>
              </a:rPr>
              <a:t>&lt;number&gt;</a:t>
            </a:fld>
            <a:endParaRPr b="0" lang="en-US" sz="900" spc="-1" strike="noStrike">
              <a:latin typeface="Times New Roman"/>
            </a:endParaRPr>
          </a:p>
        </p:txBody>
      </p:sp>
      <p:sp>
        <p:nvSpPr>
          <p:cNvPr id="2" name="PlaceHolder 3"/>
          <p:cNvSpPr>
            <a:spLocks noGrp="1"/>
          </p:cNvSpPr>
          <p:nvPr>
            <p:ph type="dt" idx="3"/>
          </p:nvPr>
        </p:nvSpPr>
        <p:spPr>
          <a:xfrm>
            <a:off x="457200" y="6356160"/>
            <a:ext cx="2132640" cy="363960"/>
          </a:xfrm>
          <a:prstGeom prst="rect">
            <a:avLst/>
          </a:prstGeom>
          <a:noFill/>
          <a:ln w="0">
            <a:noFill/>
          </a:ln>
        </p:spPr>
        <p:txBody>
          <a:bodyPr lIns="68400" rIns="68400" tIns="34200" bIns="34200"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3" name="PlaceHolder 4"/>
          <p:cNvSpPr>
            <a:spLocks noGrp="1"/>
          </p:cNvSpPr>
          <p:nvPr>
            <p:ph type="title"/>
          </p:nvPr>
        </p:nvSpPr>
        <p:spPr>
          <a:xfrm>
            <a:off x="609480" y="273240"/>
            <a:ext cx="10972080" cy="1144800"/>
          </a:xfrm>
          <a:prstGeom prst="rect">
            <a:avLst/>
          </a:prstGeom>
          <a:noFill/>
          <a:ln w="0">
            <a:noFill/>
          </a:ln>
        </p:spPr>
        <p:txBody>
          <a:bodyPr lIns="0" rIns="0" tIns="0" bIns="0" anchor="ctr">
            <a:noAutofit/>
          </a:bodyPr>
          <a:p>
            <a:r>
              <a:rPr b="0" lang="en-US" sz="1870" spc="-1" strike="noStrike">
                <a:solidFill>
                  <a:srgbClr val="000000"/>
                </a:solidFill>
                <a:latin typeface="Arial"/>
              </a:rPr>
              <a:t>Click to edit the title text format</a:t>
            </a:r>
            <a:endParaRPr b="0" lang="en-US" sz="1870" spc="-1" strike="noStrike">
              <a:solidFill>
                <a:srgbClr val="000000"/>
              </a:solidFill>
              <a:latin typeface="Arial"/>
            </a:endParaRPr>
          </a:p>
        </p:txBody>
      </p:sp>
      <p:sp>
        <p:nvSpPr>
          <p:cNvPr id="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885"/>
              </a:spcBef>
              <a:buClr>
                <a:srgbClr val="000000"/>
              </a:buClr>
              <a:buSzPct val="45000"/>
              <a:buFont typeface="Wingdings" charset="2"/>
              <a:buChar char=""/>
            </a:pPr>
            <a:r>
              <a:rPr b="0" lang="en-US" sz="1870" spc="-1" strike="noStrike">
                <a:solidFill>
                  <a:srgbClr val="000000"/>
                </a:solidFill>
                <a:latin typeface="Arial"/>
              </a:rPr>
              <a:t>Click to edit the outline text format</a:t>
            </a:r>
            <a:endParaRPr b="0" lang="en-US" sz="1870" spc="-1" strike="noStrike">
              <a:solidFill>
                <a:srgbClr val="000000"/>
              </a:solidFill>
              <a:latin typeface="Arial"/>
            </a:endParaRPr>
          </a:p>
          <a:p>
            <a:pPr lvl="1" marL="864000" indent="-324000">
              <a:spcBef>
                <a:spcPts val="1508"/>
              </a:spcBef>
              <a:buClr>
                <a:srgbClr val="000000"/>
              </a:buClr>
              <a:buSzPct val="75000"/>
              <a:buFont typeface="Symbol" charset="2"/>
              <a:buChar char=""/>
            </a:pPr>
            <a:r>
              <a:rPr b="0" lang="en-US" sz="1870" spc="-1" strike="noStrike">
                <a:solidFill>
                  <a:srgbClr val="000000"/>
                </a:solidFill>
                <a:latin typeface="Arial"/>
              </a:rPr>
              <a:t>Second Outline Level</a:t>
            </a:r>
            <a:endParaRPr b="0" lang="en-US" sz="1870" spc="-1" strike="noStrike">
              <a:solidFill>
                <a:srgbClr val="000000"/>
              </a:solidFill>
              <a:latin typeface="Arial"/>
            </a:endParaRPr>
          </a:p>
          <a:p>
            <a:pPr lvl="2" marL="1296000" indent="-288000">
              <a:spcBef>
                <a:spcPts val="1131"/>
              </a:spcBef>
              <a:buClr>
                <a:srgbClr val="000000"/>
              </a:buClr>
              <a:buSzPct val="45000"/>
              <a:buFont typeface="Wingdings" charset="2"/>
              <a:buChar char=""/>
            </a:pPr>
            <a:r>
              <a:rPr b="0" lang="en-US" sz="1870" spc="-1" strike="noStrike">
                <a:solidFill>
                  <a:srgbClr val="000000"/>
                </a:solidFill>
                <a:latin typeface="Arial"/>
              </a:rPr>
              <a:t>Third Outline Level</a:t>
            </a:r>
            <a:endParaRPr b="0" lang="en-US" sz="1870" spc="-1" strike="noStrike">
              <a:solidFill>
                <a:srgbClr val="000000"/>
              </a:solidFill>
              <a:latin typeface="Arial"/>
            </a:endParaRPr>
          </a:p>
          <a:p>
            <a:pPr lvl="3" marL="1728000" indent="-216000">
              <a:spcBef>
                <a:spcPts val="754"/>
              </a:spcBef>
              <a:buClr>
                <a:srgbClr val="000000"/>
              </a:buClr>
              <a:buSzPct val="75000"/>
              <a:buFont typeface="Symbol" charset="2"/>
              <a:buChar char=""/>
            </a:pPr>
            <a:r>
              <a:rPr b="0" lang="en-US" sz="1870" spc="-1" strike="noStrike">
                <a:solidFill>
                  <a:srgbClr val="000000"/>
                </a:solidFill>
                <a:latin typeface="Arial"/>
              </a:rPr>
              <a:t>Fourth Outline Level</a:t>
            </a:r>
            <a:endParaRPr b="0" lang="en-US" sz="1870" spc="-1" strike="noStrike">
              <a:solidFill>
                <a:srgbClr val="000000"/>
              </a:solidFill>
              <a:latin typeface="Arial"/>
            </a:endParaRPr>
          </a:p>
          <a:p>
            <a:pPr lvl="4" marL="2160000" indent="-216000">
              <a:spcBef>
                <a:spcPts val="377"/>
              </a:spcBef>
              <a:buClr>
                <a:srgbClr val="000000"/>
              </a:buClr>
              <a:buSzPct val="45000"/>
              <a:buFont typeface="Wingdings" charset="2"/>
              <a:buChar char=""/>
            </a:pPr>
            <a:r>
              <a:rPr b="0" lang="en-US" sz="2670" spc="-1" strike="noStrike">
                <a:solidFill>
                  <a:srgbClr val="000000"/>
                </a:solidFill>
                <a:latin typeface="Arial"/>
              </a:rPr>
              <a:t>Fifth Outline Level</a:t>
            </a:r>
            <a:endParaRPr b="0" lang="en-US" sz="2670" spc="-1" strike="noStrike">
              <a:solidFill>
                <a:srgbClr val="000000"/>
              </a:solidFill>
              <a:latin typeface="Arial"/>
            </a:endParaRPr>
          </a:p>
          <a:p>
            <a:pPr lvl="5" marL="2592000" indent="-216000">
              <a:spcBef>
                <a:spcPts val="377"/>
              </a:spcBef>
              <a:buClr>
                <a:srgbClr val="000000"/>
              </a:buClr>
              <a:buSzPct val="45000"/>
              <a:buFont typeface="Wingdings" charset="2"/>
              <a:buChar char=""/>
            </a:pPr>
            <a:r>
              <a:rPr b="0" lang="en-US" sz="2670" spc="-1" strike="noStrike">
                <a:solidFill>
                  <a:srgbClr val="000000"/>
                </a:solidFill>
                <a:latin typeface="Arial"/>
              </a:rPr>
              <a:t>Sixth Outline Level</a:t>
            </a:r>
            <a:endParaRPr b="0" lang="en-US" sz="2670" spc="-1" strike="noStrike">
              <a:solidFill>
                <a:srgbClr val="000000"/>
              </a:solidFill>
              <a:latin typeface="Arial"/>
            </a:endParaRPr>
          </a:p>
          <a:p>
            <a:pPr lvl="6" marL="3024000" indent="-216000">
              <a:spcBef>
                <a:spcPts val="377"/>
              </a:spcBef>
              <a:buClr>
                <a:srgbClr val="000000"/>
              </a:buClr>
              <a:buSzPct val="45000"/>
              <a:buFont typeface="Wingdings" charset="2"/>
              <a:buChar char=""/>
            </a:pPr>
            <a:r>
              <a:rPr b="0" lang="en-US" sz="2670" spc="-1" strike="noStrike">
                <a:solidFill>
                  <a:srgbClr val="000000"/>
                </a:solidFill>
                <a:latin typeface="Arial"/>
              </a:rPr>
              <a:t>Seventh Outline Level</a:t>
            </a:r>
            <a:endParaRPr b="0" lang="en-US" sz="267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160"/>
            <a:ext cx="2894760" cy="364320"/>
          </a:xfrm>
          <a:prstGeom prst="rect">
            <a:avLst/>
          </a:prstGeom>
          <a:noFill/>
          <a:ln w="0">
            <a:noFill/>
          </a:ln>
        </p:spPr>
        <p:txBody>
          <a:bodyPr lIns="68400" rIns="68400" tIns="34200" bIns="34200" anchor="ctr">
            <a:noAutofit/>
          </a:bodyPr>
          <a:lstStyle>
            <a:lvl1pPr algn="ctr">
              <a:buNone/>
              <a:defRPr b="0" lang="en-US" sz="1400" spc="-1" strike="noStrike">
                <a:latin typeface="Times New Roman"/>
              </a:defRPr>
            </a:lvl1pPr>
          </a:lstStyle>
          <a:p>
            <a:pPr algn="ctr">
              <a:buNone/>
            </a:pPr>
            <a:r>
              <a:rPr b="0" lang="en-US" sz="1400" spc="-1" strike="noStrike">
                <a:latin typeface="Times New Roman"/>
              </a:rPr>
              <a:t>&lt;footer&gt;</a:t>
            </a:r>
            <a:endParaRPr b="0" lang="en-US" sz="1400" spc="-1" strike="noStrike">
              <a:latin typeface="Times New Roman"/>
            </a:endParaRPr>
          </a:p>
        </p:txBody>
      </p:sp>
      <p:sp>
        <p:nvSpPr>
          <p:cNvPr id="42" name="PlaceHolder 2"/>
          <p:cNvSpPr>
            <a:spLocks noGrp="1"/>
          </p:cNvSpPr>
          <p:nvPr>
            <p:ph type="sldNum" idx="5"/>
          </p:nvPr>
        </p:nvSpPr>
        <p:spPr>
          <a:xfrm>
            <a:off x="6552720" y="6356160"/>
            <a:ext cx="2133000" cy="364320"/>
          </a:xfrm>
          <a:prstGeom prst="rect">
            <a:avLst/>
          </a:prstGeom>
          <a:noFill/>
          <a:ln w="0">
            <a:noFill/>
          </a:ln>
        </p:spPr>
        <p:txBody>
          <a:bodyPr lIns="68400" rIns="68400" tIns="34200" bIns="34200" anchor="ctr">
            <a:noAutofit/>
          </a:bodyPr>
          <a:lstStyle>
            <a:lvl1pPr algn="r">
              <a:lnSpc>
                <a:spcPct val="100000"/>
              </a:lnSpc>
              <a:buNone/>
              <a:tabLst>
                <a:tab algn="l" pos="0"/>
              </a:tabLst>
              <a:defRPr b="0" lang="en-GB" sz="900" spc="-1" strike="noStrike">
                <a:solidFill>
                  <a:srgbClr val="888888"/>
                </a:solidFill>
                <a:latin typeface="Calibri"/>
                <a:ea typeface="Calibri"/>
              </a:defRPr>
            </a:lvl1pPr>
          </a:lstStyle>
          <a:p>
            <a:pPr algn="r">
              <a:lnSpc>
                <a:spcPct val="100000"/>
              </a:lnSpc>
              <a:buNone/>
              <a:tabLst>
                <a:tab algn="l" pos="0"/>
              </a:tabLst>
            </a:pPr>
            <a:fld id="{EB0E2E35-11D4-4BFD-AB96-A4C4817BF608}" type="slidenum">
              <a:rPr b="0" lang="en-GB" sz="900" spc="-1" strike="noStrike">
                <a:solidFill>
                  <a:srgbClr val="888888"/>
                </a:solidFill>
                <a:latin typeface="Calibri"/>
                <a:ea typeface="Calibri"/>
              </a:rPr>
              <a:t>&lt;number&gt;</a:t>
            </a:fld>
            <a:endParaRPr b="0" lang="en-US" sz="900" spc="-1" strike="noStrike">
              <a:latin typeface="Times New Roman"/>
            </a:endParaRPr>
          </a:p>
        </p:txBody>
      </p:sp>
      <p:sp>
        <p:nvSpPr>
          <p:cNvPr id="43" name="PlaceHolder 3"/>
          <p:cNvSpPr>
            <a:spLocks noGrp="1"/>
          </p:cNvSpPr>
          <p:nvPr>
            <p:ph type="dt" idx="6"/>
          </p:nvPr>
        </p:nvSpPr>
        <p:spPr>
          <a:xfrm>
            <a:off x="457200" y="6356160"/>
            <a:ext cx="2133000" cy="364320"/>
          </a:xfrm>
          <a:prstGeom prst="rect">
            <a:avLst/>
          </a:prstGeom>
          <a:noFill/>
          <a:ln w="0">
            <a:noFill/>
          </a:ln>
        </p:spPr>
        <p:txBody>
          <a:bodyPr lIns="68400" rIns="68400" tIns="34200" bIns="34200" anchor="ctr">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44" name="PlaceHolder 4"/>
          <p:cNvSpPr>
            <a:spLocks noGrp="1"/>
          </p:cNvSpPr>
          <p:nvPr>
            <p:ph type="title"/>
          </p:nvPr>
        </p:nvSpPr>
        <p:spPr>
          <a:xfrm>
            <a:off x="609480" y="273240"/>
            <a:ext cx="10972080" cy="1144800"/>
          </a:xfrm>
          <a:prstGeom prst="rect">
            <a:avLst/>
          </a:prstGeom>
          <a:noFill/>
          <a:ln w="0">
            <a:noFill/>
          </a:ln>
        </p:spPr>
        <p:txBody>
          <a:bodyPr lIns="0" rIns="0" tIns="0" bIns="0" anchor="ctr">
            <a:noAutofit/>
          </a:bodyPr>
          <a:p>
            <a:r>
              <a:rPr b="0" lang="en-US" sz="1870" spc="-1" strike="noStrike">
                <a:solidFill>
                  <a:srgbClr val="000000"/>
                </a:solidFill>
                <a:latin typeface="Arial"/>
              </a:rPr>
              <a:t>Click to edit the </a:t>
            </a:r>
            <a:r>
              <a:rPr b="0" lang="en-US" sz="1870" spc="-1" strike="noStrike">
                <a:solidFill>
                  <a:srgbClr val="000000"/>
                </a:solidFill>
                <a:latin typeface="Arial"/>
              </a:rPr>
              <a:t>title text format</a:t>
            </a:r>
            <a:endParaRPr b="0" lang="en-US" sz="1870" spc="-1" strike="noStrike">
              <a:solidFill>
                <a:srgbClr val="000000"/>
              </a:solidFill>
              <a:latin typeface="Arial"/>
            </a:endParaRPr>
          </a:p>
        </p:txBody>
      </p:sp>
      <p:sp>
        <p:nvSpPr>
          <p:cNvPr id="45"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885"/>
              </a:spcBef>
              <a:buClr>
                <a:srgbClr val="000000"/>
              </a:buClr>
              <a:buSzPct val="45000"/>
              <a:buFont typeface="Wingdings" charset="2"/>
              <a:buChar char=""/>
            </a:pPr>
            <a:r>
              <a:rPr b="0" lang="en-US" sz="1870" spc="-1" strike="noStrike">
                <a:solidFill>
                  <a:srgbClr val="000000"/>
                </a:solidFill>
                <a:latin typeface="Arial"/>
              </a:rPr>
              <a:t>Click to edit the outline text format</a:t>
            </a:r>
            <a:endParaRPr b="0" lang="en-US" sz="1870" spc="-1" strike="noStrike">
              <a:solidFill>
                <a:srgbClr val="000000"/>
              </a:solidFill>
              <a:latin typeface="Arial"/>
            </a:endParaRPr>
          </a:p>
          <a:p>
            <a:pPr lvl="1" marL="864000" indent="-324000">
              <a:spcBef>
                <a:spcPts val="1508"/>
              </a:spcBef>
              <a:buClr>
                <a:srgbClr val="000000"/>
              </a:buClr>
              <a:buSzPct val="75000"/>
              <a:buFont typeface="Symbol" charset="2"/>
              <a:buChar char=""/>
            </a:pPr>
            <a:r>
              <a:rPr b="0" lang="en-US" sz="1870" spc="-1" strike="noStrike">
                <a:solidFill>
                  <a:srgbClr val="000000"/>
                </a:solidFill>
                <a:latin typeface="Arial"/>
              </a:rPr>
              <a:t>Second Outline Level</a:t>
            </a:r>
            <a:endParaRPr b="0" lang="en-US" sz="1870" spc="-1" strike="noStrike">
              <a:solidFill>
                <a:srgbClr val="000000"/>
              </a:solidFill>
              <a:latin typeface="Arial"/>
            </a:endParaRPr>
          </a:p>
          <a:p>
            <a:pPr lvl="2" marL="1296000" indent="-288000">
              <a:spcBef>
                <a:spcPts val="1131"/>
              </a:spcBef>
              <a:buClr>
                <a:srgbClr val="000000"/>
              </a:buClr>
              <a:buSzPct val="45000"/>
              <a:buFont typeface="Wingdings" charset="2"/>
              <a:buChar char=""/>
            </a:pPr>
            <a:r>
              <a:rPr b="0" lang="en-US" sz="1870" spc="-1" strike="noStrike">
                <a:solidFill>
                  <a:srgbClr val="000000"/>
                </a:solidFill>
                <a:latin typeface="Arial"/>
              </a:rPr>
              <a:t>Third Outline Level</a:t>
            </a:r>
            <a:endParaRPr b="0" lang="en-US" sz="1870" spc="-1" strike="noStrike">
              <a:solidFill>
                <a:srgbClr val="000000"/>
              </a:solidFill>
              <a:latin typeface="Arial"/>
            </a:endParaRPr>
          </a:p>
          <a:p>
            <a:pPr lvl="3" marL="1728000" indent="-216000">
              <a:spcBef>
                <a:spcPts val="754"/>
              </a:spcBef>
              <a:buClr>
                <a:srgbClr val="000000"/>
              </a:buClr>
              <a:buSzPct val="75000"/>
              <a:buFont typeface="Symbol" charset="2"/>
              <a:buChar char=""/>
            </a:pPr>
            <a:r>
              <a:rPr b="0" lang="en-US" sz="1870" spc="-1" strike="noStrike">
                <a:solidFill>
                  <a:srgbClr val="000000"/>
                </a:solidFill>
                <a:latin typeface="Arial"/>
              </a:rPr>
              <a:t>Fourth Outline Level</a:t>
            </a:r>
            <a:endParaRPr b="0" lang="en-US" sz="1870" spc="-1" strike="noStrike">
              <a:solidFill>
                <a:srgbClr val="000000"/>
              </a:solidFill>
              <a:latin typeface="Arial"/>
            </a:endParaRPr>
          </a:p>
          <a:p>
            <a:pPr lvl="4" marL="2160000" indent="-216000">
              <a:spcBef>
                <a:spcPts val="377"/>
              </a:spcBef>
              <a:buClr>
                <a:srgbClr val="000000"/>
              </a:buClr>
              <a:buSzPct val="45000"/>
              <a:buFont typeface="Wingdings" charset="2"/>
              <a:buChar char=""/>
            </a:pPr>
            <a:r>
              <a:rPr b="0" lang="en-US" sz="2670" spc="-1" strike="noStrike">
                <a:solidFill>
                  <a:srgbClr val="000000"/>
                </a:solidFill>
                <a:latin typeface="Arial"/>
              </a:rPr>
              <a:t>Fifth Outline Level</a:t>
            </a:r>
            <a:endParaRPr b="0" lang="en-US" sz="2670" spc="-1" strike="noStrike">
              <a:solidFill>
                <a:srgbClr val="000000"/>
              </a:solidFill>
              <a:latin typeface="Arial"/>
            </a:endParaRPr>
          </a:p>
          <a:p>
            <a:pPr lvl="5" marL="2592000" indent="-216000">
              <a:spcBef>
                <a:spcPts val="377"/>
              </a:spcBef>
              <a:buClr>
                <a:srgbClr val="000000"/>
              </a:buClr>
              <a:buSzPct val="45000"/>
              <a:buFont typeface="Wingdings" charset="2"/>
              <a:buChar char=""/>
            </a:pPr>
            <a:r>
              <a:rPr b="0" lang="en-US" sz="2670" spc="-1" strike="noStrike">
                <a:solidFill>
                  <a:srgbClr val="000000"/>
                </a:solidFill>
                <a:latin typeface="Arial"/>
              </a:rPr>
              <a:t>Sixth Outline Level</a:t>
            </a:r>
            <a:endParaRPr b="0" lang="en-US" sz="2670" spc="-1" strike="noStrike">
              <a:solidFill>
                <a:srgbClr val="000000"/>
              </a:solidFill>
              <a:latin typeface="Arial"/>
            </a:endParaRPr>
          </a:p>
          <a:p>
            <a:pPr lvl="6" marL="3024000" indent="-216000">
              <a:spcBef>
                <a:spcPts val="377"/>
              </a:spcBef>
              <a:buClr>
                <a:srgbClr val="000000"/>
              </a:buClr>
              <a:buSzPct val="45000"/>
              <a:buFont typeface="Wingdings" charset="2"/>
              <a:buChar char=""/>
            </a:pPr>
            <a:r>
              <a:rPr b="0" lang="en-US" sz="2670" spc="-1" strike="noStrike">
                <a:solidFill>
                  <a:srgbClr val="000000"/>
                </a:solidFill>
                <a:latin typeface="Arial"/>
              </a:rPr>
              <a:t>Seventh Outline Level</a:t>
            </a:r>
            <a:endParaRPr b="0" lang="en-US" sz="267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eg"/><Relationship Id="rId6" Type="http://schemas.openxmlformats.org/officeDocument/2006/relationships/image" Target="../media/image7.jpeg"/><Relationship Id="rId7" Type="http://schemas.openxmlformats.org/officeDocument/2006/relationships/image" Target="../media/image8.png"/><Relationship Id="rId8" Type="http://schemas.openxmlformats.org/officeDocument/2006/relationships/image" Target="../media/image9.jpeg"/><Relationship Id="rId9" Type="http://schemas.openxmlformats.org/officeDocument/2006/relationships/slideLayout" Target="../slideLayouts/slideLayout13.xml"/><Relationship Id="rId10"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88" name="Google Shape;74;p17"/>
          <p:cNvSpPr/>
          <p:nvPr/>
        </p:nvSpPr>
        <p:spPr>
          <a:xfrm>
            <a:off x="0" y="2559960"/>
            <a:ext cx="12190320" cy="493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89" name="Google Shape;75;p17"/>
          <p:cNvSpPr/>
          <p:nvPr/>
        </p:nvSpPr>
        <p:spPr>
          <a:xfrm>
            <a:off x="914040" y="914040"/>
            <a:ext cx="10331280" cy="18266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900" spc="-1" strike="noStrike">
                <a:solidFill>
                  <a:srgbClr val="ffffff"/>
                </a:solidFill>
                <a:latin typeface="Arial"/>
                <a:ea typeface="Arial"/>
              </a:rPr>
              <a:t>Exploring Large Language Models</a:t>
            </a:r>
            <a:br>
              <a:rPr sz="2900"/>
            </a:br>
            <a:r>
              <a:rPr b="1" lang="en-GB" sz="2900" spc="-1" strike="noStrike">
                <a:solidFill>
                  <a:srgbClr val="ffffff"/>
                </a:solidFill>
                <a:latin typeface="Arial"/>
                <a:ea typeface="Arial"/>
              </a:rPr>
              <a:t>for Direct Trajectory Generation</a:t>
            </a:r>
            <a:br>
              <a:rPr sz="2900"/>
            </a:br>
            <a:r>
              <a:rPr b="1" lang="en-GB" sz="2900" spc="-1" strike="noStrike">
                <a:solidFill>
                  <a:srgbClr val="ffffff"/>
                </a:solidFill>
                <a:latin typeface="Arial"/>
                <a:ea typeface="Arial"/>
              </a:rPr>
              <a:t>in Robotic Manipulation</a:t>
            </a:r>
            <a:endParaRPr b="0" lang="en-US" sz="2900" spc="-1" strike="noStrike">
              <a:latin typeface="Arial"/>
            </a:endParaRPr>
          </a:p>
        </p:txBody>
      </p:sp>
      <p:sp>
        <p:nvSpPr>
          <p:cNvPr id="90" name="Google Shape;76;p17"/>
          <p:cNvSpPr/>
          <p:nvPr/>
        </p:nvSpPr>
        <p:spPr>
          <a:xfrm>
            <a:off x="914040" y="3017520"/>
            <a:ext cx="10331280" cy="424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700" spc="-1" strike="noStrike">
                <a:solidFill>
                  <a:srgbClr val="d1d5db"/>
                </a:solidFill>
                <a:latin typeface="Arial"/>
                <a:ea typeface="Arial"/>
              </a:rPr>
              <a:t>LLM-Driven Zero-Shot Pick-and-Place with the Sawyer Robot</a:t>
            </a:r>
            <a:endParaRPr b="0" lang="en-US" sz="1700" spc="-1" strike="noStrike">
              <a:latin typeface="Arial"/>
            </a:endParaRPr>
          </a:p>
        </p:txBody>
      </p:sp>
      <p:sp>
        <p:nvSpPr>
          <p:cNvPr id="91" name="Google Shape;77;p17"/>
          <p:cNvSpPr/>
          <p:nvPr/>
        </p:nvSpPr>
        <p:spPr>
          <a:xfrm>
            <a:off x="914040" y="4388760"/>
            <a:ext cx="10331280" cy="3636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400" spc="-1" strike="noStrike">
                <a:solidFill>
                  <a:srgbClr val="9ca3af"/>
                </a:solidFill>
                <a:latin typeface="Arial"/>
                <a:ea typeface="Arial"/>
              </a:rPr>
              <a:t>Jun  ·  Sergio  ·  David  ·  Cadavid  ·  Jossua Ruiz</a:t>
            </a:r>
            <a:endParaRPr b="0" lang="en-US" sz="1400" spc="-1" strike="noStrike">
              <a:latin typeface="Arial"/>
            </a:endParaRPr>
          </a:p>
        </p:txBody>
      </p:sp>
      <p:sp>
        <p:nvSpPr>
          <p:cNvPr id="92" name="Google Shape;78;p17"/>
          <p:cNvSpPr/>
          <p:nvPr/>
        </p:nvSpPr>
        <p:spPr>
          <a:xfrm>
            <a:off x="914040" y="4937400"/>
            <a:ext cx="10331280" cy="3330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200" spc="-1" strike="noStrike">
                <a:solidFill>
                  <a:srgbClr val="9ca3af"/>
                </a:solidFill>
                <a:latin typeface="Arial"/>
                <a:ea typeface="Arial"/>
              </a:rPr>
              <a:t>Robotics — Politecnico di Torino</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93" name="Google Shape;83;p18"/>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Why Large Language Models for Robotics?</a:t>
            </a:r>
            <a:endParaRPr b="0" lang="en-US" sz="2300" spc="-1" strike="noStrike">
              <a:latin typeface="Arial"/>
            </a:endParaRPr>
          </a:p>
        </p:txBody>
      </p:sp>
      <p:sp>
        <p:nvSpPr>
          <p:cNvPr id="94" name="Google Shape;84;p18"/>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95" name="Google Shape;85;p18"/>
          <p:cNvSpPr/>
          <p:nvPr/>
        </p:nvSpPr>
        <p:spPr>
          <a:xfrm>
            <a:off x="914040" y="127980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Traditional robotic manipulation relies on hand-crafted trajectories: a programmer must explicitly define every waypoint, every gripper angle, every timing parameter. This process is slow, error-prone, and breaks whenever the environment changes.</a:t>
            </a:r>
            <a:endParaRPr b="0" lang="en-US" sz="1300" spc="-1" strike="noStrike">
              <a:latin typeface="Arial"/>
            </a:endParaRPr>
          </a:p>
        </p:txBody>
      </p:sp>
      <p:sp>
        <p:nvSpPr>
          <p:cNvPr id="96" name="Google Shape;86;p18"/>
          <p:cNvSpPr/>
          <p:nvPr/>
        </p:nvSpPr>
        <p:spPr>
          <a:xfrm>
            <a:off x="914040" y="216216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Recent work (Kwon et al., Liang et al., Vemprala et al.) has shown AI capable of generate robot code from natural language</a:t>
            </a:r>
            <a:endParaRPr b="0" lang="en-US" sz="1300" spc="-1" strike="noStrike">
              <a:latin typeface="Arial"/>
            </a:endParaRPr>
          </a:p>
        </p:txBody>
      </p:sp>
      <p:sp>
        <p:nvSpPr>
          <p:cNvPr id="97" name="Google Shape;87;p18"/>
          <p:cNvSpPr/>
          <p:nvPr/>
        </p:nvSpPr>
        <p:spPr>
          <a:xfrm>
            <a:off x="914040" y="2815560"/>
            <a:ext cx="10514160" cy="93420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Instead of predicting joint angles or torques, these models generate Python code that calls robotics libraries (IK solvers, motion planners, perception pipelines). This makes the output interpretable, debuggable, and safe.</a:t>
            </a:r>
            <a:endParaRPr b="0" lang="en-US" sz="1300" spc="-1" strike="noStrike">
              <a:latin typeface="Arial"/>
            </a:endParaRPr>
          </a:p>
        </p:txBody>
      </p:sp>
      <p:sp>
        <p:nvSpPr>
          <p:cNvPr id="98" name="Google Shape;88;p18"/>
          <p:cNvSpPr/>
          <p:nvPr/>
        </p:nvSpPr>
        <p:spPr>
          <a:xfrm>
            <a:off x="914040" y="409824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300" spc="-1" strike="noStrike">
                <a:solidFill>
                  <a:srgbClr val="d1d5db"/>
                </a:solidFill>
                <a:latin typeface="Arial"/>
                <a:ea typeface="Arial"/>
              </a:rPr>
              <a:t>Our goal: apply this paradigm to a Sawyer robot in simulation, using a locally-run LLM (Qwen2.5-Coder 3B) to generate pick-and-place trajectories from user-provided natural language instructions.</a:t>
            </a:r>
            <a:endParaRPr b="0" lang="en-US" sz="1300" spc="-1" strike="noStrike">
              <a:latin typeface="Arial"/>
            </a:endParaRPr>
          </a:p>
        </p:txBody>
      </p:sp>
      <p:sp>
        <p:nvSpPr>
          <p:cNvPr id="99" name="Google Shape;89;p18"/>
          <p:cNvSpPr/>
          <p:nvPr/>
        </p:nvSpPr>
        <p:spPr>
          <a:xfrm>
            <a:off x="731160" y="6034680"/>
            <a:ext cx="10057320" cy="2721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900" spc="-1" strike="noStrike">
                <a:solidFill>
                  <a:srgbClr val="9ca3af"/>
                </a:solidFill>
                <a:latin typeface="Arial"/>
                <a:ea typeface="Arial"/>
              </a:rPr>
              <a:t>Key insight: the LLM acts as a code generator, not a motion predictor — it writes programs, not trajectories.</a:t>
            </a:r>
            <a:endParaRPr b="0" lang="en-US" sz="9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00" name="Google Shape;94;p19"/>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System Architecture</a:t>
            </a:r>
            <a:endParaRPr b="0" lang="en-US" sz="2300" spc="-1" strike="noStrike">
              <a:latin typeface="Arial"/>
            </a:endParaRPr>
          </a:p>
        </p:txBody>
      </p:sp>
      <p:sp>
        <p:nvSpPr>
          <p:cNvPr id="101" name="Google Shape;95;p19"/>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02" name="Google Shape;96;p19"/>
          <p:cNvSpPr/>
          <p:nvPr/>
        </p:nvSpPr>
        <p:spPr>
          <a:xfrm>
            <a:off x="914040" y="1188720"/>
            <a:ext cx="10514160" cy="5767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200" spc="-1" strike="noStrike">
                <a:solidFill>
                  <a:srgbClr val="d1d5db"/>
                </a:solidFill>
                <a:latin typeface="Arial"/>
                <a:ea typeface="Arial"/>
              </a:rPr>
              <a:t>The system is divided into five sequential stages. Each stage produces the input for the next, forming a complete pipeline from user instruction to robotic action.</a:t>
            </a:r>
            <a:endParaRPr b="0" lang="en-US" sz="1200" spc="-1" strike="noStrike">
              <a:latin typeface="Arial"/>
            </a:endParaRPr>
          </a:p>
        </p:txBody>
      </p:sp>
      <p:sp>
        <p:nvSpPr>
          <p:cNvPr id="103" name="Google Shape;97;p19"/>
          <p:cNvSpPr/>
          <p:nvPr/>
        </p:nvSpPr>
        <p:spPr>
          <a:xfrm>
            <a:off x="548640" y="23770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04" name="Google Shape;98;p19"/>
          <p:cNvSpPr/>
          <p:nvPr/>
        </p:nvSpPr>
        <p:spPr>
          <a:xfrm>
            <a:off x="645120" y="2502720"/>
            <a:ext cx="183420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SIMULATION</a:t>
            </a:r>
            <a:endParaRPr b="0" lang="en-US" sz="1100" spc="-1" strike="noStrike">
              <a:latin typeface="Arial"/>
            </a:endParaRPr>
          </a:p>
        </p:txBody>
      </p:sp>
      <p:sp>
        <p:nvSpPr>
          <p:cNvPr id="105" name="Google Shape;99;p19"/>
          <p:cNvSpPr/>
          <p:nvPr/>
        </p:nvSpPr>
        <p:spPr>
          <a:xfrm>
            <a:off x="645120" y="2943000"/>
            <a:ext cx="183420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Gazebo + Sawyer</a:t>
            </a:r>
            <a:br>
              <a:rPr sz="800"/>
            </a:br>
            <a:r>
              <a:rPr b="0" lang="en-GB" sz="800" spc="-1" strike="noStrike">
                <a:solidFill>
                  <a:srgbClr val="d1d5db"/>
                </a:solidFill>
                <a:latin typeface="Arial"/>
                <a:ea typeface="Arial"/>
              </a:rPr>
              <a:t>Objects spawning</a:t>
            </a:r>
            <a:br>
              <a:rPr sz="800"/>
            </a:br>
            <a:r>
              <a:rPr b="0" lang="en-GB" sz="800" spc="-1" strike="noStrike">
                <a:solidFill>
                  <a:srgbClr val="d1d5db"/>
                </a:solidFill>
                <a:latin typeface="Arial"/>
                <a:ea typeface="Arial"/>
              </a:rPr>
              <a:t>Safe pose &amp; scan</a:t>
            </a:r>
            <a:endParaRPr b="0" lang="en-US" sz="800" spc="-1" strike="noStrike">
              <a:latin typeface="Arial"/>
            </a:endParaRPr>
          </a:p>
        </p:txBody>
      </p:sp>
      <p:sp>
        <p:nvSpPr>
          <p:cNvPr id="106" name="Google Shape;100;p19"/>
          <p:cNvSpPr/>
          <p:nvPr/>
        </p:nvSpPr>
        <p:spPr>
          <a:xfrm>
            <a:off x="2383920" y="2880720"/>
            <a:ext cx="578520" cy="516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100" spc="-1" strike="noStrike">
                <a:solidFill>
                  <a:srgbClr val="6b7280"/>
                </a:solidFill>
                <a:latin typeface="Arial"/>
                <a:ea typeface="Arial"/>
              </a:rPr>
              <a:t>→</a:t>
            </a:r>
            <a:endParaRPr b="0" lang="en-US" sz="2100" spc="-1" strike="noStrike">
              <a:latin typeface="Arial"/>
            </a:endParaRPr>
          </a:p>
        </p:txBody>
      </p:sp>
      <p:sp>
        <p:nvSpPr>
          <p:cNvPr id="107" name="Google Shape;101;p19"/>
          <p:cNvSpPr/>
          <p:nvPr/>
        </p:nvSpPr>
        <p:spPr>
          <a:xfrm>
            <a:off x="2818800" y="23770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08" name="Google Shape;102;p19"/>
          <p:cNvSpPr/>
          <p:nvPr/>
        </p:nvSpPr>
        <p:spPr>
          <a:xfrm>
            <a:off x="2915280" y="2502720"/>
            <a:ext cx="183456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PERCEPTION</a:t>
            </a:r>
            <a:endParaRPr b="0" lang="en-US" sz="1100" spc="-1" strike="noStrike">
              <a:latin typeface="Arial"/>
            </a:endParaRPr>
          </a:p>
        </p:txBody>
      </p:sp>
      <p:sp>
        <p:nvSpPr>
          <p:cNvPr id="109" name="Google Shape;103;p19"/>
          <p:cNvSpPr/>
          <p:nvPr/>
        </p:nvSpPr>
        <p:spPr>
          <a:xfrm>
            <a:off x="2915280" y="2943000"/>
            <a:ext cx="183456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YOLOv8 detection</a:t>
            </a:r>
            <a:br>
              <a:rPr sz="800"/>
            </a:br>
            <a:r>
              <a:rPr b="0" lang="en-GB" sz="800" spc="-1" strike="noStrike">
                <a:solidFill>
                  <a:srgbClr val="d1d5db"/>
                </a:solidFill>
                <a:latin typeface="Arial"/>
                <a:ea typeface="Arial"/>
              </a:rPr>
              <a:t>frame2world</a:t>
            </a:r>
            <a:br>
              <a:rPr sz="800"/>
            </a:br>
            <a:r>
              <a:rPr b="0" lang="en-GB" sz="800" spc="-1" strike="noStrike">
                <a:solidFill>
                  <a:srgbClr val="d1d5db"/>
                </a:solidFill>
                <a:latin typeface="Arial"/>
                <a:ea typeface="Arial"/>
              </a:rPr>
              <a:t>2D → 3D coords</a:t>
            </a:r>
            <a:endParaRPr b="0" lang="en-US" sz="800" spc="-1" strike="noStrike">
              <a:latin typeface="Arial"/>
            </a:endParaRPr>
          </a:p>
        </p:txBody>
      </p:sp>
      <p:sp>
        <p:nvSpPr>
          <p:cNvPr id="110" name="Google Shape;104;p19"/>
          <p:cNvSpPr/>
          <p:nvPr/>
        </p:nvSpPr>
        <p:spPr>
          <a:xfrm>
            <a:off x="4654800" y="2880720"/>
            <a:ext cx="578520" cy="516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100" spc="-1" strike="noStrike">
                <a:solidFill>
                  <a:srgbClr val="6b7280"/>
                </a:solidFill>
                <a:latin typeface="Arial"/>
                <a:ea typeface="Arial"/>
              </a:rPr>
              <a:t>→</a:t>
            </a:r>
            <a:endParaRPr b="0" lang="en-US" sz="2100" spc="-1" strike="noStrike">
              <a:latin typeface="Arial"/>
            </a:endParaRPr>
          </a:p>
        </p:txBody>
      </p:sp>
      <p:sp>
        <p:nvSpPr>
          <p:cNvPr id="111" name="Google Shape;105;p19"/>
          <p:cNvSpPr/>
          <p:nvPr/>
        </p:nvSpPr>
        <p:spPr>
          <a:xfrm>
            <a:off x="5089680" y="2377080"/>
            <a:ext cx="202680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12" name="Google Shape;106;p19"/>
          <p:cNvSpPr/>
          <p:nvPr/>
        </p:nvSpPr>
        <p:spPr>
          <a:xfrm>
            <a:off x="5186160" y="2502720"/>
            <a:ext cx="183420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LLM</a:t>
            </a:r>
            <a:endParaRPr b="0" lang="en-US" sz="1100" spc="-1" strike="noStrike">
              <a:latin typeface="Arial"/>
            </a:endParaRPr>
          </a:p>
        </p:txBody>
      </p:sp>
      <p:sp>
        <p:nvSpPr>
          <p:cNvPr id="113" name="Google Shape;107;p19"/>
          <p:cNvSpPr/>
          <p:nvPr/>
        </p:nvSpPr>
        <p:spPr>
          <a:xfrm>
            <a:off x="5186160" y="2943000"/>
            <a:ext cx="183420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System prompt</a:t>
            </a:r>
            <a:br>
              <a:rPr sz="800"/>
            </a:br>
            <a:r>
              <a:rPr b="0" lang="en-GB" sz="800" spc="-1" strike="noStrike">
                <a:solidFill>
                  <a:srgbClr val="d1d5db"/>
                </a:solidFill>
                <a:latin typeface="Arial"/>
                <a:ea typeface="Arial"/>
              </a:rPr>
              <a:t>Qwen2.5-Coder</a:t>
            </a:r>
            <a:br>
              <a:rPr sz="800"/>
            </a:br>
            <a:r>
              <a:rPr b="0" lang="en-GB" sz="800" spc="-1" strike="noStrike">
                <a:solidFill>
                  <a:srgbClr val="d1d5db"/>
                </a:solidFill>
                <a:latin typeface="Arial"/>
                <a:ea typeface="Arial"/>
              </a:rPr>
              <a:t>Code generation</a:t>
            </a:r>
            <a:endParaRPr b="0" lang="en-US" sz="800" spc="-1" strike="noStrike">
              <a:latin typeface="Arial"/>
            </a:endParaRPr>
          </a:p>
        </p:txBody>
      </p:sp>
      <p:sp>
        <p:nvSpPr>
          <p:cNvPr id="114" name="Google Shape;108;p19"/>
          <p:cNvSpPr/>
          <p:nvPr/>
        </p:nvSpPr>
        <p:spPr>
          <a:xfrm>
            <a:off x="6924600" y="2880720"/>
            <a:ext cx="578880" cy="516600"/>
          </a:xfrm>
          <a:prstGeom prst="rect">
            <a:avLst/>
          </a:prstGeom>
          <a:noFill/>
          <a:ln w="0">
            <a:noFill/>
          </a:ln>
        </p:spPr>
        <p:style>
          <a:lnRef idx="0"/>
          <a:fillRef idx="0"/>
          <a:effectRef idx="0"/>
          <a:fontRef idx="minor"/>
        </p:style>
      </p:sp>
      <p:sp>
        <p:nvSpPr>
          <p:cNvPr id="115" name="Google Shape;109;p19"/>
          <p:cNvSpPr/>
          <p:nvPr/>
        </p:nvSpPr>
        <p:spPr>
          <a:xfrm>
            <a:off x="2787120" y="44344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16" name="Google Shape;110;p19"/>
          <p:cNvSpPr/>
          <p:nvPr/>
        </p:nvSpPr>
        <p:spPr>
          <a:xfrm>
            <a:off x="2883960" y="4560120"/>
            <a:ext cx="183456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MOTION</a:t>
            </a:r>
            <a:endParaRPr b="0" lang="en-US" sz="1100" spc="-1" strike="noStrike">
              <a:latin typeface="Arial"/>
            </a:endParaRPr>
          </a:p>
        </p:txBody>
      </p:sp>
      <p:sp>
        <p:nvSpPr>
          <p:cNvPr id="117" name="Google Shape;111;p19"/>
          <p:cNvSpPr/>
          <p:nvPr/>
        </p:nvSpPr>
        <p:spPr>
          <a:xfrm>
            <a:off x="2883960" y="5000400"/>
            <a:ext cx="183456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TRAC-IK solver</a:t>
            </a:r>
            <a:br>
              <a:rPr sz="800"/>
            </a:br>
            <a:r>
              <a:rPr b="0" lang="en-GB" sz="800" spc="-1" strike="noStrike">
                <a:solidFill>
                  <a:srgbClr val="d1d5db"/>
                </a:solidFill>
                <a:latin typeface="Arial"/>
                <a:ea typeface="Arial"/>
              </a:rPr>
              <a:t>Waypoint execution</a:t>
            </a:r>
            <a:br>
              <a:rPr sz="800"/>
            </a:br>
            <a:r>
              <a:rPr b="0" lang="en-GB" sz="800" spc="-1" strike="noStrike">
                <a:solidFill>
                  <a:srgbClr val="d1d5db"/>
                </a:solidFill>
                <a:latin typeface="Arial"/>
                <a:ea typeface="Arial"/>
              </a:rPr>
              <a:t>Gripper control</a:t>
            </a:r>
            <a:endParaRPr b="0" lang="en-US" sz="800" spc="-1" strike="noStrike">
              <a:latin typeface="Arial"/>
            </a:endParaRPr>
          </a:p>
        </p:txBody>
      </p:sp>
      <p:sp>
        <p:nvSpPr>
          <p:cNvPr id="118" name="Google Shape;112;p19"/>
          <p:cNvSpPr/>
          <p:nvPr/>
        </p:nvSpPr>
        <p:spPr>
          <a:xfrm>
            <a:off x="4623120" y="4937760"/>
            <a:ext cx="578520" cy="516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100" spc="-1" strike="noStrike">
                <a:solidFill>
                  <a:srgbClr val="6b7280"/>
                </a:solidFill>
                <a:latin typeface="Arial"/>
                <a:ea typeface="Arial"/>
              </a:rPr>
              <a:t>→</a:t>
            </a:r>
            <a:endParaRPr b="0" lang="en-US" sz="2100" spc="-1" strike="noStrike">
              <a:latin typeface="Arial"/>
            </a:endParaRPr>
          </a:p>
        </p:txBody>
      </p:sp>
      <p:sp>
        <p:nvSpPr>
          <p:cNvPr id="119" name="Google Shape;113;p19"/>
          <p:cNvSpPr/>
          <p:nvPr/>
        </p:nvSpPr>
        <p:spPr>
          <a:xfrm>
            <a:off x="5058000" y="4434480"/>
            <a:ext cx="2027880" cy="1508040"/>
          </a:xfrm>
          <a:prstGeom prst="rect">
            <a:avLst/>
          </a:prstGeom>
          <a:solidFill>
            <a:srgbClr val="374151"/>
          </a:solidFill>
          <a:ln w="9525">
            <a:solidFill>
              <a:srgbClr val="6b7280"/>
            </a:solidFill>
            <a:round/>
          </a:ln>
          <a:effectLst>
            <a:outerShdw blurRad="39960" dir="5400000" dist="23040" rotWithShape="0">
              <a:srgbClr val="000000">
                <a:alpha val="35000"/>
              </a:srgbClr>
            </a:outerShdw>
          </a:effectLst>
        </p:spPr>
        <p:style>
          <a:lnRef idx="0"/>
          <a:fillRef idx="0"/>
          <a:effectRef idx="0"/>
          <a:fontRef idx="minor"/>
        </p:style>
      </p:sp>
      <p:sp>
        <p:nvSpPr>
          <p:cNvPr id="120" name="Google Shape;114;p19"/>
          <p:cNvSpPr/>
          <p:nvPr/>
        </p:nvSpPr>
        <p:spPr>
          <a:xfrm>
            <a:off x="5154480" y="4560120"/>
            <a:ext cx="1834200" cy="30312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1100" spc="-1" strike="noStrike">
                <a:solidFill>
                  <a:srgbClr val="ffffff"/>
                </a:solidFill>
                <a:latin typeface="Arial"/>
                <a:ea typeface="Arial"/>
              </a:rPr>
              <a:t>ROBOT</a:t>
            </a:r>
            <a:endParaRPr b="0" lang="en-US" sz="1100" spc="-1" strike="noStrike">
              <a:latin typeface="Arial"/>
            </a:endParaRPr>
          </a:p>
        </p:txBody>
      </p:sp>
      <p:sp>
        <p:nvSpPr>
          <p:cNvPr id="121" name="Google Shape;115;p19"/>
          <p:cNvSpPr/>
          <p:nvPr/>
        </p:nvSpPr>
        <p:spPr>
          <a:xfrm>
            <a:off x="5154480" y="5000400"/>
            <a:ext cx="1834200" cy="5922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800" spc="-1" strike="noStrike">
                <a:solidFill>
                  <a:srgbClr val="d1d5db"/>
                </a:solidFill>
                <a:latin typeface="Arial"/>
                <a:ea typeface="Arial"/>
              </a:rPr>
              <a:t>intera_interface</a:t>
            </a:r>
            <a:br>
              <a:rPr sz="800"/>
            </a:br>
            <a:r>
              <a:rPr b="0" lang="en-GB" sz="800" spc="-1" strike="noStrike">
                <a:solidFill>
                  <a:srgbClr val="d1d5db"/>
                </a:solidFill>
                <a:latin typeface="Arial"/>
                <a:ea typeface="Arial"/>
              </a:rPr>
              <a:t>Joint publishers</a:t>
            </a:r>
            <a:br>
              <a:rPr sz="800"/>
            </a:br>
            <a:r>
              <a:rPr b="0" lang="en-GB" sz="800" spc="-1" strike="noStrike">
                <a:solidFill>
                  <a:srgbClr val="d1d5db"/>
                </a:solidFill>
                <a:latin typeface="Arial"/>
                <a:ea typeface="Arial"/>
              </a:rPr>
              <a:t>ROS topics</a:t>
            </a:r>
            <a:endParaRPr b="0" lang="en-US" sz="800" spc="-1" strike="noStrike">
              <a:latin typeface="Arial"/>
            </a:endParaRPr>
          </a:p>
        </p:txBody>
      </p:sp>
      <p:pic>
        <p:nvPicPr>
          <p:cNvPr id="122" name="Google Shape;116;p19" descr=""/>
          <p:cNvPicPr/>
          <p:nvPr/>
        </p:nvPicPr>
        <p:blipFill>
          <a:blip r:embed="rId1"/>
          <a:stretch/>
        </p:blipFill>
        <p:spPr>
          <a:xfrm>
            <a:off x="8000640" y="1690200"/>
            <a:ext cx="3885480" cy="4938120"/>
          </a:xfrm>
          <a:prstGeom prst="rect">
            <a:avLst/>
          </a:prstGeom>
          <a:ln w="0">
            <a:noFill/>
          </a:ln>
        </p:spPr>
      </p:pic>
      <p:sp>
        <p:nvSpPr>
          <p:cNvPr id="123" name="Google Shape;117;p19"/>
          <p:cNvSpPr/>
          <p:nvPr/>
        </p:nvSpPr>
        <p:spPr>
          <a:xfrm flipH="1">
            <a:off x="2786760" y="3131280"/>
            <a:ext cx="4329000" cy="2057400"/>
          </a:xfrm>
          <a:prstGeom prst="bentConnector5">
            <a:avLst>
              <a:gd name="adj1" fmla="val -4174"/>
              <a:gd name="adj2" fmla="val 50035"/>
              <a:gd name="adj3" fmla="val 106297"/>
            </a:avLst>
          </a:prstGeom>
          <a:noFill/>
          <a:ln w="9525">
            <a:solidFill>
              <a:srgbClr val="6b7280"/>
            </a:solidFill>
            <a:round/>
          </a:ln>
        </p:spPr>
        <p:style>
          <a:lnRef idx="0"/>
          <a:fillRef idx="0"/>
          <a:effectRef idx="0"/>
          <a:fontRef idx="minor"/>
        </p:style>
      </p:sp>
      <p:sp>
        <p:nvSpPr>
          <p:cNvPr id="124" name="Google Shape;118;p19"/>
          <p:cNvSpPr/>
          <p:nvPr/>
        </p:nvSpPr>
        <p:spPr>
          <a:xfrm>
            <a:off x="2514240" y="5189040"/>
            <a:ext cx="276480" cy="360"/>
          </a:xfrm>
          <a:custGeom>
            <a:avLst/>
            <a:gdLst/>
            <a:ahLst/>
            <a:rect l="l" t="t" r="r" b="b"/>
            <a:pathLst>
              <a:path w="21600" h="21600">
                <a:moveTo>
                  <a:pt x="0" y="0"/>
                </a:moveTo>
                <a:lnTo>
                  <a:pt x="21600" y="21600"/>
                </a:lnTo>
              </a:path>
            </a:pathLst>
          </a:custGeom>
          <a:noFill/>
          <a:ln w="9525">
            <a:solidFill>
              <a:srgbClr val="6b7280"/>
            </a:solidFill>
            <a:round/>
            <a:tailEnd len="med" type="triangle" w="med"/>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25" name="Google Shape;124;p20"/>
          <p:cNvSpPr/>
          <p:nvPr/>
        </p:nvSpPr>
        <p:spPr>
          <a:xfrm>
            <a:off x="2780280" y="1148040"/>
            <a:ext cx="6725160" cy="4982760"/>
          </a:xfrm>
          <a:prstGeom prst="roundRect">
            <a:avLst>
              <a:gd name="adj" fmla="val 16667"/>
            </a:avLst>
          </a:prstGeom>
          <a:solidFill>
            <a:srgbClr val="3f3151"/>
          </a:solidFill>
          <a:ln w="12700">
            <a:solidFill>
              <a:srgbClr val="634aa7"/>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26" name="Google Shape;125;p20"/>
          <p:cNvSpPr/>
          <p:nvPr/>
        </p:nvSpPr>
        <p:spPr>
          <a:xfrm>
            <a:off x="105480" y="1211760"/>
            <a:ext cx="2531520" cy="4918320"/>
          </a:xfrm>
          <a:prstGeom prst="roundRect">
            <a:avLst>
              <a:gd name="adj" fmla="val 16667"/>
            </a:avLst>
          </a:prstGeom>
          <a:solidFill>
            <a:srgbClr val="17365d"/>
          </a:solidFill>
          <a:ln w="12700">
            <a:solidFill>
              <a:srgbClr val="8cb3e3"/>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27" name="Google Shape;126;p20"/>
          <p:cNvSpPr/>
          <p:nvPr/>
        </p:nvSpPr>
        <p:spPr>
          <a:xfrm>
            <a:off x="1391760" y="408744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28" name="Google Shape;127;p20"/>
          <p:cNvSpPr/>
          <p:nvPr/>
        </p:nvSpPr>
        <p:spPr>
          <a:xfrm>
            <a:off x="434880" y="14472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Simulation Environment  —  Jun</a:t>
            </a:r>
            <a:endParaRPr b="0" lang="en-US" sz="2300" spc="-1" strike="noStrike">
              <a:latin typeface="Arial"/>
            </a:endParaRPr>
          </a:p>
        </p:txBody>
      </p:sp>
      <p:sp>
        <p:nvSpPr>
          <p:cNvPr id="129" name="Google Shape;128;p20"/>
          <p:cNvSpPr/>
          <p:nvPr/>
        </p:nvSpPr>
        <p:spPr>
          <a:xfrm>
            <a:off x="731160" y="914400"/>
            <a:ext cx="2285280" cy="3744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130" name="Google Shape;129;p20"/>
          <p:cNvSpPr/>
          <p:nvPr/>
        </p:nvSpPr>
        <p:spPr>
          <a:xfrm>
            <a:off x="350640" y="1037520"/>
            <a:ext cx="2039760" cy="415080"/>
          </a:xfrm>
          <a:prstGeom prst="roundRect">
            <a:avLst>
              <a:gd name="adj" fmla="val 16667"/>
            </a:avLst>
          </a:prstGeom>
          <a:solidFill>
            <a:srgbClr val="366092"/>
          </a:solidFill>
          <a:ln w="12700">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n-GB" sz="900" spc="-1" strike="noStrike">
                <a:solidFill>
                  <a:srgbClr val="ffffff"/>
                </a:solidFill>
                <a:latin typeface="Arial"/>
                <a:ea typeface="Arial"/>
              </a:rPr>
              <a:t>Simulation Platform Overview</a:t>
            </a:r>
            <a:endParaRPr b="0" lang="en-US" sz="900" spc="-1" strike="noStrike">
              <a:latin typeface="Arial"/>
            </a:endParaRPr>
          </a:p>
        </p:txBody>
      </p:sp>
      <p:sp>
        <p:nvSpPr>
          <p:cNvPr id="131" name="Google Shape;130;p20"/>
          <p:cNvSpPr/>
          <p:nvPr/>
        </p:nvSpPr>
        <p:spPr>
          <a:xfrm>
            <a:off x="388080" y="4450320"/>
            <a:ext cx="959760" cy="4244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Physics simulation</a:t>
            </a:r>
            <a:endParaRPr b="0" lang="en-US" sz="600" spc="-1" strike="noStrike">
              <a:latin typeface="Arial"/>
            </a:endParaRPr>
          </a:p>
          <a:p>
            <a:pPr>
              <a:lnSpc>
                <a:spcPct val="100000"/>
              </a:lnSpc>
              <a:buNone/>
              <a:tabLst>
                <a:tab algn="l" pos="0"/>
              </a:tabLst>
            </a:pPr>
            <a:r>
              <a:rPr b="0" lang="en-GB" sz="600" spc="-1" strike="noStrike">
                <a:solidFill>
                  <a:srgbClr val="ffffff"/>
                </a:solidFill>
                <a:latin typeface="Arial"/>
                <a:ea typeface="Arial"/>
              </a:rPr>
              <a:t>and rendering</a:t>
            </a:r>
            <a:endParaRPr b="0" lang="en-US" sz="600" spc="-1" strike="noStrike">
              <a:latin typeface="Arial"/>
            </a:endParaRPr>
          </a:p>
        </p:txBody>
      </p:sp>
      <p:sp>
        <p:nvSpPr>
          <p:cNvPr id="132" name="Google Shape;131;p20"/>
          <p:cNvSpPr/>
          <p:nvPr/>
        </p:nvSpPr>
        <p:spPr>
          <a:xfrm>
            <a:off x="1490400" y="4450320"/>
            <a:ext cx="1176480" cy="4244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7-DOF arm</a:t>
            </a:r>
            <a:endParaRPr b="0" lang="en-US" sz="600" spc="-1" strike="noStrike">
              <a:latin typeface="Arial"/>
            </a:endParaRPr>
          </a:p>
          <a:p>
            <a:pPr>
              <a:lnSpc>
                <a:spcPct val="100000"/>
              </a:lnSpc>
              <a:buNone/>
              <a:tabLst>
                <a:tab algn="l" pos="0"/>
              </a:tabLst>
            </a:pPr>
            <a:r>
              <a:rPr b="0" lang="en-GB" sz="600" spc="-1" strike="noStrike">
                <a:solidFill>
                  <a:srgbClr val="ffffff"/>
                </a:solidFill>
                <a:latin typeface="Arial"/>
                <a:ea typeface="Arial"/>
              </a:rPr>
              <a:t>Top-down view</a:t>
            </a:r>
            <a:endParaRPr b="0" lang="en-US" sz="600" spc="-1" strike="noStrike">
              <a:latin typeface="Arial"/>
            </a:endParaRPr>
          </a:p>
          <a:p>
            <a:pPr>
              <a:lnSpc>
                <a:spcPct val="100000"/>
              </a:lnSpc>
              <a:buNone/>
              <a:tabLst>
                <a:tab algn="l" pos="0"/>
              </a:tabLst>
            </a:pPr>
            <a:endParaRPr b="0" lang="en-US" sz="600" spc="-1" strike="noStrike">
              <a:latin typeface="Arial"/>
            </a:endParaRPr>
          </a:p>
        </p:txBody>
      </p:sp>
      <p:sp>
        <p:nvSpPr>
          <p:cNvPr id="133" name="Google Shape;132;p20"/>
          <p:cNvSpPr/>
          <p:nvPr/>
        </p:nvSpPr>
        <p:spPr>
          <a:xfrm>
            <a:off x="1549440" y="5472000"/>
            <a:ext cx="959760" cy="1652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Electric gripper</a:t>
            </a:r>
            <a:endParaRPr b="0" lang="en-US" sz="600" spc="-1" strike="noStrike">
              <a:latin typeface="Arial"/>
            </a:endParaRPr>
          </a:p>
        </p:txBody>
      </p:sp>
      <p:sp>
        <p:nvSpPr>
          <p:cNvPr id="134" name="Google Shape;133;p20"/>
          <p:cNvSpPr/>
          <p:nvPr/>
        </p:nvSpPr>
        <p:spPr>
          <a:xfrm>
            <a:off x="388080" y="5433840"/>
            <a:ext cx="959760" cy="29484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ffffff"/>
                </a:solidFill>
                <a:latin typeface="Arial"/>
                <a:ea typeface="Arial"/>
              </a:rPr>
              <a:t>Communication</a:t>
            </a:r>
            <a:endParaRPr b="0" lang="en-US" sz="600" spc="-1" strike="noStrike">
              <a:latin typeface="Arial"/>
            </a:endParaRPr>
          </a:p>
          <a:p>
            <a:pPr>
              <a:lnSpc>
                <a:spcPct val="100000"/>
              </a:lnSpc>
              <a:buNone/>
              <a:tabLst>
                <a:tab algn="l" pos="0"/>
              </a:tabLst>
            </a:pPr>
            <a:r>
              <a:rPr b="0" lang="en-GB" sz="600" spc="-1" strike="noStrike">
                <a:solidFill>
                  <a:srgbClr val="ffffff"/>
                </a:solidFill>
                <a:latin typeface="Arial"/>
                <a:ea typeface="Arial"/>
              </a:rPr>
              <a:t>and integration</a:t>
            </a:r>
            <a:endParaRPr b="0" lang="en-US" sz="600" spc="-1" strike="noStrike">
              <a:latin typeface="Arial"/>
            </a:endParaRPr>
          </a:p>
        </p:txBody>
      </p:sp>
      <p:sp>
        <p:nvSpPr>
          <p:cNvPr id="135" name="Google Shape;134;p20"/>
          <p:cNvSpPr/>
          <p:nvPr/>
        </p:nvSpPr>
        <p:spPr>
          <a:xfrm>
            <a:off x="189360" y="408456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36" name="Google Shape;135;p20"/>
          <p:cNvSpPr/>
          <p:nvPr/>
        </p:nvSpPr>
        <p:spPr>
          <a:xfrm>
            <a:off x="504720" y="4114440"/>
            <a:ext cx="46080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Gazebo</a:t>
            </a:r>
            <a:endParaRPr b="0" lang="en-US" sz="700" spc="-1" strike="noStrike">
              <a:latin typeface="Arial"/>
            </a:endParaRPr>
          </a:p>
        </p:txBody>
      </p:sp>
      <p:sp>
        <p:nvSpPr>
          <p:cNvPr id="137" name="Google Shape;136;p20"/>
          <p:cNvSpPr/>
          <p:nvPr/>
        </p:nvSpPr>
        <p:spPr>
          <a:xfrm>
            <a:off x="1276560" y="4111560"/>
            <a:ext cx="132660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Sawyer &amp; hand camara</a:t>
            </a:r>
            <a:endParaRPr b="0" lang="en-US" sz="700" spc="-1" strike="noStrike">
              <a:latin typeface="Arial"/>
            </a:endParaRPr>
          </a:p>
        </p:txBody>
      </p:sp>
      <p:sp>
        <p:nvSpPr>
          <p:cNvPr id="138" name="Google Shape;137;p20"/>
          <p:cNvSpPr/>
          <p:nvPr/>
        </p:nvSpPr>
        <p:spPr>
          <a:xfrm>
            <a:off x="1391760" y="507852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39" name="Google Shape;138;p20"/>
          <p:cNvSpPr/>
          <p:nvPr/>
        </p:nvSpPr>
        <p:spPr>
          <a:xfrm>
            <a:off x="1403280" y="5100840"/>
            <a:ext cx="114696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Parallel-jaw gripper</a:t>
            </a:r>
            <a:endParaRPr b="0" lang="en-US" sz="700" spc="-1" strike="noStrike">
              <a:latin typeface="Arial"/>
            </a:endParaRPr>
          </a:p>
        </p:txBody>
      </p:sp>
      <p:sp>
        <p:nvSpPr>
          <p:cNvPr id="140" name="Google Shape;139;p20"/>
          <p:cNvSpPr/>
          <p:nvPr/>
        </p:nvSpPr>
        <p:spPr>
          <a:xfrm>
            <a:off x="189360" y="5078520"/>
            <a:ext cx="1096200" cy="246240"/>
          </a:xfrm>
          <a:prstGeom prst="roundRect">
            <a:avLst>
              <a:gd name="adj" fmla="val 16667"/>
            </a:avLst>
          </a:prstGeom>
          <a:solidFill>
            <a:schemeClr val="dk1"/>
          </a:solidFill>
          <a:ln w="10150">
            <a:solidFill>
              <a:srgbClr val="1c63b5"/>
            </a:solidFill>
            <a:round/>
          </a:ln>
          <a:effectLst>
            <a:outerShdw blurRad="39960" dir="5400000" dist="23040" rotWithShape="0">
              <a:srgbClr val="000000">
                <a:alpha val="35000"/>
              </a:srgbClr>
            </a:outerShdw>
          </a:effectLst>
        </p:spPr>
        <p:style>
          <a:lnRef idx="0"/>
          <a:fillRef idx="0"/>
          <a:effectRef idx="0"/>
          <a:fontRef idx="minor"/>
        </p:style>
      </p:sp>
      <p:sp>
        <p:nvSpPr>
          <p:cNvPr id="141" name="Google Shape;140;p20"/>
          <p:cNvSpPr/>
          <p:nvPr/>
        </p:nvSpPr>
        <p:spPr>
          <a:xfrm>
            <a:off x="582120" y="5101920"/>
            <a:ext cx="276480" cy="151200"/>
          </a:xfrm>
          <a:prstGeom prst="rect">
            <a:avLst/>
          </a:prstGeom>
          <a:noFill/>
          <a:ln w="0">
            <a:noFill/>
          </a:ln>
        </p:spPr>
        <p:style>
          <a:lnRef idx="0"/>
          <a:fillRef idx="0"/>
          <a:effectRef idx="0"/>
          <a:fontRef idx="minor"/>
        </p:style>
        <p:txBody>
          <a:bodyPr lIns="20520" rIns="20520" tIns="6840" bIns="6840" anchor="t">
            <a:noAutofit/>
          </a:bodyPr>
          <a:p>
            <a:pPr algn="ctr">
              <a:lnSpc>
                <a:spcPct val="100000"/>
              </a:lnSpc>
              <a:buNone/>
              <a:tabLst>
                <a:tab algn="l" pos="0"/>
              </a:tabLst>
            </a:pPr>
            <a:r>
              <a:rPr b="1" lang="en-GB" sz="700" spc="-1" strike="noStrike">
                <a:solidFill>
                  <a:srgbClr val="ffffff"/>
                </a:solidFill>
                <a:latin typeface="Calibri"/>
                <a:ea typeface="Calibri"/>
              </a:rPr>
              <a:t>ROS</a:t>
            </a:r>
            <a:endParaRPr b="0" lang="en-US" sz="700" spc="-1" strike="noStrike">
              <a:latin typeface="Arial"/>
            </a:endParaRPr>
          </a:p>
        </p:txBody>
      </p:sp>
      <p:pic>
        <p:nvPicPr>
          <p:cNvPr id="142" name="Google Shape;141;p20" descr=""/>
          <p:cNvPicPr/>
          <p:nvPr/>
        </p:nvPicPr>
        <p:blipFill>
          <a:blip r:embed="rId1"/>
          <a:stretch/>
        </p:blipFill>
        <p:spPr>
          <a:xfrm>
            <a:off x="350640" y="1902600"/>
            <a:ext cx="1980000" cy="1980000"/>
          </a:xfrm>
          <a:prstGeom prst="rect">
            <a:avLst/>
          </a:prstGeom>
          <a:ln w="0">
            <a:noFill/>
          </a:ln>
        </p:spPr>
      </p:pic>
      <p:sp>
        <p:nvSpPr>
          <p:cNvPr id="143" name="Google Shape;142;p20"/>
          <p:cNvSpPr/>
          <p:nvPr/>
        </p:nvSpPr>
        <p:spPr>
          <a:xfrm>
            <a:off x="4097520" y="1037520"/>
            <a:ext cx="4418640" cy="383400"/>
          </a:xfrm>
          <a:prstGeom prst="roundRect">
            <a:avLst>
              <a:gd name="adj" fmla="val 16667"/>
            </a:avLst>
          </a:prstGeom>
          <a:solidFill>
            <a:srgbClr val="b2a0c7"/>
          </a:solidFill>
          <a:ln w="12700">
            <a:solidFill>
              <a:srgbClr val="634aa7"/>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n-GB" sz="1100" spc="-1" strike="noStrike">
                <a:solidFill>
                  <a:srgbClr val="634aa7"/>
                </a:solidFill>
                <a:latin typeface="Arial"/>
                <a:ea typeface="Arial"/>
              </a:rPr>
              <a:t>Startup Sequence (Orchestrated Launch)</a:t>
            </a:r>
            <a:endParaRPr b="0" lang="en-US" sz="1100" spc="-1" strike="noStrike">
              <a:latin typeface="Arial"/>
            </a:endParaRPr>
          </a:p>
        </p:txBody>
      </p:sp>
      <p:sp>
        <p:nvSpPr>
          <p:cNvPr id="144" name="Google Shape;143;p20"/>
          <p:cNvSpPr/>
          <p:nvPr/>
        </p:nvSpPr>
        <p:spPr>
          <a:xfrm>
            <a:off x="4025160" y="1755000"/>
            <a:ext cx="4617000" cy="502200"/>
          </a:xfrm>
          <a:prstGeom prst="roundRect">
            <a:avLst>
              <a:gd name="adj" fmla="val 16667"/>
            </a:avLst>
          </a:prstGeom>
          <a:solidFill>
            <a:srgbClr val="e5dfeb"/>
          </a:solidFill>
          <a:ln w="12700">
            <a:solidFill>
              <a:srgbClr val="634aa7"/>
            </a:solidFill>
            <a:round/>
          </a:ln>
          <a:effectLst>
            <a:outerShdw blurRad="39960" dir="5400000" dist="23040" rotWithShape="0">
              <a:srgbClr val="000000">
                <a:alpha val="35000"/>
              </a:srgbClr>
            </a:outerShdw>
          </a:effectLst>
        </p:spPr>
        <p:style>
          <a:lnRef idx="0"/>
          <a:fillRef idx="0"/>
          <a:effectRef idx="0"/>
          <a:fontRef idx="minor"/>
        </p:style>
      </p:sp>
      <p:sp>
        <p:nvSpPr>
          <p:cNvPr id="145" name="Google Shape;144;p20"/>
          <p:cNvSpPr/>
          <p:nvPr/>
        </p:nvSpPr>
        <p:spPr>
          <a:xfrm>
            <a:off x="4204440" y="1796400"/>
            <a:ext cx="4205160" cy="2109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900" spc="-1" strike="noStrike">
                <a:solidFill>
                  <a:srgbClr val="634aa7"/>
                </a:solidFill>
                <a:latin typeface="Arial"/>
                <a:ea typeface="Arial"/>
              </a:rPr>
              <a:t>Custom launch file: sawyer_david.launch</a:t>
            </a:r>
            <a:endParaRPr b="0" lang="en-US" sz="900" spc="-1" strike="noStrike">
              <a:latin typeface="Arial"/>
            </a:endParaRPr>
          </a:p>
        </p:txBody>
      </p:sp>
      <p:sp>
        <p:nvSpPr>
          <p:cNvPr id="146" name="Google Shape;145;p20"/>
          <p:cNvSpPr/>
          <p:nvPr/>
        </p:nvSpPr>
        <p:spPr>
          <a:xfrm>
            <a:off x="4310640" y="1992240"/>
            <a:ext cx="4205160" cy="1803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700" spc="-1" strike="noStrike">
                <a:solidFill>
                  <a:srgbClr val="505050"/>
                </a:solidFill>
                <a:latin typeface="Arial"/>
                <a:ea typeface="Arial"/>
              </a:rPr>
              <a:t>Orchestrates the startup sequence</a:t>
            </a:r>
            <a:endParaRPr b="0" lang="en-US" sz="700" spc="-1" strike="noStrike">
              <a:latin typeface="Arial"/>
            </a:endParaRPr>
          </a:p>
        </p:txBody>
      </p:sp>
      <p:sp>
        <p:nvSpPr>
          <p:cNvPr id="147" name="Google Shape;146;p20"/>
          <p:cNvSpPr/>
          <p:nvPr/>
        </p:nvSpPr>
        <p:spPr>
          <a:xfrm>
            <a:off x="3076560" y="2765520"/>
            <a:ext cx="1205280" cy="2906640"/>
          </a:xfrm>
          <a:prstGeom prst="roundRect">
            <a:avLst>
              <a:gd name="adj" fmla="val 16667"/>
            </a:avLst>
          </a:prstGeom>
          <a:solidFill>
            <a:srgbClr val="17365d"/>
          </a:solidFill>
          <a:ln w="1395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148" name="Google Shape;147;p20"/>
          <p:cNvSpPr/>
          <p:nvPr/>
        </p:nvSpPr>
        <p:spPr>
          <a:xfrm>
            <a:off x="3515400" y="2564280"/>
            <a:ext cx="346680" cy="346680"/>
          </a:xfrm>
          <a:prstGeom prst="ellipse">
            <a:avLst/>
          </a:prstGeom>
          <a:solidFill>
            <a:srgbClr val="2563a5"/>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1</a:t>
            </a:r>
            <a:endParaRPr b="0" lang="en-US" sz="1100" spc="-1" strike="noStrike">
              <a:latin typeface="Arial"/>
            </a:endParaRPr>
          </a:p>
        </p:txBody>
      </p:sp>
      <p:sp>
        <p:nvSpPr>
          <p:cNvPr id="149" name="Google Shape;148;p20"/>
          <p:cNvSpPr/>
          <p:nvPr/>
        </p:nvSpPr>
        <p:spPr>
          <a:xfrm>
            <a:off x="3115440" y="2924280"/>
            <a:ext cx="113328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b7cce4"/>
                </a:solidFill>
                <a:latin typeface="Arial"/>
                <a:ea typeface="Arial"/>
              </a:rPr>
              <a:t>0 s:</a:t>
            </a:r>
            <a:endParaRPr b="0" lang="en-US" sz="1300" spc="-1" strike="noStrike">
              <a:latin typeface="Arial"/>
            </a:endParaRPr>
          </a:p>
        </p:txBody>
      </p:sp>
      <p:sp>
        <p:nvSpPr>
          <p:cNvPr id="150" name="Google Shape;149;p20"/>
          <p:cNvSpPr/>
          <p:nvPr/>
        </p:nvSpPr>
        <p:spPr>
          <a:xfrm>
            <a:off x="3115440" y="3218040"/>
            <a:ext cx="1150920" cy="3808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ffffff"/>
                </a:solidFill>
                <a:latin typeface="Arial"/>
                <a:ea typeface="Arial"/>
              </a:rPr>
              <a:t>Launch</a:t>
            </a:r>
            <a:endParaRPr b="0" lang="en-US" sz="800" spc="-1" strike="noStrike">
              <a:latin typeface="Arial"/>
            </a:endParaRPr>
          </a:p>
          <a:p>
            <a:pPr algn="ctr">
              <a:lnSpc>
                <a:spcPct val="100000"/>
              </a:lnSpc>
              <a:buNone/>
              <a:tabLst>
                <a:tab algn="l" pos="0"/>
              </a:tabLst>
            </a:pPr>
            <a:r>
              <a:rPr b="1" lang="en-GB" sz="800" spc="-1" strike="noStrike">
                <a:solidFill>
                  <a:srgbClr val="ffffff"/>
                </a:solidFill>
                <a:latin typeface="Arial"/>
                <a:ea typeface="Arial"/>
              </a:rPr>
              <a:t>simulation</a:t>
            </a:r>
            <a:endParaRPr b="0" lang="en-US" sz="800" spc="-1" strike="noStrike">
              <a:latin typeface="Arial"/>
            </a:endParaRPr>
          </a:p>
        </p:txBody>
      </p:sp>
      <p:sp>
        <p:nvSpPr>
          <p:cNvPr id="151" name="Google Shape;150;p20"/>
          <p:cNvSpPr/>
          <p:nvPr/>
        </p:nvSpPr>
        <p:spPr>
          <a:xfrm flipH="1" rot="10800000">
            <a:off x="3230280" y="3811680"/>
            <a:ext cx="843480" cy="10800"/>
          </a:xfrm>
          <a:custGeom>
            <a:avLst/>
            <a:gdLst/>
            <a:ahLst/>
            <a:rect l="l" t="t" r="r" b="b"/>
            <a:pathLst>
              <a:path w="21600" h="21600">
                <a:moveTo>
                  <a:pt x="0" y="0"/>
                </a:moveTo>
                <a:lnTo>
                  <a:pt x="21600" y="21600"/>
                </a:lnTo>
              </a:path>
            </a:pathLst>
          </a:custGeom>
          <a:noFill/>
          <a:ln w="12700">
            <a:solidFill>
              <a:srgbClr val="2563a5"/>
            </a:solidFill>
            <a:round/>
          </a:ln>
        </p:spPr>
        <p:style>
          <a:lnRef idx="0"/>
          <a:fillRef idx="0"/>
          <a:effectRef idx="0"/>
          <a:fontRef idx="minor"/>
        </p:style>
      </p:sp>
      <p:sp>
        <p:nvSpPr>
          <p:cNvPr id="152" name="Google Shape;151;p20"/>
          <p:cNvSpPr/>
          <p:nvPr/>
        </p:nvSpPr>
        <p:spPr>
          <a:xfrm>
            <a:off x="4624560" y="2777400"/>
            <a:ext cx="1206360" cy="2907000"/>
          </a:xfrm>
          <a:prstGeom prst="roundRect">
            <a:avLst>
              <a:gd name="adj" fmla="val 16667"/>
            </a:avLst>
          </a:prstGeom>
          <a:solidFill>
            <a:srgbClr val="4f6128"/>
          </a:solidFill>
          <a:ln w="13950">
            <a:solidFill>
              <a:srgbClr val="498b40"/>
            </a:solidFill>
            <a:round/>
          </a:ln>
          <a:effectLst>
            <a:outerShdw blurRad="39960" dir="5400000" dist="23040" rotWithShape="0">
              <a:srgbClr val="000000">
                <a:alpha val="35000"/>
              </a:srgbClr>
            </a:outerShdw>
          </a:effectLst>
        </p:spPr>
        <p:style>
          <a:lnRef idx="0"/>
          <a:fillRef idx="0"/>
          <a:effectRef idx="0"/>
          <a:fontRef idx="minor"/>
        </p:style>
      </p:sp>
      <p:sp>
        <p:nvSpPr>
          <p:cNvPr id="153" name="Google Shape;152;p20"/>
          <p:cNvSpPr/>
          <p:nvPr/>
        </p:nvSpPr>
        <p:spPr>
          <a:xfrm>
            <a:off x="5033160" y="2564280"/>
            <a:ext cx="346680" cy="346680"/>
          </a:xfrm>
          <a:prstGeom prst="ellipse">
            <a:avLst/>
          </a:prstGeom>
          <a:solidFill>
            <a:srgbClr val="498b40"/>
          </a:solidFill>
          <a:ln w="15225">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2</a:t>
            </a:r>
            <a:endParaRPr b="0" lang="en-US" sz="1100" spc="-1" strike="noStrike">
              <a:latin typeface="Arial"/>
            </a:endParaRPr>
          </a:p>
        </p:txBody>
      </p:sp>
      <p:sp>
        <p:nvSpPr>
          <p:cNvPr id="154" name="Google Shape;153;p20"/>
          <p:cNvSpPr/>
          <p:nvPr/>
        </p:nvSpPr>
        <p:spPr>
          <a:xfrm>
            <a:off x="4679280" y="2945520"/>
            <a:ext cx="113328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d6e3bc"/>
                </a:solidFill>
                <a:latin typeface="Arial"/>
                <a:ea typeface="Arial"/>
              </a:rPr>
              <a:t>18 s:</a:t>
            </a:r>
            <a:endParaRPr b="0" lang="en-US" sz="1300" spc="-1" strike="noStrike">
              <a:latin typeface="Arial"/>
            </a:endParaRPr>
          </a:p>
        </p:txBody>
      </p:sp>
      <p:sp>
        <p:nvSpPr>
          <p:cNvPr id="155" name="Google Shape;154;p20"/>
          <p:cNvSpPr/>
          <p:nvPr/>
        </p:nvSpPr>
        <p:spPr>
          <a:xfrm>
            <a:off x="4679280" y="3229560"/>
            <a:ext cx="1150920" cy="3808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d6e3bc"/>
                </a:solidFill>
                <a:latin typeface="Arial"/>
                <a:ea typeface="Arial"/>
              </a:rPr>
              <a:t>spawn_pick_</a:t>
            </a:r>
            <a:endParaRPr b="0" lang="en-US" sz="800" spc="-1" strike="noStrike">
              <a:latin typeface="Arial"/>
            </a:endParaRPr>
          </a:p>
          <a:p>
            <a:pPr algn="ctr">
              <a:lnSpc>
                <a:spcPct val="100000"/>
              </a:lnSpc>
              <a:buNone/>
              <a:tabLst>
                <a:tab algn="l" pos="0"/>
              </a:tabLst>
            </a:pPr>
            <a:r>
              <a:rPr b="1" lang="en-GB" sz="800" spc="-1" strike="noStrike">
                <a:solidFill>
                  <a:srgbClr val="d6e3bc"/>
                </a:solidFill>
                <a:latin typeface="Arial"/>
                <a:ea typeface="Arial"/>
              </a:rPr>
              <a:t>place_scene.py</a:t>
            </a:r>
            <a:endParaRPr b="0" lang="en-US" sz="800" spc="-1" strike="noStrike">
              <a:latin typeface="Arial"/>
            </a:endParaRPr>
          </a:p>
        </p:txBody>
      </p:sp>
      <p:sp>
        <p:nvSpPr>
          <p:cNvPr id="156" name="Google Shape;155;p20"/>
          <p:cNvSpPr/>
          <p:nvPr/>
        </p:nvSpPr>
        <p:spPr>
          <a:xfrm>
            <a:off x="4697280" y="3830040"/>
            <a:ext cx="1072800" cy="720"/>
          </a:xfrm>
          <a:custGeom>
            <a:avLst/>
            <a:gdLst/>
            <a:ahLst/>
            <a:rect l="l" t="t" r="r" b="b"/>
            <a:pathLst>
              <a:path w="21600" h="21600">
                <a:moveTo>
                  <a:pt x="0" y="0"/>
                </a:moveTo>
                <a:lnTo>
                  <a:pt x="21600" y="21600"/>
                </a:lnTo>
              </a:path>
            </a:pathLst>
          </a:custGeom>
          <a:noFill/>
          <a:ln w="12700">
            <a:solidFill>
              <a:srgbClr val="498b40"/>
            </a:solidFill>
            <a:round/>
          </a:ln>
        </p:spPr>
        <p:style>
          <a:lnRef idx="0"/>
          <a:fillRef idx="0"/>
          <a:effectRef idx="0"/>
          <a:fontRef idx="minor"/>
        </p:style>
      </p:sp>
      <p:sp>
        <p:nvSpPr>
          <p:cNvPr id="157" name="Google Shape;156;p20"/>
          <p:cNvSpPr/>
          <p:nvPr/>
        </p:nvSpPr>
        <p:spPr>
          <a:xfrm>
            <a:off x="4624560" y="3898800"/>
            <a:ext cx="1150920" cy="87840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700" spc="-1" strike="noStrike">
                <a:solidFill>
                  <a:srgbClr val="d6e3bc"/>
                </a:solidFill>
                <a:latin typeface="Arial"/>
                <a:ea typeface="Arial"/>
              </a:rPr>
              <a:t>Populate the table</a:t>
            </a:r>
            <a:endParaRPr b="0" lang="en-US" sz="700" spc="-1" strike="noStrike">
              <a:latin typeface="Arial"/>
            </a:endParaRPr>
          </a:p>
          <a:p>
            <a:pPr>
              <a:lnSpc>
                <a:spcPct val="100000"/>
              </a:lnSpc>
              <a:buNone/>
              <a:tabLst>
                <a:tab algn="l" pos="0"/>
              </a:tabLst>
            </a:pPr>
            <a:r>
              <a:rPr b="0" lang="en-GB" sz="700" spc="-1" strike="noStrike">
                <a:solidFill>
                  <a:srgbClr val="d6e3bc"/>
                </a:solidFill>
                <a:latin typeface="Arial"/>
                <a:ea typeface="Arial"/>
              </a:rPr>
              <a:t>with 9 objects</a:t>
            </a:r>
            <a:endParaRPr b="0" lang="en-US" sz="700" spc="-1" strike="noStrike">
              <a:latin typeface="Arial"/>
            </a:endParaRPr>
          </a:p>
          <a:p>
            <a:pPr>
              <a:lnSpc>
                <a:spcPct val="100000"/>
              </a:lnSpc>
              <a:buNone/>
              <a:tabLst>
                <a:tab algn="l" pos="0"/>
              </a:tabLst>
            </a:pPr>
            <a:r>
              <a:rPr b="0" lang="en-GB" sz="700" spc="-1" strike="noStrike">
                <a:solidFill>
                  <a:srgbClr val="d6e3bc"/>
                </a:solidFill>
                <a:latin typeface="Arial"/>
                <a:ea typeface="Arial"/>
              </a:rPr>
              <a:t>(blocks, cans, boxes</a:t>
            </a:r>
            <a:endParaRPr b="0" lang="en-US" sz="700" spc="-1" strike="noStrike">
              <a:latin typeface="Arial"/>
            </a:endParaRPr>
          </a:p>
          <a:p>
            <a:pPr>
              <a:lnSpc>
                <a:spcPct val="100000"/>
              </a:lnSpc>
              <a:buNone/>
              <a:tabLst>
                <a:tab algn="l" pos="0"/>
              </a:tabLst>
            </a:pPr>
            <a:r>
              <a:rPr b="0" lang="en-GB" sz="700" spc="-1" strike="noStrike">
                <a:solidFill>
                  <a:srgbClr val="d6e3bc"/>
                </a:solidFill>
                <a:latin typeface="Arial"/>
                <a:ea typeface="Arial"/>
              </a:rPr>
              <a:t>of different sizes</a:t>
            </a:r>
            <a:endParaRPr b="0" lang="en-US" sz="700" spc="-1" strike="noStrike">
              <a:latin typeface="Arial"/>
            </a:endParaRPr>
          </a:p>
          <a:p>
            <a:pPr algn="ctr">
              <a:lnSpc>
                <a:spcPct val="100000"/>
              </a:lnSpc>
              <a:buNone/>
              <a:tabLst>
                <a:tab algn="l" pos="0"/>
              </a:tabLst>
            </a:pPr>
            <a:r>
              <a:rPr b="0" lang="en-GB" sz="700" spc="-1" strike="noStrike">
                <a:solidFill>
                  <a:srgbClr val="d6e3bc"/>
                </a:solidFill>
                <a:latin typeface="Arial"/>
                <a:ea typeface="Arial"/>
              </a:rPr>
              <a:t>and colors)</a:t>
            </a:r>
            <a:endParaRPr b="0" lang="en-US" sz="700" spc="-1" strike="noStrike">
              <a:latin typeface="Arial"/>
            </a:endParaRPr>
          </a:p>
        </p:txBody>
      </p:sp>
      <p:sp>
        <p:nvSpPr>
          <p:cNvPr id="158" name="Google Shape;157;p20"/>
          <p:cNvSpPr/>
          <p:nvPr/>
        </p:nvSpPr>
        <p:spPr>
          <a:xfrm>
            <a:off x="6266160" y="2777760"/>
            <a:ext cx="1261080" cy="2952360"/>
          </a:xfrm>
          <a:prstGeom prst="roundRect">
            <a:avLst>
              <a:gd name="adj" fmla="val 16667"/>
            </a:avLst>
          </a:prstGeom>
          <a:solidFill>
            <a:srgbClr val="e36c09"/>
          </a:solidFill>
          <a:ln w="13950">
            <a:solidFill>
              <a:srgbClr val="e89417"/>
            </a:solidFill>
            <a:round/>
          </a:ln>
          <a:effectLst>
            <a:outerShdw blurRad="39960" dir="5400000" dist="23040" rotWithShape="0">
              <a:srgbClr val="000000">
                <a:alpha val="35000"/>
              </a:srgbClr>
            </a:outerShdw>
          </a:effectLst>
        </p:spPr>
        <p:style>
          <a:lnRef idx="0"/>
          <a:fillRef idx="0"/>
          <a:effectRef idx="0"/>
          <a:fontRef idx="minor"/>
        </p:style>
      </p:sp>
      <p:sp>
        <p:nvSpPr>
          <p:cNvPr id="159" name="Google Shape;158;p20"/>
          <p:cNvSpPr/>
          <p:nvPr/>
        </p:nvSpPr>
        <p:spPr>
          <a:xfrm>
            <a:off x="6705360" y="2576520"/>
            <a:ext cx="346680" cy="351720"/>
          </a:xfrm>
          <a:prstGeom prst="ellipse">
            <a:avLst/>
          </a:prstGeom>
          <a:solidFill>
            <a:srgbClr val="e89417"/>
          </a:solidFill>
          <a:ln w="15225">
            <a:solidFill>
              <a:srgbClr val="e89417"/>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3</a:t>
            </a:r>
            <a:endParaRPr b="0" lang="en-US" sz="1100" spc="-1" strike="noStrike">
              <a:latin typeface="Arial"/>
            </a:endParaRPr>
          </a:p>
        </p:txBody>
      </p:sp>
      <p:sp>
        <p:nvSpPr>
          <p:cNvPr id="160" name="Google Shape;159;p20"/>
          <p:cNvSpPr/>
          <p:nvPr/>
        </p:nvSpPr>
        <p:spPr>
          <a:xfrm>
            <a:off x="6352200" y="2961720"/>
            <a:ext cx="113328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fabf8e"/>
                </a:solidFill>
                <a:latin typeface="Arial"/>
                <a:ea typeface="Arial"/>
              </a:rPr>
              <a:t>35 s:</a:t>
            </a:r>
            <a:endParaRPr b="0" lang="en-US" sz="1300" spc="-1" strike="noStrike">
              <a:latin typeface="Arial"/>
            </a:endParaRPr>
          </a:p>
        </p:txBody>
      </p:sp>
      <p:sp>
        <p:nvSpPr>
          <p:cNvPr id="161" name="Google Shape;160;p20"/>
          <p:cNvSpPr/>
          <p:nvPr/>
        </p:nvSpPr>
        <p:spPr>
          <a:xfrm>
            <a:off x="6320880" y="3229560"/>
            <a:ext cx="1150920" cy="3808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fde9d8"/>
                </a:solidFill>
                <a:latin typeface="Arial"/>
                <a:ea typeface="Arial"/>
              </a:rPr>
              <a:t>send_safe_</a:t>
            </a:r>
            <a:endParaRPr b="0" lang="en-US" sz="800" spc="-1" strike="noStrike">
              <a:latin typeface="Arial"/>
            </a:endParaRPr>
          </a:p>
          <a:p>
            <a:pPr algn="ctr">
              <a:lnSpc>
                <a:spcPct val="100000"/>
              </a:lnSpc>
              <a:buNone/>
              <a:tabLst>
                <a:tab algn="l" pos="0"/>
              </a:tabLst>
            </a:pPr>
            <a:r>
              <a:rPr b="1" lang="en-GB" sz="800" spc="-1" strike="noStrike">
                <a:solidFill>
                  <a:srgbClr val="fde9d8"/>
                </a:solidFill>
                <a:latin typeface="Arial"/>
                <a:ea typeface="Arial"/>
              </a:rPr>
              <a:t>pose.py</a:t>
            </a:r>
            <a:endParaRPr b="0" lang="en-US" sz="800" spc="-1" strike="noStrike">
              <a:latin typeface="Arial"/>
            </a:endParaRPr>
          </a:p>
        </p:txBody>
      </p:sp>
      <p:sp>
        <p:nvSpPr>
          <p:cNvPr id="162" name="Google Shape;161;p20"/>
          <p:cNvSpPr/>
          <p:nvPr/>
        </p:nvSpPr>
        <p:spPr>
          <a:xfrm>
            <a:off x="6410160" y="3821760"/>
            <a:ext cx="1042560" cy="720"/>
          </a:xfrm>
          <a:custGeom>
            <a:avLst/>
            <a:gdLst/>
            <a:ahLst/>
            <a:rect l="l" t="t" r="r" b="b"/>
            <a:pathLst>
              <a:path w="21600" h="21600">
                <a:moveTo>
                  <a:pt x="0" y="0"/>
                </a:moveTo>
                <a:lnTo>
                  <a:pt x="21600" y="21600"/>
                </a:lnTo>
              </a:path>
            </a:pathLst>
          </a:custGeom>
          <a:noFill/>
          <a:ln w="12700">
            <a:solidFill>
              <a:srgbClr val="e89417"/>
            </a:solidFill>
            <a:round/>
          </a:ln>
        </p:spPr>
        <p:style>
          <a:lnRef idx="0"/>
          <a:fillRef idx="0"/>
          <a:effectRef idx="0"/>
          <a:fontRef idx="minor"/>
        </p:style>
      </p:sp>
      <p:sp>
        <p:nvSpPr>
          <p:cNvPr id="163" name="Google Shape;162;p20"/>
          <p:cNvSpPr/>
          <p:nvPr/>
        </p:nvSpPr>
        <p:spPr>
          <a:xfrm>
            <a:off x="6284160" y="3894480"/>
            <a:ext cx="1150920" cy="45684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700" spc="-1" strike="noStrike">
                <a:solidFill>
                  <a:srgbClr val="fde9d8"/>
                </a:solidFill>
                <a:latin typeface="Arial"/>
                <a:ea typeface="Arial"/>
              </a:rPr>
              <a:t>Move the arm to</a:t>
            </a:r>
            <a:endParaRPr b="0" lang="en-US" sz="700" spc="-1" strike="noStrike">
              <a:latin typeface="Arial"/>
            </a:endParaRPr>
          </a:p>
          <a:p>
            <a:pPr>
              <a:lnSpc>
                <a:spcPct val="100000"/>
              </a:lnSpc>
              <a:buNone/>
              <a:tabLst>
                <a:tab algn="l" pos="0"/>
              </a:tabLst>
            </a:pPr>
            <a:r>
              <a:rPr b="0" lang="en-GB" sz="700" spc="-1" strike="noStrike">
                <a:solidFill>
                  <a:srgbClr val="fde9d8"/>
                </a:solidFill>
                <a:latin typeface="Arial"/>
                <a:ea typeface="Arial"/>
              </a:rPr>
              <a:t>a neutral / safe</a:t>
            </a:r>
            <a:endParaRPr b="0" lang="en-US" sz="700" spc="-1" strike="noStrike">
              <a:latin typeface="Arial"/>
            </a:endParaRPr>
          </a:p>
          <a:p>
            <a:pPr algn="ctr">
              <a:lnSpc>
                <a:spcPct val="100000"/>
              </a:lnSpc>
              <a:buNone/>
              <a:tabLst>
                <a:tab algn="l" pos="0"/>
              </a:tabLst>
            </a:pPr>
            <a:r>
              <a:rPr b="0" lang="en-GB" sz="700" spc="-1" strike="noStrike">
                <a:solidFill>
                  <a:srgbClr val="fde9d8"/>
                </a:solidFill>
                <a:latin typeface="Arial"/>
                <a:ea typeface="Arial"/>
              </a:rPr>
              <a:t>posture</a:t>
            </a:r>
            <a:endParaRPr b="0" lang="en-US" sz="700" spc="-1" strike="noStrike">
              <a:latin typeface="Arial"/>
            </a:endParaRPr>
          </a:p>
        </p:txBody>
      </p:sp>
      <p:sp>
        <p:nvSpPr>
          <p:cNvPr id="164" name="Google Shape;163;p20"/>
          <p:cNvSpPr/>
          <p:nvPr/>
        </p:nvSpPr>
        <p:spPr>
          <a:xfrm>
            <a:off x="7937640" y="2786040"/>
            <a:ext cx="1398240" cy="2963880"/>
          </a:xfrm>
          <a:prstGeom prst="roundRect">
            <a:avLst>
              <a:gd name="adj" fmla="val 16667"/>
            </a:avLst>
          </a:prstGeom>
          <a:solidFill>
            <a:srgbClr val="a50021"/>
          </a:solidFill>
          <a:ln w="1395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165" name="Google Shape;164;p20"/>
          <p:cNvSpPr/>
          <p:nvPr/>
        </p:nvSpPr>
        <p:spPr>
          <a:xfrm>
            <a:off x="8377200" y="2564280"/>
            <a:ext cx="321480" cy="353160"/>
          </a:xfrm>
          <a:prstGeom prst="ellipse">
            <a:avLst/>
          </a:prstGeom>
          <a:solidFill>
            <a:srgbClr val="c00000"/>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1100" spc="-1" strike="noStrike">
                <a:solidFill>
                  <a:srgbClr val="ffffff"/>
                </a:solidFill>
                <a:latin typeface="Arial"/>
                <a:ea typeface="Arial"/>
              </a:rPr>
              <a:t>4</a:t>
            </a:r>
            <a:endParaRPr b="0" lang="en-US" sz="1100" spc="-1" strike="noStrike">
              <a:latin typeface="Arial"/>
            </a:endParaRPr>
          </a:p>
        </p:txBody>
      </p:sp>
      <p:sp>
        <p:nvSpPr>
          <p:cNvPr id="166" name="Google Shape;165;p20"/>
          <p:cNvSpPr/>
          <p:nvPr/>
        </p:nvSpPr>
        <p:spPr>
          <a:xfrm>
            <a:off x="8064720" y="2944080"/>
            <a:ext cx="1177920" cy="294840"/>
          </a:xfrm>
          <a:prstGeom prst="rect">
            <a:avLst/>
          </a:prstGeom>
          <a:noFill/>
          <a:ln w="0">
            <a:noFill/>
          </a:ln>
        </p:spPr>
        <p:style>
          <a:lnRef idx="0"/>
          <a:fillRef idx="0"/>
          <a:effectRef idx="0"/>
          <a:fontRef idx="minor"/>
        </p:style>
        <p:txBody>
          <a:bodyPr lIns="34200" rIns="34200" tIns="13680" bIns="13680" anchor="ctr">
            <a:noAutofit/>
          </a:bodyPr>
          <a:p>
            <a:pPr algn="ctr">
              <a:lnSpc>
                <a:spcPct val="100000"/>
              </a:lnSpc>
              <a:buNone/>
              <a:tabLst>
                <a:tab algn="l" pos="0"/>
              </a:tabLst>
            </a:pPr>
            <a:r>
              <a:rPr b="1" lang="en-GB" sz="1300" spc="-1" strike="noStrike">
                <a:solidFill>
                  <a:srgbClr val="e5b8b7"/>
                </a:solidFill>
                <a:latin typeface="Arial"/>
                <a:ea typeface="Arial"/>
              </a:rPr>
              <a:t>70 s:</a:t>
            </a:r>
            <a:endParaRPr b="0" lang="en-US" sz="1300" spc="-1" strike="noStrike">
              <a:latin typeface="Arial"/>
            </a:endParaRPr>
          </a:p>
        </p:txBody>
      </p:sp>
      <p:sp>
        <p:nvSpPr>
          <p:cNvPr id="167" name="Google Shape;166;p20"/>
          <p:cNvSpPr/>
          <p:nvPr/>
        </p:nvSpPr>
        <p:spPr>
          <a:xfrm>
            <a:off x="8047800" y="3203640"/>
            <a:ext cx="1194840" cy="5529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e5b8b7"/>
                </a:solidFill>
                <a:latin typeface="Arial"/>
                <a:ea typeface="Arial"/>
              </a:rPr>
              <a:t>go_to_top_</a:t>
            </a:r>
            <a:endParaRPr b="0" lang="en-US" sz="800" spc="-1" strike="noStrike">
              <a:latin typeface="Arial"/>
            </a:endParaRPr>
          </a:p>
          <a:p>
            <a:pPr>
              <a:lnSpc>
                <a:spcPct val="100000"/>
              </a:lnSpc>
              <a:buNone/>
              <a:tabLst>
                <a:tab algn="l" pos="0"/>
              </a:tabLst>
            </a:pPr>
            <a:r>
              <a:rPr b="1" lang="en-GB" sz="800" spc="-1" strike="noStrike">
                <a:solidFill>
                  <a:srgbClr val="e5b8b7"/>
                </a:solidFill>
                <a:latin typeface="Arial"/>
                <a:ea typeface="Arial"/>
              </a:rPr>
              <a:t>hand_camera_</a:t>
            </a:r>
            <a:endParaRPr b="0" lang="en-US" sz="800" spc="-1" strike="noStrike">
              <a:latin typeface="Arial"/>
            </a:endParaRPr>
          </a:p>
          <a:p>
            <a:pPr algn="ctr">
              <a:lnSpc>
                <a:spcPct val="100000"/>
              </a:lnSpc>
              <a:buNone/>
              <a:tabLst>
                <a:tab algn="l" pos="0"/>
              </a:tabLst>
            </a:pPr>
            <a:r>
              <a:rPr b="1" lang="en-GB" sz="800" spc="-1" strike="noStrike">
                <a:solidFill>
                  <a:srgbClr val="e5b8b7"/>
                </a:solidFill>
                <a:latin typeface="Arial"/>
                <a:ea typeface="Arial"/>
              </a:rPr>
              <a:t>pos.py</a:t>
            </a:r>
            <a:endParaRPr b="0" lang="en-US" sz="800" spc="-1" strike="noStrike">
              <a:latin typeface="Arial"/>
            </a:endParaRPr>
          </a:p>
        </p:txBody>
      </p:sp>
      <p:sp>
        <p:nvSpPr>
          <p:cNvPr id="168" name="Google Shape;167;p20"/>
          <p:cNvSpPr/>
          <p:nvPr/>
        </p:nvSpPr>
        <p:spPr>
          <a:xfrm>
            <a:off x="8102520" y="3825360"/>
            <a:ext cx="1093680" cy="360"/>
          </a:xfrm>
          <a:custGeom>
            <a:avLst/>
            <a:gdLst/>
            <a:ahLst/>
            <a:rect l="l" t="t" r="r" b="b"/>
            <a:pathLst>
              <a:path w="21600" h="21600">
                <a:moveTo>
                  <a:pt x="0" y="0"/>
                </a:moveTo>
                <a:lnTo>
                  <a:pt x="21600" y="21600"/>
                </a:lnTo>
              </a:path>
            </a:pathLst>
          </a:custGeom>
          <a:noFill/>
          <a:ln w="9525">
            <a:solidFill>
              <a:srgbClr val="be4b48"/>
            </a:solidFill>
            <a:round/>
          </a:ln>
        </p:spPr>
        <p:style>
          <a:lnRef idx="0"/>
          <a:fillRef idx="0"/>
          <a:effectRef idx="0"/>
          <a:fontRef idx="minor"/>
        </p:style>
      </p:sp>
      <p:sp>
        <p:nvSpPr>
          <p:cNvPr id="169" name="Google Shape;168;p20"/>
          <p:cNvSpPr/>
          <p:nvPr/>
        </p:nvSpPr>
        <p:spPr>
          <a:xfrm>
            <a:off x="7967520" y="3833640"/>
            <a:ext cx="1288440" cy="59760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700" spc="-1" strike="noStrike">
                <a:solidFill>
                  <a:srgbClr val="e5b8b7"/>
                </a:solidFill>
                <a:latin typeface="Arial"/>
                <a:ea typeface="Arial"/>
              </a:rPr>
              <a:t>Move the hand</a:t>
            </a:r>
            <a:endParaRPr b="0" lang="en-US" sz="700" spc="-1" strike="noStrike">
              <a:latin typeface="Arial"/>
            </a:endParaRPr>
          </a:p>
          <a:p>
            <a:pPr>
              <a:lnSpc>
                <a:spcPct val="100000"/>
              </a:lnSpc>
              <a:buNone/>
              <a:tabLst>
                <a:tab algn="l" pos="0"/>
              </a:tabLst>
            </a:pPr>
            <a:r>
              <a:rPr b="0" lang="en-GB" sz="700" spc="-1" strike="noStrike">
                <a:solidFill>
                  <a:srgbClr val="e5b8b7"/>
                </a:solidFill>
                <a:latin typeface="Arial"/>
                <a:ea typeface="Arial"/>
              </a:rPr>
              <a:t>camera above the</a:t>
            </a:r>
            <a:endParaRPr b="0" lang="en-US" sz="700" spc="-1" strike="noStrike">
              <a:latin typeface="Arial"/>
            </a:endParaRPr>
          </a:p>
          <a:p>
            <a:pPr>
              <a:lnSpc>
                <a:spcPct val="100000"/>
              </a:lnSpc>
              <a:buNone/>
              <a:tabLst>
                <a:tab algn="l" pos="0"/>
              </a:tabLst>
            </a:pPr>
            <a:r>
              <a:rPr b="0" lang="en-GB" sz="700" spc="-1" strike="noStrike">
                <a:solidFill>
                  <a:srgbClr val="e5b8b7"/>
                </a:solidFill>
                <a:latin typeface="Arial"/>
                <a:ea typeface="Arial"/>
              </a:rPr>
              <a:t>workspace for</a:t>
            </a:r>
            <a:endParaRPr b="0" lang="en-US" sz="700" spc="-1" strike="noStrike">
              <a:latin typeface="Arial"/>
            </a:endParaRPr>
          </a:p>
          <a:p>
            <a:pPr algn="ctr">
              <a:lnSpc>
                <a:spcPct val="100000"/>
              </a:lnSpc>
              <a:buNone/>
              <a:tabLst>
                <a:tab algn="l" pos="0"/>
              </a:tabLst>
            </a:pPr>
            <a:r>
              <a:rPr b="0" lang="en-GB" sz="700" spc="-1" strike="noStrike">
                <a:solidFill>
                  <a:srgbClr val="e5b8b7"/>
                </a:solidFill>
                <a:latin typeface="Arial"/>
                <a:ea typeface="Arial"/>
              </a:rPr>
              <a:t>top-down perception</a:t>
            </a:r>
            <a:endParaRPr b="0" lang="en-US" sz="700" spc="-1" strike="noStrike">
              <a:latin typeface="Arial"/>
            </a:endParaRPr>
          </a:p>
        </p:txBody>
      </p:sp>
      <p:sp>
        <p:nvSpPr>
          <p:cNvPr id="170" name="Google Shape;169;p20"/>
          <p:cNvSpPr/>
          <p:nvPr/>
        </p:nvSpPr>
        <p:spPr>
          <a:xfrm>
            <a:off x="4329000" y="4064040"/>
            <a:ext cx="20088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171" name="Google Shape;170;p20"/>
          <p:cNvSpPr/>
          <p:nvPr/>
        </p:nvSpPr>
        <p:spPr>
          <a:xfrm>
            <a:off x="6040440" y="3585240"/>
            <a:ext cx="308880" cy="308880"/>
          </a:xfrm>
          <a:prstGeom prst="rect">
            <a:avLst/>
          </a:prstGeom>
          <a:noFill/>
          <a:ln w="0">
            <a:noFill/>
          </a:ln>
        </p:spPr>
        <p:style>
          <a:lnRef idx="0"/>
          <a:fillRef idx="0"/>
          <a:effectRef idx="0"/>
          <a:fontRef idx="minor"/>
        </p:style>
      </p:sp>
      <p:pic>
        <p:nvPicPr>
          <p:cNvPr id="172" name="Google Shape;171;p20" descr=""/>
          <p:cNvPicPr/>
          <p:nvPr/>
        </p:nvPicPr>
        <p:blipFill>
          <a:blip r:embed="rId2"/>
          <a:stretch/>
        </p:blipFill>
        <p:spPr>
          <a:xfrm>
            <a:off x="6430680" y="4520880"/>
            <a:ext cx="1016280" cy="1115640"/>
          </a:xfrm>
          <a:prstGeom prst="rect">
            <a:avLst/>
          </a:prstGeom>
          <a:ln w="0">
            <a:noFill/>
          </a:ln>
        </p:spPr>
      </p:pic>
      <p:sp>
        <p:nvSpPr>
          <p:cNvPr id="173" name="Google Shape;172;p20"/>
          <p:cNvSpPr/>
          <p:nvPr/>
        </p:nvSpPr>
        <p:spPr>
          <a:xfrm>
            <a:off x="5942160" y="4064040"/>
            <a:ext cx="20088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174" name="Google Shape;173;p20"/>
          <p:cNvSpPr/>
          <p:nvPr/>
        </p:nvSpPr>
        <p:spPr>
          <a:xfrm>
            <a:off x="7648920" y="4053960"/>
            <a:ext cx="200880" cy="360"/>
          </a:xfrm>
          <a:custGeom>
            <a:avLst/>
            <a:gdLst/>
            <a:ahLst/>
            <a:rect l="l" t="t" r="r" b="b"/>
            <a:pathLst>
              <a:path w="21600" h="21600">
                <a:moveTo>
                  <a:pt x="0" y="0"/>
                </a:moveTo>
                <a:lnTo>
                  <a:pt x="21600" y="21600"/>
                </a:lnTo>
              </a:path>
            </a:pathLst>
          </a:custGeom>
          <a:noFill/>
          <a:ln w="30475">
            <a:solidFill>
              <a:srgbClr val="528dd5"/>
            </a:solidFill>
            <a:round/>
          </a:ln>
        </p:spPr>
        <p:style>
          <a:lnRef idx="0"/>
          <a:fillRef idx="0"/>
          <a:effectRef idx="0"/>
          <a:fontRef idx="minor"/>
        </p:style>
      </p:sp>
      <p:sp>
        <p:nvSpPr>
          <p:cNvPr id="175" name="Google Shape;174;p20"/>
          <p:cNvSpPr/>
          <p:nvPr/>
        </p:nvSpPr>
        <p:spPr>
          <a:xfrm>
            <a:off x="9647640" y="1148040"/>
            <a:ext cx="2415240" cy="4982760"/>
          </a:xfrm>
          <a:prstGeom prst="roundRect">
            <a:avLst>
              <a:gd name="adj" fmla="val 16667"/>
            </a:avLst>
          </a:prstGeom>
          <a:solidFill>
            <a:srgbClr val="003300"/>
          </a:solidFill>
          <a:ln w="13950">
            <a:solidFill>
              <a:srgbClr val="498b40"/>
            </a:solidFill>
            <a:prstDash val="dash"/>
            <a:round/>
          </a:ln>
          <a:effectLst>
            <a:outerShdw blurRad="39960" dir="5400000" dist="23040" rotWithShape="0">
              <a:srgbClr val="000000">
                <a:alpha val="35000"/>
              </a:srgbClr>
            </a:outerShdw>
          </a:effectLst>
        </p:spPr>
        <p:style>
          <a:lnRef idx="0"/>
          <a:fillRef idx="0"/>
          <a:effectRef idx="0"/>
          <a:fontRef idx="minor"/>
        </p:style>
      </p:sp>
      <p:sp>
        <p:nvSpPr>
          <p:cNvPr id="176" name="Google Shape;175;p20"/>
          <p:cNvSpPr/>
          <p:nvPr/>
        </p:nvSpPr>
        <p:spPr>
          <a:xfrm>
            <a:off x="10058760" y="913320"/>
            <a:ext cx="1656720" cy="325080"/>
          </a:xfrm>
          <a:prstGeom prst="roundRect">
            <a:avLst>
              <a:gd name="adj" fmla="val 16667"/>
            </a:avLst>
          </a:prstGeom>
          <a:solidFill>
            <a:srgbClr val="76923c"/>
          </a:solidFill>
          <a:ln w="12700">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1" lang="en-GB" sz="900" spc="-1" strike="noStrike">
                <a:solidFill>
                  <a:srgbClr val="1e642d"/>
                </a:solidFill>
                <a:latin typeface="Arial"/>
                <a:ea typeface="Arial"/>
              </a:rPr>
              <a:t>Initialization Result</a:t>
            </a:r>
            <a:endParaRPr b="0" lang="en-US" sz="900" spc="-1" strike="noStrike">
              <a:latin typeface="Arial"/>
            </a:endParaRPr>
          </a:p>
        </p:txBody>
      </p:sp>
      <p:sp>
        <p:nvSpPr>
          <p:cNvPr id="177" name="Google Shape;176;p20"/>
          <p:cNvSpPr/>
          <p:nvPr/>
        </p:nvSpPr>
        <p:spPr>
          <a:xfrm>
            <a:off x="10140840" y="1388880"/>
            <a:ext cx="1849680" cy="6066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900" spc="-1" strike="noStrike">
                <a:solidFill>
                  <a:srgbClr val="d6e3bc"/>
                </a:solidFill>
                <a:latin typeface="Arial"/>
                <a:ea typeface="Arial"/>
              </a:rPr>
              <a:t>System Ready for Perception</a:t>
            </a:r>
            <a:endParaRPr b="0" lang="en-US" sz="900" spc="-1" strike="noStrike">
              <a:latin typeface="Arial"/>
            </a:endParaRPr>
          </a:p>
          <a:p>
            <a:pPr>
              <a:lnSpc>
                <a:spcPct val="100000"/>
              </a:lnSpc>
              <a:buNone/>
              <a:tabLst>
                <a:tab algn="l" pos="0"/>
              </a:tabLst>
            </a:pPr>
            <a:r>
              <a:rPr b="1" lang="en-GB" sz="900" spc="-1" strike="noStrike">
                <a:solidFill>
                  <a:srgbClr val="d6e3bc"/>
                </a:solidFill>
                <a:latin typeface="Arial"/>
                <a:ea typeface="Arial"/>
              </a:rPr>
              <a:t>and Task Execution</a:t>
            </a:r>
            <a:endParaRPr b="0" lang="en-US" sz="900" spc="-1" strike="noStrike">
              <a:latin typeface="Arial"/>
            </a:endParaRPr>
          </a:p>
        </p:txBody>
      </p:sp>
      <p:sp>
        <p:nvSpPr>
          <p:cNvPr id="178" name="Google Shape;177;p20"/>
          <p:cNvSpPr/>
          <p:nvPr/>
        </p:nvSpPr>
        <p:spPr>
          <a:xfrm>
            <a:off x="9783720" y="2059200"/>
            <a:ext cx="2113560" cy="844560"/>
          </a:xfrm>
          <a:prstGeom prst="rect">
            <a:avLst/>
          </a:prstGeom>
          <a:noFill/>
          <a:ln w="0">
            <a:noFill/>
          </a:ln>
        </p:spPr>
        <p:style>
          <a:lnRef idx="0"/>
          <a:fillRef idx="0"/>
          <a:effectRef idx="0"/>
          <a:fontRef idx="minor"/>
        </p:style>
        <p:txBody>
          <a:bodyPr lIns="34200" rIns="34200" tIns="13680" bIns="13680" anchor="t">
            <a:noAutofit/>
          </a:bodyPr>
          <a:p>
            <a:pPr>
              <a:lnSpc>
                <a:spcPct val="100000"/>
              </a:lnSpc>
              <a:buNone/>
              <a:tabLst>
                <a:tab algn="l" pos="0"/>
              </a:tabLst>
            </a:pPr>
            <a:r>
              <a:rPr b="0" lang="en-GB" sz="800" spc="-1" strike="noStrike">
                <a:solidFill>
                  <a:srgbClr val="eaf1dd"/>
                </a:solidFill>
                <a:latin typeface="Arial"/>
                <a:ea typeface="Arial"/>
              </a:rPr>
              <a:t>This staged initialization ensures the scene is ready, the arm is initialized, and the camera has a clear top-down view before LLM-generated code runs.</a:t>
            </a:r>
            <a:endParaRPr b="0" lang="en-US" sz="800" spc="-1" strike="noStrike">
              <a:latin typeface="Arial"/>
            </a:endParaRPr>
          </a:p>
        </p:txBody>
      </p:sp>
      <p:sp>
        <p:nvSpPr>
          <p:cNvPr id="179" name="Google Shape;178;p20"/>
          <p:cNvSpPr/>
          <p:nvPr/>
        </p:nvSpPr>
        <p:spPr>
          <a:xfrm>
            <a:off x="9865800" y="3088080"/>
            <a:ext cx="2018520" cy="1898280"/>
          </a:xfrm>
          <a:prstGeom prst="roundRect">
            <a:avLst>
              <a:gd name="adj" fmla="val 16667"/>
            </a:avLst>
          </a:prstGeom>
          <a:solidFill>
            <a:srgbClr val="c2d59b"/>
          </a:solidFill>
          <a:ln w="10150">
            <a:solidFill>
              <a:srgbClr val="498b40"/>
            </a:solidFill>
            <a:round/>
          </a:ln>
          <a:effectLst>
            <a:outerShdw blurRad="39960" dir="5400000" dist="23040" rotWithShape="0">
              <a:srgbClr val="000000">
                <a:alpha val="35000"/>
              </a:srgbClr>
            </a:outerShdw>
          </a:effectLst>
        </p:spPr>
        <p:style>
          <a:lnRef idx="0"/>
          <a:fillRef idx="0"/>
          <a:effectRef idx="0"/>
          <a:fontRef idx="minor"/>
        </p:style>
      </p:sp>
      <p:sp>
        <p:nvSpPr>
          <p:cNvPr id="180" name="Google Shape;179;p20"/>
          <p:cNvSpPr/>
          <p:nvPr/>
        </p:nvSpPr>
        <p:spPr>
          <a:xfrm>
            <a:off x="10201320" y="2925720"/>
            <a:ext cx="1279440" cy="314280"/>
          </a:xfrm>
          <a:prstGeom prst="roundRect">
            <a:avLst>
              <a:gd name="adj" fmla="val 16667"/>
            </a:avLst>
          </a:prstGeom>
          <a:solidFill>
            <a:srgbClr val="f7fff5"/>
          </a:solidFill>
          <a:ln w="10150">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41040" rIns="41040" tIns="20520" bIns="20520" anchor="ctr">
            <a:noAutofit/>
          </a:bodyPr>
          <a:p>
            <a:pPr algn="ctr">
              <a:lnSpc>
                <a:spcPct val="100000"/>
              </a:lnSpc>
              <a:buNone/>
              <a:tabLst>
                <a:tab algn="l" pos="0"/>
              </a:tabLst>
            </a:pPr>
            <a:r>
              <a:rPr b="0" lang="en-GB" sz="600" spc="-1" strike="noStrike">
                <a:solidFill>
                  <a:srgbClr val="000000"/>
                </a:solidFill>
                <a:latin typeface="Arial"/>
                <a:ea typeface="Arial"/>
              </a:rPr>
              <a:t>Top-down camera view</a:t>
            </a:r>
            <a:endParaRPr b="0" lang="en-US" sz="600" spc="-1" strike="noStrike">
              <a:latin typeface="Arial"/>
            </a:endParaRPr>
          </a:p>
        </p:txBody>
      </p:sp>
      <p:sp>
        <p:nvSpPr>
          <p:cNvPr id="181" name="Google Shape;180;p20"/>
          <p:cNvSpPr/>
          <p:nvPr/>
        </p:nvSpPr>
        <p:spPr>
          <a:xfrm>
            <a:off x="10701720" y="5536800"/>
            <a:ext cx="421920" cy="360"/>
          </a:xfrm>
          <a:custGeom>
            <a:avLst/>
            <a:gdLst/>
            <a:ahLst/>
            <a:rect l="l" t="t" r="r" b="b"/>
            <a:pathLst>
              <a:path w="21600" h="21600">
                <a:moveTo>
                  <a:pt x="0" y="0"/>
                </a:moveTo>
                <a:lnTo>
                  <a:pt x="21600" y="21600"/>
                </a:lnTo>
              </a:path>
            </a:pathLst>
          </a:custGeom>
          <a:noFill/>
          <a:ln w="22850">
            <a:solidFill>
              <a:srgbClr val="498b40"/>
            </a:solidFill>
            <a:round/>
          </a:ln>
        </p:spPr>
        <p:style>
          <a:lnRef idx="0"/>
          <a:fillRef idx="0"/>
          <a:effectRef idx="0"/>
          <a:fontRef idx="minor"/>
        </p:style>
      </p:sp>
      <p:sp>
        <p:nvSpPr>
          <p:cNvPr id="182" name="Google Shape;181;p20"/>
          <p:cNvSpPr/>
          <p:nvPr/>
        </p:nvSpPr>
        <p:spPr>
          <a:xfrm>
            <a:off x="9875880" y="5749560"/>
            <a:ext cx="812880" cy="2890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eaf1dd"/>
                </a:solidFill>
                <a:latin typeface="Arial"/>
                <a:ea typeface="Arial"/>
              </a:rPr>
              <a:t>LLM-generated</a:t>
            </a:r>
            <a:endParaRPr b="0" lang="en-US" sz="600" spc="-1" strike="noStrike">
              <a:latin typeface="Arial"/>
            </a:endParaRPr>
          </a:p>
          <a:p>
            <a:pPr algn="ctr">
              <a:lnSpc>
                <a:spcPct val="100000"/>
              </a:lnSpc>
              <a:buNone/>
              <a:tabLst>
                <a:tab algn="l" pos="0"/>
              </a:tabLst>
            </a:pPr>
            <a:r>
              <a:rPr b="0" lang="en-GB" sz="600" spc="-1" strike="noStrike">
                <a:solidFill>
                  <a:srgbClr val="eaf1dd"/>
                </a:solidFill>
                <a:latin typeface="Arial"/>
                <a:ea typeface="Arial"/>
              </a:rPr>
              <a:t>code execution</a:t>
            </a:r>
            <a:endParaRPr b="0" lang="en-US" sz="600" spc="-1" strike="noStrike">
              <a:latin typeface="Arial"/>
            </a:endParaRPr>
          </a:p>
        </p:txBody>
      </p:sp>
      <p:sp>
        <p:nvSpPr>
          <p:cNvPr id="183" name="Google Shape;182;p20"/>
          <p:cNvSpPr/>
          <p:nvPr/>
        </p:nvSpPr>
        <p:spPr>
          <a:xfrm>
            <a:off x="11359080" y="5731920"/>
            <a:ext cx="632160" cy="2890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0" lang="en-GB" sz="600" spc="-1" strike="noStrike">
                <a:solidFill>
                  <a:srgbClr val="eaf1dd"/>
                </a:solidFill>
                <a:latin typeface="Arial"/>
                <a:ea typeface="Arial"/>
              </a:rPr>
              <a:t>Task</a:t>
            </a:r>
            <a:endParaRPr b="0" lang="en-US" sz="600" spc="-1" strike="noStrike">
              <a:latin typeface="Arial"/>
            </a:endParaRPr>
          </a:p>
          <a:p>
            <a:pPr algn="ctr">
              <a:lnSpc>
                <a:spcPct val="100000"/>
              </a:lnSpc>
              <a:buNone/>
              <a:tabLst>
                <a:tab algn="l" pos="0"/>
              </a:tabLst>
            </a:pPr>
            <a:r>
              <a:rPr b="0" lang="en-GB" sz="600" spc="-1" strike="noStrike">
                <a:solidFill>
                  <a:srgbClr val="eaf1dd"/>
                </a:solidFill>
                <a:latin typeface="Arial"/>
                <a:ea typeface="Arial"/>
              </a:rPr>
              <a:t>execution</a:t>
            </a:r>
            <a:endParaRPr b="0" lang="en-US" sz="600" spc="-1" strike="noStrike">
              <a:latin typeface="Arial"/>
            </a:endParaRPr>
          </a:p>
        </p:txBody>
      </p:sp>
      <p:pic>
        <p:nvPicPr>
          <p:cNvPr id="184" name="Google Shape;183;p20" descr=""/>
          <p:cNvPicPr/>
          <p:nvPr/>
        </p:nvPicPr>
        <p:blipFill>
          <a:blip r:embed="rId3"/>
          <a:srcRect l="20233" t="12630" r="13251" b="13550"/>
          <a:stretch/>
        </p:blipFill>
        <p:spPr>
          <a:xfrm>
            <a:off x="11400120" y="5209560"/>
            <a:ext cx="487080" cy="540360"/>
          </a:xfrm>
          <a:prstGeom prst="rect">
            <a:avLst/>
          </a:prstGeom>
          <a:ln w="0">
            <a:noFill/>
          </a:ln>
        </p:spPr>
      </p:pic>
      <p:pic>
        <p:nvPicPr>
          <p:cNvPr id="185" name="Google Shape;184;p20" descr=""/>
          <p:cNvPicPr/>
          <p:nvPr/>
        </p:nvPicPr>
        <p:blipFill>
          <a:blip r:embed="rId4"/>
          <a:srcRect l="18026" t="12983" r="13613" b="15747"/>
          <a:stretch/>
        </p:blipFill>
        <p:spPr>
          <a:xfrm>
            <a:off x="9960480" y="5209560"/>
            <a:ext cx="528120" cy="550440"/>
          </a:xfrm>
          <a:prstGeom prst="rect">
            <a:avLst/>
          </a:prstGeom>
          <a:ln w="0">
            <a:noFill/>
          </a:ln>
        </p:spPr>
      </p:pic>
      <p:sp>
        <p:nvSpPr>
          <p:cNvPr id="186" name="Google Shape;185;p20"/>
          <p:cNvSpPr/>
          <p:nvPr/>
        </p:nvSpPr>
        <p:spPr>
          <a:xfrm>
            <a:off x="10408680" y="5078520"/>
            <a:ext cx="1072800" cy="720"/>
          </a:xfrm>
          <a:custGeom>
            <a:avLst/>
            <a:gdLst/>
            <a:ahLst/>
            <a:rect l="l" t="t" r="r" b="b"/>
            <a:pathLst>
              <a:path w="21600" h="21600">
                <a:moveTo>
                  <a:pt x="0" y="0"/>
                </a:moveTo>
                <a:lnTo>
                  <a:pt x="21600" y="21600"/>
                </a:lnTo>
              </a:path>
            </a:pathLst>
          </a:custGeom>
          <a:noFill/>
          <a:ln w="12700">
            <a:solidFill>
              <a:srgbClr val="498b40"/>
            </a:solidFill>
            <a:round/>
          </a:ln>
        </p:spPr>
        <p:style>
          <a:lnRef idx="0"/>
          <a:fillRef idx="0"/>
          <a:effectRef idx="0"/>
          <a:fontRef idx="minor"/>
        </p:style>
      </p:sp>
      <p:sp>
        <p:nvSpPr>
          <p:cNvPr id="187" name="Google Shape;186;p20"/>
          <p:cNvSpPr/>
          <p:nvPr/>
        </p:nvSpPr>
        <p:spPr>
          <a:xfrm>
            <a:off x="10931400" y="5078520"/>
            <a:ext cx="720" cy="176040"/>
          </a:xfrm>
          <a:custGeom>
            <a:avLst/>
            <a:gdLst/>
            <a:ahLst/>
            <a:rect l="l" t="t" r="r" b="b"/>
            <a:pathLst>
              <a:path w="21600" h="21600">
                <a:moveTo>
                  <a:pt x="0" y="0"/>
                </a:moveTo>
                <a:lnTo>
                  <a:pt x="21600" y="21600"/>
                </a:lnTo>
              </a:path>
            </a:pathLst>
          </a:custGeom>
          <a:noFill/>
          <a:ln w="9525">
            <a:solidFill>
              <a:srgbClr val="9bbb59"/>
            </a:solidFill>
            <a:round/>
            <a:tailEnd len="med" type="triangle" w="med"/>
          </a:ln>
        </p:spPr>
        <p:style>
          <a:lnRef idx="0"/>
          <a:fillRef idx="0"/>
          <a:effectRef idx="0"/>
          <a:fontRef idx="minor"/>
        </p:style>
      </p:sp>
      <p:sp>
        <p:nvSpPr>
          <p:cNvPr id="188" name="Google Shape;187;p20"/>
          <p:cNvSpPr/>
          <p:nvPr/>
        </p:nvSpPr>
        <p:spPr>
          <a:xfrm>
            <a:off x="189360" y="6168240"/>
            <a:ext cx="11840400" cy="597240"/>
          </a:xfrm>
          <a:prstGeom prst="roundRect">
            <a:avLst>
              <a:gd name="adj" fmla="val 16667"/>
            </a:avLst>
          </a:prstGeom>
          <a:solidFill>
            <a:srgbClr val="7f7f7f"/>
          </a:solidFill>
          <a:ln w="12700">
            <a:solidFill>
              <a:srgbClr val="2563a5"/>
            </a:solidFill>
            <a:round/>
          </a:ln>
          <a:effectLst>
            <a:outerShdw blurRad="39960" dir="5400000" dist="23040" rotWithShape="0">
              <a:srgbClr val="000000">
                <a:alpha val="35000"/>
              </a:srgbClr>
            </a:outerShdw>
          </a:effectLst>
        </p:spPr>
        <p:style>
          <a:lnRef idx="0"/>
          <a:fillRef idx="0"/>
          <a:effectRef idx="0"/>
          <a:fontRef idx="minor"/>
        </p:style>
      </p:sp>
      <p:sp>
        <p:nvSpPr>
          <p:cNvPr id="189" name="Google Shape;188;p20"/>
          <p:cNvSpPr/>
          <p:nvPr/>
        </p:nvSpPr>
        <p:spPr>
          <a:xfrm>
            <a:off x="483120" y="6309360"/>
            <a:ext cx="383760" cy="33840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0" lang="en-GB" sz="1200" spc="-1" strike="noStrike">
                <a:solidFill>
                  <a:srgbClr val="2563a5"/>
                </a:solidFill>
                <a:latin typeface="Arial"/>
                <a:ea typeface="Arial"/>
              </a:rPr>
              <a:t>⏱</a:t>
            </a:r>
            <a:endParaRPr b="0" lang="en-US" sz="1200" spc="-1" strike="noStrike">
              <a:latin typeface="Arial"/>
            </a:endParaRPr>
          </a:p>
        </p:txBody>
      </p:sp>
      <p:sp>
        <p:nvSpPr>
          <p:cNvPr id="190" name="Google Shape;189;p20"/>
          <p:cNvSpPr/>
          <p:nvPr/>
        </p:nvSpPr>
        <p:spPr>
          <a:xfrm>
            <a:off x="952560" y="6372720"/>
            <a:ext cx="1378080" cy="20340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07315d"/>
                </a:solidFill>
                <a:latin typeface="Arial"/>
                <a:ea typeface="Arial"/>
              </a:rPr>
              <a:t>Timing Summary</a:t>
            </a:r>
            <a:endParaRPr b="0" lang="en-US" sz="800" spc="-1" strike="noStrike">
              <a:latin typeface="Arial"/>
            </a:endParaRPr>
          </a:p>
        </p:txBody>
      </p:sp>
      <p:sp>
        <p:nvSpPr>
          <p:cNvPr id="191" name="Google Shape;190;p20"/>
          <p:cNvSpPr/>
          <p:nvPr/>
        </p:nvSpPr>
        <p:spPr>
          <a:xfrm>
            <a:off x="3017520" y="6309360"/>
            <a:ext cx="370080" cy="35316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nSpc>
                <a:spcPct val="100000"/>
              </a:lnSpc>
              <a:buNone/>
              <a:tabLst>
                <a:tab algn="l" pos="0"/>
              </a:tabLst>
            </a:pPr>
            <a:r>
              <a:rPr b="1" lang="en-GB" sz="800" spc="-1" strike="noStrike">
                <a:solidFill>
                  <a:srgbClr val="2563a5"/>
                </a:solidFill>
                <a:latin typeface="Times New Roman"/>
                <a:ea typeface="Times New Roman"/>
              </a:rPr>
              <a:t>0s</a:t>
            </a:r>
            <a:endParaRPr b="0" lang="en-US" sz="800" spc="-1" strike="noStrike">
              <a:latin typeface="Arial"/>
            </a:endParaRPr>
          </a:p>
        </p:txBody>
      </p:sp>
      <p:sp>
        <p:nvSpPr>
          <p:cNvPr id="192" name="Google Shape;191;p20"/>
          <p:cNvSpPr/>
          <p:nvPr/>
        </p:nvSpPr>
        <p:spPr>
          <a:xfrm>
            <a:off x="3507120" y="6407640"/>
            <a:ext cx="566280" cy="18036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launch</a:t>
            </a:r>
            <a:endParaRPr b="0" lang="en-US" sz="700" spc="-1" strike="noStrike">
              <a:latin typeface="Arial"/>
            </a:endParaRPr>
          </a:p>
        </p:txBody>
      </p:sp>
      <p:sp>
        <p:nvSpPr>
          <p:cNvPr id="193" name="Google Shape;192;p20"/>
          <p:cNvSpPr/>
          <p:nvPr/>
        </p:nvSpPr>
        <p:spPr>
          <a:xfrm>
            <a:off x="4097520" y="6466320"/>
            <a:ext cx="34200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194" name="Google Shape;193;p20"/>
          <p:cNvSpPr/>
          <p:nvPr/>
        </p:nvSpPr>
        <p:spPr>
          <a:xfrm>
            <a:off x="4677120" y="6309000"/>
            <a:ext cx="380880" cy="367200"/>
          </a:xfrm>
          <a:prstGeom prst="ellipse">
            <a:avLst/>
          </a:prstGeom>
          <a:solidFill>
            <a:srgbClr val="ffffff"/>
          </a:solidFill>
          <a:ln w="15225">
            <a:solidFill>
              <a:srgbClr val="498b40"/>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800" spc="-1" strike="noStrike">
                <a:solidFill>
                  <a:srgbClr val="498b40"/>
                </a:solidFill>
                <a:latin typeface="Arial"/>
                <a:ea typeface="Arial"/>
              </a:rPr>
              <a:t>18 s</a:t>
            </a:r>
            <a:endParaRPr b="0" lang="en-US" sz="800" spc="-1" strike="noStrike">
              <a:latin typeface="Arial"/>
            </a:endParaRPr>
          </a:p>
        </p:txBody>
      </p:sp>
      <p:sp>
        <p:nvSpPr>
          <p:cNvPr id="195" name="Google Shape;194;p20"/>
          <p:cNvSpPr/>
          <p:nvPr/>
        </p:nvSpPr>
        <p:spPr>
          <a:xfrm>
            <a:off x="5160240" y="6310080"/>
            <a:ext cx="933840" cy="3106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objects</a:t>
            </a:r>
            <a:endParaRPr b="0" lang="en-US" sz="700" spc="-1" strike="noStrike">
              <a:latin typeface="Arial"/>
            </a:endParaRPr>
          </a:p>
          <a:p>
            <a:pPr>
              <a:lnSpc>
                <a:spcPct val="100000"/>
              </a:lnSpc>
              <a:buNone/>
              <a:tabLst>
                <a:tab algn="l" pos="0"/>
              </a:tabLst>
            </a:pPr>
            <a:r>
              <a:rPr b="1" lang="en-GB" sz="700" spc="-1" strike="noStrike">
                <a:solidFill>
                  <a:srgbClr val="07315d"/>
                </a:solidFill>
                <a:latin typeface="Arial"/>
                <a:ea typeface="Arial"/>
              </a:rPr>
              <a:t>(populated)</a:t>
            </a:r>
            <a:endParaRPr b="0" lang="en-US" sz="700" spc="-1" strike="noStrike">
              <a:latin typeface="Arial"/>
            </a:endParaRPr>
          </a:p>
        </p:txBody>
      </p:sp>
      <p:sp>
        <p:nvSpPr>
          <p:cNvPr id="196" name="Google Shape;195;p20"/>
          <p:cNvSpPr/>
          <p:nvPr/>
        </p:nvSpPr>
        <p:spPr>
          <a:xfrm>
            <a:off x="5942160" y="6500520"/>
            <a:ext cx="34200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197" name="Google Shape;196;p20"/>
          <p:cNvSpPr/>
          <p:nvPr/>
        </p:nvSpPr>
        <p:spPr>
          <a:xfrm>
            <a:off x="6514200" y="6309000"/>
            <a:ext cx="380880" cy="367200"/>
          </a:xfrm>
          <a:prstGeom prst="ellipse">
            <a:avLst/>
          </a:prstGeom>
          <a:solidFill>
            <a:srgbClr val="ffffff"/>
          </a:solidFill>
          <a:ln w="15225">
            <a:solidFill>
              <a:srgbClr val="e89417"/>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800" spc="-1" strike="noStrike">
                <a:solidFill>
                  <a:srgbClr val="e89417"/>
                </a:solidFill>
                <a:latin typeface="Arial"/>
                <a:ea typeface="Arial"/>
              </a:rPr>
              <a:t>35 s</a:t>
            </a:r>
            <a:endParaRPr b="0" lang="en-US" sz="800" spc="-1" strike="noStrike">
              <a:latin typeface="Arial"/>
            </a:endParaRPr>
          </a:p>
        </p:txBody>
      </p:sp>
      <p:sp>
        <p:nvSpPr>
          <p:cNvPr id="198" name="Google Shape;197;p20"/>
          <p:cNvSpPr/>
          <p:nvPr/>
        </p:nvSpPr>
        <p:spPr>
          <a:xfrm>
            <a:off x="7018920" y="6310080"/>
            <a:ext cx="754200" cy="3106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safe pose</a:t>
            </a:r>
            <a:endParaRPr b="0" lang="en-US" sz="700" spc="-1" strike="noStrike">
              <a:latin typeface="Arial"/>
            </a:endParaRPr>
          </a:p>
          <a:p>
            <a:pPr>
              <a:lnSpc>
                <a:spcPct val="100000"/>
              </a:lnSpc>
              <a:buNone/>
              <a:tabLst>
                <a:tab algn="l" pos="0"/>
              </a:tabLst>
            </a:pPr>
            <a:r>
              <a:rPr b="1" lang="en-GB" sz="700" spc="-1" strike="noStrike">
                <a:solidFill>
                  <a:srgbClr val="07315d"/>
                </a:solidFill>
                <a:latin typeface="Arial"/>
                <a:ea typeface="Arial"/>
              </a:rPr>
              <a:t>(arm ready)</a:t>
            </a:r>
            <a:endParaRPr b="0" lang="en-US" sz="700" spc="-1" strike="noStrike">
              <a:latin typeface="Arial"/>
            </a:endParaRPr>
          </a:p>
        </p:txBody>
      </p:sp>
      <p:sp>
        <p:nvSpPr>
          <p:cNvPr id="199" name="Google Shape;198;p20"/>
          <p:cNvSpPr/>
          <p:nvPr/>
        </p:nvSpPr>
        <p:spPr>
          <a:xfrm>
            <a:off x="7774200" y="6466320"/>
            <a:ext cx="357480" cy="360"/>
          </a:xfrm>
          <a:custGeom>
            <a:avLst/>
            <a:gdLst/>
            <a:ahLst/>
            <a:rect l="l" t="t" r="r" b="b"/>
            <a:pathLst>
              <a:path w="21600" h="21600">
                <a:moveTo>
                  <a:pt x="0" y="0"/>
                </a:moveTo>
                <a:lnTo>
                  <a:pt x="21600" y="21600"/>
                </a:lnTo>
              </a:path>
            </a:pathLst>
          </a:custGeom>
          <a:noFill/>
          <a:ln w="9525">
            <a:solidFill>
              <a:srgbClr val="634aa7"/>
            </a:solidFill>
            <a:round/>
          </a:ln>
        </p:spPr>
        <p:style>
          <a:lnRef idx="0"/>
          <a:fillRef idx="0"/>
          <a:effectRef idx="0"/>
          <a:fontRef idx="minor"/>
        </p:style>
      </p:sp>
      <p:sp>
        <p:nvSpPr>
          <p:cNvPr id="200" name="Google Shape;199;p20"/>
          <p:cNvSpPr/>
          <p:nvPr/>
        </p:nvSpPr>
        <p:spPr>
          <a:xfrm>
            <a:off x="8261280" y="6309000"/>
            <a:ext cx="380880" cy="367200"/>
          </a:xfrm>
          <a:prstGeom prst="ellipse">
            <a:avLst/>
          </a:prstGeom>
          <a:solidFill>
            <a:srgbClr val="ffffff"/>
          </a:solidFill>
          <a:ln w="15225">
            <a:solidFill>
              <a:srgbClr val="a50021"/>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1" lang="en-GB" sz="800" spc="-1" strike="noStrike">
                <a:solidFill>
                  <a:srgbClr val="c00000"/>
                </a:solidFill>
                <a:latin typeface="Arial"/>
                <a:ea typeface="Arial"/>
              </a:rPr>
              <a:t>70 s</a:t>
            </a:r>
            <a:endParaRPr b="0" lang="en-US" sz="800" spc="-1" strike="noStrike">
              <a:latin typeface="Arial"/>
            </a:endParaRPr>
          </a:p>
        </p:txBody>
      </p:sp>
      <p:sp>
        <p:nvSpPr>
          <p:cNvPr id="201" name="Google Shape;200;p20"/>
          <p:cNvSpPr/>
          <p:nvPr/>
        </p:nvSpPr>
        <p:spPr>
          <a:xfrm>
            <a:off x="8700120" y="6326280"/>
            <a:ext cx="873360" cy="31068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700" spc="-1" strike="noStrike">
                <a:solidFill>
                  <a:srgbClr val="07315d"/>
                </a:solidFill>
                <a:latin typeface="Arial"/>
                <a:ea typeface="Arial"/>
              </a:rPr>
              <a:t>camera scan</a:t>
            </a:r>
            <a:endParaRPr b="0" lang="en-US" sz="700" spc="-1" strike="noStrike">
              <a:latin typeface="Arial"/>
            </a:endParaRPr>
          </a:p>
          <a:p>
            <a:pPr>
              <a:lnSpc>
                <a:spcPct val="100000"/>
              </a:lnSpc>
              <a:buNone/>
              <a:tabLst>
                <a:tab algn="l" pos="0"/>
              </a:tabLst>
            </a:pPr>
            <a:r>
              <a:rPr b="1" lang="en-GB" sz="700" spc="-1" strike="noStrike">
                <a:solidFill>
                  <a:srgbClr val="07315d"/>
                </a:solidFill>
                <a:latin typeface="Arial"/>
                <a:ea typeface="Arial"/>
              </a:rPr>
              <a:t>ready</a:t>
            </a:r>
            <a:endParaRPr b="0" lang="en-US" sz="700" spc="-1" strike="noStrike">
              <a:latin typeface="Arial"/>
            </a:endParaRPr>
          </a:p>
        </p:txBody>
      </p:sp>
      <p:sp>
        <p:nvSpPr>
          <p:cNvPr id="202" name="Google Shape;201;p20"/>
          <p:cNvSpPr/>
          <p:nvPr/>
        </p:nvSpPr>
        <p:spPr>
          <a:xfrm>
            <a:off x="9588960" y="6271200"/>
            <a:ext cx="720" cy="344520"/>
          </a:xfrm>
          <a:custGeom>
            <a:avLst/>
            <a:gdLst/>
            <a:ahLst/>
            <a:rect l="l" t="t" r="r" b="b"/>
            <a:pathLst>
              <a:path w="21600" h="21600">
                <a:moveTo>
                  <a:pt x="0" y="0"/>
                </a:moveTo>
                <a:lnTo>
                  <a:pt x="21600" y="21600"/>
                </a:lnTo>
              </a:path>
            </a:pathLst>
          </a:custGeom>
          <a:noFill/>
          <a:ln w="12700">
            <a:solidFill>
              <a:srgbClr val="2563a5"/>
            </a:solidFill>
            <a:round/>
          </a:ln>
        </p:spPr>
        <p:style>
          <a:lnRef idx="0"/>
          <a:fillRef idx="0"/>
          <a:effectRef idx="0"/>
          <a:fontRef idx="minor"/>
        </p:style>
      </p:sp>
      <p:sp>
        <p:nvSpPr>
          <p:cNvPr id="203" name="Google Shape;202;p20"/>
          <p:cNvSpPr/>
          <p:nvPr/>
        </p:nvSpPr>
        <p:spPr>
          <a:xfrm>
            <a:off x="9900000" y="6312960"/>
            <a:ext cx="317520" cy="305640"/>
          </a:xfrm>
          <a:prstGeom prst="ellipse">
            <a:avLst/>
          </a:prstGeom>
          <a:solidFill>
            <a:srgbClr val="ffffff"/>
          </a:solidFill>
          <a:ln w="15225">
            <a:solidFill>
              <a:srgbClr val="2563a5"/>
            </a:solidFill>
            <a:round/>
          </a:ln>
          <a:effectLst>
            <a:outerShdw blurRad="39960" dir="5400000" dist="23040" rotWithShape="0">
              <a:srgbClr val="000000">
                <a:alpha val="35000"/>
              </a:srgbClr>
            </a:outerShdw>
          </a:effectLst>
        </p:spPr>
        <p:style>
          <a:lnRef idx="0"/>
          <a:fillRef idx="0"/>
          <a:effectRef idx="0"/>
          <a:fontRef idx="minor"/>
        </p:style>
        <p:txBody>
          <a:bodyPr lIns="67680" rIns="67680" tIns="33840" bIns="33840" anchor="ctr">
            <a:noAutofit/>
          </a:bodyPr>
          <a:p>
            <a:pPr algn="ctr">
              <a:lnSpc>
                <a:spcPct val="100000"/>
              </a:lnSpc>
              <a:buNone/>
              <a:tabLst>
                <a:tab algn="l" pos="0"/>
              </a:tabLst>
            </a:pPr>
            <a:r>
              <a:rPr b="0" lang="en-GB" sz="1400" spc="-1" strike="noStrike">
                <a:solidFill>
                  <a:srgbClr val="2563a5"/>
                </a:solidFill>
                <a:latin typeface="Arial"/>
                <a:ea typeface="Arial"/>
              </a:rPr>
              <a:t>◎</a:t>
            </a:r>
            <a:endParaRPr b="0" lang="en-US" sz="1400" spc="-1" strike="noStrike">
              <a:latin typeface="Arial"/>
            </a:endParaRPr>
          </a:p>
        </p:txBody>
      </p:sp>
      <p:sp>
        <p:nvSpPr>
          <p:cNvPr id="204" name="Google Shape;203;p20"/>
          <p:cNvSpPr/>
          <p:nvPr/>
        </p:nvSpPr>
        <p:spPr>
          <a:xfrm>
            <a:off x="10375920" y="6319800"/>
            <a:ext cx="1509120" cy="340920"/>
          </a:xfrm>
          <a:prstGeom prst="rect">
            <a:avLst/>
          </a:prstGeom>
          <a:noFill/>
          <a:ln w="0">
            <a:noFill/>
          </a:ln>
        </p:spPr>
        <p:style>
          <a:lnRef idx="0"/>
          <a:fillRef idx="0"/>
          <a:effectRef idx="0"/>
          <a:fontRef idx="minor"/>
        </p:style>
        <p:txBody>
          <a:bodyPr lIns="34200" rIns="34200" tIns="13680" bIns="13680" anchor="ctr">
            <a:noAutofit/>
          </a:bodyPr>
          <a:p>
            <a:pPr>
              <a:lnSpc>
                <a:spcPct val="100000"/>
              </a:lnSpc>
              <a:buNone/>
              <a:tabLst>
                <a:tab algn="l" pos="0"/>
              </a:tabLst>
            </a:pPr>
            <a:r>
              <a:rPr b="1" lang="en-GB" sz="800" spc="-1" strike="noStrike">
                <a:solidFill>
                  <a:srgbClr val="07315d"/>
                </a:solidFill>
                <a:latin typeface="Arial"/>
                <a:ea typeface="Arial"/>
              </a:rPr>
              <a:t>Ready for perception</a:t>
            </a:r>
            <a:endParaRPr b="0" lang="en-US" sz="800" spc="-1" strike="noStrike">
              <a:latin typeface="Arial"/>
            </a:endParaRPr>
          </a:p>
          <a:p>
            <a:pPr>
              <a:lnSpc>
                <a:spcPct val="100000"/>
              </a:lnSpc>
              <a:buNone/>
              <a:tabLst>
                <a:tab algn="l" pos="0"/>
              </a:tabLst>
            </a:pPr>
            <a:r>
              <a:rPr b="1" lang="en-GB" sz="800" spc="-1" strike="noStrike">
                <a:solidFill>
                  <a:srgbClr val="07315d"/>
                </a:solidFill>
                <a:latin typeface="Arial"/>
                <a:ea typeface="Arial"/>
              </a:rPr>
              <a:t>and task execution</a:t>
            </a:r>
            <a:endParaRPr b="0" lang="en-US" sz="800" spc="-1" strike="noStrike">
              <a:latin typeface="Arial"/>
            </a:endParaRPr>
          </a:p>
        </p:txBody>
      </p:sp>
      <p:pic>
        <p:nvPicPr>
          <p:cNvPr id="205" name="Google Shape;204;p20" descr=""/>
          <p:cNvPicPr/>
          <p:nvPr/>
        </p:nvPicPr>
        <p:blipFill>
          <a:blip r:embed="rId5"/>
          <a:stretch/>
        </p:blipFill>
        <p:spPr>
          <a:xfrm>
            <a:off x="4677480" y="4623480"/>
            <a:ext cx="1114200" cy="888120"/>
          </a:xfrm>
          <a:prstGeom prst="rect">
            <a:avLst/>
          </a:prstGeom>
          <a:ln w="0">
            <a:noFill/>
          </a:ln>
        </p:spPr>
      </p:pic>
      <p:pic>
        <p:nvPicPr>
          <p:cNvPr id="206" name="Google Shape;205;p20" descr=""/>
          <p:cNvPicPr/>
          <p:nvPr/>
        </p:nvPicPr>
        <p:blipFill>
          <a:blip r:embed="rId6"/>
          <a:stretch/>
        </p:blipFill>
        <p:spPr>
          <a:xfrm>
            <a:off x="3217320" y="3943440"/>
            <a:ext cx="908640" cy="1637280"/>
          </a:xfrm>
          <a:prstGeom prst="rect">
            <a:avLst/>
          </a:prstGeom>
          <a:ln w="0">
            <a:noFill/>
          </a:ln>
        </p:spPr>
      </p:pic>
      <p:pic>
        <p:nvPicPr>
          <p:cNvPr id="207" name="Google Shape;206;p20" descr=""/>
          <p:cNvPicPr/>
          <p:nvPr/>
        </p:nvPicPr>
        <p:blipFill>
          <a:blip r:embed="rId7"/>
          <a:srcRect l="5424" t="4836" r="12847" b="16566"/>
          <a:stretch/>
        </p:blipFill>
        <p:spPr>
          <a:xfrm>
            <a:off x="10092960" y="3309840"/>
            <a:ext cx="1622880" cy="1566360"/>
          </a:xfrm>
          <a:prstGeom prst="rect">
            <a:avLst/>
          </a:prstGeom>
          <a:ln w="0">
            <a:noFill/>
          </a:ln>
        </p:spPr>
      </p:pic>
      <p:pic>
        <p:nvPicPr>
          <p:cNvPr id="208" name="Google Shape;207;p20" descr=""/>
          <p:cNvPicPr/>
          <p:nvPr/>
        </p:nvPicPr>
        <p:blipFill>
          <a:blip r:embed="rId8"/>
          <a:srcRect l="0" t="0" r="0" b="13834"/>
          <a:stretch/>
        </p:blipFill>
        <p:spPr>
          <a:xfrm>
            <a:off x="8077680" y="4459320"/>
            <a:ext cx="1117800" cy="117900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09" name="Google Shape;212;p21"/>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Scene Perception  —  Sergio</a:t>
            </a:r>
            <a:endParaRPr b="0" lang="en-US" sz="2300" spc="-1" strike="noStrike">
              <a:latin typeface="Arial"/>
            </a:endParaRPr>
          </a:p>
        </p:txBody>
      </p:sp>
      <p:sp>
        <p:nvSpPr>
          <p:cNvPr id="210" name="Google Shape;213;p21"/>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11" name="Google Shape;214;p21"/>
          <p:cNvSpPr/>
          <p:nvPr/>
        </p:nvSpPr>
        <p:spPr>
          <a:xfrm>
            <a:off x="914040" y="1279800"/>
            <a:ext cx="4861440" cy="203220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Before the robot can manipulate objects, it needs to know where they are. The perception pipeline starts with make_scene(), which captures an RGB image and a synchronized depth frame from the hand-mounted camera.</a:t>
            </a:r>
            <a:endParaRPr b="0" lang="en-US" sz="1500" spc="-1" strike="noStrike">
              <a:latin typeface="Arial"/>
            </a:endParaRPr>
          </a:p>
        </p:txBody>
      </p:sp>
      <p:sp>
        <p:nvSpPr>
          <p:cNvPr id="212" name="Google Shape;215;p21"/>
          <p:cNvSpPr/>
          <p:nvPr/>
        </p:nvSpPr>
        <p:spPr>
          <a:xfrm>
            <a:off x="1043280" y="3641040"/>
            <a:ext cx="4602960" cy="224136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A YOLO26n model (trained on the object set) detects each visible object and returns 2D bounding boxes with class labels. The detector runs in real time and can handle partial occlusions and varying lighting conditions in simulation.</a:t>
            </a:r>
            <a:endParaRPr b="0" lang="en-US" sz="1500" spc="-1" strike="noStrike">
              <a:latin typeface="Arial"/>
            </a:endParaRPr>
          </a:p>
        </p:txBody>
      </p:sp>
      <p:pic>
        <p:nvPicPr>
          <p:cNvPr id="213" name="Google Shape;216;p21" descr=""/>
          <p:cNvPicPr/>
          <p:nvPr/>
        </p:nvPicPr>
        <p:blipFill>
          <a:blip r:embed="rId1"/>
          <a:stretch/>
        </p:blipFill>
        <p:spPr>
          <a:xfrm>
            <a:off x="6790680" y="1783440"/>
            <a:ext cx="4861800" cy="328968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14" name="Google Shape;221;p22"/>
          <p:cNvSpPr/>
          <p:nvPr/>
        </p:nvSpPr>
        <p:spPr>
          <a:xfrm>
            <a:off x="731160" y="320040"/>
            <a:ext cx="1005660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Model Training  —  Sergio</a:t>
            </a:r>
            <a:endParaRPr b="0" lang="en-US" sz="2300" spc="-1" strike="noStrike">
              <a:latin typeface="Arial"/>
            </a:endParaRPr>
          </a:p>
        </p:txBody>
      </p:sp>
      <p:sp>
        <p:nvSpPr>
          <p:cNvPr id="215" name="Google Shape;222;p22"/>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pic>
        <p:nvPicPr>
          <p:cNvPr id="216" name="Google Shape;223;p22" descr=""/>
          <p:cNvPicPr/>
          <p:nvPr/>
        </p:nvPicPr>
        <p:blipFill>
          <a:blip r:embed="rId1"/>
          <a:stretch/>
        </p:blipFill>
        <p:spPr>
          <a:xfrm>
            <a:off x="3234960" y="1249560"/>
            <a:ext cx="5050080" cy="505008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17" name="Google Shape;228;p23"/>
          <p:cNvSpPr/>
          <p:nvPr/>
        </p:nvSpPr>
        <p:spPr>
          <a:xfrm>
            <a:off x="731160" y="320040"/>
            <a:ext cx="1005660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Scene Perception  —  Sergio</a:t>
            </a:r>
            <a:endParaRPr b="0" lang="en-US" sz="2300" spc="-1" strike="noStrike">
              <a:latin typeface="Arial"/>
            </a:endParaRPr>
          </a:p>
        </p:txBody>
      </p:sp>
      <p:sp>
        <p:nvSpPr>
          <p:cNvPr id="218" name="Google Shape;229;p23"/>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19" name="Google Shape;230;p23"/>
          <p:cNvSpPr/>
          <p:nvPr/>
        </p:nvSpPr>
        <p:spPr>
          <a:xfrm>
            <a:off x="487080" y="1583640"/>
            <a:ext cx="6715080" cy="89424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endParaRPr b="0" lang="en-US" sz="1500" spc="-1" strike="noStrike">
              <a:latin typeface="Arial"/>
            </a:endParaRPr>
          </a:p>
        </p:txBody>
      </p:sp>
      <p:sp>
        <p:nvSpPr>
          <p:cNvPr id="220" name="Google Shape;231;p23"/>
          <p:cNvSpPr/>
          <p:nvPr/>
        </p:nvSpPr>
        <p:spPr>
          <a:xfrm>
            <a:off x="486720" y="4113000"/>
            <a:ext cx="6848280" cy="1198800"/>
          </a:xfrm>
          <a:prstGeom prst="rect">
            <a:avLst/>
          </a:prstGeom>
          <a:noFill/>
          <a:ln w="0">
            <a:noFill/>
          </a:ln>
        </p:spPr>
        <p:style>
          <a:lnRef idx="0"/>
          <a:fillRef idx="0"/>
          <a:effectRef idx="0"/>
          <a:fontRef idx="minor"/>
        </p:style>
        <p:txBody>
          <a:bodyPr lIns="67680" rIns="67680" tIns="33840" bIns="33840" anchor="t">
            <a:noAutofit/>
          </a:bodyPr>
          <a:p>
            <a:pPr algn="just">
              <a:lnSpc>
                <a:spcPct val="100000"/>
              </a:lnSpc>
              <a:buNone/>
              <a:tabLst>
                <a:tab algn="l" pos="0"/>
              </a:tabLst>
            </a:pPr>
            <a:r>
              <a:rPr b="0" lang="en-GB" sz="1500" spc="-1" strike="noStrike">
                <a:solidFill>
                  <a:srgbClr val="d1d5db"/>
                </a:solidFill>
                <a:latin typeface="Geist"/>
                <a:ea typeface="Geist"/>
              </a:rPr>
              <a:t>The output is a Python dictionary mapping object names to their pose: {object_name: (x, y, z, yaw)}. This dictionary is passed to the LLM-generated code, which uses it to plan approach vectors and grasp targets.</a:t>
            </a:r>
            <a:endParaRPr b="0" lang="en-US" sz="1500" spc="-1" strike="noStrike">
              <a:latin typeface="Arial"/>
            </a:endParaRPr>
          </a:p>
        </p:txBody>
      </p:sp>
      <p:sp>
        <p:nvSpPr>
          <p:cNvPr id="221" name="Google Shape;232;p23"/>
          <p:cNvSpPr/>
          <p:nvPr/>
        </p:nvSpPr>
        <p:spPr>
          <a:xfrm>
            <a:off x="731160" y="6034680"/>
            <a:ext cx="10056600" cy="2721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900" spc="-1" strike="noStrike">
                <a:solidFill>
                  <a:srgbClr val="9ca3af"/>
                </a:solidFill>
                <a:latin typeface="Arial"/>
                <a:ea typeface="Arial"/>
              </a:rPr>
              <a:t>Output: {object_name: (x, y, z, yaw)} — used directly by the motion planner.</a:t>
            </a:r>
            <a:endParaRPr b="0" lang="en-US" sz="900" spc="-1" strike="noStrike">
              <a:latin typeface="Arial"/>
            </a:endParaRPr>
          </a:p>
        </p:txBody>
      </p:sp>
      <p:pic>
        <p:nvPicPr>
          <p:cNvPr id="222" name="Google Shape;233;p23" descr=""/>
          <p:cNvPicPr/>
          <p:nvPr/>
        </p:nvPicPr>
        <p:blipFill>
          <a:blip r:embed="rId1"/>
          <a:stretch/>
        </p:blipFill>
        <p:spPr>
          <a:xfrm>
            <a:off x="7724880" y="1921320"/>
            <a:ext cx="3970800" cy="305784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23" name="Google Shape;239;p24"/>
          <p:cNvSpPr/>
          <p:nvPr/>
        </p:nvSpPr>
        <p:spPr>
          <a:xfrm>
            <a:off x="7524720" y="320040"/>
            <a:ext cx="43419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LLM Code Generation</a:t>
            </a:r>
            <a:endParaRPr b="0" lang="en-US" sz="2300" spc="-1" strike="noStrike">
              <a:latin typeface="Arial"/>
            </a:endParaRPr>
          </a:p>
        </p:txBody>
      </p:sp>
      <p:sp>
        <p:nvSpPr>
          <p:cNvPr id="224" name="Google Shape;240;p24"/>
          <p:cNvSpPr/>
          <p:nvPr/>
        </p:nvSpPr>
        <p:spPr>
          <a:xfrm>
            <a:off x="6930720" y="899280"/>
            <a:ext cx="2878920" cy="5220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25" name="Google Shape;241;p24"/>
          <p:cNvSpPr/>
          <p:nvPr/>
        </p:nvSpPr>
        <p:spPr>
          <a:xfrm>
            <a:off x="5862600" y="123048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26" name="Google Shape;242;p24"/>
          <p:cNvSpPr/>
          <p:nvPr/>
        </p:nvSpPr>
        <p:spPr>
          <a:xfrm>
            <a:off x="6056280" y="139896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Model</a:t>
            </a:r>
            <a:endParaRPr b="0" lang="en-US" sz="1400" spc="-1" strike="noStrike">
              <a:latin typeface="Arial"/>
            </a:endParaRPr>
          </a:p>
        </p:txBody>
      </p:sp>
      <p:sp>
        <p:nvSpPr>
          <p:cNvPr id="227" name="Google Shape;243;p24"/>
          <p:cNvSpPr/>
          <p:nvPr/>
        </p:nvSpPr>
        <p:spPr>
          <a:xfrm>
            <a:off x="6056280" y="1813320"/>
            <a:ext cx="2499840" cy="91764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n-GB" sz="900" spc="-1" strike="noStrike">
                <a:solidFill>
                  <a:srgbClr val="ebedf0"/>
                </a:solidFill>
                <a:latin typeface="Geist"/>
                <a:ea typeface="Geist"/>
              </a:rPr>
              <a:t>Qwen2.5-Coder 3B — code-specialized LLM running locally via Ollama at </a:t>
            </a:r>
            <a:r>
              <a:rPr b="0" lang="en-GB" sz="900" spc="-1" strike="noStrike">
                <a:solidFill>
                  <a:srgbClr val="ebedf0"/>
                </a:solidFill>
                <a:highlight>
                  <a:srgbClr val="1d232d"/>
                </a:highlight>
                <a:latin typeface="Consolas"/>
                <a:ea typeface="Consolas"/>
              </a:rPr>
              <a:t>localhost:11434</a:t>
            </a:r>
            <a:endParaRPr b="0" lang="en-US" sz="900" spc="-1" strike="noStrike">
              <a:latin typeface="Arial"/>
            </a:endParaRPr>
          </a:p>
        </p:txBody>
      </p:sp>
      <p:sp>
        <p:nvSpPr>
          <p:cNvPr id="228" name="Google Shape;244;p24"/>
          <p:cNvSpPr/>
          <p:nvPr/>
        </p:nvSpPr>
        <p:spPr>
          <a:xfrm>
            <a:off x="8979480" y="122616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29" name="Google Shape;245;p24"/>
          <p:cNvSpPr/>
          <p:nvPr/>
        </p:nvSpPr>
        <p:spPr>
          <a:xfrm>
            <a:off x="9173520" y="139896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Why Local</a:t>
            </a:r>
            <a:endParaRPr b="0" lang="en-US" sz="1400" spc="-1" strike="noStrike">
              <a:latin typeface="Arial"/>
            </a:endParaRPr>
          </a:p>
        </p:txBody>
      </p:sp>
      <p:sp>
        <p:nvSpPr>
          <p:cNvPr id="230" name="Google Shape;246;p24"/>
          <p:cNvSpPr/>
          <p:nvPr/>
        </p:nvSpPr>
        <p:spPr>
          <a:xfrm>
            <a:off x="9173520" y="1801800"/>
            <a:ext cx="2499840" cy="91188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n-GB" sz="900" spc="-1" strike="noStrike">
                <a:solidFill>
                  <a:srgbClr val="ebedf0"/>
                </a:solidFill>
                <a:latin typeface="Geist"/>
                <a:ea typeface="Geist"/>
              </a:rPr>
              <a:t>Eliminates API latency, privacy risks, and inference costs — critical for iterative robotics research</a:t>
            </a:r>
            <a:endParaRPr b="0" lang="en-US" sz="900" spc="-1" strike="noStrike">
              <a:latin typeface="Arial"/>
            </a:endParaRPr>
          </a:p>
        </p:txBody>
      </p:sp>
      <p:sp>
        <p:nvSpPr>
          <p:cNvPr id="231" name="Google Shape;247;p24"/>
          <p:cNvSpPr/>
          <p:nvPr/>
        </p:nvSpPr>
        <p:spPr>
          <a:xfrm>
            <a:off x="5917680" y="5292720"/>
            <a:ext cx="5949000" cy="1244160"/>
          </a:xfrm>
          <a:prstGeom prst="roundRect">
            <a:avLst>
              <a:gd name="adj" fmla="val 5972"/>
            </a:avLst>
          </a:prstGeom>
          <a:solidFill>
            <a:srgbClr val="101620"/>
          </a:solidFill>
          <a:ln w="14275">
            <a:solidFill>
              <a:srgbClr val="002a80"/>
            </a:solidFill>
            <a:round/>
          </a:ln>
        </p:spPr>
        <p:style>
          <a:lnRef idx="0"/>
          <a:fillRef idx="0"/>
          <a:effectRef idx="0"/>
          <a:fontRef idx="minor"/>
        </p:style>
      </p:sp>
      <p:sp>
        <p:nvSpPr>
          <p:cNvPr id="232" name="Google Shape;248;p24"/>
          <p:cNvSpPr/>
          <p:nvPr/>
        </p:nvSpPr>
        <p:spPr>
          <a:xfrm>
            <a:off x="6207840" y="546084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Output</a:t>
            </a:r>
            <a:endParaRPr b="0" lang="en-US" sz="1400" spc="-1" strike="noStrike">
              <a:latin typeface="Arial"/>
            </a:endParaRPr>
          </a:p>
        </p:txBody>
      </p:sp>
      <p:sp>
        <p:nvSpPr>
          <p:cNvPr id="233" name="Google Shape;249;p24"/>
          <p:cNvSpPr/>
          <p:nvPr/>
        </p:nvSpPr>
        <p:spPr>
          <a:xfrm>
            <a:off x="6151680" y="5921280"/>
            <a:ext cx="5561640" cy="461520"/>
          </a:xfrm>
          <a:prstGeom prst="rect">
            <a:avLst/>
          </a:prstGeom>
          <a:noFill/>
          <a:ln w="0">
            <a:noFill/>
          </a:ln>
        </p:spPr>
        <p:style>
          <a:lnRef idx="0"/>
          <a:fillRef idx="0"/>
          <a:effectRef idx="0"/>
          <a:fontRef idx="minor"/>
        </p:style>
        <p:txBody>
          <a:bodyPr lIns="0" rIns="0" tIns="0" bIns="0" anchor="t">
            <a:noAutofit/>
          </a:bodyPr>
          <a:p>
            <a:pPr>
              <a:lnSpc>
                <a:spcPct val="107000"/>
              </a:lnSpc>
              <a:buNone/>
              <a:tabLst>
                <a:tab algn="l" pos="0"/>
              </a:tabLst>
            </a:pPr>
            <a:r>
              <a:rPr b="0" lang="en-GB" sz="900" spc="-1" strike="noStrike">
                <a:solidFill>
                  <a:srgbClr val="ebedf0"/>
                </a:solidFill>
                <a:latin typeface="Geist"/>
                <a:ea typeface="Geist"/>
              </a:rPr>
              <a:t>Generates a complete, executable Python script (</a:t>
            </a:r>
            <a:r>
              <a:rPr b="0" lang="en-GB" sz="900" spc="-1" strike="noStrike">
                <a:solidFill>
                  <a:srgbClr val="ebedf0"/>
                </a:solidFill>
                <a:highlight>
                  <a:srgbClr val="1d232d"/>
                </a:highlight>
                <a:latin typeface="Consolas"/>
                <a:ea typeface="Consolas"/>
              </a:rPr>
              <a:t>generated_task.py</a:t>
            </a:r>
            <a:r>
              <a:rPr b="0" lang="en-GB" sz="900" spc="-1" strike="noStrike">
                <a:solidFill>
                  <a:srgbClr val="ebedf0"/>
                </a:solidFill>
                <a:latin typeface="Geist"/>
                <a:ea typeface="Geist"/>
              </a:rPr>
              <a:t>) from raw natural language.</a:t>
            </a:r>
            <a:endParaRPr b="0" lang="en-US" sz="900" spc="-1" strike="noStrike">
              <a:latin typeface="Arial"/>
            </a:endParaRPr>
          </a:p>
        </p:txBody>
      </p:sp>
      <p:sp>
        <p:nvSpPr>
          <p:cNvPr id="234" name="Google Shape;250;p24"/>
          <p:cNvSpPr/>
          <p:nvPr/>
        </p:nvSpPr>
        <p:spPr>
          <a:xfrm>
            <a:off x="5862600" y="328428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35" name="Google Shape;251;p24"/>
          <p:cNvSpPr/>
          <p:nvPr/>
        </p:nvSpPr>
        <p:spPr>
          <a:xfrm>
            <a:off x="6056280" y="3470040"/>
            <a:ext cx="2196360" cy="28656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The System Prompt</a:t>
            </a:r>
            <a:endParaRPr b="0" lang="en-US" sz="1400" spc="-1" strike="noStrike">
              <a:latin typeface="Arial"/>
            </a:endParaRPr>
          </a:p>
        </p:txBody>
      </p:sp>
      <p:sp>
        <p:nvSpPr>
          <p:cNvPr id="236" name="Google Shape;252;p24"/>
          <p:cNvSpPr/>
          <p:nvPr/>
        </p:nvSpPr>
        <p:spPr>
          <a:xfrm>
            <a:off x="6096240" y="3913200"/>
            <a:ext cx="2499840" cy="917640"/>
          </a:xfrm>
          <a:prstGeom prst="rect">
            <a:avLst/>
          </a:prstGeom>
          <a:noFill/>
          <a:ln w="0">
            <a:noFill/>
          </a:ln>
        </p:spPr>
        <p:style>
          <a:lnRef idx="0"/>
          <a:fillRef idx="0"/>
          <a:effectRef idx="0"/>
          <a:fontRef idx="minor"/>
        </p:style>
        <p:txBody>
          <a:bodyPr lIns="0" rIns="0" tIns="0" bIns="0" anchor="t">
            <a:noAutofit/>
          </a:bodyPr>
          <a:p>
            <a:pPr>
              <a:lnSpc>
                <a:spcPct val="100000"/>
              </a:lnSpc>
              <a:buNone/>
              <a:tabLst>
                <a:tab algn="l" pos="0"/>
              </a:tabLst>
            </a:pPr>
            <a:r>
              <a:rPr b="0" lang="en-GB" sz="900" spc="-1" strike="noStrike">
                <a:solidFill>
                  <a:srgbClr val="ffffff"/>
                </a:solidFill>
                <a:latin typeface="Calibri"/>
                <a:ea typeface="Calibri"/>
              </a:rPr>
              <a:t>A </a:t>
            </a:r>
            <a:r>
              <a:rPr b="0" lang="en-GB" sz="900" spc="-1" strike="noStrike">
                <a:solidFill>
                  <a:srgbClr val="ebedf0"/>
                </a:solidFill>
                <a:highlight>
                  <a:srgbClr val="1d232d"/>
                </a:highlight>
                <a:latin typeface="Consolas"/>
                <a:ea typeface="Consolas"/>
              </a:rPr>
              <a:t>system_prompt.md</a:t>
            </a:r>
            <a:r>
              <a:rPr b="0" lang="en-GB" sz="900" spc="-1" strike="noStrike">
                <a:solidFill>
                  <a:srgbClr val="ebedf0"/>
                </a:solidFill>
                <a:latin typeface="Geist"/>
                <a:ea typeface="Geist"/>
              </a:rPr>
              <a:t> defines the full robot API, acting as the LLM's instruction manual.</a:t>
            </a:r>
            <a:endParaRPr b="0" lang="en-US" sz="900" spc="-1" strike="noStrike">
              <a:latin typeface="Arial"/>
            </a:endParaRPr>
          </a:p>
        </p:txBody>
      </p:sp>
      <p:sp>
        <p:nvSpPr>
          <p:cNvPr id="237" name="Google Shape;253;p24"/>
          <p:cNvSpPr/>
          <p:nvPr/>
        </p:nvSpPr>
        <p:spPr>
          <a:xfrm>
            <a:off x="8979480" y="3260880"/>
            <a:ext cx="2887560" cy="1700640"/>
          </a:xfrm>
          <a:prstGeom prst="roundRect">
            <a:avLst>
              <a:gd name="adj" fmla="val 4370"/>
            </a:avLst>
          </a:prstGeom>
          <a:solidFill>
            <a:srgbClr val="101620"/>
          </a:solidFill>
          <a:ln w="14275">
            <a:solidFill>
              <a:srgbClr val="002a80"/>
            </a:solidFill>
            <a:round/>
          </a:ln>
        </p:spPr>
        <p:style>
          <a:lnRef idx="0"/>
          <a:fillRef idx="0"/>
          <a:effectRef idx="0"/>
          <a:fontRef idx="minor"/>
        </p:style>
      </p:sp>
      <p:sp>
        <p:nvSpPr>
          <p:cNvPr id="238" name="Google Shape;254;p24"/>
          <p:cNvSpPr/>
          <p:nvPr/>
        </p:nvSpPr>
        <p:spPr>
          <a:xfrm>
            <a:off x="9173520" y="3451320"/>
            <a:ext cx="2196360" cy="305280"/>
          </a:xfrm>
          <a:prstGeom prst="rect">
            <a:avLst/>
          </a:prstGeom>
          <a:noFill/>
          <a:ln w="0">
            <a:noFill/>
          </a:ln>
        </p:spPr>
        <p:style>
          <a:lnRef idx="0"/>
          <a:fillRef idx="0"/>
          <a:effectRef idx="0"/>
          <a:fontRef idx="minor"/>
        </p:style>
        <p:txBody>
          <a:bodyPr lIns="0" rIns="0" tIns="0" bIns="0" anchor="t">
            <a:noAutofit/>
          </a:bodyPr>
          <a:p>
            <a:pPr>
              <a:lnSpc>
                <a:spcPct val="108000"/>
              </a:lnSpc>
              <a:buNone/>
              <a:tabLst>
                <a:tab algn="l" pos="0"/>
              </a:tabLst>
            </a:pPr>
            <a:r>
              <a:rPr b="1" lang="en-GB" sz="1400" spc="-1" strike="noStrike">
                <a:solidFill>
                  <a:srgbClr val="ebedf0"/>
                </a:solidFill>
                <a:latin typeface="Geist"/>
                <a:ea typeface="Geist"/>
              </a:rPr>
              <a:t>Orchestration</a:t>
            </a:r>
            <a:endParaRPr b="0" lang="en-US" sz="1400" spc="-1" strike="noStrike">
              <a:latin typeface="Arial"/>
            </a:endParaRPr>
          </a:p>
        </p:txBody>
      </p:sp>
      <p:sp>
        <p:nvSpPr>
          <p:cNvPr id="239" name="Google Shape;255;p24"/>
          <p:cNvSpPr/>
          <p:nvPr/>
        </p:nvSpPr>
        <p:spPr>
          <a:xfrm>
            <a:off x="9213840" y="3890520"/>
            <a:ext cx="2499840" cy="911880"/>
          </a:xfrm>
          <a:prstGeom prst="rect">
            <a:avLst/>
          </a:prstGeom>
          <a:noFill/>
          <a:ln w="0">
            <a:noFill/>
          </a:ln>
        </p:spPr>
        <p:style>
          <a:lnRef idx="0"/>
          <a:fillRef idx="0"/>
          <a:effectRef idx="0"/>
          <a:fontRef idx="minor"/>
        </p:style>
        <p:txBody>
          <a:bodyPr lIns="0" rIns="0" tIns="0" bIns="0" anchor="t">
            <a:noAutofit/>
          </a:bodyPr>
          <a:p>
            <a:pPr>
              <a:lnSpc>
                <a:spcPct val="94000"/>
              </a:lnSpc>
              <a:buNone/>
              <a:tabLst>
                <a:tab algn="l" pos="0"/>
              </a:tabLst>
            </a:pPr>
            <a:r>
              <a:rPr b="0" lang="en-GB" sz="900" spc="-1" strike="noStrike">
                <a:solidFill>
                  <a:srgbClr val="ebedf0"/>
                </a:solidFill>
                <a:latin typeface="Geist"/>
                <a:ea typeface="Geist"/>
              </a:rPr>
              <a:t>Captures user input, queries Ollama, writes generated code, reloads the module, and executes </a:t>
            </a:r>
            <a:r>
              <a:rPr b="0" lang="en-GB" sz="900" spc="-1" strike="noStrike">
                <a:solidFill>
                  <a:srgbClr val="ebedf0"/>
                </a:solidFill>
                <a:highlight>
                  <a:srgbClr val="1d232d"/>
                </a:highlight>
                <a:latin typeface="Consolas"/>
                <a:ea typeface="Consolas"/>
              </a:rPr>
              <a:t>execute_task()</a:t>
            </a:r>
            <a:r>
              <a:rPr b="0" lang="en-GB" sz="900" spc="-1" strike="noStrike">
                <a:solidFill>
                  <a:srgbClr val="ebedf0"/>
                </a:solidFill>
                <a:latin typeface="Geist"/>
                <a:ea typeface="Geist"/>
              </a:rPr>
              <a:t>. Built-in retry logic ensures robustness.</a:t>
            </a:r>
            <a:endParaRPr b="0" lang="en-US" sz="900" spc="-1" strike="noStrike">
              <a:latin typeface="Arial"/>
            </a:endParaRPr>
          </a:p>
        </p:txBody>
      </p:sp>
      <p:pic>
        <p:nvPicPr>
          <p:cNvPr id="240" name="Google Shape;256;p24" descr=""/>
          <p:cNvPicPr/>
          <p:nvPr/>
        </p:nvPicPr>
        <p:blipFill>
          <a:blip r:embed="rId1"/>
          <a:stretch/>
        </p:blipFill>
        <p:spPr>
          <a:xfrm>
            <a:off x="0" y="1979280"/>
            <a:ext cx="5762160" cy="325044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41" name="TextBox 1"/>
          <p:cNvSpPr/>
          <p:nvPr/>
        </p:nvSpPr>
        <p:spPr>
          <a:xfrm>
            <a:off x="687600" y="-9720"/>
            <a:ext cx="10057320" cy="5464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3000" spc="-1" strike="noStrike">
                <a:solidFill>
                  <a:srgbClr val="ffffff"/>
                </a:solidFill>
                <a:latin typeface="Arial"/>
              </a:rPr>
              <a:t>Motion Control </a:t>
            </a:r>
            <a:endParaRPr b="0" lang="en-US" sz="3000" spc="-1" strike="noStrike">
              <a:latin typeface="Arial"/>
            </a:endParaRPr>
          </a:p>
        </p:txBody>
      </p:sp>
      <p:sp>
        <p:nvSpPr>
          <p:cNvPr id="242" name="Rectangle 2"/>
          <p:cNvSpPr/>
          <p:nvPr/>
        </p:nvSpPr>
        <p:spPr>
          <a:xfrm>
            <a:off x="751320" y="479160"/>
            <a:ext cx="2284920" cy="3708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43" name="Imagen 7" descr=""/>
          <p:cNvPicPr/>
          <p:nvPr/>
        </p:nvPicPr>
        <p:blipFill>
          <a:blip r:embed="rId1"/>
          <a:stretch/>
        </p:blipFill>
        <p:spPr>
          <a:xfrm>
            <a:off x="2445480" y="629280"/>
            <a:ext cx="6541200" cy="1836360"/>
          </a:xfrm>
          <a:prstGeom prst="rect">
            <a:avLst/>
          </a:prstGeom>
          <a:ln w="0">
            <a:noFill/>
          </a:ln>
        </p:spPr>
      </p:pic>
      <p:sp>
        <p:nvSpPr>
          <p:cNvPr id="244" name="Text 8"/>
          <p:cNvSpPr/>
          <p:nvPr/>
        </p:nvSpPr>
        <p:spPr>
          <a:xfrm>
            <a:off x="2068200" y="2442960"/>
            <a:ext cx="8094960" cy="437760"/>
          </a:xfrm>
          <a:prstGeom prst="rect">
            <a:avLst/>
          </a:prstGeom>
          <a:noFill/>
          <a:ln w="0">
            <a:noFill/>
          </a:ln>
        </p:spPr>
        <p:style>
          <a:lnRef idx="0"/>
          <a:fillRef idx="0"/>
          <a:effectRef idx="0"/>
          <a:fontRef idx="minor"/>
        </p:style>
        <p:txBody>
          <a:bodyPr lIns="0" rIns="0" tIns="0" bIns="0" anchor="t">
            <a:normAutofit fontScale="86000"/>
          </a:bodyPr>
          <a:p>
            <a:pPr>
              <a:lnSpc>
                <a:spcPct val="107000"/>
              </a:lnSpc>
              <a:buNone/>
              <a:tabLst>
                <a:tab algn="l" pos="0"/>
              </a:tabLst>
            </a:pPr>
            <a:r>
              <a:rPr b="0" lang="en-US" sz="1200" spc="-1" strike="noStrike">
                <a:solidFill>
                  <a:srgbClr val="ebedf0"/>
                </a:solidFill>
                <a:latin typeface="Geist"/>
                <a:ea typeface="Geist"/>
              </a:rPr>
              <a:t>The motion layer transforms LLM-generated waypoints into executable robot actions. The system is organized into four modules: motion execution, scene and camera helpers, hardware control utilities, and robot state monitoring.</a:t>
            </a:r>
            <a:endParaRPr b="0" lang="en-US" sz="1200" spc="-1" strike="noStrike">
              <a:latin typeface="Arial"/>
            </a:endParaRPr>
          </a:p>
        </p:txBody>
      </p:sp>
      <p:sp>
        <p:nvSpPr>
          <p:cNvPr id="245" name="Rectangle 1"/>
          <p:cNvSpPr/>
          <p:nvPr/>
        </p:nvSpPr>
        <p:spPr>
          <a:xfrm>
            <a:off x="751320" y="2801160"/>
            <a:ext cx="10659960" cy="4536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46" name="Imagen 13" descr=""/>
          <p:cNvPicPr/>
          <p:nvPr/>
        </p:nvPicPr>
        <p:blipFill>
          <a:blip r:embed="rId2"/>
          <a:srcRect l="4929" t="2825" r="2233" b="0"/>
          <a:stretch/>
        </p:blipFill>
        <p:spPr>
          <a:xfrm>
            <a:off x="751320" y="2846880"/>
            <a:ext cx="1868040" cy="2627280"/>
          </a:xfrm>
          <a:prstGeom prst="rect">
            <a:avLst/>
          </a:prstGeom>
          <a:ln w="0">
            <a:noFill/>
          </a:ln>
        </p:spPr>
      </p:pic>
      <p:pic>
        <p:nvPicPr>
          <p:cNvPr id="247" name="Imagen 23" descr=""/>
          <p:cNvPicPr/>
          <p:nvPr/>
        </p:nvPicPr>
        <p:blipFill>
          <a:blip r:embed="rId3"/>
          <a:srcRect l="4113" t="980" r="5827" b="2322"/>
          <a:stretch/>
        </p:blipFill>
        <p:spPr>
          <a:xfrm>
            <a:off x="3514680" y="2846880"/>
            <a:ext cx="1327320" cy="2627280"/>
          </a:xfrm>
          <a:prstGeom prst="rect">
            <a:avLst/>
          </a:prstGeom>
          <a:ln w="0">
            <a:noFill/>
          </a:ln>
        </p:spPr>
      </p:pic>
      <p:pic>
        <p:nvPicPr>
          <p:cNvPr id="248" name="Imagen 27" descr=""/>
          <p:cNvPicPr/>
          <p:nvPr/>
        </p:nvPicPr>
        <p:blipFill>
          <a:blip r:embed="rId4"/>
          <a:srcRect l="0" t="6487" r="1467" b="0"/>
          <a:stretch/>
        </p:blipFill>
        <p:spPr>
          <a:xfrm>
            <a:off x="5702760" y="2864160"/>
            <a:ext cx="2642760" cy="2627280"/>
          </a:xfrm>
          <a:prstGeom prst="rect">
            <a:avLst/>
          </a:prstGeom>
          <a:ln w="0">
            <a:noFill/>
          </a:ln>
        </p:spPr>
      </p:pic>
      <p:pic>
        <p:nvPicPr>
          <p:cNvPr id="249" name="Imagen 29" descr=""/>
          <p:cNvPicPr/>
          <p:nvPr/>
        </p:nvPicPr>
        <p:blipFill>
          <a:blip r:embed="rId5"/>
          <a:srcRect l="4953" t="4648" r="7063" b="3498"/>
          <a:stretch/>
        </p:blipFill>
        <p:spPr>
          <a:xfrm>
            <a:off x="9206280" y="2845440"/>
            <a:ext cx="2205000" cy="2629800"/>
          </a:xfrm>
          <a:prstGeom prst="rect">
            <a:avLst/>
          </a:prstGeom>
          <a:ln w="0">
            <a:noFill/>
          </a:ln>
        </p:spPr>
      </p:pic>
      <p:sp>
        <p:nvSpPr>
          <p:cNvPr id="250" name="Text 1"/>
          <p:cNvSpPr/>
          <p:nvPr/>
        </p:nvSpPr>
        <p:spPr>
          <a:xfrm>
            <a:off x="751320" y="5562000"/>
            <a:ext cx="1868040" cy="1296000"/>
          </a:xfrm>
          <a:prstGeom prst="rect">
            <a:avLst/>
          </a:prstGeom>
          <a:noFill/>
          <a:ln w="0">
            <a:noFill/>
          </a:ln>
        </p:spPr>
        <p:style>
          <a:lnRef idx="0"/>
          <a:fillRef idx="0"/>
          <a:effectRef idx="0"/>
          <a:fontRef idx="minor"/>
        </p:style>
        <p:txBody>
          <a:bodyPr lIns="0" rIns="0" tIns="0" bIns="0" anchor="t">
            <a:normAutofit fontScale="73000"/>
          </a:bodyPr>
          <a:p>
            <a:pPr>
              <a:lnSpc>
                <a:spcPct val="107000"/>
              </a:lnSpc>
              <a:buNone/>
              <a:tabLst>
                <a:tab algn="l" pos="0"/>
              </a:tabLst>
            </a:pPr>
            <a:r>
              <a:rPr b="1" lang="en-US" sz="1200" spc="-1" strike="noStrike">
                <a:solidFill>
                  <a:srgbClr val="ffffff"/>
                </a:solidFill>
                <a:latin typeface="Arial"/>
              </a:rPr>
              <a:t>Motion Execution Pipeline</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Executes LLM-generated waypoints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Computes inverse kinematics with TRAC-IK</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Performs vertical approach and retreat motions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Validates grasp success before continuing</a:t>
            </a:r>
            <a:endParaRPr b="0" lang="en-US" sz="1200" spc="-1" strike="noStrike">
              <a:latin typeface="Arial"/>
            </a:endParaRPr>
          </a:p>
        </p:txBody>
      </p:sp>
      <p:sp>
        <p:nvSpPr>
          <p:cNvPr id="251" name="Text 2"/>
          <p:cNvSpPr/>
          <p:nvPr/>
        </p:nvSpPr>
        <p:spPr>
          <a:xfrm>
            <a:off x="3244320" y="5562000"/>
            <a:ext cx="1868040" cy="1296000"/>
          </a:xfrm>
          <a:prstGeom prst="rect">
            <a:avLst/>
          </a:prstGeom>
          <a:noFill/>
          <a:ln w="0">
            <a:noFill/>
          </a:ln>
        </p:spPr>
        <p:style>
          <a:lnRef idx="0"/>
          <a:fillRef idx="0"/>
          <a:effectRef idx="0"/>
          <a:fontRef idx="minor"/>
        </p:style>
        <p:txBody>
          <a:bodyPr lIns="0" rIns="0" tIns="0" bIns="0" anchor="t">
            <a:normAutofit fontScale="81000"/>
          </a:bodyPr>
          <a:p>
            <a:pPr>
              <a:lnSpc>
                <a:spcPct val="107000"/>
              </a:lnSpc>
              <a:buNone/>
              <a:tabLst>
                <a:tab algn="l" pos="0"/>
              </a:tabLst>
            </a:pPr>
            <a:r>
              <a:rPr b="1" lang="en-US" sz="1200" spc="-1" strike="noStrike">
                <a:solidFill>
                  <a:srgbClr val="ffffff"/>
                </a:solidFill>
                <a:latin typeface="Arial"/>
              </a:rPr>
              <a:t>Receiver / Robot State</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Tracks joint states continuously</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Estimates end-effector pose</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Maintains robot state snapshots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Synchronizes planning and execution</a:t>
            </a:r>
            <a:endParaRPr b="0" lang="en-US" sz="1200" spc="-1" strike="noStrike">
              <a:latin typeface="Arial"/>
            </a:endParaRPr>
          </a:p>
        </p:txBody>
      </p:sp>
      <p:sp>
        <p:nvSpPr>
          <p:cNvPr id="252" name="Text 3"/>
          <p:cNvSpPr/>
          <p:nvPr/>
        </p:nvSpPr>
        <p:spPr>
          <a:xfrm>
            <a:off x="6184440" y="5519880"/>
            <a:ext cx="1868040" cy="1296000"/>
          </a:xfrm>
          <a:prstGeom prst="rect">
            <a:avLst/>
          </a:prstGeom>
          <a:noFill/>
          <a:ln w="0">
            <a:noFill/>
          </a:ln>
        </p:spPr>
        <p:style>
          <a:lnRef idx="0"/>
          <a:fillRef idx="0"/>
          <a:effectRef idx="0"/>
          <a:fontRef idx="minor"/>
        </p:style>
        <p:txBody>
          <a:bodyPr lIns="0" rIns="0" tIns="0" bIns="0" anchor="t">
            <a:normAutofit fontScale="82000"/>
          </a:bodyPr>
          <a:p>
            <a:pPr>
              <a:lnSpc>
                <a:spcPct val="107000"/>
              </a:lnSpc>
              <a:buNone/>
              <a:tabLst>
                <a:tab algn="l" pos="0"/>
              </a:tabLst>
            </a:pPr>
            <a:r>
              <a:rPr b="1" lang="en-US" sz="1200" spc="-1" strike="noStrike">
                <a:solidFill>
                  <a:srgbClr val="ffffff"/>
                </a:solidFill>
                <a:latin typeface="Arial"/>
              </a:rPr>
              <a:t>Scene &amp; Camera Helpers</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Builds the scene representation</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Stores object positions and orientations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Refines grasp targets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Aligns grasp poses with detected objects</a:t>
            </a:r>
            <a:endParaRPr b="0" lang="en-US" sz="1200" spc="-1" strike="noStrike">
              <a:latin typeface="Arial"/>
            </a:endParaRPr>
          </a:p>
        </p:txBody>
      </p:sp>
      <p:sp>
        <p:nvSpPr>
          <p:cNvPr id="253" name="Text 4"/>
          <p:cNvSpPr/>
          <p:nvPr/>
        </p:nvSpPr>
        <p:spPr>
          <a:xfrm>
            <a:off x="9374760" y="5519880"/>
            <a:ext cx="1868040" cy="1296000"/>
          </a:xfrm>
          <a:prstGeom prst="rect">
            <a:avLst/>
          </a:prstGeom>
          <a:noFill/>
          <a:ln w="0">
            <a:noFill/>
          </a:ln>
        </p:spPr>
        <p:style>
          <a:lnRef idx="0"/>
          <a:fillRef idx="0"/>
          <a:effectRef idx="0"/>
          <a:fontRef idx="minor"/>
        </p:style>
        <p:txBody>
          <a:bodyPr lIns="0" rIns="0" tIns="0" bIns="0" anchor="t">
            <a:normAutofit fontScale="81000"/>
          </a:bodyPr>
          <a:p>
            <a:pPr>
              <a:lnSpc>
                <a:spcPct val="107000"/>
              </a:lnSpc>
              <a:buNone/>
              <a:tabLst>
                <a:tab algn="l" pos="0"/>
              </a:tabLst>
            </a:pPr>
            <a:r>
              <a:rPr b="1" lang="en-US" sz="1200" spc="-1" strike="noStrike">
                <a:solidFill>
                  <a:srgbClr val="ffffff"/>
                </a:solidFill>
                <a:latin typeface="Arial"/>
              </a:rPr>
              <a:t>Hardware &amp; Pose Utilities</a:t>
            </a:r>
            <a:endParaRPr b="0" lang="en-US" sz="1200" spc="-1" strike="noStrike">
              <a:latin typeface="Arial"/>
            </a:endParaRPr>
          </a:p>
          <a:p>
            <a:pPr>
              <a:lnSpc>
                <a:spcPct val="107000"/>
              </a:lnSpc>
              <a:buNone/>
              <a:tabLst>
                <a:tab algn="l" pos="0"/>
              </a:tabLst>
            </a:pP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Controls Sawyer joints and gripper</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Provides neutral and safe poses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Handles motion execution parameters</a:t>
            </a:r>
            <a:endParaRPr b="0" lang="en-US" sz="1200" spc="-1" strike="noStrike">
              <a:latin typeface="Arial"/>
            </a:endParaRPr>
          </a:p>
          <a:p>
            <a:pPr>
              <a:lnSpc>
                <a:spcPct val="107000"/>
              </a:lnSpc>
              <a:buNone/>
              <a:tabLst>
                <a:tab algn="l" pos="0"/>
              </a:tabLst>
            </a:pPr>
            <a:r>
              <a:rPr b="0" lang="en-US" sz="1200" spc="-1" strike="noStrike">
                <a:solidFill>
                  <a:srgbClr val="ffffff"/>
                </a:solidFill>
                <a:latin typeface="Arial"/>
              </a:rPr>
              <a:t>• </a:t>
            </a:r>
            <a:r>
              <a:rPr b="0" lang="en-US" sz="1200" spc="-1" strike="noStrike">
                <a:solidFill>
                  <a:srgbClr val="ffffff"/>
                </a:solidFill>
                <a:latin typeface="Arial"/>
              </a:rPr>
              <a:t>Enforces safety constraints</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54" name="Google Shape;272;p26"/>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  —  Jossua</a:t>
            </a:r>
            <a:endParaRPr b="0" lang="en-US" sz="2300" spc="-1" strike="noStrike">
              <a:latin typeface="Arial"/>
            </a:endParaRPr>
          </a:p>
        </p:txBody>
      </p:sp>
      <p:sp>
        <p:nvSpPr>
          <p:cNvPr id="255" name="Google Shape;273;p26"/>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56" name="Google Shape;274;p26"/>
          <p:cNvSpPr/>
          <p:nvPr/>
        </p:nvSpPr>
        <p:spPr>
          <a:xfrm>
            <a:off x="914040" y="127980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The complete pipeline runs end-to-end: the user types a natural language instruction, the LLM generates task-specific code, and the Sawyer robot executes the pick-and-place operation in simulation. No manual trajectory programming, no fine-tuning, no task-specific code changes.</a:t>
            </a:r>
            <a:endParaRPr b="0" lang="en-US" sz="1100" spc="-1" strike="noStrike">
              <a:latin typeface="Arial"/>
            </a:endParaRPr>
          </a:p>
        </p:txBody>
      </p:sp>
      <p:sp>
        <p:nvSpPr>
          <p:cNvPr id="257" name="Google Shape;275;p26"/>
          <p:cNvSpPr/>
          <p:nvPr/>
        </p:nvSpPr>
        <p:spPr>
          <a:xfrm>
            <a:off x="731160" y="6034680"/>
            <a:ext cx="10057320" cy="27216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900" spc="-1" strike="noStrike">
                <a:solidFill>
                  <a:srgbClr val="9ca3af"/>
                </a:solidFill>
                <a:latin typeface="Arial"/>
                <a:ea typeface="Arial"/>
              </a:rPr>
              <a:t>Demo video available — see the project submission.</a:t>
            </a:r>
            <a:endParaRPr b="0" lang="en-US" sz="900" spc="-1" strike="noStrike">
              <a:latin typeface="Arial"/>
            </a:endParaRPr>
          </a:p>
        </p:txBody>
      </p:sp>
      <p:pic>
        <p:nvPicPr>
          <p:cNvPr id="258" name="Google Shape;276;p26" descr=""/>
          <p:cNvPicPr/>
          <p:nvPr/>
        </p:nvPicPr>
        <p:blipFill>
          <a:blip r:embed="rId1"/>
          <a:stretch/>
        </p:blipFill>
        <p:spPr>
          <a:xfrm>
            <a:off x="1674000" y="2258640"/>
            <a:ext cx="8171280" cy="357264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59" name="Google Shape;281;p27"/>
          <p:cNvSpPr/>
          <p:nvPr/>
        </p:nvSpPr>
        <p:spPr>
          <a:xfrm>
            <a:off x="731160" y="320040"/>
            <a:ext cx="1005660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  —  Jossua</a:t>
            </a:r>
            <a:endParaRPr b="0" lang="en-US" sz="2300" spc="-1" strike="noStrike">
              <a:latin typeface="Arial"/>
            </a:endParaRPr>
          </a:p>
        </p:txBody>
      </p:sp>
      <p:sp>
        <p:nvSpPr>
          <p:cNvPr id="260" name="Google Shape;282;p27"/>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61" name="Google Shape;283;p27"/>
          <p:cNvSpPr/>
          <p:nvPr/>
        </p:nvSpPr>
        <p:spPr>
          <a:xfrm>
            <a:off x="731160" y="1369080"/>
            <a:ext cx="10514160" cy="7754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200" spc="-1" strike="noStrike">
                <a:solidFill>
                  <a:srgbClr val="ffffff"/>
                </a:solidFill>
                <a:latin typeface="Arial"/>
                <a:ea typeface="Arial"/>
              </a:rPr>
              <a:t>Key differences from the reference paper</a:t>
            </a:r>
            <a:endParaRPr b="0" lang="en-US" sz="2200" spc="-1" strike="noStrike">
              <a:latin typeface="Arial"/>
            </a:endParaRPr>
          </a:p>
        </p:txBody>
      </p:sp>
      <p:graphicFrame>
        <p:nvGraphicFramePr>
          <p:cNvPr id="262" name="Google Shape;284;p27"/>
          <p:cNvGraphicFramePr/>
          <p:nvPr/>
        </p:nvGraphicFramePr>
        <p:xfrm>
          <a:off x="1270080" y="2566080"/>
          <a:ext cx="9650880" cy="3047400"/>
        </p:xfrm>
        <a:graphic>
          <a:graphicData uri="http://schemas.openxmlformats.org/drawingml/2006/table">
            <a:tbl>
              <a:tblPr/>
              <a:tblGrid>
                <a:gridCol w="3216600"/>
                <a:gridCol w="3216600"/>
                <a:gridCol w="3217680"/>
              </a:tblGrid>
              <a:tr h="466920">
                <a:tc>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Kwon / Liang et 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This project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6920">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Robot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Franka Emika Panda</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Sawyer</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711360">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Environment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Real robot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Gazebo Simulation using ROS</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6920">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LLM</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GPT (Cloud)</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Qwen2.5-Coder 3B (local)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6920">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Cost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API key/ Paid service</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Free, 100% local</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r h="468360">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Privacy</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c>
                  <a:txBody>
                    <a:bodyPr lIns="91080" rIns="91080" tIns="91080" bIns="91080" anchor="t">
                      <a:noAutofit/>
                    </a:bodyPr>
                    <a:p>
                      <a:pPr>
                        <a:lnSpc>
                          <a:spcPct val="100000"/>
                        </a:lnSpc>
                        <a:buNone/>
                        <a:tabLst>
                          <a:tab algn="l" pos="0"/>
                        </a:tabLst>
                      </a:pPr>
                      <a:r>
                        <a:rPr b="0" lang="en-GB" sz="1400" spc="-1" strike="noStrike">
                          <a:solidFill>
                            <a:srgbClr val="ffffff"/>
                          </a:solidFill>
                          <a:latin typeface="Arial"/>
                          <a:ea typeface="Arial"/>
                        </a:rPr>
                        <a:t>Localhost</a:t>
                      </a:r>
                      <a:endParaRPr b="0" lang="en-US" sz="1400" spc="-1" strike="noStrike">
                        <a:latin typeface="Arial"/>
                      </a:endParaRPr>
                    </a:p>
                  </a:txBody>
                  <a:tcPr anchor="t" marL="91080" marR="91080">
                    <a:lnL w="9360">
                      <a:solidFill>
                        <a:srgbClr val="ffffff"/>
                      </a:solidFill>
                    </a:lnL>
                    <a:lnR w="9360">
                      <a:solidFill>
                        <a:srgbClr val="ffffff"/>
                      </a:solidFill>
                    </a:lnR>
                    <a:lnT w="9360">
                      <a:solidFill>
                        <a:srgbClr val="ffffff"/>
                      </a:solidFill>
                    </a:lnT>
                    <a:lnB w="9360">
                      <a:solidFill>
                        <a:srgbClr val="ffffff"/>
                      </a:solidFill>
                    </a:lnB>
                    <a:no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63" name="Google Shape;289;p28"/>
          <p:cNvSpPr/>
          <p:nvPr/>
        </p:nvSpPr>
        <p:spPr>
          <a:xfrm>
            <a:off x="4273200" y="0"/>
            <a:ext cx="460404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a:t>
            </a:r>
            <a:endParaRPr b="0" lang="en-US" sz="2300" spc="-1" strike="noStrike">
              <a:latin typeface="Arial"/>
            </a:endParaRPr>
          </a:p>
        </p:txBody>
      </p:sp>
      <p:sp>
        <p:nvSpPr>
          <p:cNvPr id="264" name="Google Shape;290;p28"/>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pic>
        <p:nvPicPr>
          <p:cNvPr id="265" name="Google Shape;291;p28" descr=""/>
          <p:cNvPicPr/>
          <p:nvPr/>
        </p:nvPicPr>
        <p:blipFill>
          <a:blip r:embed="rId1"/>
          <a:stretch/>
        </p:blipFill>
        <p:spPr>
          <a:xfrm>
            <a:off x="261720" y="641520"/>
            <a:ext cx="7742160" cy="5998680"/>
          </a:xfrm>
          <a:prstGeom prst="rect">
            <a:avLst/>
          </a:prstGeom>
          <a:ln w="0">
            <a:noFill/>
          </a:ln>
        </p:spPr>
      </p:pic>
      <p:sp>
        <p:nvSpPr>
          <p:cNvPr id="266" name="Google Shape;292;p28"/>
          <p:cNvSpPr/>
          <p:nvPr/>
        </p:nvSpPr>
        <p:spPr>
          <a:xfrm>
            <a:off x="8004600" y="3045600"/>
            <a:ext cx="3999240" cy="88380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0" lang="en-GB" sz="2300" spc="-1" strike="noStrike">
                <a:solidFill>
                  <a:srgbClr val="ffffff"/>
                </a:solidFill>
                <a:latin typeface="Arial"/>
                <a:ea typeface="Arial"/>
              </a:rPr>
              <a:t>Code of API bridge to and from Ollama</a:t>
            </a:r>
            <a:endParaRPr b="0" lang="en-US" sz="23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67" name="Google Shape;297;p29"/>
          <p:cNvSpPr/>
          <p:nvPr/>
        </p:nvSpPr>
        <p:spPr>
          <a:xfrm>
            <a:off x="685800" y="393480"/>
            <a:ext cx="460404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Integration &amp; Results</a:t>
            </a:r>
            <a:endParaRPr b="0" lang="en-US" sz="2300" spc="-1" strike="noStrike">
              <a:latin typeface="Arial"/>
            </a:endParaRPr>
          </a:p>
        </p:txBody>
      </p:sp>
      <p:sp>
        <p:nvSpPr>
          <p:cNvPr id="268" name="Google Shape;298;p29"/>
          <p:cNvSpPr/>
          <p:nvPr/>
        </p:nvSpPr>
        <p:spPr>
          <a:xfrm>
            <a:off x="685440" y="1299600"/>
            <a:ext cx="8856360" cy="44244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0" lang="en-GB" sz="1700" spc="-1" strike="noStrike">
                <a:solidFill>
                  <a:srgbClr val="ffffff"/>
                </a:solidFill>
                <a:latin typeface="Arial"/>
                <a:ea typeface="Arial"/>
              </a:rPr>
              <a:t>Code of the routine generated by the LLM to perform a task</a:t>
            </a:r>
            <a:endParaRPr b="0" lang="en-US" sz="1700" spc="-1" strike="noStrike">
              <a:latin typeface="Arial"/>
            </a:endParaRPr>
          </a:p>
        </p:txBody>
      </p:sp>
      <p:pic>
        <p:nvPicPr>
          <p:cNvPr id="269" name="Google Shape;299;p29" descr="solo quitale los comentarios que existen en el codigo presente en la imagen"/>
          <p:cNvPicPr/>
          <p:nvPr/>
        </p:nvPicPr>
        <p:blipFill>
          <a:blip r:embed="rId1"/>
          <a:stretch/>
        </p:blipFill>
        <p:spPr>
          <a:xfrm>
            <a:off x="2581200" y="2111400"/>
            <a:ext cx="7028640" cy="411840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70" name="Google Shape;304;p30"/>
          <p:cNvSpPr/>
          <p:nvPr/>
        </p:nvSpPr>
        <p:spPr>
          <a:xfrm>
            <a:off x="685800" y="393480"/>
            <a:ext cx="4604040" cy="546120"/>
          </a:xfrm>
          <a:prstGeom prst="rect">
            <a:avLst/>
          </a:prstGeom>
          <a:noFill/>
          <a:ln w="0">
            <a:noFill/>
          </a:ln>
        </p:spPr>
        <p:style>
          <a:lnRef idx="0"/>
          <a:fillRef idx="0"/>
          <a:effectRef idx="0"/>
          <a:fontRef idx="minor"/>
        </p:style>
      </p:sp>
      <p:sp>
        <p:nvSpPr>
          <p:cNvPr id="271" name="Google Shape;305;p30"/>
          <p:cNvSpPr/>
          <p:nvPr/>
        </p:nvSpPr>
        <p:spPr>
          <a:xfrm>
            <a:off x="791640" y="297360"/>
            <a:ext cx="8103240" cy="54900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1" lang="en-GB" sz="2400" spc="-1" strike="noStrike">
                <a:solidFill>
                  <a:srgbClr val="ffffff"/>
                </a:solidFill>
                <a:latin typeface="Arial"/>
                <a:ea typeface="Arial"/>
              </a:rPr>
              <a:t>Results</a:t>
            </a:r>
            <a:endParaRPr b="0" lang="en-US" sz="2400" spc="-1" strike="noStrike">
              <a:latin typeface="Arial"/>
            </a:endParaRPr>
          </a:p>
        </p:txBody>
      </p:sp>
      <p:pic>
        <p:nvPicPr>
          <p:cNvPr id="272" name="Google Shape;306;p30" descr=""/>
          <p:cNvPicPr/>
          <p:nvPr/>
        </p:nvPicPr>
        <p:blipFill>
          <a:blip r:embed="rId1"/>
          <a:stretch/>
        </p:blipFill>
        <p:spPr>
          <a:xfrm>
            <a:off x="685800" y="1515600"/>
            <a:ext cx="3485520" cy="3826440"/>
          </a:xfrm>
          <a:prstGeom prst="rect">
            <a:avLst/>
          </a:prstGeom>
          <a:ln w="0">
            <a:noFill/>
          </a:ln>
        </p:spPr>
      </p:pic>
      <p:sp>
        <p:nvSpPr>
          <p:cNvPr id="273" name="Google Shape;307;p30"/>
          <p:cNvSpPr/>
          <p:nvPr/>
        </p:nvSpPr>
        <p:spPr>
          <a:xfrm>
            <a:off x="4692240" y="1121760"/>
            <a:ext cx="6880320" cy="3563640"/>
          </a:xfrm>
          <a:prstGeom prst="rect">
            <a:avLst/>
          </a:prstGeom>
          <a:noFill/>
          <a:ln w="0">
            <a:noFill/>
          </a:ln>
        </p:spPr>
        <p:style>
          <a:lnRef idx="0"/>
          <a:fillRef idx="0"/>
          <a:effectRef idx="0"/>
          <a:fontRef idx="minor"/>
        </p:style>
        <p:txBody>
          <a:bodyPr tIns="91440" bIns="91440" anchor="t">
            <a:spAutoFit/>
          </a:bodyPr>
          <a:p>
            <a:pPr>
              <a:lnSpc>
                <a:spcPct val="100000"/>
              </a:lnSpc>
              <a:buNone/>
              <a:tabLst>
                <a:tab algn="l" pos="0"/>
              </a:tabLst>
            </a:pPr>
            <a:r>
              <a:rPr b="1" lang="en-GB" sz="1900" spc="-1" strike="noStrike">
                <a:solidFill>
                  <a:srgbClr val="ffffff"/>
                </a:solidFill>
                <a:latin typeface="Arial"/>
                <a:ea typeface="Arial"/>
              </a:rPr>
              <a:t>   ✓ </a:t>
            </a:r>
            <a:r>
              <a:rPr b="1" lang="en-GB" sz="1900" spc="-1" strike="noStrike">
                <a:solidFill>
                  <a:srgbClr val="ffffff"/>
                </a:solidFill>
                <a:latin typeface="Arial"/>
                <a:ea typeface="Arial"/>
              </a:rPr>
              <a:t>Successes:                                                           </a:t>
            </a:r>
            <a:endParaRPr b="0" lang="en-US" sz="19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Handles varying object positions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Multiple object types (blocks, cans, boxes)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Multi-step instructions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Code is human-readable and modifiable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endParaRPr b="0" lang="en-US" sz="1400" spc="-1" strike="noStrike">
              <a:latin typeface="Arial"/>
            </a:endParaRPr>
          </a:p>
          <a:p>
            <a:pPr>
              <a:lnSpc>
                <a:spcPct val="100000"/>
              </a:lnSpc>
              <a:buNone/>
              <a:tabLst>
                <a:tab algn="l" pos="0"/>
              </a:tabLst>
            </a:pPr>
            <a:r>
              <a:rPr b="1" lang="en-GB" sz="1800" spc="-1" strike="noStrike">
                <a:solidFill>
                  <a:srgbClr val="ffffff"/>
                </a:solidFill>
                <a:latin typeface="Arial"/>
                <a:ea typeface="Arial"/>
              </a:rPr>
              <a:t>    ✗ </a:t>
            </a:r>
            <a:r>
              <a:rPr b="1" lang="en-GB" sz="1800" spc="-1" strike="noStrike">
                <a:solidFill>
                  <a:srgbClr val="ffffff"/>
                </a:solidFill>
                <a:latin typeface="Arial"/>
                <a:ea typeface="Arial"/>
              </a:rPr>
              <a:t>Limitations:                                                         </a:t>
            </a:r>
            <a:endParaRPr b="0" lang="en-US" sz="18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Static scenes only (no moving objects)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Limited to pick-and-place primitives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Occasional syntax errors → retry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endParaRPr b="0" lang="en-US" sz="1400" spc="-1" strike="noStrike">
              <a:latin typeface="Arial"/>
            </a:endParaRPr>
          </a:p>
          <a:p>
            <a:pPr>
              <a:lnSpc>
                <a:spcPct val="100000"/>
              </a:lnSpc>
              <a:buNone/>
              <a:tabLst>
                <a:tab algn="l" pos="0"/>
              </a:tabLst>
            </a:pPr>
            <a:r>
              <a:rPr b="1" lang="en-GB" sz="1700" spc="-1" strike="noStrike">
                <a:solidFill>
                  <a:srgbClr val="ffffff"/>
                </a:solidFill>
                <a:latin typeface="Arial"/>
                <a:ea typeface="Arial"/>
              </a:rPr>
              <a:t>     → </a:t>
            </a:r>
            <a:r>
              <a:rPr b="1" lang="en-GB" sz="1700" spc="-1" strike="noStrike">
                <a:solidFill>
                  <a:srgbClr val="ffffff"/>
                </a:solidFill>
                <a:latin typeface="Arial"/>
                <a:ea typeface="Arial"/>
              </a:rPr>
              <a:t>Future work:                                                         </a:t>
            </a:r>
            <a:endParaRPr b="0" lang="en-US" sz="17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Dynamic scene handling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Error recovery                                                     </a:t>
            </a:r>
            <a:endParaRPr b="0" lang="en-US" sz="1400" spc="-1" strike="noStrike">
              <a:latin typeface="Arial"/>
            </a:endParaRPr>
          </a:p>
          <a:p>
            <a:pPr>
              <a:lnSpc>
                <a:spcPct val="100000"/>
              </a:lnSpc>
              <a:buNone/>
              <a:tabLst>
                <a:tab algn="l" pos="0"/>
              </a:tabLst>
            </a:pPr>
            <a:r>
              <a:rPr b="0" lang="en-GB" sz="1400" spc="-1" strike="noStrike">
                <a:solidFill>
                  <a:srgbClr val="ffffff"/>
                </a:solidFill>
                <a:latin typeface="Arial"/>
                <a:ea typeface="Arial"/>
              </a:rPr>
              <a:t>       </a:t>
            </a:r>
            <a:r>
              <a:rPr b="0" lang="en-GB" sz="1400" spc="-1" strike="noStrike">
                <a:solidFill>
                  <a:srgbClr val="ffffff"/>
                </a:solidFill>
                <a:latin typeface="Arial"/>
                <a:ea typeface="Arial"/>
              </a:rPr>
              <a:t>- More complex task primitives</a:t>
            </a:r>
            <a:endParaRPr b="0" lang="en-US" sz="1400" spc="-1" strike="noStrike">
              <a:latin typeface="Arial"/>
            </a:endParaRPr>
          </a:p>
        </p:txBody>
      </p:sp>
      <p:sp>
        <p:nvSpPr>
          <p:cNvPr id="274" name="Google Shape;308;p30"/>
          <p:cNvSpPr/>
          <p:nvPr/>
        </p:nvSpPr>
        <p:spPr>
          <a:xfrm rot="10800000">
            <a:off x="4611600" y="728280"/>
            <a:ext cx="893520" cy="534960"/>
          </a:xfrm>
          <a:prstGeom prst="leftArrow">
            <a:avLst>
              <a:gd name="adj1" fmla="val 50000"/>
              <a:gd name="adj2" fmla="val 50000"/>
            </a:avLst>
          </a:prstGeom>
          <a:solidFill>
            <a:schemeClr val="lt2"/>
          </a:solidFill>
          <a:ln w="9525">
            <a:solidFill>
              <a:srgbClr val="1f497d"/>
            </a:solidFill>
            <a:round/>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75" name="Google Shape;313;p31"/>
          <p:cNvSpPr/>
          <p:nvPr/>
        </p:nvSpPr>
        <p:spPr>
          <a:xfrm>
            <a:off x="731160" y="320040"/>
            <a:ext cx="1005732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1" lang="en-GB" sz="2300" spc="-1" strike="noStrike">
                <a:solidFill>
                  <a:srgbClr val="ffffff"/>
                </a:solidFill>
                <a:latin typeface="Arial"/>
                <a:ea typeface="Arial"/>
              </a:rPr>
              <a:t>References &amp; Related Work</a:t>
            </a:r>
            <a:endParaRPr b="0" lang="en-US" sz="2300" spc="-1" strike="noStrike">
              <a:latin typeface="Arial"/>
            </a:endParaRPr>
          </a:p>
        </p:txBody>
      </p:sp>
      <p:sp>
        <p:nvSpPr>
          <p:cNvPr id="276" name="Google Shape;314;p31"/>
          <p:cNvSpPr/>
          <p:nvPr/>
        </p:nvSpPr>
        <p:spPr>
          <a:xfrm>
            <a:off x="731160" y="914040"/>
            <a:ext cx="2284920" cy="3708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77" name="Google Shape;315;p31"/>
          <p:cNvSpPr/>
          <p:nvPr/>
        </p:nvSpPr>
        <p:spPr>
          <a:xfrm>
            <a:off x="914040" y="127980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Kwon, T., Kim, B., Lee, Y., and Choo, J. "Language Models as Zero-Shot Trajectory Generators." RSS 2023 Workshop on Learning for Task and Motion Planning. — The foundational paper showing that LLMs can generate executable trajectory code from language instructions.</a:t>
            </a:r>
            <a:endParaRPr b="0" lang="en-US" sz="1100" spc="-1" strike="noStrike">
              <a:latin typeface="Arial"/>
            </a:endParaRPr>
          </a:p>
        </p:txBody>
      </p:sp>
      <p:sp>
        <p:nvSpPr>
          <p:cNvPr id="278" name="Google Shape;316;p31"/>
          <p:cNvSpPr/>
          <p:nvPr/>
        </p:nvSpPr>
        <p:spPr>
          <a:xfrm>
            <a:off x="914040" y="4557960"/>
            <a:ext cx="101793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Liang, J., Huang, W., Xia, F., Xu, P., Hausman, K., Ichter, B., Florence, P., and Zeng, A. "Code as Policies: Language Model Programs for Embodied Control." ICRA 2023. — Introduces the concept of using LLMs to generate robot control programs ("code as policies") with hierarchical code reuse.</a:t>
            </a:r>
            <a:endParaRPr b="0" lang="en-US" sz="1100" spc="-1" strike="noStrike">
              <a:latin typeface="Arial"/>
            </a:endParaRPr>
          </a:p>
        </p:txBody>
      </p:sp>
      <p:sp>
        <p:nvSpPr>
          <p:cNvPr id="279" name="Google Shape;317;p31"/>
          <p:cNvSpPr/>
          <p:nvPr/>
        </p:nvSpPr>
        <p:spPr>
          <a:xfrm>
            <a:off x="914040" y="3693240"/>
            <a:ext cx="10514160" cy="77544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Vemprala, S., Bonatti, R., Bucker, A., and Kapoor, A. "ChatGPT for Robotics: Design Principles and Model Abilities." Microsoft Research, 2023. — Provides design principles for integrating LLMs into robotic systems, emphasizing prompt engineering and API design.</a:t>
            </a:r>
            <a:endParaRPr b="0" lang="en-US" sz="1100" spc="-1" strike="noStrike">
              <a:latin typeface="Arial"/>
            </a:endParaRPr>
          </a:p>
        </p:txBody>
      </p:sp>
      <p:sp>
        <p:nvSpPr>
          <p:cNvPr id="280" name="Google Shape;318;p31"/>
          <p:cNvSpPr/>
          <p:nvPr/>
        </p:nvSpPr>
        <p:spPr>
          <a:xfrm>
            <a:off x="914040" y="223668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TRAC-IK: Beeson, P. and Ames, B. "TRAC-IK: An Open-Source Library for Improved Inverse Kinematics of Humanoid Robots." IEEE-RAS 2015. — Fast IK solver used for real-time motion generation.</a:t>
            </a:r>
            <a:endParaRPr b="0" lang="en-US" sz="1100" spc="-1" strike="noStrike">
              <a:latin typeface="Arial"/>
            </a:endParaRPr>
          </a:p>
        </p:txBody>
      </p:sp>
      <p:sp>
        <p:nvSpPr>
          <p:cNvPr id="281" name="Google Shape;319;p31"/>
          <p:cNvSpPr/>
          <p:nvPr/>
        </p:nvSpPr>
        <p:spPr>
          <a:xfrm>
            <a:off x="914040" y="2965320"/>
            <a:ext cx="10514160" cy="546120"/>
          </a:xfrm>
          <a:prstGeom prst="rect">
            <a:avLst/>
          </a:prstGeom>
          <a:noFill/>
          <a:ln w="0">
            <a:noFill/>
          </a:ln>
        </p:spPr>
        <p:style>
          <a:lnRef idx="0"/>
          <a:fillRef idx="0"/>
          <a:effectRef idx="0"/>
          <a:fontRef idx="minor"/>
        </p:style>
        <p:txBody>
          <a:bodyPr lIns="67680" rIns="67680" tIns="33840" bIns="33840" anchor="t">
            <a:noAutofit/>
          </a:bodyPr>
          <a:p>
            <a:pPr>
              <a:lnSpc>
                <a:spcPct val="100000"/>
              </a:lnSpc>
              <a:buNone/>
              <a:tabLst>
                <a:tab algn="l" pos="0"/>
              </a:tabLst>
            </a:pPr>
            <a:r>
              <a:rPr b="0" lang="en-GB" sz="1100" spc="-1" strike="noStrike">
                <a:solidFill>
                  <a:srgbClr val="d1d5db"/>
                </a:solidFill>
                <a:latin typeface="Arial"/>
                <a:ea typeface="Arial"/>
              </a:rPr>
              <a:t>Ultralytics YOLOv8: Jocher, G. et al. "Ultralytics YOLOv8." 2023. — Real-time object detection model used for scene perception.</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82" name="Google Shape;324;p32"/>
          <p:cNvSpPr/>
          <p:nvPr/>
        </p:nvSpPr>
        <p:spPr>
          <a:xfrm>
            <a:off x="0" y="2925720"/>
            <a:ext cx="12190320" cy="49320"/>
          </a:xfrm>
          <a:prstGeom prst="rect">
            <a:avLst/>
          </a:prstGeom>
          <a:solidFill>
            <a:srgbClr val="6b7280"/>
          </a:solidFill>
          <a:ln w="0">
            <a:noFill/>
          </a:ln>
          <a:effectLst>
            <a:outerShdw blurRad="39960" dir="5400000" dist="23040" rotWithShape="0">
              <a:srgbClr val="000000">
                <a:alpha val="35000"/>
              </a:srgbClr>
            </a:outerShdw>
          </a:effectLst>
        </p:spPr>
        <p:style>
          <a:lnRef idx="0"/>
          <a:fillRef idx="0"/>
          <a:effectRef idx="0"/>
          <a:fontRef idx="minor"/>
        </p:style>
      </p:sp>
      <p:sp>
        <p:nvSpPr>
          <p:cNvPr id="283" name="Google Shape;325;p32"/>
          <p:cNvSpPr/>
          <p:nvPr/>
        </p:nvSpPr>
        <p:spPr>
          <a:xfrm>
            <a:off x="914040" y="1645560"/>
            <a:ext cx="10331280" cy="75924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1" lang="en-GB" sz="3300" spc="-1" strike="noStrike">
                <a:solidFill>
                  <a:srgbClr val="ffffff"/>
                </a:solidFill>
                <a:latin typeface="Arial"/>
                <a:ea typeface="Arial"/>
              </a:rPr>
              <a:t>Thank You</a:t>
            </a:r>
            <a:endParaRPr b="0" lang="en-US" sz="3300" spc="-1" strike="noStrike">
              <a:latin typeface="Arial"/>
            </a:endParaRPr>
          </a:p>
        </p:txBody>
      </p:sp>
      <p:sp>
        <p:nvSpPr>
          <p:cNvPr id="284" name="Google Shape;326;p32"/>
          <p:cNvSpPr/>
          <p:nvPr/>
        </p:nvSpPr>
        <p:spPr>
          <a:xfrm>
            <a:off x="914040" y="3291480"/>
            <a:ext cx="10331280" cy="48528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2000" spc="-1" strike="noStrike">
                <a:solidFill>
                  <a:srgbClr val="d1d5db"/>
                </a:solidFill>
                <a:latin typeface="Arial"/>
                <a:ea typeface="Arial"/>
              </a:rPr>
              <a:t>Questions?</a:t>
            </a:r>
            <a:endParaRPr b="0" lang="en-US" sz="2000" spc="-1" strike="noStrike">
              <a:latin typeface="Arial"/>
            </a:endParaRPr>
          </a:p>
        </p:txBody>
      </p:sp>
      <p:sp>
        <p:nvSpPr>
          <p:cNvPr id="285" name="Google Shape;327;p32"/>
          <p:cNvSpPr/>
          <p:nvPr/>
        </p:nvSpPr>
        <p:spPr>
          <a:xfrm>
            <a:off x="914040" y="4571640"/>
            <a:ext cx="10331280" cy="3636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1400" spc="-1" strike="noStrike">
                <a:solidFill>
                  <a:srgbClr val="9ca3af"/>
                </a:solidFill>
                <a:latin typeface="Arial"/>
                <a:ea typeface="Arial"/>
              </a:rPr>
              <a:t>Jun  ·  Sergio  ·  David  ·  Cadavid  ·  Jossua</a:t>
            </a:r>
            <a:endParaRPr b="0" lang="en-US" sz="1400" spc="-1" strike="noStrike">
              <a:latin typeface="Arial"/>
            </a:endParaRPr>
          </a:p>
        </p:txBody>
      </p:sp>
      <p:sp>
        <p:nvSpPr>
          <p:cNvPr id="286" name="Google Shape;328;p32"/>
          <p:cNvSpPr/>
          <p:nvPr/>
        </p:nvSpPr>
        <p:spPr>
          <a:xfrm>
            <a:off x="914040" y="5029200"/>
            <a:ext cx="10331280" cy="333000"/>
          </a:xfrm>
          <a:prstGeom prst="rect">
            <a:avLst/>
          </a:prstGeom>
          <a:noFill/>
          <a:ln w="0">
            <a:noFill/>
          </a:ln>
        </p:spPr>
        <p:style>
          <a:lnRef idx="0"/>
          <a:fillRef idx="0"/>
          <a:effectRef idx="0"/>
          <a:fontRef idx="minor"/>
        </p:style>
        <p:txBody>
          <a:bodyPr lIns="67680" rIns="67680" tIns="33840" bIns="33840" anchor="t">
            <a:noAutofit/>
          </a:bodyPr>
          <a:p>
            <a:pPr algn="ctr">
              <a:lnSpc>
                <a:spcPct val="100000"/>
              </a:lnSpc>
              <a:buNone/>
              <a:tabLst>
                <a:tab algn="l" pos="0"/>
              </a:tabLst>
            </a:pPr>
            <a:r>
              <a:rPr b="0" lang="en-GB" sz="1200" spc="-1" strike="noStrike">
                <a:solidFill>
                  <a:srgbClr val="9ca3af"/>
                </a:solidFill>
                <a:latin typeface="Arial"/>
                <a:ea typeface="Arial"/>
              </a:rPr>
              <a:t>Robotics — Politecnico di Torino</a:t>
            </a:r>
            <a:endParaRPr b="0" lang="en-US" sz="1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LibreOffice/7.3.7.2$Linux_X86_64 LibreOffice_project/30$Build-2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2026-06-22T23:20:49Z</dcterms:modified>
  <cp:revision>1</cp:revision>
  <dc:subject/>
  <dc:title/>
</cp:coreProperties>
</file>